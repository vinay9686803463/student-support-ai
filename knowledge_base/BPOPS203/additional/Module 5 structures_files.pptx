
<file path=[Content_Types].xml><?xml version="1.0" encoding="utf-8"?>
<Types xmlns="http://schemas.openxmlformats.org/package/2006/content-types">
  <Default Extension="docx" ContentType="application/vnd.openxmlformats-officedocument.wordprocessingml.documen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7"/>
  </p:notesMasterIdLst>
  <p:sldIdLst>
    <p:sldId id="279" r:id="rId2"/>
    <p:sldId id="404" r:id="rId3"/>
    <p:sldId id="405" r:id="rId4"/>
    <p:sldId id="296" r:id="rId5"/>
    <p:sldId id="258" r:id="rId6"/>
    <p:sldId id="402" r:id="rId7"/>
    <p:sldId id="259" r:id="rId8"/>
    <p:sldId id="260" r:id="rId9"/>
    <p:sldId id="261" r:id="rId10"/>
    <p:sldId id="262" r:id="rId11"/>
    <p:sldId id="263" r:id="rId12"/>
    <p:sldId id="264" r:id="rId13"/>
    <p:sldId id="265" r:id="rId14"/>
    <p:sldId id="312" r:id="rId15"/>
    <p:sldId id="313" r:id="rId16"/>
    <p:sldId id="418" r:id="rId17"/>
    <p:sldId id="304" r:id="rId18"/>
    <p:sldId id="305" r:id="rId19"/>
    <p:sldId id="398" r:id="rId20"/>
    <p:sldId id="403" r:id="rId21"/>
    <p:sldId id="399" r:id="rId22"/>
    <p:sldId id="400" r:id="rId23"/>
    <p:sldId id="401" r:id="rId24"/>
    <p:sldId id="308" r:id="rId25"/>
    <p:sldId id="309" r:id="rId26"/>
    <p:sldId id="311" r:id="rId27"/>
    <p:sldId id="320" r:id="rId28"/>
    <p:sldId id="319" r:id="rId29"/>
    <p:sldId id="295" r:id="rId30"/>
    <p:sldId id="318" r:id="rId31"/>
    <p:sldId id="406" r:id="rId32"/>
    <p:sldId id="407" r:id="rId33"/>
    <p:sldId id="408" r:id="rId34"/>
    <p:sldId id="409" r:id="rId35"/>
    <p:sldId id="256" r:id="rId36"/>
    <p:sldId id="257" r:id="rId37"/>
    <p:sldId id="410" r:id="rId38"/>
    <p:sldId id="411" r:id="rId39"/>
    <p:sldId id="412" r:id="rId40"/>
    <p:sldId id="413" r:id="rId41"/>
    <p:sldId id="414" r:id="rId42"/>
    <p:sldId id="415" r:id="rId43"/>
    <p:sldId id="416" r:id="rId44"/>
    <p:sldId id="417" r:id="rId45"/>
    <p:sldId id="267" r:id="rId46"/>
    <p:sldId id="268" r:id="rId47"/>
    <p:sldId id="269" r:id="rId48"/>
    <p:sldId id="270" r:id="rId49"/>
    <p:sldId id="271" r:id="rId50"/>
    <p:sldId id="272" r:id="rId51"/>
    <p:sldId id="273" r:id="rId52"/>
    <p:sldId id="274" r:id="rId53"/>
    <p:sldId id="275" r:id="rId54"/>
    <p:sldId id="276" r:id="rId55"/>
    <p:sldId id="277" r:id="rId5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61"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0E4E43B-69C3-47AB-BB82-F42D4029025B}" type="datetimeFigureOut">
              <a:rPr lang="en-US" smtClean="0"/>
              <a:t>3/23/2023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B0B983-85EE-49D2-B78B-24CC8B717567}" type="slidenum">
              <a:rPr lang="en-US" smtClean="0"/>
              <a:t>‹#›</a:t>
            </a:fld>
            <a:endParaRPr lang="en-US"/>
          </a:p>
        </p:txBody>
      </p:sp>
    </p:spTree>
    <p:extLst>
      <p:ext uri="{BB962C8B-B14F-4D97-AF65-F5344CB8AC3E}">
        <p14:creationId xmlns:p14="http://schemas.microsoft.com/office/powerpoint/2010/main" val="8105450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ED311C-CB3F-28B5-033F-A7A4C7F979F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FE1A50F-B571-69A4-062F-C938E0CE94C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510B7AA-E3FC-B6D6-40FD-94A0A3D8D094}"/>
              </a:ext>
            </a:extLst>
          </p:cNvPr>
          <p:cNvSpPr>
            <a:spLocks noGrp="1"/>
          </p:cNvSpPr>
          <p:nvPr>
            <p:ph type="dt" sz="half" idx="10"/>
          </p:nvPr>
        </p:nvSpPr>
        <p:spPr/>
        <p:txBody>
          <a:bodyPr/>
          <a:lstStyle/>
          <a:p>
            <a:fld id="{85777689-F28B-42A0-B208-3038593AC4EB}" type="datetime1">
              <a:rPr lang="en-US" smtClean="0"/>
              <a:t>3/23/2023</a:t>
            </a:fld>
            <a:endParaRPr lang="en-US"/>
          </a:p>
        </p:txBody>
      </p:sp>
      <p:sp>
        <p:nvSpPr>
          <p:cNvPr id="5" name="Footer Placeholder 4">
            <a:extLst>
              <a:ext uri="{FF2B5EF4-FFF2-40B4-BE49-F238E27FC236}">
                <a16:creationId xmlns:a16="http://schemas.microsoft.com/office/drawing/2014/main" id="{74A929DB-055A-7F63-486B-E6507B78594E}"/>
              </a:ext>
            </a:extLst>
          </p:cNvPr>
          <p:cNvSpPr>
            <a:spLocks noGrp="1"/>
          </p:cNvSpPr>
          <p:nvPr>
            <p:ph type="ftr" sz="quarter" idx="11"/>
          </p:nvPr>
        </p:nvSpPr>
        <p:spPr/>
        <p:txBody>
          <a:bodyPr/>
          <a:lstStyle/>
          <a:p>
            <a:r>
              <a:rPr lang="en-US"/>
              <a:t>Mrs Saranya Babu, Asst. Professor, GAT</a:t>
            </a:r>
          </a:p>
        </p:txBody>
      </p:sp>
      <p:sp>
        <p:nvSpPr>
          <p:cNvPr id="6" name="Slide Number Placeholder 5">
            <a:extLst>
              <a:ext uri="{FF2B5EF4-FFF2-40B4-BE49-F238E27FC236}">
                <a16:creationId xmlns:a16="http://schemas.microsoft.com/office/drawing/2014/main" id="{2837FBA7-70B9-C23D-D1F9-1D24BBD0E172}"/>
              </a:ext>
            </a:extLst>
          </p:cNvPr>
          <p:cNvSpPr>
            <a:spLocks noGrp="1"/>
          </p:cNvSpPr>
          <p:nvPr>
            <p:ph type="sldNum" sz="quarter" idx="12"/>
          </p:nvPr>
        </p:nvSpPr>
        <p:spPr/>
        <p:txBody>
          <a:bodyPr/>
          <a:lstStyle/>
          <a:p>
            <a:fld id="{B25CD6D1-AFF1-48DE-A96E-79F26011F782}" type="slidenum">
              <a:rPr lang="en-US" smtClean="0"/>
              <a:t>‹#›</a:t>
            </a:fld>
            <a:endParaRPr lang="en-US"/>
          </a:p>
        </p:txBody>
      </p:sp>
    </p:spTree>
    <p:extLst>
      <p:ext uri="{BB962C8B-B14F-4D97-AF65-F5344CB8AC3E}">
        <p14:creationId xmlns:p14="http://schemas.microsoft.com/office/powerpoint/2010/main" val="37766946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6D13C8-84DF-3023-196B-77C68FC27EE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5D3636-E72F-62B1-C98A-3FAF5225419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3E3508-79DC-9721-9AE3-76E9EBB80B9D}"/>
              </a:ext>
            </a:extLst>
          </p:cNvPr>
          <p:cNvSpPr>
            <a:spLocks noGrp="1"/>
          </p:cNvSpPr>
          <p:nvPr>
            <p:ph type="dt" sz="half" idx="10"/>
          </p:nvPr>
        </p:nvSpPr>
        <p:spPr/>
        <p:txBody>
          <a:bodyPr/>
          <a:lstStyle/>
          <a:p>
            <a:fld id="{6730ED5A-E7A0-4F1C-9FB0-59089D178F9C}" type="datetime1">
              <a:rPr lang="en-US" smtClean="0"/>
              <a:t>3/23/2023</a:t>
            </a:fld>
            <a:endParaRPr lang="en-US"/>
          </a:p>
        </p:txBody>
      </p:sp>
      <p:sp>
        <p:nvSpPr>
          <p:cNvPr id="5" name="Footer Placeholder 4">
            <a:extLst>
              <a:ext uri="{FF2B5EF4-FFF2-40B4-BE49-F238E27FC236}">
                <a16:creationId xmlns:a16="http://schemas.microsoft.com/office/drawing/2014/main" id="{FD4D4FAE-3CA7-5706-6D4E-E6491A0AD15C}"/>
              </a:ext>
            </a:extLst>
          </p:cNvPr>
          <p:cNvSpPr>
            <a:spLocks noGrp="1"/>
          </p:cNvSpPr>
          <p:nvPr>
            <p:ph type="ftr" sz="quarter" idx="11"/>
          </p:nvPr>
        </p:nvSpPr>
        <p:spPr/>
        <p:txBody>
          <a:bodyPr/>
          <a:lstStyle/>
          <a:p>
            <a:r>
              <a:rPr lang="en-US"/>
              <a:t>Mrs Saranya Babu, Asst. Professor, GAT</a:t>
            </a:r>
          </a:p>
        </p:txBody>
      </p:sp>
      <p:sp>
        <p:nvSpPr>
          <p:cNvPr id="6" name="Slide Number Placeholder 5">
            <a:extLst>
              <a:ext uri="{FF2B5EF4-FFF2-40B4-BE49-F238E27FC236}">
                <a16:creationId xmlns:a16="http://schemas.microsoft.com/office/drawing/2014/main" id="{3CA95FF0-C667-3EF9-E57F-EA958D6A6A34}"/>
              </a:ext>
            </a:extLst>
          </p:cNvPr>
          <p:cNvSpPr>
            <a:spLocks noGrp="1"/>
          </p:cNvSpPr>
          <p:nvPr>
            <p:ph type="sldNum" sz="quarter" idx="12"/>
          </p:nvPr>
        </p:nvSpPr>
        <p:spPr/>
        <p:txBody>
          <a:bodyPr/>
          <a:lstStyle/>
          <a:p>
            <a:fld id="{B25CD6D1-AFF1-48DE-A96E-79F26011F782}" type="slidenum">
              <a:rPr lang="en-US" smtClean="0"/>
              <a:t>‹#›</a:t>
            </a:fld>
            <a:endParaRPr lang="en-US"/>
          </a:p>
        </p:txBody>
      </p:sp>
    </p:spTree>
    <p:extLst>
      <p:ext uri="{BB962C8B-B14F-4D97-AF65-F5344CB8AC3E}">
        <p14:creationId xmlns:p14="http://schemas.microsoft.com/office/powerpoint/2010/main" val="27848416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4EDB1D-31CF-1776-A8CF-5D1BDFFD83C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D1AC78C-F153-D621-081B-D4D48790EFB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40F2307-C23C-259A-759F-8203BF6ED21E}"/>
              </a:ext>
            </a:extLst>
          </p:cNvPr>
          <p:cNvSpPr>
            <a:spLocks noGrp="1"/>
          </p:cNvSpPr>
          <p:nvPr>
            <p:ph type="dt" sz="half" idx="10"/>
          </p:nvPr>
        </p:nvSpPr>
        <p:spPr/>
        <p:txBody>
          <a:bodyPr/>
          <a:lstStyle/>
          <a:p>
            <a:fld id="{5FE2D778-DE28-48EA-98D7-D7CAD6BE4276}" type="datetime1">
              <a:rPr lang="en-US" smtClean="0"/>
              <a:t>3/23/2023</a:t>
            </a:fld>
            <a:endParaRPr lang="en-US"/>
          </a:p>
        </p:txBody>
      </p:sp>
      <p:sp>
        <p:nvSpPr>
          <p:cNvPr id="5" name="Footer Placeholder 4">
            <a:extLst>
              <a:ext uri="{FF2B5EF4-FFF2-40B4-BE49-F238E27FC236}">
                <a16:creationId xmlns:a16="http://schemas.microsoft.com/office/drawing/2014/main" id="{4144CDDC-EFA0-875E-E044-62484CB6C94F}"/>
              </a:ext>
            </a:extLst>
          </p:cNvPr>
          <p:cNvSpPr>
            <a:spLocks noGrp="1"/>
          </p:cNvSpPr>
          <p:nvPr>
            <p:ph type="ftr" sz="quarter" idx="11"/>
          </p:nvPr>
        </p:nvSpPr>
        <p:spPr/>
        <p:txBody>
          <a:bodyPr/>
          <a:lstStyle/>
          <a:p>
            <a:r>
              <a:rPr lang="en-US"/>
              <a:t>Mrs Saranya Babu, Asst. Professor, GAT</a:t>
            </a:r>
          </a:p>
        </p:txBody>
      </p:sp>
      <p:sp>
        <p:nvSpPr>
          <p:cNvPr id="6" name="Slide Number Placeholder 5">
            <a:extLst>
              <a:ext uri="{FF2B5EF4-FFF2-40B4-BE49-F238E27FC236}">
                <a16:creationId xmlns:a16="http://schemas.microsoft.com/office/drawing/2014/main" id="{57141547-A31D-038B-E36F-250D203C7720}"/>
              </a:ext>
            </a:extLst>
          </p:cNvPr>
          <p:cNvSpPr>
            <a:spLocks noGrp="1"/>
          </p:cNvSpPr>
          <p:nvPr>
            <p:ph type="sldNum" sz="quarter" idx="12"/>
          </p:nvPr>
        </p:nvSpPr>
        <p:spPr/>
        <p:txBody>
          <a:bodyPr/>
          <a:lstStyle/>
          <a:p>
            <a:fld id="{B25CD6D1-AFF1-48DE-A96E-79F26011F782}" type="slidenum">
              <a:rPr lang="en-US" smtClean="0"/>
              <a:t>‹#›</a:t>
            </a:fld>
            <a:endParaRPr lang="en-US"/>
          </a:p>
        </p:txBody>
      </p:sp>
    </p:spTree>
    <p:extLst>
      <p:ext uri="{BB962C8B-B14F-4D97-AF65-F5344CB8AC3E}">
        <p14:creationId xmlns:p14="http://schemas.microsoft.com/office/powerpoint/2010/main" val="18022660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9A4DD3-CCE5-17B8-74AD-3A635ADE094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8AB4FDB-42C1-A8D8-E00B-B11590DB473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B934F81-B45C-441E-30F0-BCF53A1EDC1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80B8440-B4ED-FF9C-0449-FC0D223F148B}"/>
              </a:ext>
            </a:extLst>
          </p:cNvPr>
          <p:cNvSpPr>
            <a:spLocks noGrp="1"/>
          </p:cNvSpPr>
          <p:nvPr>
            <p:ph type="dt" sz="half" idx="10"/>
          </p:nvPr>
        </p:nvSpPr>
        <p:spPr/>
        <p:txBody>
          <a:bodyPr/>
          <a:lstStyle/>
          <a:p>
            <a:fld id="{50C588F2-225C-410C-A664-FE2B0888CE4D}" type="datetime1">
              <a:rPr lang="en-US" smtClean="0"/>
              <a:t>3/23/2023</a:t>
            </a:fld>
            <a:endParaRPr lang="en-US"/>
          </a:p>
        </p:txBody>
      </p:sp>
      <p:sp>
        <p:nvSpPr>
          <p:cNvPr id="6" name="Footer Placeholder 5">
            <a:extLst>
              <a:ext uri="{FF2B5EF4-FFF2-40B4-BE49-F238E27FC236}">
                <a16:creationId xmlns:a16="http://schemas.microsoft.com/office/drawing/2014/main" id="{9ABDC389-D338-B78F-77C1-85958FCD508A}"/>
              </a:ext>
            </a:extLst>
          </p:cNvPr>
          <p:cNvSpPr>
            <a:spLocks noGrp="1"/>
          </p:cNvSpPr>
          <p:nvPr>
            <p:ph type="ftr" sz="quarter" idx="11"/>
          </p:nvPr>
        </p:nvSpPr>
        <p:spPr/>
        <p:txBody>
          <a:bodyPr/>
          <a:lstStyle/>
          <a:p>
            <a:r>
              <a:rPr lang="en-US"/>
              <a:t>Mrs Saranya Babu, Asst. Professor, GAT</a:t>
            </a:r>
          </a:p>
        </p:txBody>
      </p:sp>
      <p:sp>
        <p:nvSpPr>
          <p:cNvPr id="7" name="Slide Number Placeholder 6">
            <a:extLst>
              <a:ext uri="{FF2B5EF4-FFF2-40B4-BE49-F238E27FC236}">
                <a16:creationId xmlns:a16="http://schemas.microsoft.com/office/drawing/2014/main" id="{F74962EE-E194-5A8D-EF85-86251EB4AC8F}"/>
              </a:ext>
            </a:extLst>
          </p:cNvPr>
          <p:cNvSpPr>
            <a:spLocks noGrp="1"/>
          </p:cNvSpPr>
          <p:nvPr>
            <p:ph type="sldNum" sz="quarter" idx="12"/>
          </p:nvPr>
        </p:nvSpPr>
        <p:spPr/>
        <p:txBody>
          <a:bodyPr/>
          <a:lstStyle/>
          <a:p>
            <a:fld id="{B25CD6D1-AFF1-48DE-A96E-79F26011F782}" type="slidenum">
              <a:rPr lang="en-US" smtClean="0"/>
              <a:t>‹#›</a:t>
            </a:fld>
            <a:endParaRPr lang="en-US"/>
          </a:p>
        </p:txBody>
      </p:sp>
    </p:spTree>
    <p:extLst>
      <p:ext uri="{BB962C8B-B14F-4D97-AF65-F5344CB8AC3E}">
        <p14:creationId xmlns:p14="http://schemas.microsoft.com/office/powerpoint/2010/main" val="14854339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723D91-B4CF-F18F-2D5F-621740452C1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DE56EF9-0BE8-A9B7-7858-57125A0A9A0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E6527D1-60C4-1A36-BE34-486EB34A1BB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62DE3EA-AAF2-3E16-CD99-EE9B78E0D46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4E1D8D6-4AC0-55AE-47B5-4639FB934D9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7C52444-531B-D626-150F-03AA36413596}"/>
              </a:ext>
            </a:extLst>
          </p:cNvPr>
          <p:cNvSpPr>
            <a:spLocks noGrp="1"/>
          </p:cNvSpPr>
          <p:nvPr>
            <p:ph type="dt" sz="half" idx="10"/>
          </p:nvPr>
        </p:nvSpPr>
        <p:spPr/>
        <p:txBody>
          <a:bodyPr/>
          <a:lstStyle/>
          <a:p>
            <a:fld id="{78BF66BA-350C-426E-B115-B527AF812BCB}" type="datetime1">
              <a:rPr lang="en-US" smtClean="0"/>
              <a:t>3/23/2023</a:t>
            </a:fld>
            <a:endParaRPr lang="en-US"/>
          </a:p>
        </p:txBody>
      </p:sp>
      <p:sp>
        <p:nvSpPr>
          <p:cNvPr id="8" name="Footer Placeholder 7">
            <a:extLst>
              <a:ext uri="{FF2B5EF4-FFF2-40B4-BE49-F238E27FC236}">
                <a16:creationId xmlns:a16="http://schemas.microsoft.com/office/drawing/2014/main" id="{761BCEF5-4E1A-3052-B9AB-8A9ACF7789DA}"/>
              </a:ext>
            </a:extLst>
          </p:cNvPr>
          <p:cNvSpPr>
            <a:spLocks noGrp="1"/>
          </p:cNvSpPr>
          <p:nvPr>
            <p:ph type="ftr" sz="quarter" idx="11"/>
          </p:nvPr>
        </p:nvSpPr>
        <p:spPr/>
        <p:txBody>
          <a:bodyPr/>
          <a:lstStyle/>
          <a:p>
            <a:r>
              <a:rPr lang="en-US"/>
              <a:t>Mrs Saranya Babu, Asst. Professor, GAT</a:t>
            </a:r>
          </a:p>
        </p:txBody>
      </p:sp>
      <p:sp>
        <p:nvSpPr>
          <p:cNvPr id="9" name="Slide Number Placeholder 8">
            <a:extLst>
              <a:ext uri="{FF2B5EF4-FFF2-40B4-BE49-F238E27FC236}">
                <a16:creationId xmlns:a16="http://schemas.microsoft.com/office/drawing/2014/main" id="{6E91F7F1-5ACB-460B-CF46-1316E1990869}"/>
              </a:ext>
            </a:extLst>
          </p:cNvPr>
          <p:cNvSpPr>
            <a:spLocks noGrp="1"/>
          </p:cNvSpPr>
          <p:nvPr>
            <p:ph type="sldNum" sz="quarter" idx="12"/>
          </p:nvPr>
        </p:nvSpPr>
        <p:spPr/>
        <p:txBody>
          <a:bodyPr/>
          <a:lstStyle/>
          <a:p>
            <a:fld id="{B25CD6D1-AFF1-48DE-A96E-79F26011F782}" type="slidenum">
              <a:rPr lang="en-US" smtClean="0"/>
              <a:t>‹#›</a:t>
            </a:fld>
            <a:endParaRPr lang="en-US"/>
          </a:p>
        </p:txBody>
      </p:sp>
    </p:spTree>
    <p:extLst>
      <p:ext uri="{BB962C8B-B14F-4D97-AF65-F5344CB8AC3E}">
        <p14:creationId xmlns:p14="http://schemas.microsoft.com/office/powerpoint/2010/main" val="31536961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786FA-C926-CFCC-6A5A-2661AEB189A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2ADFC27-D00A-9EB0-7A9A-D94ECDE0CC2A}"/>
              </a:ext>
            </a:extLst>
          </p:cNvPr>
          <p:cNvSpPr>
            <a:spLocks noGrp="1"/>
          </p:cNvSpPr>
          <p:nvPr>
            <p:ph type="dt" sz="half" idx="10"/>
          </p:nvPr>
        </p:nvSpPr>
        <p:spPr/>
        <p:txBody>
          <a:bodyPr/>
          <a:lstStyle/>
          <a:p>
            <a:fld id="{8A5C89FC-06A6-4FD6-9184-6829BD3ED01E}" type="datetime1">
              <a:rPr lang="en-US" smtClean="0"/>
              <a:t>3/23/2023</a:t>
            </a:fld>
            <a:endParaRPr lang="en-US"/>
          </a:p>
        </p:txBody>
      </p:sp>
      <p:sp>
        <p:nvSpPr>
          <p:cNvPr id="4" name="Footer Placeholder 3">
            <a:extLst>
              <a:ext uri="{FF2B5EF4-FFF2-40B4-BE49-F238E27FC236}">
                <a16:creationId xmlns:a16="http://schemas.microsoft.com/office/drawing/2014/main" id="{5BC27CC7-F357-C792-9B22-1A7E536D6A2C}"/>
              </a:ext>
            </a:extLst>
          </p:cNvPr>
          <p:cNvSpPr>
            <a:spLocks noGrp="1"/>
          </p:cNvSpPr>
          <p:nvPr>
            <p:ph type="ftr" sz="quarter" idx="11"/>
          </p:nvPr>
        </p:nvSpPr>
        <p:spPr/>
        <p:txBody>
          <a:bodyPr/>
          <a:lstStyle/>
          <a:p>
            <a:r>
              <a:rPr lang="en-US"/>
              <a:t>Mrs Saranya Babu, Asst. Professor, GAT</a:t>
            </a:r>
          </a:p>
        </p:txBody>
      </p:sp>
      <p:sp>
        <p:nvSpPr>
          <p:cNvPr id="5" name="Slide Number Placeholder 4">
            <a:extLst>
              <a:ext uri="{FF2B5EF4-FFF2-40B4-BE49-F238E27FC236}">
                <a16:creationId xmlns:a16="http://schemas.microsoft.com/office/drawing/2014/main" id="{025E26D0-05C1-C687-CA00-A729FD5B5253}"/>
              </a:ext>
            </a:extLst>
          </p:cNvPr>
          <p:cNvSpPr>
            <a:spLocks noGrp="1"/>
          </p:cNvSpPr>
          <p:nvPr>
            <p:ph type="sldNum" sz="quarter" idx="12"/>
          </p:nvPr>
        </p:nvSpPr>
        <p:spPr/>
        <p:txBody>
          <a:bodyPr/>
          <a:lstStyle/>
          <a:p>
            <a:fld id="{B25CD6D1-AFF1-48DE-A96E-79F26011F782}" type="slidenum">
              <a:rPr lang="en-US" smtClean="0"/>
              <a:t>‹#›</a:t>
            </a:fld>
            <a:endParaRPr lang="en-US"/>
          </a:p>
        </p:txBody>
      </p:sp>
    </p:spTree>
    <p:extLst>
      <p:ext uri="{BB962C8B-B14F-4D97-AF65-F5344CB8AC3E}">
        <p14:creationId xmlns:p14="http://schemas.microsoft.com/office/powerpoint/2010/main" val="471622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993BB72-69A3-9949-C16A-4029497366F6}"/>
              </a:ext>
            </a:extLst>
          </p:cNvPr>
          <p:cNvSpPr>
            <a:spLocks noGrp="1"/>
          </p:cNvSpPr>
          <p:nvPr>
            <p:ph type="dt" sz="half" idx="10"/>
          </p:nvPr>
        </p:nvSpPr>
        <p:spPr/>
        <p:txBody>
          <a:bodyPr/>
          <a:lstStyle/>
          <a:p>
            <a:fld id="{85C09E7F-A083-4D5E-AA9B-43840F72B4C1}" type="datetime1">
              <a:rPr lang="en-US" smtClean="0"/>
              <a:t>3/23/2023</a:t>
            </a:fld>
            <a:endParaRPr lang="en-US"/>
          </a:p>
        </p:txBody>
      </p:sp>
      <p:sp>
        <p:nvSpPr>
          <p:cNvPr id="3" name="Footer Placeholder 2">
            <a:extLst>
              <a:ext uri="{FF2B5EF4-FFF2-40B4-BE49-F238E27FC236}">
                <a16:creationId xmlns:a16="http://schemas.microsoft.com/office/drawing/2014/main" id="{D83691FB-E3CB-C32D-736D-40AB64E51337}"/>
              </a:ext>
            </a:extLst>
          </p:cNvPr>
          <p:cNvSpPr>
            <a:spLocks noGrp="1"/>
          </p:cNvSpPr>
          <p:nvPr>
            <p:ph type="ftr" sz="quarter" idx="11"/>
          </p:nvPr>
        </p:nvSpPr>
        <p:spPr/>
        <p:txBody>
          <a:bodyPr/>
          <a:lstStyle/>
          <a:p>
            <a:r>
              <a:rPr lang="en-US"/>
              <a:t>Mrs Saranya Babu, Asst. Professor, GAT</a:t>
            </a:r>
          </a:p>
        </p:txBody>
      </p:sp>
      <p:sp>
        <p:nvSpPr>
          <p:cNvPr id="4" name="Slide Number Placeholder 3">
            <a:extLst>
              <a:ext uri="{FF2B5EF4-FFF2-40B4-BE49-F238E27FC236}">
                <a16:creationId xmlns:a16="http://schemas.microsoft.com/office/drawing/2014/main" id="{94949744-37A6-8851-BB98-6045EA1C0AAF}"/>
              </a:ext>
            </a:extLst>
          </p:cNvPr>
          <p:cNvSpPr>
            <a:spLocks noGrp="1"/>
          </p:cNvSpPr>
          <p:nvPr>
            <p:ph type="sldNum" sz="quarter" idx="12"/>
          </p:nvPr>
        </p:nvSpPr>
        <p:spPr/>
        <p:txBody>
          <a:bodyPr/>
          <a:lstStyle/>
          <a:p>
            <a:fld id="{B25CD6D1-AFF1-48DE-A96E-79F26011F782}" type="slidenum">
              <a:rPr lang="en-US" smtClean="0"/>
              <a:t>‹#›</a:t>
            </a:fld>
            <a:endParaRPr lang="en-US"/>
          </a:p>
        </p:txBody>
      </p:sp>
    </p:spTree>
    <p:extLst>
      <p:ext uri="{BB962C8B-B14F-4D97-AF65-F5344CB8AC3E}">
        <p14:creationId xmlns:p14="http://schemas.microsoft.com/office/powerpoint/2010/main" val="27316978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277F23-3907-C4F5-9C5E-F2D43B405D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A7F6E07-BA2A-BC81-A822-10CF23BDE79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DFA67B9-702F-99B3-12C8-4F800CD24D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7023350-F3C0-801D-2604-E9230478B9BC}"/>
              </a:ext>
            </a:extLst>
          </p:cNvPr>
          <p:cNvSpPr>
            <a:spLocks noGrp="1"/>
          </p:cNvSpPr>
          <p:nvPr>
            <p:ph type="dt" sz="half" idx="10"/>
          </p:nvPr>
        </p:nvSpPr>
        <p:spPr/>
        <p:txBody>
          <a:bodyPr/>
          <a:lstStyle/>
          <a:p>
            <a:fld id="{9F396F27-5A4F-4550-802B-5D784E645D59}" type="datetime1">
              <a:rPr lang="en-US" smtClean="0"/>
              <a:t>3/23/2023</a:t>
            </a:fld>
            <a:endParaRPr lang="en-US"/>
          </a:p>
        </p:txBody>
      </p:sp>
      <p:sp>
        <p:nvSpPr>
          <p:cNvPr id="6" name="Footer Placeholder 5">
            <a:extLst>
              <a:ext uri="{FF2B5EF4-FFF2-40B4-BE49-F238E27FC236}">
                <a16:creationId xmlns:a16="http://schemas.microsoft.com/office/drawing/2014/main" id="{0711E2F8-875F-199A-B149-5D5B104C7033}"/>
              </a:ext>
            </a:extLst>
          </p:cNvPr>
          <p:cNvSpPr>
            <a:spLocks noGrp="1"/>
          </p:cNvSpPr>
          <p:nvPr>
            <p:ph type="ftr" sz="quarter" idx="11"/>
          </p:nvPr>
        </p:nvSpPr>
        <p:spPr/>
        <p:txBody>
          <a:bodyPr/>
          <a:lstStyle/>
          <a:p>
            <a:r>
              <a:rPr lang="en-US"/>
              <a:t>Mrs Saranya Babu, Asst. Professor, GAT</a:t>
            </a:r>
          </a:p>
        </p:txBody>
      </p:sp>
      <p:sp>
        <p:nvSpPr>
          <p:cNvPr id="7" name="Slide Number Placeholder 6">
            <a:extLst>
              <a:ext uri="{FF2B5EF4-FFF2-40B4-BE49-F238E27FC236}">
                <a16:creationId xmlns:a16="http://schemas.microsoft.com/office/drawing/2014/main" id="{717B485E-FC59-B9F1-C949-AEBC106458B8}"/>
              </a:ext>
            </a:extLst>
          </p:cNvPr>
          <p:cNvSpPr>
            <a:spLocks noGrp="1"/>
          </p:cNvSpPr>
          <p:nvPr>
            <p:ph type="sldNum" sz="quarter" idx="12"/>
          </p:nvPr>
        </p:nvSpPr>
        <p:spPr/>
        <p:txBody>
          <a:bodyPr/>
          <a:lstStyle/>
          <a:p>
            <a:fld id="{B25CD6D1-AFF1-48DE-A96E-79F26011F782}" type="slidenum">
              <a:rPr lang="en-US" smtClean="0"/>
              <a:t>‹#›</a:t>
            </a:fld>
            <a:endParaRPr lang="en-US"/>
          </a:p>
        </p:txBody>
      </p:sp>
    </p:spTree>
    <p:extLst>
      <p:ext uri="{BB962C8B-B14F-4D97-AF65-F5344CB8AC3E}">
        <p14:creationId xmlns:p14="http://schemas.microsoft.com/office/powerpoint/2010/main" val="40052520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964912-06D7-AE44-440F-00A476A1CFF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4883EEB-9FC2-F2B3-8727-989FFEF2A89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979C98A-C773-9170-CA78-D0A20EC1B1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DB4B69A-CE6E-E8E4-DC32-713435DF7849}"/>
              </a:ext>
            </a:extLst>
          </p:cNvPr>
          <p:cNvSpPr>
            <a:spLocks noGrp="1"/>
          </p:cNvSpPr>
          <p:nvPr>
            <p:ph type="dt" sz="half" idx="10"/>
          </p:nvPr>
        </p:nvSpPr>
        <p:spPr/>
        <p:txBody>
          <a:bodyPr/>
          <a:lstStyle/>
          <a:p>
            <a:fld id="{22794B6F-10E8-41FC-8D26-DC42BB0C86E3}" type="datetime1">
              <a:rPr lang="en-US" smtClean="0"/>
              <a:t>3/23/2023</a:t>
            </a:fld>
            <a:endParaRPr lang="en-US"/>
          </a:p>
        </p:txBody>
      </p:sp>
      <p:sp>
        <p:nvSpPr>
          <p:cNvPr id="6" name="Footer Placeholder 5">
            <a:extLst>
              <a:ext uri="{FF2B5EF4-FFF2-40B4-BE49-F238E27FC236}">
                <a16:creationId xmlns:a16="http://schemas.microsoft.com/office/drawing/2014/main" id="{4E2001F7-2583-1AA4-2B18-65A4E6B0A88C}"/>
              </a:ext>
            </a:extLst>
          </p:cNvPr>
          <p:cNvSpPr>
            <a:spLocks noGrp="1"/>
          </p:cNvSpPr>
          <p:nvPr>
            <p:ph type="ftr" sz="quarter" idx="11"/>
          </p:nvPr>
        </p:nvSpPr>
        <p:spPr/>
        <p:txBody>
          <a:bodyPr/>
          <a:lstStyle/>
          <a:p>
            <a:r>
              <a:rPr lang="en-US"/>
              <a:t>Mrs Saranya Babu, Asst. Professor, GAT</a:t>
            </a:r>
          </a:p>
        </p:txBody>
      </p:sp>
      <p:sp>
        <p:nvSpPr>
          <p:cNvPr id="7" name="Slide Number Placeholder 6">
            <a:extLst>
              <a:ext uri="{FF2B5EF4-FFF2-40B4-BE49-F238E27FC236}">
                <a16:creationId xmlns:a16="http://schemas.microsoft.com/office/drawing/2014/main" id="{5BB3CA22-9951-B1F1-6D1B-156F3C84834C}"/>
              </a:ext>
            </a:extLst>
          </p:cNvPr>
          <p:cNvSpPr>
            <a:spLocks noGrp="1"/>
          </p:cNvSpPr>
          <p:nvPr>
            <p:ph type="sldNum" sz="quarter" idx="12"/>
          </p:nvPr>
        </p:nvSpPr>
        <p:spPr/>
        <p:txBody>
          <a:bodyPr/>
          <a:lstStyle/>
          <a:p>
            <a:fld id="{B25CD6D1-AFF1-48DE-A96E-79F26011F782}" type="slidenum">
              <a:rPr lang="en-US" smtClean="0"/>
              <a:t>‹#›</a:t>
            </a:fld>
            <a:endParaRPr lang="en-US"/>
          </a:p>
        </p:txBody>
      </p:sp>
    </p:spTree>
    <p:extLst>
      <p:ext uri="{BB962C8B-B14F-4D97-AF65-F5344CB8AC3E}">
        <p14:creationId xmlns:p14="http://schemas.microsoft.com/office/powerpoint/2010/main" val="16227658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61DA77-AB1E-AEFF-36B1-E7ECD9C1599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5DA8C2B-1DF8-0B4B-C2A7-5884D086E60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F4BC032-47A4-86CE-2BAF-C2E7A8480DD5}"/>
              </a:ext>
            </a:extLst>
          </p:cNvPr>
          <p:cNvSpPr>
            <a:spLocks noGrp="1"/>
          </p:cNvSpPr>
          <p:nvPr>
            <p:ph type="dt" sz="half" idx="10"/>
          </p:nvPr>
        </p:nvSpPr>
        <p:spPr/>
        <p:txBody>
          <a:bodyPr/>
          <a:lstStyle/>
          <a:p>
            <a:fld id="{A499B2B4-33CF-4B02-B15A-C03A7EE56C97}" type="datetime1">
              <a:rPr lang="en-US" smtClean="0"/>
              <a:t>3/23/2023</a:t>
            </a:fld>
            <a:endParaRPr lang="en-US"/>
          </a:p>
        </p:txBody>
      </p:sp>
      <p:sp>
        <p:nvSpPr>
          <p:cNvPr id="5" name="Footer Placeholder 4">
            <a:extLst>
              <a:ext uri="{FF2B5EF4-FFF2-40B4-BE49-F238E27FC236}">
                <a16:creationId xmlns:a16="http://schemas.microsoft.com/office/drawing/2014/main" id="{153364CB-E135-3873-22BC-E9011741D41D}"/>
              </a:ext>
            </a:extLst>
          </p:cNvPr>
          <p:cNvSpPr>
            <a:spLocks noGrp="1"/>
          </p:cNvSpPr>
          <p:nvPr>
            <p:ph type="ftr" sz="quarter" idx="11"/>
          </p:nvPr>
        </p:nvSpPr>
        <p:spPr/>
        <p:txBody>
          <a:bodyPr/>
          <a:lstStyle/>
          <a:p>
            <a:r>
              <a:rPr lang="en-US"/>
              <a:t>Mrs Saranya Babu, Asst. Professor, GAT</a:t>
            </a:r>
          </a:p>
        </p:txBody>
      </p:sp>
      <p:sp>
        <p:nvSpPr>
          <p:cNvPr id="6" name="Slide Number Placeholder 5">
            <a:extLst>
              <a:ext uri="{FF2B5EF4-FFF2-40B4-BE49-F238E27FC236}">
                <a16:creationId xmlns:a16="http://schemas.microsoft.com/office/drawing/2014/main" id="{22BE9AA5-7241-CEF6-C92F-0B351A4B5351}"/>
              </a:ext>
            </a:extLst>
          </p:cNvPr>
          <p:cNvSpPr>
            <a:spLocks noGrp="1"/>
          </p:cNvSpPr>
          <p:nvPr>
            <p:ph type="sldNum" sz="quarter" idx="12"/>
          </p:nvPr>
        </p:nvSpPr>
        <p:spPr/>
        <p:txBody>
          <a:bodyPr/>
          <a:lstStyle/>
          <a:p>
            <a:fld id="{B25CD6D1-AFF1-48DE-A96E-79F26011F782}" type="slidenum">
              <a:rPr lang="en-US" smtClean="0"/>
              <a:t>‹#›</a:t>
            </a:fld>
            <a:endParaRPr lang="en-US"/>
          </a:p>
        </p:txBody>
      </p:sp>
    </p:spTree>
    <p:extLst>
      <p:ext uri="{BB962C8B-B14F-4D97-AF65-F5344CB8AC3E}">
        <p14:creationId xmlns:p14="http://schemas.microsoft.com/office/powerpoint/2010/main" val="39920310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91B2C78-1AC3-29C5-EE66-4C01B7F12AA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ABB0A2C-73E1-211E-032F-75E5F030D51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1B686-845E-ED4E-00A0-B008B865A2C3}"/>
              </a:ext>
            </a:extLst>
          </p:cNvPr>
          <p:cNvSpPr>
            <a:spLocks noGrp="1"/>
          </p:cNvSpPr>
          <p:nvPr>
            <p:ph type="dt" sz="half" idx="10"/>
          </p:nvPr>
        </p:nvSpPr>
        <p:spPr/>
        <p:txBody>
          <a:bodyPr/>
          <a:lstStyle/>
          <a:p>
            <a:fld id="{33889EE6-51D4-445C-ABB0-60D4ED7DBC26}" type="datetime1">
              <a:rPr lang="en-US" smtClean="0"/>
              <a:t>3/23/2023</a:t>
            </a:fld>
            <a:endParaRPr lang="en-US"/>
          </a:p>
        </p:txBody>
      </p:sp>
      <p:sp>
        <p:nvSpPr>
          <p:cNvPr id="5" name="Footer Placeholder 4">
            <a:extLst>
              <a:ext uri="{FF2B5EF4-FFF2-40B4-BE49-F238E27FC236}">
                <a16:creationId xmlns:a16="http://schemas.microsoft.com/office/drawing/2014/main" id="{BF867B72-8027-397A-1AC3-AD40F43F5A2D}"/>
              </a:ext>
            </a:extLst>
          </p:cNvPr>
          <p:cNvSpPr>
            <a:spLocks noGrp="1"/>
          </p:cNvSpPr>
          <p:nvPr>
            <p:ph type="ftr" sz="quarter" idx="11"/>
          </p:nvPr>
        </p:nvSpPr>
        <p:spPr/>
        <p:txBody>
          <a:bodyPr/>
          <a:lstStyle/>
          <a:p>
            <a:r>
              <a:rPr lang="en-US"/>
              <a:t>Mrs Saranya Babu, Asst. Professor, GAT</a:t>
            </a:r>
          </a:p>
        </p:txBody>
      </p:sp>
      <p:sp>
        <p:nvSpPr>
          <p:cNvPr id="6" name="Slide Number Placeholder 5">
            <a:extLst>
              <a:ext uri="{FF2B5EF4-FFF2-40B4-BE49-F238E27FC236}">
                <a16:creationId xmlns:a16="http://schemas.microsoft.com/office/drawing/2014/main" id="{BB43CBC1-2CAC-A000-511A-7661F99EC916}"/>
              </a:ext>
            </a:extLst>
          </p:cNvPr>
          <p:cNvSpPr>
            <a:spLocks noGrp="1"/>
          </p:cNvSpPr>
          <p:nvPr>
            <p:ph type="sldNum" sz="quarter" idx="12"/>
          </p:nvPr>
        </p:nvSpPr>
        <p:spPr/>
        <p:txBody>
          <a:bodyPr/>
          <a:lstStyle/>
          <a:p>
            <a:fld id="{B25CD6D1-AFF1-48DE-A96E-79F26011F782}" type="slidenum">
              <a:rPr lang="en-US" smtClean="0"/>
              <a:t>‹#›</a:t>
            </a:fld>
            <a:endParaRPr lang="en-US"/>
          </a:p>
        </p:txBody>
      </p:sp>
    </p:spTree>
    <p:extLst>
      <p:ext uri="{BB962C8B-B14F-4D97-AF65-F5344CB8AC3E}">
        <p14:creationId xmlns:p14="http://schemas.microsoft.com/office/powerpoint/2010/main" val="21529084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7452B7E-FB7F-D747-1E13-0278E68D297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14DE6EB-C390-F9ED-D6F3-08677E70B65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7E6C62-B6DC-672F-A702-F16D751C03F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CCC1681-AD32-4831-9738-B99FA1B326CD}" type="datetime1">
              <a:rPr lang="en-US" smtClean="0"/>
              <a:t>3/23/2023</a:t>
            </a:fld>
            <a:endParaRPr lang="en-US"/>
          </a:p>
        </p:txBody>
      </p:sp>
      <p:sp>
        <p:nvSpPr>
          <p:cNvPr id="5" name="Footer Placeholder 4">
            <a:extLst>
              <a:ext uri="{FF2B5EF4-FFF2-40B4-BE49-F238E27FC236}">
                <a16:creationId xmlns:a16="http://schemas.microsoft.com/office/drawing/2014/main" id="{807730BF-188D-72DF-CDFC-7875712C4F5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Mrs Saranya Babu, Asst. Professor, GAT</a:t>
            </a:r>
          </a:p>
        </p:txBody>
      </p:sp>
      <p:sp>
        <p:nvSpPr>
          <p:cNvPr id="6" name="Slide Number Placeholder 5">
            <a:extLst>
              <a:ext uri="{FF2B5EF4-FFF2-40B4-BE49-F238E27FC236}">
                <a16:creationId xmlns:a16="http://schemas.microsoft.com/office/drawing/2014/main" id="{F615EB84-637F-C2A1-BD9B-4B0B87C271A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5CD6D1-AFF1-48DE-A96E-79F26011F782}" type="slidenum">
              <a:rPr lang="en-US" smtClean="0"/>
              <a:t>‹#›</a:t>
            </a:fld>
            <a:endParaRPr lang="en-US"/>
          </a:p>
        </p:txBody>
      </p:sp>
    </p:spTree>
    <p:extLst>
      <p:ext uri="{BB962C8B-B14F-4D97-AF65-F5344CB8AC3E}">
        <p14:creationId xmlns:p14="http://schemas.microsoft.com/office/powerpoint/2010/main" val="24545405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package" Target="../embeddings/Microsoft_Word_Document.docx"/><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ctr">
              <a:buNone/>
            </a:pPr>
            <a:r>
              <a:rPr lang="en-US" sz="4000" b="1" dirty="0">
                <a:solidFill>
                  <a:srgbClr val="FF0000"/>
                </a:solidFill>
              </a:rPr>
              <a:t>MODULE-5</a:t>
            </a:r>
          </a:p>
          <a:p>
            <a:pPr algn="ctr">
              <a:buNone/>
            </a:pPr>
            <a:r>
              <a:rPr lang="en-US" sz="4000" b="1" dirty="0">
                <a:solidFill>
                  <a:srgbClr val="FF0000"/>
                </a:solidFill>
              </a:rPr>
              <a:t>STRUCTURES AND FILES</a:t>
            </a:r>
          </a:p>
          <a:p>
            <a:pPr algn="ctr">
              <a:buNone/>
            </a:pPr>
            <a:endParaRPr lang="en-US" sz="4000" b="1" dirty="0">
              <a:solidFill>
                <a:srgbClr val="FF0000"/>
              </a:solidFill>
            </a:endParaRPr>
          </a:p>
          <a:p>
            <a:pPr algn="ctr">
              <a:buNone/>
            </a:pPr>
            <a:r>
              <a:rPr lang="en-US" sz="2000" b="1" dirty="0">
                <a:solidFill>
                  <a:srgbClr val="FF0000"/>
                </a:solidFill>
              </a:rPr>
              <a:t>C  PROGRAMMING (INTEGRATED)- 22CSE14</a:t>
            </a:r>
          </a:p>
        </p:txBody>
      </p:sp>
      <p:sp>
        <p:nvSpPr>
          <p:cNvPr id="6" name="Footer Placeholder 5">
            <a:extLst>
              <a:ext uri="{FF2B5EF4-FFF2-40B4-BE49-F238E27FC236}">
                <a16:creationId xmlns:a16="http://schemas.microsoft.com/office/drawing/2014/main" id="{75F36FF0-7A22-B4EA-4B36-740A33D73CD4}"/>
              </a:ext>
            </a:extLst>
          </p:cNvPr>
          <p:cNvSpPr>
            <a:spLocks noGrp="1"/>
          </p:cNvSpPr>
          <p:nvPr>
            <p:ph type="ftr" sz="quarter" idx="11"/>
          </p:nvPr>
        </p:nvSpPr>
        <p:spPr/>
        <p:txBody>
          <a:bodyPr/>
          <a:lstStyle/>
          <a:p>
            <a:r>
              <a:rPr lang="en-US"/>
              <a:t>Mrs Saranya Babu, Asst. Professor, GAT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31036" y="156717"/>
            <a:ext cx="1668145" cy="391160"/>
          </a:xfrm>
          <a:prstGeom prst="rect">
            <a:avLst/>
          </a:prstGeom>
        </p:spPr>
        <p:txBody>
          <a:bodyPr vert="horz" wrap="square" lIns="0" tIns="12700" rIns="0" bIns="0" rtlCol="0" anchor="ctr">
            <a:spAutoFit/>
          </a:bodyPr>
          <a:lstStyle/>
          <a:p>
            <a:pPr marL="12700">
              <a:lnSpc>
                <a:spcPct val="100000"/>
              </a:lnSpc>
              <a:spcBef>
                <a:spcPts val="100"/>
              </a:spcBef>
            </a:pPr>
            <a:r>
              <a:rPr sz="2400" spc="-135" dirty="0">
                <a:solidFill>
                  <a:srgbClr val="000000"/>
                </a:solidFill>
              </a:rPr>
              <a:t>C</a:t>
            </a:r>
            <a:r>
              <a:rPr lang="en-US" sz="2400" spc="-135" dirty="0">
                <a:solidFill>
                  <a:srgbClr val="000000"/>
                </a:solidFill>
              </a:rPr>
              <a:t>    </a:t>
            </a:r>
            <a:r>
              <a:rPr sz="2400" spc="-135" dirty="0">
                <a:solidFill>
                  <a:srgbClr val="000000"/>
                </a:solidFill>
              </a:rPr>
              <a:t>Data</a:t>
            </a:r>
            <a:r>
              <a:rPr sz="2400" spc="-325" dirty="0">
                <a:solidFill>
                  <a:srgbClr val="000000"/>
                </a:solidFill>
              </a:rPr>
              <a:t> </a:t>
            </a:r>
            <a:r>
              <a:rPr sz="2400" spc="-140" dirty="0">
                <a:solidFill>
                  <a:srgbClr val="000000"/>
                </a:solidFill>
              </a:rPr>
              <a:t>Types:</a:t>
            </a:r>
            <a:endParaRPr sz="2400" dirty="0"/>
          </a:p>
        </p:txBody>
      </p:sp>
      <p:sp>
        <p:nvSpPr>
          <p:cNvPr id="3" name="object 3"/>
          <p:cNvSpPr txBox="1"/>
          <p:nvPr/>
        </p:nvSpPr>
        <p:spPr>
          <a:xfrm>
            <a:off x="1831035" y="528905"/>
            <a:ext cx="2155190" cy="329565"/>
          </a:xfrm>
          <a:prstGeom prst="rect">
            <a:avLst/>
          </a:prstGeom>
        </p:spPr>
        <p:txBody>
          <a:bodyPr vert="horz" wrap="square" lIns="0" tIns="12065" rIns="0" bIns="0" rtlCol="0">
            <a:spAutoFit/>
          </a:bodyPr>
          <a:lstStyle/>
          <a:p>
            <a:pPr marL="216535" indent="-204470">
              <a:spcBef>
                <a:spcPts val="95"/>
              </a:spcBef>
              <a:buSzPct val="95000"/>
              <a:buFont typeface="Wingdings"/>
              <a:buChar char=""/>
              <a:tabLst>
                <a:tab pos="217170" algn="l"/>
              </a:tabLst>
            </a:pPr>
            <a:r>
              <a:rPr sz="2000" spc="-65" dirty="0">
                <a:latin typeface="Arial"/>
                <a:cs typeface="Arial"/>
              </a:rPr>
              <a:t>Primary data</a:t>
            </a:r>
            <a:r>
              <a:rPr sz="2000" spc="-459" dirty="0">
                <a:latin typeface="Arial"/>
                <a:cs typeface="Arial"/>
              </a:rPr>
              <a:t> </a:t>
            </a:r>
            <a:r>
              <a:rPr sz="2000" spc="-80" dirty="0">
                <a:latin typeface="Arial"/>
                <a:cs typeface="Arial"/>
              </a:rPr>
              <a:t>types</a:t>
            </a:r>
            <a:endParaRPr sz="2000">
              <a:latin typeface="Arial"/>
              <a:cs typeface="Arial"/>
            </a:endParaRPr>
          </a:p>
        </p:txBody>
      </p:sp>
      <p:sp>
        <p:nvSpPr>
          <p:cNvPr id="4" name="object 4"/>
          <p:cNvSpPr txBox="1"/>
          <p:nvPr/>
        </p:nvSpPr>
        <p:spPr>
          <a:xfrm>
            <a:off x="1831035" y="834645"/>
            <a:ext cx="2150110" cy="329565"/>
          </a:xfrm>
          <a:prstGeom prst="rect">
            <a:avLst/>
          </a:prstGeom>
        </p:spPr>
        <p:txBody>
          <a:bodyPr vert="horz" wrap="square" lIns="0" tIns="11430" rIns="0" bIns="0" rtlCol="0">
            <a:spAutoFit/>
          </a:bodyPr>
          <a:lstStyle/>
          <a:p>
            <a:pPr marL="216535" indent="-204470">
              <a:spcBef>
                <a:spcPts val="90"/>
              </a:spcBef>
              <a:buSzPct val="95000"/>
              <a:buFont typeface="Wingdings"/>
              <a:buChar char=""/>
              <a:tabLst>
                <a:tab pos="217170" algn="l"/>
              </a:tabLst>
            </a:pPr>
            <a:r>
              <a:rPr sz="2000" spc="-95" dirty="0">
                <a:latin typeface="Arial"/>
                <a:cs typeface="Arial"/>
              </a:rPr>
              <a:t>Derived </a:t>
            </a:r>
            <a:r>
              <a:rPr sz="2000" spc="-65" dirty="0">
                <a:latin typeface="Arial"/>
                <a:cs typeface="Arial"/>
              </a:rPr>
              <a:t>data</a:t>
            </a:r>
            <a:r>
              <a:rPr sz="2000" spc="-290" dirty="0">
                <a:latin typeface="Arial"/>
                <a:cs typeface="Arial"/>
              </a:rPr>
              <a:t> </a:t>
            </a:r>
            <a:r>
              <a:rPr sz="2000" spc="-75" dirty="0">
                <a:latin typeface="Arial"/>
                <a:cs typeface="Arial"/>
              </a:rPr>
              <a:t>types</a:t>
            </a:r>
            <a:endParaRPr sz="2000">
              <a:latin typeface="Arial"/>
              <a:cs typeface="Arial"/>
            </a:endParaRPr>
          </a:p>
        </p:txBody>
      </p:sp>
      <p:sp>
        <p:nvSpPr>
          <p:cNvPr id="5" name="object 5"/>
          <p:cNvSpPr txBox="1"/>
          <p:nvPr/>
        </p:nvSpPr>
        <p:spPr>
          <a:xfrm>
            <a:off x="5334000" y="685800"/>
            <a:ext cx="1295400" cy="533400"/>
          </a:xfrm>
          <a:prstGeom prst="rect">
            <a:avLst/>
          </a:prstGeom>
          <a:solidFill>
            <a:srgbClr val="4F81BB"/>
          </a:solidFill>
          <a:ln w="24383">
            <a:solidFill>
              <a:srgbClr val="385D88"/>
            </a:solidFill>
          </a:ln>
        </p:spPr>
        <p:txBody>
          <a:bodyPr vert="horz" wrap="square" lIns="0" tIns="0" rIns="0" bIns="0" rtlCol="0">
            <a:spAutoFit/>
          </a:bodyPr>
          <a:lstStyle/>
          <a:p>
            <a:pPr marL="287655">
              <a:lnSpc>
                <a:spcPts val="1945"/>
              </a:lnSpc>
            </a:pPr>
            <a:r>
              <a:rPr spc="-65" dirty="0">
                <a:solidFill>
                  <a:srgbClr val="FFFFFF"/>
                </a:solidFill>
                <a:latin typeface="Arial"/>
                <a:cs typeface="Arial"/>
              </a:rPr>
              <a:t>Derived</a:t>
            </a:r>
            <a:endParaRPr>
              <a:latin typeface="Arial"/>
              <a:cs typeface="Arial"/>
            </a:endParaRPr>
          </a:p>
          <a:p>
            <a:pPr marL="385445"/>
            <a:r>
              <a:rPr spc="-145" dirty="0">
                <a:solidFill>
                  <a:srgbClr val="FFFFFF"/>
                </a:solidFill>
                <a:latin typeface="Arial"/>
                <a:cs typeface="Arial"/>
              </a:rPr>
              <a:t>Types</a:t>
            </a:r>
            <a:endParaRPr>
              <a:latin typeface="Arial"/>
              <a:cs typeface="Arial"/>
            </a:endParaRPr>
          </a:p>
        </p:txBody>
      </p:sp>
      <p:sp>
        <p:nvSpPr>
          <p:cNvPr id="6" name="object 6"/>
          <p:cNvSpPr txBox="1"/>
          <p:nvPr/>
        </p:nvSpPr>
        <p:spPr>
          <a:xfrm>
            <a:off x="2057400" y="2362200"/>
            <a:ext cx="1295400" cy="533400"/>
          </a:xfrm>
          <a:prstGeom prst="rect">
            <a:avLst/>
          </a:prstGeom>
          <a:solidFill>
            <a:srgbClr val="4F81BB"/>
          </a:solidFill>
          <a:ln w="24384">
            <a:solidFill>
              <a:srgbClr val="385D88"/>
            </a:solidFill>
          </a:ln>
        </p:spPr>
        <p:txBody>
          <a:bodyPr vert="horz" wrap="square" lIns="0" tIns="0" rIns="0" bIns="0" rtlCol="0">
            <a:spAutoFit/>
          </a:bodyPr>
          <a:lstStyle/>
          <a:p>
            <a:pPr marL="5715" algn="ctr">
              <a:lnSpc>
                <a:spcPts val="1955"/>
              </a:lnSpc>
            </a:pPr>
            <a:r>
              <a:rPr spc="-60" dirty="0">
                <a:solidFill>
                  <a:srgbClr val="FFFFFF"/>
                </a:solidFill>
                <a:latin typeface="Arial"/>
                <a:cs typeface="Arial"/>
              </a:rPr>
              <a:t>Function</a:t>
            </a:r>
            <a:endParaRPr>
              <a:latin typeface="Arial"/>
              <a:cs typeface="Arial"/>
            </a:endParaRPr>
          </a:p>
          <a:p>
            <a:pPr marL="14604" algn="ctr"/>
            <a:r>
              <a:rPr spc="-140" dirty="0">
                <a:solidFill>
                  <a:srgbClr val="FFFFFF"/>
                </a:solidFill>
                <a:latin typeface="Arial"/>
                <a:cs typeface="Arial"/>
              </a:rPr>
              <a:t>Type</a:t>
            </a:r>
            <a:endParaRPr>
              <a:latin typeface="Arial"/>
              <a:cs typeface="Arial"/>
            </a:endParaRPr>
          </a:p>
        </p:txBody>
      </p:sp>
      <p:sp>
        <p:nvSpPr>
          <p:cNvPr id="7" name="object 7"/>
          <p:cNvSpPr txBox="1"/>
          <p:nvPr/>
        </p:nvSpPr>
        <p:spPr>
          <a:xfrm>
            <a:off x="7239000" y="2362200"/>
            <a:ext cx="1295400" cy="533400"/>
          </a:xfrm>
          <a:prstGeom prst="rect">
            <a:avLst/>
          </a:prstGeom>
          <a:solidFill>
            <a:srgbClr val="4F81BB"/>
          </a:solidFill>
          <a:ln w="24384">
            <a:solidFill>
              <a:srgbClr val="385D88"/>
            </a:solidFill>
          </a:ln>
        </p:spPr>
        <p:txBody>
          <a:bodyPr vert="horz" wrap="square" lIns="0" tIns="0" rIns="0" bIns="0" rtlCol="0">
            <a:spAutoFit/>
          </a:bodyPr>
          <a:lstStyle/>
          <a:p>
            <a:pPr marL="12065" algn="ctr">
              <a:lnSpc>
                <a:spcPts val="1955"/>
              </a:lnSpc>
            </a:pPr>
            <a:r>
              <a:rPr spc="-65" dirty="0">
                <a:solidFill>
                  <a:srgbClr val="FFFFFF"/>
                </a:solidFill>
                <a:latin typeface="Arial"/>
                <a:cs typeface="Arial"/>
              </a:rPr>
              <a:t>Structure</a:t>
            </a:r>
            <a:endParaRPr>
              <a:latin typeface="Arial"/>
              <a:cs typeface="Arial"/>
            </a:endParaRPr>
          </a:p>
          <a:p>
            <a:pPr marL="18415" algn="ctr"/>
            <a:r>
              <a:rPr spc="-140" dirty="0">
                <a:solidFill>
                  <a:srgbClr val="FFFFFF"/>
                </a:solidFill>
                <a:latin typeface="Arial"/>
                <a:cs typeface="Arial"/>
              </a:rPr>
              <a:t>Type</a:t>
            </a:r>
            <a:endParaRPr>
              <a:latin typeface="Arial"/>
              <a:cs typeface="Arial"/>
            </a:endParaRPr>
          </a:p>
        </p:txBody>
      </p:sp>
      <p:sp>
        <p:nvSpPr>
          <p:cNvPr id="8" name="object 8"/>
          <p:cNvSpPr txBox="1"/>
          <p:nvPr/>
        </p:nvSpPr>
        <p:spPr>
          <a:xfrm>
            <a:off x="3657600" y="2362201"/>
            <a:ext cx="1295400" cy="387927"/>
          </a:xfrm>
          <a:prstGeom prst="rect">
            <a:avLst/>
          </a:prstGeom>
          <a:solidFill>
            <a:srgbClr val="4F81BB"/>
          </a:solidFill>
          <a:ln w="24383">
            <a:solidFill>
              <a:srgbClr val="385D88"/>
            </a:solidFill>
          </a:ln>
        </p:spPr>
        <p:txBody>
          <a:bodyPr vert="horz" wrap="square" lIns="0" tIns="109855" rIns="0" bIns="0" rtlCol="0">
            <a:spAutoFit/>
          </a:bodyPr>
          <a:lstStyle/>
          <a:p>
            <a:pPr marL="156210">
              <a:spcBef>
                <a:spcPts val="865"/>
              </a:spcBef>
            </a:pPr>
            <a:r>
              <a:rPr spc="-80" dirty="0">
                <a:solidFill>
                  <a:srgbClr val="FFFFFF"/>
                </a:solidFill>
                <a:latin typeface="Arial"/>
                <a:cs typeface="Arial"/>
              </a:rPr>
              <a:t>Array</a:t>
            </a:r>
            <a:r>
              <a:rPr spc="-225" dirty="0">
                <a:solidFill>
                  <a:srgbClr val="FFFFFF"/>
                </a:solidFill>
                <a:latin typeface="Arial"/>
                <a:cs typeface="Arial"/>
              </a:rPr>
              <a:t> </a:t>
            </a:r>
            <a:r>
              <a:rPr spc="-140" dirty="0">
                <a:solidFill>
                  <a:srgbClr val="FFFFFF"/>
                </a:solidFill>
                <a:latin typeface="Arial"/>
                <a:cs typeface="Arial"/>
              </a:rPr>
              <a:t>Type</a:t>
            </a:r>
            <a:endParaRPr>
              <a:latin typeface="Arial"/>
              <a:cs typeface="Arial"/>
            </a:endParaRPr>
          </a:p>
        </p:txBody>
      </p:sp>
      <p:sp>
        <p:nvSpPr>
          <p:cNvPr id="9" name="object 9"/>
          <p:cNvSpPr txBox="1"/>
          <p:nvPr/>
        </p:nvSpPr>
        <p:spPr>
          <a:xfrm>
            <a:off x="5486400" y="2362200"/>
            <a:ext cx="1295400" cy="533400"/>
          </a:xfrm>
          <a:prstGeom prst="rect">
            <a:avLst/>
          </a:prstGeom>
          <a:solidFill>
            <a:srgbClr val="4F81BB"/>
          </a:solidFill>
          <a:ln w="24383">
            <a:solidFill>
              <a:srgbClr val="385D88"/>
            </a:solidFill>
          </a:ln>
        </p:spPr>
        <p:txBody>
          <a:bodyPr vert="horz" wrap="square" lIns="0" tIns="0" rIns="0" bIns="0" rtlCol="0">
            <a:spAutoFit/>
          </a:bodyPr>
          <a:lstStyle/>
          <a:p>
            <a:pPr marL="314960">
              <a:lnSpc>
                <a:spcPts val="1955"/>
              </a:lnSpc>
            </a:pPr>
            <a:r>
              <a:rPr spc="-60" dirty="0">
                <a:solidFill>
                  <a:srgbClr val="FFFFFF"/>
                </a:solidFill>
                <a:latin typeface="Arial"/>
                <a:cs typeface="Arial"/>
              </a:rPr>
              <a:t>Pointer</a:t>
            </a:r>
            <a:endParaRPr>
              <a:latin typeface="Arial"/>
              <a:cs typeface="Arial"/>
            </a:endParaRPr>
          </a:p>
          <a:p>
            <a:pPr marL="436880"/>
            <a:r>
              <a:rPr spc="-140" dirty="0">
                <a:solidFill>
                  <a:srgbClr val="FFFFFF"/>
                </a:solidFill>
                <a:latin typeface="Arial"/>
                <a:cs typeface="Arial"/>
              </a:rPr>
              <a:t>Type</a:t>
            </a:r>
            <a:endParaRPr>
              <a:latin typeface="Arial"/>
              <a:cs typeface="Arial"/>
            </a:endParaRPr>
          </a:p>
        </p:txBody>
      </p:sp>
      <p:sp>
        <p:nvSpPr>
          <p:cNvPr id="10" name="object 10"/>
          <p:cNvSpPr/>
          <p:nvPr/>
        </p:nvSpPr>
        <p:spPr>
          <a:xfrm>
            <a:off x="2743200" y="1219200"/>
            <a:ext cx="6781800" cy="1143000"/>
          </a:xfrm>
          <a:custGeom>
            <a:avLst/>
            <a:gdLst/>
            <a:ahLst/>
            <a:cxnLst/>
            <a:rect l="l" t="t" r="r" b="b"/>
            <a:pathLst>
              <a:path w="6781800" h="1143000">
                <a:moveTo>
                  <a:pt x="3125724" y="0"/>
                </a:moveTo>
                <a:lnTo>
                  <a:pt x="3124200" y="379475"/>
                </a:lnTo>
              </a:path>
              <a:path w="6781800" h="1143000">
                <a:moveTo>
                  <a:pt x="0" y="381000"/>
                </a:moveTo>
                <a:lnTo>
                  <a:pt x="6781800" y="382650"/>
                </a:lnTo>
              </a:path>
              <a:path w="6781800" h="1143000">
                <a:moveTo>
                  <a:pt x="1525651" y="381000"/>
                </a:moveTo>
                <a:lnTo>
                  <a:pt x="1524000" y="1143000"/>
                </a:lnTo>
              </a:path>
              <a:path w="6781800" h="1143000">
                <a:moveTo>
                  <a:pt x="1587" y="381000"/>
                </a:moveTo>
                <a:lnTo>
                  <a:pt x="0" y="1143000"/>
                </a:lnTo>
              </a:path>
              <a:path w="6781800" h="1143000">
                <a:moveTo>
                  <a:pt x="3354451" y="381000"/>
                </a:moveTo>
                <a:lnTo>
                  <a:pt x="3352800" y="1143000"/>
                </a:lnTo>
              </a:path>
              <a:path w="6781800" h="1143000">
                <a:moveTo>
                  <a:pt x="5107051" y="381000"/>
                </a:moveTo>
                <a:lnTo>
                  <a:pt x="5105400" y="1143000"/>
                </a:lnTo>
              </a:path>
            </a:pathLst>
          </a:custGeom>
          <a:ln w="12192">
            <a:solidFill>
              <a:srgbClr val="487CB9"/>
            </a:solidFill>
          </a:ln>
        </p:spPr>
        <p:txBody>
          <a:bodyPr wrap="square" lIns="0" tIns="0" rIns="0" bIns="0" rtlCol="0"/>
          <a:lstStyle/>
          <a:p>
            <a:endParaRPr/>
          </a:p>
        </p:txBody>
      </p:sp>
      <p:sp>
        <p:nvSpPr>
          <p:cNvPr id="11" name="object 11"/>
          <p:cNvSpPr txBox="1"/>
          <p:nvPr/>
        </p:nvSpPr>
        <p:spPr>
          <a:xfrm>
            <a:off x="8915400" y="2362201"/>
            <a:ext cx="1295400" cy="387927"/>
          </a:xfrm>
          <a:prstGeom prst="rect">
            <a:avLst/>
          </a:prstGeom>
          <a:solidFill>
            <a:srgbClr val="4F81BB"/>
          </a:solidFill>
          <a:ln w="24384">
            <a:solidFill>
              <a:srgbClr val="385D88"/>
            </a:solidFill>
          </a:ln>
        </p:spPr>
        <p:txBody>
          <a:bodyPr vert="horz" wrap="square" lIns="0" tIns="109855" rIns="0" bIns="0" rtlCol="0">
            <a:spAutoFit/>
          </a:bodyPr>
          <a:lstStyle/>
          <a:p>
            <a:pPr marL="124460">
              <a:spcBef>
                <a:spcPts val="865"/>
              </a:spcBef>
            </a:pPr>
            <a:r>
              <a:rPr spc="-60" dirty="0">
                <a:solidFill>
                  <a:srgbClr val="FFFFFF"/>
                </a:solidFill>
                <a:latin typeface="Arial"/>
                <a:cs typeface="Arial"/>
              </a:rPr>
              <a:t>Union</a:t>
            </a:r>
            <a:r>
              <a:rPr spc="-225" dirty="0">
                <a:solidFill>
                  <a:srgbClr val="FFFFFF"/>
                </a:solidFill>
                <a:latin typeface="Arial"/>
                <a:cs typeface="Arial"/>
              </a:rPr>
              <a:t> </a:t>
            </a:r>
            <a:r>
              <a:rPr spc="-140" dirty="0">
                <a:solidFill>
                  <a:srgbClr val="FFFFFF"/>
                </a:solidFill>
                <a:latin typeface="Arial"/>
                <a:cs typeface="Arial"/>
              </a:rPr>
              <a:t>Type</a:t>
            </a:r>
            <a:endParaRPr>
              <a:latin typeface="Arial"/>
              <a:cs typeface="Arial"/>
            </a:endParaRPr>
          </a:p>
        </p:txBody>
      </p:sp>
      <p:sp>
        <p:nvSpPr>
          <p:cNvPr id="12" name="object 12"/>
          <p:cNvSpPr/>
          <p:nvPr/>
        </p:nvSpPr>
        <p:spPr>
          <a:xfrm>
            <a:off x="9525001" y="1600200"/>
            <a:ext cx="3175" cy="762000"/>
          </a:xfrm>
          <a:custGeom>
            <a:avLst/>
            <a:gdLst/>
            <a:ahLst/>
            <a:cxnLst/>
            <a:rect l="l" t="t" r="r" b="b"/>
            <a:pathLst>
              <a:path w="3175" h="762000">
                <a:moveTo>
                  <a:pt x="2667" y="0"/>
                </a:moveTo>
                <a:lnTo>
                  <a:pt x="0" y="762000"/>
                </a:lnTo>
              </a:path>
            </a:pathLst>
          </a:custGeom>
          <a:ln w="12192">
            <a:solidFill>
              <a:srgbClr val="487CB9"/>
            </a:solidFill>
          </a:ln>
        </p:spPr>
        <p:txBody>
          <a:bodyPr wrap="square" lIns="0" tIns="0" rIns="0" bIns="0" rtlCol="0"/>
          <a:lstStyle/>
          <a:p>
            <a:endParaRPr/>
          </a:p>
        </p:txBody>
      </p:sp>
      <p:sp>
        <p:nvSpPr>
          <p:cNvPr id="13" name="object 13"/>
          <p:cNvSpPr txBox="1"/>
          <p:nvPr/>
        </p:nvSpPr>
        <p:spPr>
          <a:xfrm>
            <a:off x="1907235" y="3148075"/>
            <a:ext cx="7971790" cy="3260508"/>
          </a:xfrm>
          <a:prstGeom prst="rect">
            <a:avLst/>
          </a:prstGeom>
        </p:spPr>
        <p:txBody>
          <a:bodyPr vert="horz" wrap="square" lIns="0" tIns="13335" rIns="0" bIns="0" rtlCol="0">
            <a:spAutoFit/>
          </a:bodyPr>
          <a:lstStyle/>
          <a:p>
            <a:pPr marL="12700">
              <a:spcBef>
                <a:spcPts val="105"/>
              </a:spcBef>
            </a:pPr>
            <a:r>
              <a:rPr sz="1600" b="1" spc="-35" dirty="0">
                <a:latin typeface="Arial"/>
                <a:cs typeface="Arial"/>
              </a:rPr>
              <a:t>Array </a:t>
            </a:r>
            <a:r>
              <a:rPr sz="1600" b="1" dirty="0">
                <a:latin typeface="Arial"/>
                <a:cs typeface="Arial"/>
              </a:rPr>
              <a:t>– Collection of one or </a:t>
            </a:r>
            <a:r>
              <a:rPr sz="1600" b="1" spc="5" dirty="0">
                <a:latin typeface="Arial"/>
                <a:cs typeface="Arial"/>
              </a:rPr>
              <a:t>more </a:t>
            </a:r>
            <a:r>
              <a:rPr sz="1600" b="1" dirty="0">
                <a:latin typeface="Arial"/>
                <a:cs typeface="Arial"/>
              </a:rPr>
              <a:t>related </a:t>
            </a:r>
            <a:r>
              <a:rPr sz="1600" b="1" spc="-5" dirty="0">
                <a:latin typeface="Arial"/>
                <a:cs typeface="Arial"/>
              </a:rPr>
              <a:t>variables </a:t>
            </a:r>
            <a:r>
              <a:rPr sz="1600" b="1" dirty="0">
                <a:latin typeface="Arial"/>
                <a:cs typeface="Arial"/>
              </a:rPr>
              <a:t>of similar data</a:t>
            </a:r>
            <a:r>
              <a:rPr sz="1600" b="1" spc="-290" dirty="0">
                <a:latin typeface="Arial"/>
                <a:cs typeface="Arial"/>
              </a:rPr>
              <a:t> </a:t>
            </a:r>
            <a:r>
              <a:rPr sz="1600" b="1" spc="-40" dirty="0">
                <a:latin typeface="Arial"/>
                <a:cs typeface="Arial"/>
              </a:rPr>
              <a:t>type </a:t>
            </a:r>
            <a:r>
              <a:rPr sz="1600" b="1" spc="5" dirty="0">
                <a:latin typeface="Arial"/>
                <a:cs typeface="Arial"/>
              </a:rPr>
              <a:t>grouped</a:t>
            </a:r>
            <a:endParaRPr sz="1600">
              <a:latin typeface="Arial"/>
              <a:cs typeface="Arial"/>
            </a:endParaRPr>
          </a:p>
          <a:p>
            <a:pPr marL="12700"/>
            <a:r>
              <a:rPr sz="1600" b="1" dirty="0">
                <a:latin typeface="Arial"/>
                <a:cs typeface="Arial"/>
              </a:rPr>
              <a:t>under </a:t>
            </a:r>
            <a:r>
              <a:rPr sz="1600" b="1" spc="5" dirty="0">
                <a:latin typeface="Arial"/>
                <a:cs typeface="Arial"/>
              </a:rPr>
              <a:t>a </a:t>
            </a:r>
            <a:r>
              <a:rPr sz="1600" b="1" dirty="0">
                <a:latin typeface="Arial"/>
                <a:cs typeface="Arial"/>
              </a:rPr>
              <a:t>single</a:t>
            </a:r>
            <a:r>
              <a:rPr sz="1600" b="1" spc="-110" dirty="0">
                <a:latin typeface="Arial"/>
                <a:cs typeface="Arial"/>
              </a:rPr>
              <a:t> </a:t>
            </a:r>
            <a:r>
              <a:rPr sz="1600" b="1" spc="5" dirty="0">
                <a:latin typeface="Arial"/>
                <a:cs typeface="Arial"/>
              </a:rPr>
              <a:t>name</a:t>
            </a:r>
            <a:endParaRPr sz="1600">
              <a:latin typeface="Arial"/>
              <a:cs typeface="Arial"/>
            </a:endParaRPr>
          </a:p>
          <a:p>
            <a:pPr>
              <a:spcBef>
                <a:spcPts val="15"/>
              </a:spcBef>
            </a:pPr>
            <a:endParaRPr sz="1700">
              <a:latin typeface="Arial"/>
              <a:cs typeface="Arial"/>
            </a:endParaRPr>
          </a:p>
          <a:p>
            <a:pPr marL="67310"/>
            <a:r>
              <a:rPr sz="1600" b="1" dirty="0">
                <a:latin typeface="Arial"/>
                <a:cs typeface="Arial"/>
              </a:rPr>
              <a:t>Structure</a:t>
            </a:r>
            <a:r>
              <a:rPr sz="1600" b="1" spc="-70" dirty="0">
                <a:latin typeface="Arial"/>
                <a:cs typeface="Arial"/>
              </a:rPr>
              <a:t> </a:t>
            </a:r>
            <a:r>
              <a:rPr sz="1600" b="1" spc="5" dirty="0">
                <a:latin typeface="Arial"/>
                <a:cs typeface="Arial"/>
              </a:rPr>
              <a:t>–</a:t>
            </a:r>
            <a:r>
              <a:rPr sz="1600" b="1" spc="-25" dirty="0">
                <a:latin typeface="Arial"/>
                <a:cs typeface="Arial"/>
              </a:rPr>
              <a:t> </a:t>
            </a:r>
            <a:r>
              <a:rPr sz="1600" b="1" dirty="0">
                <a:latin typeface="Arial"/>
                <a:cs typeface="Arial"/>
              </a:rPr>
              <a:t>Collection</a:t>
            </a:r>
            <a:r>
              <a:rPr sz="1600" b="1" spc="-85" dirty="0">
                <a:latin typeface="Arial"/>
                <a:cs typeface="Arial"/>
              </a:rPr>
              <a:t> </a:t>
            </a:r>
            <a:r>
              <a:rPr sz="1600" b="1" dirty="0">
                <a:latin typeface="Arial"/>
                <a:cs typeface="Arial"/>
              </a:rPr>
              <a:t>of</a:t>
            </a:r>
            <a:r>
              <a:rPr sz="1600" b="1" spc="-10" dirty="0">
                <a:latin typeface="Arial"/>
                <a:cs typeface="Arial"/>
              </a:rPr>
              <a:t> </a:t>
            </a:r>
            <a:r>
              <a:rPr sz="1600" b="1" spc="5" dirty="0">
                <a:latin typeface="Arial"/>
                <a:cs typeface="Arial"/>
              </a:rPr>
              <a:t>one</a:t>
            </a:r>
            <a:r>
              <a:rPr sz="1600" b="1" spc="-45" dirty="0">
                <a:latin typeface="Arial"/>
                <a:cs typeface="Arial"/>
              </a:rPr>
              <a:t> </a:t>
            </a:r>
            <a:r>
              <a:rPr sz="1600" b="1" spc="5" dirty="0">
                <a:latin typeface="Arial"/>
                <a:cs typeface="Arial"/>
              </a:rPr>
              <a:t>or</a:t>
            </a:r>
            <a:r>
              <a:rPr sz="1600" b="1" spc="-35" dirty="0">
                <a:latin typeface="Arial"/>
                <a:cs typeface="Arial"/>
              </a:rPr>
              <a:t> </a:t>
            </a:r>
            <a:r>
              <a:rPr sz="1600" b="1" spc="5" dirty="0">
                <a:latin typeface="Arial"/>
                <a:cs typeface="Arial"/>
              </a:rPr>
              <a:t>more</a:t>
            </a:r>
            <a:r>
              <a:rPr sz="1600" b="1" spc="-70" dirty="0">
                <a:latin typeface="Arial"/>
                <a:cs typeface="Arial"/>
              </a:rPr>
              <a:t> </a:t>
            </a:r>
            <a:r>
              <a:rPr sz="1600" b="1" spc="-5" dirty="0">
                <a:latin typeface="Arial"/>
                <a:cs typeface="Arial"/>
              </a:rPr>
              <a:t>related</a:t>
            </a:r>
            <a:r>
              <a:rPr sz="1600" b="1" spc="-35" dirty="0">
                <a:latin typeface="Arial"/>
                <a:cs typeface="Arial"/>
              </a:rPr>
              <a:t> </a:t>
            </a:r>
            <a:r>
              <a:rPr sz="1600" b="1" spc="-5" dirty="0">
                <a:latin typeface="Arial"/>
                <a:cs typeface="Arial"/>
              </a:rPr>
              <a:t>variables</a:t>
            </a:r>
            <a:r>
              <a:rPr sz="1600" b="1" spc="-90" dirty="0">
                <a:latin typeface="Arial"/>
                <a:cs typeface="Arial"/>
              </a:rPr>
              <a:t> </a:t>
            </a:r>
            <a:r>
              <a:rPr sz="1600" b="1" dirty="0">
                <a:latin typeface="Arial"/>
                <a:cs typeface="Arial"/>
              </a:rPr>
              <a:t>of</a:t>
            </a:r>
            <a:r>
              <a:rPr sz="1600" b="1" spc="-25" dirty="0">
                <a:latin typeface="Arial"/>
                <a:cs typeface="Arial"/>
              </a:rPr>
              <a:t> </a:t>
            </a:r>
            <a:r>
              <a:rPr sz="1600" b="1" dirty="0">
                <a:latin typeface="Arial"/>
                <a:cs typeface="Arial"/>
              </a:rPr>
              <a:t>different</a:t>
            </a:r>
            <a:endParaRPr sz="1600">
              <a:latin typeface="Arial"/>
              <a:cs typeface="Arial"/>
            </a:endParaRPr>
          </a:p>
          <a:p>
            <a:pPr marL="12700">
              <a:spcBef>
                <a:spcPts val="5"/>
              </a:spcBef>
            </a:pPr>
            <a:r>
              <a:rPr sz="1600" b="1" dirty="0">
                <a:latin typeface="Arial"/>
                <a:cs typeface="Arial"/>
              </a:rPr>
              <a:t>data </a:t>
            </a:r>
            <a:r>
              <a:rPr sz="1600" b="1" spc="-15" dirty="0">
                <a:latin typeface="Arial"/>
                <a:cs typeface="Arial"/>
              </a:rPr>
              <a:t>types, </a:t>
            </a:r>
            <a:r>
              <a:rPr sz="1600" b="1" dirty="0">
                <a:latin typeface="Arial"/>
                <a:cs typeface="Arial"/>
              </a:rPr>
              <a:t>grouped under a single</a:t>
            </a:r>
            <a:r>
              <a:rPr sz="1600" b="1" spc="-95" dirty="0">
                <a:latin typeface="Arial"/>
                <a:cs typeface="Arial"/>
              </a:rPr>
              <a:t> </a:t>
            </a:r>
            <a:r>
              <a:rPr sz="1600" b="1" spc="5" dirty="0">
                <a:latin typeface="Arial"/>
                <a:cs typeface="Arial"/>
              </a:rPr>
              <a:t>name</a:t>
            </a:r>
            <a:endParaRPr sz="1600">
              <a:latin typeface="Arial"/>
              <a:cs typeface="Arial"/>
            </a:endParaRPr>
          </a:p>
          <a:p>
            <a:pPr>
              <a:spcBef>
                <a:spcPts val="35"/>
              </a:spcBef>
            </a:pPr>
            <a:endParaRPr sz="1700">
              <a:latin typeface="Arial"/>
              <a:cs typeface="Arial"/>
            </a:endParaRPr>
          </a:p>
          <a:p>
            <a:pPr marL="12700"/>
            <a:r>
              <a:rPr sz="1600" b="1" dirty="0">
                <a:latin typeface="Arial"/>
                <a:cs typeface="Arial"/>
              </a:rPr>
              <a:t>Union</a:t>
            </a:r>
            <a:r>
              <a:rPr sz="1600" b="1" spc="-50" dirty="0">
                <a:latin typeface="Arial"/>
                <a:cs typeface="Arial"/>
              </a:rPr>
              <a:t> </a:t>
            </a:r>
            <a:r>
              <a:rPr sz="1600" b="1" spc="-40" dirty="0">
                <a:latin typeface="Arial"/>
                <a:cs typeface="Arial"/>
              </a:rPr>
              <a:t>type</a:t>
            </a:r>
            <a:r>
              <a:rPr sz="1600" b="1" spc="85" dirty="0">
                <a:latin typeface="Arial"/>
                <a:cs typeface="Arial"/>
              </a:rPr>
              <a:t> </a:t>
            </a:r>
            <a:r>
              <a:rPr sz="1600" b="1" dirty="0">
                <a:latin typeface="Arial"/>
                <a:cs typeface="Arial"/>
              </a:rPr>
              <a:t>–is</a:t>
            </a:r>
            <a:r>
              <a:rPr sz="1600" b="1" spc="-40" dirty="0">
                <a:latin typeface="Arial"/>
                <a:cs typeface="Arial"/>
              </a:rPr>
              <a:t> </a:t>
            </a:r>
            <a:r>
              <a:rPr sz="1600" spc="-5" dirty="0">
                <a:latin typeface="Arial"/>
                <a:cs typeface="Arial"/>
              </a:rPr>
              <a:t>Derived</a:t>
            </a:r>
            <a:r>
              <a:rPr sz="1600" spc="-10" dirty="0">
                <a:latin typeface="Arial"/>
                <a:cs typeface="Arial"/>
              </a:rPr>
              <a:t> </a:t>
            </a:r>
            <a:r>
              <a:rPr sz="1600" dirty="0">
                <a:latin typeface="Arial"/>
                <a:cs typeface="Arial"/>
              </a:rPr>
              <a:t>data</a:t>
            </a:r>
            <a:r>
              <a:rPr sz="1600" spc="-50" dirty="0">
                <a:latin typeface="Arial"/>
                <a:cs typeface="Arial"/>
              </a:rPr>
              <a:t> </a:t>
            </a:r>
            <a:r>
              <a:rPr sz="1600" spc="-5" dirty="0">
                <a:latin typeface="Arial"/>
                <a:cs typeface="Arial"/>
              </a:rPr>
              <a:t>types</a:t>
            </a:r>
            <a:r>
              <a:rPr sz="1600" spc="-40" dirty="0">
                <a:latin typeface="Arial"/>
                <a:cs typeface="Arial"/>
              </a:rPr>
              <a:t> </a:t>
            </a:r>
            <a:r>
              <a:rPr sz="1600" dirty="0">
                <a:latin typeface="Arial"/>
                <a:cs typeface="Arial"/>
              </a:rPr>
              <a:t>and</a:t>
            </a:r>
            <a:r>
              <a:rPr sz="1600" spc="-45" dirty="0">
                <a:latin typeface="Arial"/>
                <a:cs typeface="Arial"/>
              </a:rPr>
              <a:t> </a:t>
            </a:r>
            <a:r>
              <a:rPr sz="1600" b="1" dirty="0">
                <a:latin typeface="Arial"/>
                <a:cs typeface="Arial"/>
              </a:rPr>
              <a:t>Collection</a:t>
            </a:r>
            <a:r>
              <a:rPr sz="1600" b="1" spc="-75" dirty="0">
                <a:latin typeface="Arial"/>
                <a:cs typeface="Arial"/>
              </a:rPr>
              <a:t> </a:t>
            </a:r>
            <a:r>
              <a:rPr sz="1600" b="1" dirty="0">
                <a:latin typeface="Arial"/>
                <a:cs typeface="Arial"/>
              </a:rPr>
              <a:t>of</a:t>
            </a:r>
            <a:r>
              <a:rPr sz="1600" b="1" spc="-10" dirty="0">
                <a:latin typeface="Arial"/>
                <a:cs typeface="Arial"/>
              </a:rPr>
              <a:t> </a:t>
            </a:r>
            <a:r>
              <a:rPr sz="1600" b="1" spc="5" dirty="0">
                <a:latin typeface="Arial"/>
                <a:cs typeface="Arial"/>
              </a:rPr>
              <a:t>one</a:t>
            </a:r>
            <a:r>
              <a:rPr sz="1600" b="1" spc="-35" dirty="0">
                <a:latin typeface="Arial"/>
                <a:cs typeface="Arial"/>
              </a:rPr>
              <a:t> </a:t>
            </a:r>
            <a:r>
              <a:rPr sz="1600" b="1" spc="5" dirty="0">
                <a:latin typeface="Arial"/>
                <a:cs typeface="Arial"/>
              </a:rPr>
              <a:t>or</a:t>
            </a:r>
            <a:r>
              <a:rPr sz="1600" b="1" spc="-10" dirty="0">
                <a:latin typeface="Arial"/>
                <a:cs typeface="Arial"/>
              </a:rPr>
              <a:t> </a:t>
            </a:r>
            <a:r>
              <a:rPr sz="1600" b="1" spc="5" dirty="0">
                <a:latin typeface="Arial"/>
                <a:cs typeface="Arial"/>
              </a:rPr>
              <a:t>more</a:t>
            </a:r>
            <a:r>
              <a:rPr sz="1600" b="1" spc="-90" dirty="0">
                <a:latin typeface="Arial"/>
                <a:cs typeface="Arial"/>
              </a:rPr>
              <a:t> </a:t>
            </a:r>
            <a:r>
              <a:rPr sz="1600" b="1" spc="-5" dirty="0">
                <a:latin typeface="Arial"/>
                <a:cs typeface="Arial"/>
              </a:rPr>
              <a:t>related</a:t>
            </a:r>
            <a:r>
              <a:rPr sz="1600" b="1" spc="-25" dirty="0">
                <a:latin typeface="Arial"/>
                <a:cs typeface="Arial"/>
              </a:rPr>
              <a:t> </a:t>
            </a:r>
            <a:r>
              <a:rPr sz="1600" b="1" dirty="0">
                <a:latin typeface="Arial"/>
                <a:cs typeface="Arial"/>
              </a:rPr>
              <a:t>variables</a:t>
            </a:r>
            <a:r>
              <a:rPr sz="1600" b="1" spc="-100" dirty="0">
                <a:latin typeface="Arial"/>
                <a:cs typeface="Arial"/>
              </a:rPr>
              <a:t> </a:t>
            </a:r>
            <a:r>
              <a:rPr sz="1600" b="1" dirty="0">
                <a:latin typeface="Arial"/>
                <a:cs typeface="Arial"/>
              </a:rPr>
              <a:t>of</a:t>
            </a:r>
            <a:endParaRPr sz="1600">
              <a:latin typeface="Arial"/>
              <a:cs typeface="Arial"/>
            </a:endParaRPr>
          </a:p>
          <a:p>
            <a:pPr marL="12700">
              <a:spcBef>
                <a:spcPts val="5"/>
              </a:spcBef>
            </a:pPr>
            <a:r>
              <a:rPr sz="1600" b="1" spc="-5" dirty="0">
                <a:latin typeface="Arial"/>
                <a:cs typeface="Arial"/>
              </a:rPr>
              <a:t>different </a:t>
            </a:r>
            <a:r>
              <a:rPr sz="1600" b="1" dirty="0">
                <a:latin typeface="Arial"/>
                <a:cs typeface="Arial"/>
              </a:rPr>
              <a:t>data </a:t>
            </a:r>
            <a:r>
              <a:rPr sz="1600" b="1" spc="-15" dirty="0">
                <a:latin typeface="Arial"/>
                <a:cs typeface="Arial"/>
              </a:rPr>
              <a:t>types, </a:t>
            </a:r>
            <a:r>
              <a:rPr sz="1600" b="1" dirty="0">
                <a:latin typeface="Arial"/>
                <a:cs typeface="Arial"/>
              </a:rPr>
              <a:t>grouped under a single</a:t>
            </a:r>
            <a:r>
              <a:rPr sz="1600" b="1" spc="-75" dirty="0">
                <a:latin typeface="Arial"/>
                <a:cs typeface="Arial"/>
              </a:rPr>
              <a:t> </a:t>
            </a:r>
            <a:r>
              <a:rPr sz="1600" b="1" spc="5" dirty="0">
                <a:latin typeface="Arial"/>
                <a:cs typeface="Arial"/>
              </a:rPr>
              <a:t>name</a:t>
            </a:r>
            <a:endParaRPr sz="1600">
              <a:latin typeface="Arial"/>
              <a:cs typeface="Arial"/>
            </a:endParaRPr>
          </a:p>
          <a:p>
            <a:pPr>
              <a:spcBef>
                <a:spcPts val="10"/>
              </a:spcBef>
            </a:pPr>
            <a:endParaRPr sz="1700">
              <a:latin typeface="Arial"/>
              <a:cs typeface="Arial"/>
            </a:endParaRPr>
          </a:p>
          <a:p>
            <a:pPr marL="12700" marR="5080"/>
            <a:r>
              <a:rPr sz="1600" b="1" spc="-5" dirty="0">
                <a:latin typeface="Arial"/>
                <a:cs typeface="Arial"/>
              </a:rPr>
              <a:t>Note</a:t>
            </a:r>
            <a:r>
              <a:rPr sz="1600" spc="-5" dirty="0">
                <a:latin typeface="Arial"/>
                <a:cs typeface="Arial"/>
              </a:rPr>
              <a:t>: </a:t>
            </a:r>
            <a:r>
              <a:rPr sz="1600" b="1" spc="-15" dirty="0">
                <a:latin typeface="Arial"/>
                <a:cs typeface="Arial"/>
              </a:rPr>
              <a:t>Array </a:t>
            </a:r>
            <a:r>
              <a:rPr sz="1600" dirty="0">
                <a:latin typeface="Arial"/>
                <a:cs typeface="Arial"/>
              </a:rPr>
              <a:t>is used </a:t>
            </a:r>
            <a:r>
              <a:rPr sz="1600" spc="5" dirty="0">
                <a:latin typeface="Arial"/>
                <a:cs typeface="Arial"/>
              </a:rPr>
              <a:t>to </a:t>
            </a:r>
            <a:r>
              <a:rPr sz="1600" spc="-5" dirty="0">
                <a:latin typeface="Arial"/>
                <a:cs typeface="Arial"/>
              </a:rPr>
              <a:t>represent </a:t>
            </a:r>
            <a:r>
              <a:rPr sz="1600" spc="5" dirty="0">
                <a:latin typeface="Arial"/>
                <a:cs typeface="Arial"/>
              </a:rPr>
              <a:t>a </a:t>
            </a:r>
            <a:r>
              <a:rPr sz="1600" spc="-5" dirty="0">
                <a:latin typeface="Arial"/>
                <a:cs typeface="Arial"/>
              </a:rPr>
              <a:t>group of </a:t>
            </a:r>
            <a:r>
              <a:rPr sz="1600" dirty="0">
                <a:latin typeface="Arial"/>
                <a:cs typeface="Arial"/>
              </a:rPr>
              <a:t>data </a:t>
            </a:r>
            <a:r>
              <a:rPr sz="1600" spc="5" dirty="0">
                <a:latin typeface="Arial"/>
                <a:cs typeface="Arial"/>
              </a:rPr>
              <a:t>items </a:t>
            </a:r>
            <a:r>
              <a:rPr sz="1600" dirty="0">
                <a:latin typeface="Arial"/>
                <a:cs typeface="Arial"/>
              </a:rPr>
              <a:t>that </a:t>
            </a:r>
            <a:r>
              <a:rPr sz="1600" spc="-5" dirty="0">
                <a:latin typeface="Arial"/>
                <a:cs typeface="Arial"/>
              </a:rPr>
              <a:t>belongs </a:t>
            </a:r>
            <a:r>
              <a:rPr sz="1600" spc="5" dirty="0">
                <a:latin typeface="Arial"/>
                <a:cs typeface="Arial"/>
              </a:rPr>
              <a:t>to </a:t>
            </a:r>
            <a:r>
              <a:rPr sz="1600" spc="10" dirty="0">
                <a:latin typeface="Arial"/>
                <a:cs typeface="Arial"/>
              </a:rPr>
              <a:t>same </a:t>
            </a:r>
            <a:r>
              <a:rPr sz="1600" spc="5" dirty="0">
                <a:latin typeface="Arial"/>
                <a:cs typeface="Arial"/>
              </a:rPr>
              <a:t>data-type,  </a:t>
            </a:r>
            <a:r>
              <a:rPr sz="1600" dirty="0">
                <a:latin typeface="Arial"/>
                <a:cs typeface="Arial"/>
              </a:rPr>
              <a:t>such </a:t>
            </a:r>
            <a:r>
              <a:rPr sz="1600" spc="-5" dirty="0">
                <a:latin typeface="Arial"/>
                <a:cs typeface="Arial"/>
              </a:rPr>
              <a:t>as </a:t>
            </a:r>
            <a:r>
              <a:rPr sz="1600" dirty="0">
                <a:latin typeface="Arial"/>
                <a:cs typeface="Arial"/>
              </a:rPr>
              <a:t>int </a:t>
            </a:r>
            <a:r>
              <a:rPr sz="1600" spc="-5" dirty="0">
                <a:latin typeface="Arial"/>
                <a:cs typeface="Arial"/>
              </a:rPr>
              <a:t>or </a:t>
            </a:r>
            <a:r>
              <a:rPr sz="1600" dirty="0">
                <a:latin typeface="Arial"/>
                <a:cs typeface="Arial"/>
              </a:rPr>
              <a:t>float. </a:t>
            </a:r>
            <a:r>
              <a:rPr sz="1600" spc="-45" dirty="0">
                <a:latin typeface="Arial"/>
                <a:cs typeface="Arial"/>
              </a:rPr>
              <a:t>However, </a:t>
            </a:r>
            <a:r>
              <a:rPr sz="1600" dirty="0">
                <a:latin typeface="Arial"/>
                <a:cs typeface="Arial"/>
              </a:rPr>
              <a:t>if </a:t>
            </a:r>
            <a:r>
              <a:rPr sz="1600" spc="-30" dirty="0">
                <a:latin typeface="Arial"/>
                <a:cs typeface="Arial"/>
              </a:rPr>
              <a:t>we </a:t>
            </a:r>
            <a:r>
              <a:rPr sz="1600" spc="-10" dirty="0">
                <a:latin typeface="Arial"/>
                <a:cs typeface="Arial"/>
              </a:rPr>
              <a:t>want </a:t>
            </a:r>
            <a:r>
              <a:rPr sz="1600" spc="5" dirty="0">
                <a:latin typeface="Arial"/>
                <a:cs typeface="Arial"/>
              </a:rPr>
              <a:t>to </a:t>
            </a:r>
            <a:r>
              <a:rPr sz="1600" spc="-5" dirty="0">
                <a:latin typeface="Arial"/>
                <a:cs typeface="Arial"/>
              </a:rPr>
              <a:t>represent </a:t>
            </a:r>
            <a:r>
              <a:rPr sz="1600" dirty="0">
                <a:latin typeface="Arial"/>
                <a:cs typeface="Arial"/>
              </a:rPr>
              <a:t>a </a:t>
            </a:r>
            <a:r>
              <a:rPr sz="1600" spc="-5" dirty="0">
                <a:latin typeface="Arial"/>
                <a:cs typeface="Arial"/>
              </a:rPr>
              <a:t>collection of </a:t>
            </a:r>
            <a:r>
              <a:rPr sz="1600" dirty="0">
                <a:latin typeface="Arial"/>
                <a:cs typeface="Arial"/>
              </a:rPr>
              <a:t>data </a:t>
            </a:r>
            <a:r>
              <a:rPr sz="1600" spc="5" dirty="0">
                <a:latin typeface="Arial"/>
                <a:cs typeface="Arial"/>
              </a:rPr>
              <a:t>items </a:t>
            </a:r>
            <a:r>
              <a:rPr sz="1600" spc="-5" dirty="0">
                <a:latin typeface="Arial"/>
                <a:cs typeface="Arial"/>
              </a:rPr>
              <a:t>of</a:t>
            </a:r>
            <a:r>
              <a:rPr sz="1600" spc="-290" dirty="0">
                <a:latin typeface="Arial"/>
                <a:cs typeface="Arial"/>
              </a:rPr>
              <a:t> </a:t>
            </a:r>
            <a:r>
              <a:rPr sz="1600" spc="-5" dirty="0">
                <a:latin typeface="Arial"/>
                <a:cs typeface="Arial"/>
              </a:rPr>
              <a:t>different  data-types </a:t>
            </a:r>
            <a:r>
              <a:rPr sz="1600" dirty="0">
                <a:latin typeface="Arial"/>
                <a:cs typeface="Arial"/>
              </a:rPr>
              <a:t>using a single name, then </a:t>
            </a:r>
            <a:r>
              <a:rPr sz="1600" spc="-30" dirty="0">
                <a:latin typeface="Arial"/>
                <a:cs typeface="Arial"/>
              </a:rPr>
              <a:t>we </a:t>
            </a:r>
            <a:r>
              <a:rPr sz="1600" spc="-5" dirty="0">
                <a:latin typeface="Arial"/>
                <a:cs typeface="Arial"/>
              </a:rPr>
              <a:t>cannot </a:t>
            </a:r>
            <a:r>
              <a:rPr sz="1600" dirty="0">
                <a:latin typeface="Arial"/>
                <a:cs typeface="Arial"/>
              </a:rPr>
              <a:t>use </a:t>
            </a:r>
            <a:r>
              <a:rPr sz="1600" spc="-5" dirty="0">
                <a:latin typeface="Arial"/>
                <a:cs typeface="Arial"/>
              </a:rPr>
              <a:t>an </a:t>
            </a:r>
            <a:r>
              <a:rPr sz="1600" spc="-45" dirty="0">
                <a:latin typeface="Arial"/>
                <a:cs typeface="Arial"/>
              </a:rPr>
              <a:t>array. </a:t>
            </a:r>
            <a:r>
              <a:rPr sz="1600" dirty="0">
                <a:latin typeface="Arial"/>
                <a:cs typeface="Arial"/>
              </a:rPr>
              <a:t>For </a:t>
            </a:r>
            <a:r>
              <a:rPr sz="1600" spc="-5" dirty="0">
                <a:latin typeface="Arial"/>
                <a:cs typeface="Arial"/>
              </a:rPr>
              <a:t>that </a:t>
            </a:r>
            <a:r>
              <a:rPr sz="1600" spc="5" dirty="0">
                <a:latin typeface="Arial"/>
                <a:cs typeface="Arial"/>
              </a:rPr>
              <a:t>C </a:t>
            </a:r>
            <a:r>
              <a:rPr sz="1600" spc="-5" dirty="0">
                <a:latin typeface="Arial"/>
                <a:cs typeface="Arial"/>
              </a:rPr>
              <a:t>supports  constructed </a:t>
            </a:r>
            <a:r>
              <a:rPr sz="1600" dirty="0">
                <a:latin typeface="Arial"/>
                <a:cs typeface="Arial"/>
              </a:rPr>
              <a:t>data </a:t>
            </a:r>
            <a:r>
              <a:rPr sz="1600" spc="-5" dirty="0">
                <a:latin typeface="Arial"/>
                <a:cs typeface="Arial"/>
              </a:rPr>
              <a:t>type </a:t>
            </a:r>
            <a:r>
              <a:rPr sz="1600" spc="-10" dirty="0">
                <a:latin typeface="Arial"/>
                <a:cs typeface="Arial"/>
              </a:rPr>
              <a:t>known </a:t>
            </a:r>
            <a:r>
              <a:rPr sz="1600" spc="-5" dirty="0">
                <a:latin typeface="Arial"/>
                <a:cs typeface="Arial"/>
              </a:rPr>
              <a:t>as</a:t>
            </a:r>
            <a:r>
              <a:rPr sz="1600" spc="-120" dirty="0">
                <a:latin typeface="Arial"/>
                <a:cs typeface="Arial"/>
              </a:rPr>
              <a:t> </a:t>
            </a:r>
            <a:r>
              <a:rPr sz="1600" b="1" spc="-5" dirty="0">
                <a:latin typeface="Arial"/>
                <a:cs typeface="Arial"/>
              </a:rPr>
              <a:t>structure</a:t>
            </a:r>
            <a:r>
              <a:rPr sz="1600" spc="-5" dirty="0">
                <a:latin typeface="Arial"/>
                <a:cs typeface="Arial"/>
              </a:rPr>
              <a:t>.</a:t>
            </a:r>
            <a:endParaRPr sz="1600">
              <a:latin typeface="Arial"/>
              <a:cs typeface="Arial"/>
            </a:endParaRPr>
          </a:p>
        </p:txBody>
      </p:sp>
      <p:sp>
        <p:nvSpPr>
          <p:cNvPr id="14" name="object 14"/>
          <p:cNvSpPr txBox="1"/>
          <p:nvPr/>
        </p:nvSpPr>
        <p:spPr>
          <a:xfrm>
            <a:off x="10007854" y="6435788"/>
            <a:ext cx="161290" cy="179536"/>
          </a:xfrm>
          <a:prstGeom prst="rect">
            <a:avLst/>
          </a:prstGeom>
        </p:spPr>
        <p:txBody>
          <a:bodyPr vert="horz" wrap="square" lIns="0" tIns="0" rIns="0" bIns="0" rtlCol="0">
            <a:spAutoFit/>
          </a:bodyPr>
          <a:lstStyle/>
          <a:p>
            <a:pPr marL="38100">
              <a:lnSpc>
                <a:spcPts val="1430"/>
              </a:lnSpc>
            </a:pPr>
            <a:r>
              <a:rPr sz="1200" dirty="0">
                <a:solidFill>
                  <a:srgbClr val="878787"/>
                </a:solidFill>
                <a:latin typeface="Arial"/>
                <a:cs typeface="Arial"/>
              </a:rPr>
              <a:t>3</a:t>
            </a:r>
            <a:endParaRPr sz="1200">
              <a:latin typeface="Arial"/>
              <a:cs typeface="Arial"/>
            </a:endParaRPr>
          </a:p>
        </p:txBody>
      </p:sp>
      <p:sp>
        <p:nvSpPr>
          <p:cNvPr id="15" name="Footer Placeholder 14">
            <a:extLst>
              <a:ext uri="{FF2B5EF4-FFF2-40B4-BE49-F238E27FC236}">
                <a16:creationId xmlns:a16="http://schemas.microsoft.com/office/drawing/2014/main" id="{175F1CF5-1C7B-CE3A-749B-A6DC51D88707}"/>
              </a:ext>
            </a:extLst>
          </p:cNvPr>
          <p:cNvSpPr>
            <a:spLocks noGrp="1"/>
          </p:cNvSpPr>
          <p:nvPr>
            <p:ph type="ftr" sz="quarter" idx="11"/>
          </p:nvPr>
        </p:nvSpPr>
        <p:spPr/>
        <p:txBody>
          <a:bodyPr/>
          <a:lstStyle/>
          <a:p>
            <a:r>
              <a:rPr lang="en-US"/>
              <a:t>Mrs Saranya Babu, Asst. Professor, GAT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438400" y="457200"/>
            <a:ext cx="7696200" cy="5181600"/>
          </a:xfrm>
        </p:spPr>
        <p:txBody>
          <a:bodyPr>
            <a:normAutofit/>
          </a:bodyPr>
          <a:lstStyle/>
          <a:p>
            <a:pPr algn="just"/>
            <a:endParaRPr lang="en-US" dirty="0">
              <a:solidFill>
                <a:schemeClr val="tx1"/>
              </a:solidFill>
            </a:endParaRPr>
          </a:p>
          <a:p>
            <a:pPr algn="l"/>
            <a:r>
              <a:rPr lang="en-US" b="1" u="sng" dirty="0">
                <a:solidFill>
                  <a:srgbClr val="FF0000"/>
                </a:solidFill>
              </a:rPr>
              <a:t>Definition of Structure</a:t>
            </a:r>
          </a:p>
          <a:p>
            <a:pPr algn="just"/>
            <a:r>
              <a:rPr lang="en-US" b="1" dirty="0">
                <a:solidFill>
                  <a:schemeClr val="tx1"/>
                </a:solidFill>
              </a:rPr>
              <a:t>Structure is a collection of elements of same or different data types under a single name.</a:t>
            </a:r>
          </a:p>
          <a:p>
            <a:pPr algn="just"/>
            <a:endParaRPr lang="en-US" dirty="0">
              <a:solidFill>
                <a:schemeClr val="tx1"/>
              </a:solidFill>
            </a:endParaRPr>
          </a:p>
        </p:txBody>
      </p:sp>
      <p:sp>
        <p:nvSpPr>
          <p:cNvPr id="2" name="Footer Placeholder 1">
            <a:extLst>
              <a:ext uri="{FF2B5EF4-FFF2-40B4-BE49-F238E27FC236}">
                <a16:creationId xmlns:a16="http://schemas.microsoft.com/office/drawing/2014/main" id="{3D4AD2B7-15A4-EE9B-C328-FFFD08F04040}"/>
              </a:ext>
            </a:extLst>
          </p:cNvPr>
          <p:cNvSpPr>
            <a:spLocks noGrp="1"/>
          </p:cNvSpPr>
          <p:nvPr>
            <p:ph type="ftr" sz="quarter" idx="11"/>
          </p:nvPr>
        </p:nvSpPr>
        <p:spPr/>
        <p:txBody>
          <a:bodyPr/>
          <a:lstStyle/>
          <a:p>
            <a:r>
              <a:rPr lang="en-US"/>
              <a:t>Mrs Saranya Babu, Asst. Professor, GAT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endParaRPr lang="en-US"/>
          </a:p>
        </p:txBody>
      </p:sp>
      <p:sp>
        <p:nvSpPr>
          <p:cNvPr id="5" name="Content Placeholder 4"/>
          <p:cNvSpPr>
            <a:spLocks noGrp="1"/>
          </p:cNvSpPr>
          <p:nvPr>
            <p:ph sz="half" idx="1"/>
          </p:nvPr>
        </p:nvSpPr>
        <p:spPr/>
        <p:txBody>
          <a:bodyPr>
            <a:normAutofit fontScale="92500" lnSpcReduction="20000"/>
          </a:bodyPr>
          <a:lstStyle/>
          <a:p>
            <a:pPr algn="just">
              <a:buNone/>
            </a:pPr>
            <a:r>
              <a:rPr lang="en-US" b="1" u="sng" dirty="0">
                <a:solidFill>
                  <a:srgbClr val="FF0000"/>
                </a:solidFill>
              </a:rPr>
              <a:t>Structure Definition:</a:t>
            </a:r>
          </a:p>
          <a:p>
            <a:pPr algn="just">
              <a:buNone/>
            </a:pPr>
            <a:r>
              <a:rPr lang="en-US" b="1" dirty="0"/>
              <a:t>Syntax:</a:t>
            </a:r>
          </a:p>
          <a:p>
            <a:pPr algn="just">
              <a:buNone/>
            </a:pPr>
            <a:r>
              <a:rPr lang="en-US" dirty="0" err="1"/>
              <a:t>struct</a:t>
            </a:r>
            <a:r>
              <a:rPr lang="en-US" dirty="0"/>
              <a:t> </a:t>
            </a:r>
            <a:r>
              <a:rPr lang="en-US" dirty="0" err="1"/>
              <a:t>tagName</a:t>
            </a:r>
            <a:endParaRPr lang="en-US" dirty="0"/>
          </a:p>
          <a:p>
            <a:pPr algn="just">
              <a:buNone/>
            </a:pPr>
            <a:r>
              <a:rPr lang="en-US" b="1" dirty="0"/>
              <a:t>{</a:t>
            </a:r>
          </a:p>
          <a:p>
            <a:pPr algn="just">
              <a:buNone/>
            </a:pPr>
            <a:r>
              <a:rPr lang="en-US" dirty="0" err="1"/>
              <a:t>datatype</a:t>
            </a:r>
            <a:r>
              <a:rPr lang="en-US" dirty="0"/>
              <a:t> member1;</a:t>
            </a:r>
          </a:p>
          <a:p>
            <a:pPr algn="just">
              <a:buNone/>
            </a:pPr>
            <a:r>
              <a:rPr lang="en-US" dirty="0" err="1"/>
              <a:t>datatype</a:t>
            </a:r>
            <a:r>
              <a:rPr lang="en-US" dirty="0"/>
              <a:t> member2;</a:t>
            </a:r>
          </a:p>
          <a:p>
            <a:pPr algn="just">
              <a:buNone/>
            </a:pPr>
            <a:r>
              <a:rPr lang="en-US" dirty="0"/>
              <a:t>------------</a:t>
            </a:r>
          </a:p>
          <a:p>
            <a:pPr algn="just">
              <a:buNone/>
            </a:pPr>
            <a:r>
              <a:rPr lang="en-US" dirty="0"/>
              <a:t>------------</a:t>
            </a:r>
          </a:p>
          <a:p>
            <a:pPr algn="just">
              <a:buNone/>
            </a:pPr>
            <a:r>
              <a:rPr lang="en-US" dirty="0" err="1"/>
              <a:t>datatype</a:t>
            </a:r>
            <a:r>
              <a:rPr lang="en-US" dirty="0"/>
              <a:t> </a:t>
            </a:r>
            <a:r>
              <a:rPr lang="en-US" dirty="0" err="1"/>
              <a:t>membern</a:t>
            </a:r>
            <a:r>
              <a:rPr lang="en-US" dirty="0"/>
              <a:t>;</a:t>
            </a:r>
          </a:p>
          <a:p>
            <a:pPr algn="just">
              <a:buNone/>
            </a:pPr>
            <a:r>
              <a:rPr lang="en-US" b="1" dirty="0">
                <a:solidFill>
                  <a:srgbClr val="FF0000"/>
                </a:solidFill>
              </a:rPr>
              <a:t>} ;</a:t>
            </a:r>
            <a:endParaRPr lang="en-US" dirty="0">
              <a:solidFill>
                <a:srgbClr val="FF0000"/>
              </a:solidFill>
            </a:endParaRPr>
          </a:p>
          <a:p>
            <a:pPr>
              <a:buNone/>
            </a:pPr>
            <a:endParaRPr lang="en-US" dirty="0"/>
          </a:p>
        </p:txBody>
      </p:sp>
      <p:sp>
        <p:nvSpPr>
          <p:cNvPr id="6" name="Content Placeholder 5"/>
          <p:cNvSpPr>
            <a:spLocks noGrp="1"/>
          </p:cNvSpPr>
          <p:nvPr>
            <p:ph sz="half" idx="2"/>
          </p:nvPr>
        </p:nvSpPr>
        <p:spPr/>
        <p:txBody>
          <a:bodyPr>
            <a:normAutofit fontScale="92500" lnSpcReduction="20000"/>
          </a:bodyPr>
          <a:lstStyle/>
          <a:p>
            <a:pPr>
              <a:buNone/>
            </a:pPr>
            <a:endParaRPr lang="en-US" b="1" dirty="0"/>
          </a:p>
          <a:p>
            <a:pPr>
              <a:buNone/>
            </a:pPr>
            <a:r>
              <a:rPr lang="en-US" b="1" dirty="0"/>
              <a:t>Example :</a:t>
            </a:r>
            <a:endParaRPr lang="en-US" dirty="0"/>
          </a:p>
          <a:p>
            <a:pPr>
              <a:buNone/>
            </a:pPr>
            <a:r>
              <a:rPr lang="en-US" dirty="0" err="1"/>
              <a:t>struct</a:t>
            </a:r>
            <a:r>
              <a:rPr lang="en-US" dirty="0"/>
              <a:t> employee</a:t>
            </a:r>
          </a:p>
          <a:p>
            <a:pPr>
              <a:buNone/>
            </a:pPr>
            <a:r>
              <a:rPr lang="en-US" dirty="0"/>
              <a:t>{</a:t>
            </a:r>
          </a:p>
          <a:p>
            <a:pPr>
              <a:buNone/>
            </a:pPr>
            <a:r>
              <a:rPr lang="en-US" dirty="0"/>
              <a:t> char name[20];</a:t>
            </a:r>
          </a:p>
          <a:p>
            <a:pPr>
              <a:buNone/>
            </a:pPr>
            <a:r>
              <a:rPr lang="en-US" dirty="0"/>
              <a:t>float salary;</a:t>
            </a:r>
          </a:p>
          <a:p>
            <a:pPr>
              <a:buNone/>
            </a:pPr>
            <a:r>
              <a:rPr lang="en-US" dirty="0" err="1"/>
              <a:t>int</a:t>
            </a:r>
            <a:r>
              <a:rPr lang="en-US" dirty="0"/>
              <a:t> </a:t>
            </a:r>
            <a:r>
              <a:rPr lang="en-US" dirty="0" err="1"/>
              <a:t>empno</a:t>
            </a:r>
            <a:r>
              <a:rPr lang="en-US" dirty="0"/>
              <a:t>;</a:t>
            </a:r>
          </a:p>
          <a:p>
            <a:pPr>
              <a:buNone/>
            </a:pPr>
            <a:r>
              <a:rPr lang="en-US" b="1" dirty="0">
                <a:solidFill>
                  <a:srgbClr val="FF0000"/>
                </a:solidFill>
              </a:rPr>
              <a:t>};</a:t>
            </a:r>
          </a:p>
          <a:p>
            <a:pPr>
              <a:buNone/>
            </a:pPr>
            <a:endParaRPr lang="en-US" dirty="0"/>
          </a:p>
          <a:p>
            <a:pPr>
              <a:buNone/>
            </a:pPr>
            <a:endParaRPr lang="en-US" dirty="0"/>
          </a:p>
        </p:txBody>
      </p:sp>
      <p:sp>
        <p:nvSpPr>
          <p:cNvPr id="7" name="TextBox 6"/>
          <p:cNvSpPr txBox="1"/>
          <p:nvPr/>
        </p:nvSpPr>
        <p:spPr>
          <a:xfrm>
            <a:off x="8915400" y="2286000"/>
            <a:ext cx="990600" cy="338554"/>
          </a:xfrm>
          <a:prstGeom prst="rect">
            <a:avLst/>
          </a:prstGeom>
          <a:solidFill>
            <a:srgbClr val="FFC000"/>
          </a:solidFill>
        </p:spPr>
        <p:txBody>
          <a:bodyPr wrap="square" rtlCol="0">
            <a:spAutoFit/>
          </a:bodyPr>
          <a:lstStyle/>
          <a:p>
            <a:r>
              <a:rPr lang="en-US" sz="1600" dirty="0" err="1"/>
              <a:t>tagname</a:t>
            </a:r>
            <a:endParaRPr lang="en-US" sz="1600" dirty="0"/>
          </a:p>
        </p:txBody>
      </p:sp>
      <p:sp>
        <p:nvSpPr>
          <p:cNvPr id="8" name="TextBox 7"/>
          <p:cNvSpPr txBox="1"/>
          <p:nvPr/>
        </p:nvSpPr>
        <p:spPr>
          <a:xfrm>
            <a:off x="9144000" y="3581400"/>
            <a:ext cx="1143000" cy="369332"/>
          </a:xfrm>
          <a:prstGeom prst="rect">
            <a:avLst/>
          </a:prstGeom>
          <a:solidFill>
            <a:srgbClr val="FFC000"/>
          </a:solidFill>
        </p:spPr>
        <p:txBody>
          <a:bodyPr wrap="square" rtlCol="0">
            <a:spAutoFit/>
          </a:bodyPr>
          <a:lstStyle/>
          <a:p>
            <a:r>
              <a:rPr lang="en-US" dirty="0"/>
              <a:t>members</a:t>
            </a:r>
          </a:p>
        </p:txBody>
      </p:sp>
      <p:sp>
        <p:nvSpPr>
          <p:cNvPr id="9" name="Right Brace 8"/>
          <p:cNvSpPr/>
          <p:nvPr/>
        </p:nvSpPr>
        <p:spPr>
          <a:xfrm>
            <a:off x="8458200" y="3429000"/>
            <a:ext cx="228600" cy="1066800"/>
          </a:xfrm>
          <a:prstGeom prst="rightBrace">
            <a:avLst/>
          </a:prstGeom>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cxnSp>
        <p:nvCxnSpPr>
          <p:cNvPr id="11" name="Straight Arrow Connector 10"/>
          <p:cNvCxnSpPr>
            <a:endCxn id="7" idx="1"/>
          </p:cNvCxnSpPr>
          <p:nvPr/>
        </p:nvCxnSpPr>
        <p:spPr>
          <a:xfrm flipV="1">
            <a:off x="8534400" y="2455278"/>
            <a:ext cx="381000" cy="13552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flipV="1">
            <a:off x="8763000" y="3810001"/>
            <a:ext cx="381000" cy="13552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893D34C2-1359-181D-74B8-7B306BE83D24}"/>
              </a:ext>
            </a:extLst>
          </p:cNvPr>
          <p:cNvSpPr>
            <a:spLocks noGrp="1"/>
          </p:cNvSpPr>
          <p:nvPr>
            <p:ph type="ftr" sz="quarter" idx="11"/>
          </p:nvPr>
        </p:nvSpPr>
        <p:spPr/>
        <p:txBody>
          <a:bodyPr/>
          <a:lstStyle/>
          <a:p>
            <a:r>
              <a:rPr lang="en-US"/>
              <a:t>Mrs Saranya Babu, Asst. Professor, GAT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linds(horizontal)">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blinds(horizontal)">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blinds(horizontal)">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blinds(horizontal)">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blinds(horizontal)">
                                      <p:cBhvr>
                                        <p:cTn id="27" dur="5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blinds(horizontal)">
                                      <p:cBhvr>
                                        <p:cTn id="32" dur="500"/>
                                        <p:tgtEl>
                                          <p:spTgt spid="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5">
                                            <p:txEl>
                                              <p:pRg st="6" end="6"/>
                                            </p:txEl>
                                          </p:spTgt>
                                        </p:tgtEl>
                                        <p:attrNameLst>
                                          <p:attrName>style.visibility</p:attrName>
                                        </p:attrNameLst>
                                      </p:cBhvr>
                                      <p:to>
                                        <p:strVal val="visible"/>
                                      </p:to>
                                    </p:set>
                                    <p:animEffect transition="in" filter="blinds(horizontal)">
                                      <p:cBhvr>
                                        <p:cTn id="37" dur="500"/>
                                        <p:tgtEl>
                                          <p:spTgt spid="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5">
                                            <p:txEl>
                                              <p:pRg st="7" end="7"/>
                                            </p:txEl>
                                          </p:spTgt>
                                        </p:tgtEl>
                                        <p:attrNameLst>
                                          <p:attrName>style.visibility</p:attrName>
                                        </p:attrNameLst>
                                      </p:cBhvr>
                                      <p:to>
                                        <p:strVal val="visible"/>
                                      </p:to>
                                    </p:set>
                                    <p:animEffect transition="in" filter="blinds(horizontal)">
                                      <p:cBhvr>
                                        <p:cTn id="42" dur="500"/>
                                        <p:tgtEl>
                                          <p:spTgt spid="5">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5">
                                            <p:txEl>
                                              <p:pRg st="8" end="8"/>
                                            </p:txEl>
                                          </p:spTgt>
                                        </p:tgtEl>
                                        <p:attrNameLst>
                                          <p:attrName>style.visibility</p:attrName>
                                        </p:attrNameLst>
                                      </p:cBhvr>
                                      <p:to>
                                        <p:strVal val="visible"/>
                                      </p:to>
                                    </p:set>
                                    <p:animEffect transition="in" filter="blinds(horizontal)">
                                      <p:cBhvr>
                                        <p:cTn id="47" dur="500"/>
                                        <p:tgtEl>
                                          <p:spTgt spid="5">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5">
                                            <p:txEl>
                                              <p:pRg st="9" end="9"/>
                                            </p:txEl>
                                          </p:spTgt>
                                        </p:tgtEl>
                                        <p:attrNameLst>
                                          <p:attrName>style.visibility</p:attrName>
                                        </p:attrNameLst>
                                      </p:cBhvr>
                                      <p:to>
                                        <p:strVal val="visible"/>
                                      </p:to>
                                    </p:set>
                                    <p:animEffect transition="in" filter="blinds(horizontal)">
                                      <p:cBhvr>
                                        <p:cTn id="52" dur="500"/>
                                        <p:tgtEl>
                                          <p:spTgt spid="5">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6">
                                            <p:txEl>
                                              <p:pRg st="1" end="1"/>
                                            </p:txEl>
                                          </p:spTgt>
                                        </p:tgtEl>
                                        <p:attrNameLst>
                                          <p:attrName>style.visibility</p:attrName>
                                        </p:attrNameLst>
                                      </p:cBhvr>
                                      <p:to>
                                        <p:strVal val="visible"/>
                                      </p:to>
                                    </p:set>
                                    <p:animEffect transition="in" filter="blinds(horizontal)">
                                      <p:cBhvr>
                                        <p:cTn id="57" dur="500"/>
                                        <p:tgtEl>
                                          <p:spTgt spid="6">
                                            <p:txEl>
                                              <p:pRg st="1" end="1"/>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6">
                                            <p:txEl>
                                              <p:pRg st="2" end="2"/>
                                            </p:txEl>
                                          </p:spTgt>
                                        </p:tgtEl>
                                        <p:attrNameLst>
                                          <p:attrName>style.visibility</p:attrName>
                                        </p:attrNameLst>
                                      </p:cBhvr>
                                      <p:to>
                                        <p:strVal val="visible"/>
                                      </p:to>
                                    </p:set>
                                    <p:animEffect transition="in" filter="blinds(horizontal)">
                                      <p:cBhvr>
                                        <p:cTn id="62" dur="500"/>
                                        <p:tgtEl>
                                          <p:spTgt spid="6">
                                            <p:txEl>
                                              <p:pRg st="2" end="2"/>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6">
                                            <p:txEl>
                                              <p:pRg st="3" end="3"/>
                                            </p:txEl>
                                          </p:spTgt>
                                        </p:tgtEl>
                                        <p:attrNameLst>
                                          <p:attrName>style.visibility</p:attrName>
                                        </p:attrNameLst>
                                      </p:cBhvr>
                                      <p:to>
                                        <p:strVal val="visible"/>
                                      </p:to>
                                    </p:set>
                                    <p:animEffect transition="in" filter="blinds(horizontal)">
                                      <p:cBhvr>
                                        <p:cTn id="67" dur="500"/>
                                        <p:tgtEl>
                                          <p:spTgt spid="6">
                                            <p:txEl>
                                              <p:pRg st="3" end="3"/>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6">
                                            <p:txEl>
                                              <p:pRg st="4" end="4"/>
                                            </p:txEl>
                                          </p:spTgt>
                                        </p:tgtEl>
                                        <p:attrNameLst>
                                          <p:attrName>style.visibility</p:attrName>
                                        </p:attrNameLst>
                                      </p:cBhvr>
                                      <p:to>
                                        <p:strVal val="visible"/>
                                      </p:to>
                                    </p:set>
                                    <p:animEffect transition="in" filter="blinds(horizontal)">
                                      <p:cBhvr>
                                        <p:cTn id="72" dur="500"/>
                                        <p:tgtEl>
                                          <p:spTgt spid="6">
                                            <p:txEl>
                                              <p:pRg st="4" end="4"/>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grpId="0" nodeType="clickEffect">
                                  <p:stCondLst>
                                    <p:cond delay="0"/>
                                  </p:stCondLst>
                                  <p:childTnLst>
                                    <p:set>
                                      <p:cBhvr>
                                        <p:cTn id="76" dur="1" fill="hold">
                                          <p:stCondLst>
                                            <p:cond delay="0"/>
                                          </p:stCondLst>
                                        </p:cTn>
                                        <p:tgtEl>
                                          <p:spTgt spid="6">
                                            <p:txEl>
                                              <p:pRg st="5" end="5"/>
                                            </p:txEl>
                                          </p:spTgt>
                                        </p:tgtEl>
                                        <p:attrNameLst>
                                          <p:attrName>style.visibility</p:attrName>
                                        </p:attrNameLst>
                                      </p:cBhvr>
                                      <p:to>
                                        <p:strVal val="visible"/>
                                      </p:to>
                                    </p:set>
                                    <p:animEffect transition="in" filter="blinds(horizontal)">
                                      <p:cBhvr>
                                        <p:cTn id="77" dur="500"/>
                                        <p:tgtEl>
                                          <p:spTgt spid="6">
                                            <p:txEl>
                                              <p:pRg st="5" end="5"/>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3" presetClass="entr" presetSubtype="10" fill="hold" grpId="0" nodeType="clickEffect">
                                  <p:stCondLst>
                                    <p:cond delay="0"/>
                                  </p:stCondLst>
                                  <p:childTnLst>
                                    <p:set>
                                      <p:cBhvr>
                                        <p:cTn id="81" dur="1" fill="hold">
                                          <p:stCondLst>
                                            <p:cond delay="0"/>
                                          </p:stCondLst>
                                        </p:cTn>
                                        <p:tgtEl>
                                          <p:spTgt spid="6">
                                            <p:txEl>
                                              <p:pRg st="6" end="6"/>
                                            </p:txEl>
                                          </p:spTgt>
                                        </p:tgtEl>
                                        <p:attrNameLst>
                                          <p:attrName>style.visibility</p:attrName>
                                        </p:attrNameLst>
                                      </p:cBhvr>
                                      <p:to>
                                        <p:strVal val="visible"/>
                                      </p:to>
                                    </p:set>
                                    <p:animEffect transition="in" filter="blinds(horizontal)">
                                      <p:cBhvr>
                                        <p:cTn id="82" dur="500"/>
                                        <p:tgtEl>
                                          <p:spTgt spid="6">
                                            <p:txEl>
                                              <p:pRg st="6" end="6"/>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3" presetClass="entr" presetSubtype="10" fill="hold" grpId="0" nodeType="clickEffect">
                                  <p:stCondLst>
                                    <p:cond delay="0"/>
                                  </p:stCondLst>
                                  <p:childTnLst>
                                    <p:set>
                                      <p:cBhvr>
                                        <p:cTn id="86" dur="1" fill="hold">
                                          <p:stCondLst>
                                            <p:cond delay="0"/>
                                          </p:stCondLst>
                                        </p:cTn>
                                        <p:tgtEl>
                                          <p:spTgt spid="6">
                                            <p:txEl>
                                              <p:pRg st="7" end="7"/>
                                            </p:txEl>
                                          </p:spTgt>
                                        </p:tgtEl>
                                        <p:attrNameLst>
                                          <p:attrName>style.visibility</p:attrName>
                                        </p:attrNameLst>
                                      </p:cBhvr>
                                      <p:to>
                                        <p:strVal val="visible"/>
                                      </p:to>
                                    </p:set>
                                    <p:animEffect transition="in" filter="blinds(horizontal)">
                                      <p:cBhvr>
                                        <p:cTn id="87" dur="500"/>
                                        <p:tgtEl>
                                          <p:spTgt spid="6">
                                            <p:txEl>
                                              <p:pRg st="7" end="7"/>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3" presetClass="entr" presetSubtype="10" fill="hold" nodeType="clickEffect">
                                  <p:stCondLst>
                                    <p:cond delay="0"/>
                                  </p:stCondLst>
                                  <p:childTnLst>
                                    <p:set>
                                      <p:cBhvr>
                                        <p:cTn id="91" dur="1" fill="hold">
                                          <p:stCondLst>
                                            <p:cond delay="0"/>
                                          </p:stCondLst>
                                        </p:cTn>
                                        <p:tgtEl>
                                          <p:spTgt spid="11"/>
                                        </p:tgtEl>
                                        <p:attrNameLst>
                                          <p:attrName>style.visibility</p:attrName>
                                        </p:attrNameLst>
                                      </p:cBhvr>
                                      <p:to>
                                        <p:strVal val="visible"/>
                                      </p:to>
                                    </p:set>
                                    <p:animEffect transition="in" filter="blinds(horizontal)">
                                      <p:cBhvr>
                                        <p:cTn id="92" dur="500"/>
                                        <p:tgtEl>
                                          <p:spTgt spid="11"/>
                                        </p:tgtEl>
                                      </p:cBhvr>
                                    </p:animEffect>
                                  </p:childTnLst>
                                </p:cTn>
                              </p:par>
                            </p:childTnLst>
                          </p:cTn>
                        </p:par>
                      </p:childTnLst>
                    </p:cTn>
                  </p:par>
                  <p:par>
                    <p:cTn id="93" fill="hold">
                      <p:stCondLst>
                        <p:cond delay="indefinite"/>
                      </p:stCondLst>
                      <p:childTnLst>
                        <p:par>
                          <p:cTn id="94" fill="hold">
                            <p:stCondLst>
                              <p:cond delay="0"/>
                            </p:stCondLst>
                            <p:childTnLst>
                              <p:par>
                                <p:cTn id="95" presetID="3" presetClass="entr" presetSubtype="10" fill="hold" grpId="0" nodeType="clickEffect">
                                  <p:stCondLst>
                                    <p:cond delay="0"/>
                                  </p:stCondLst>
                                  <p:childTnLst>
                                    <p:set>
                                      <p:cBhvr>
                                        <p:cTn id="96" dur="1" fill="hold">
                                          <p:stCondLst>
                                            <p:cond delay="0"/>
                                          </p:stCondLst>
                                        </p:cTn>
                                        <p:tgtEl>
                                          <p:spTgt spid="7"/>
                                        </p:tgtEl>
                                        <p:attrNameLst>
                                          <p:attrName>style.visibility</p:attrName>
                                        </p:attrNameLst>
                                      </p:cBhvr>
                                      <p:to>
                                        <p:strVal val="visible"/>
                                      </p:to>
                                    </p:set>
                                    <p:animEffect transition="in" filter="blinds(horizontal)">
                                      <p:cBhvr>
                                        <p:cTn id="97" dur="500"/>
                                        <p:tgtEl>
                                          <p:spTgt spid="7"/>
                                        </p:tgtEl>
                                      </p:cBhvr>
                                    </p:animEffect>
                                  </p:childTnLst>
                                </p:cTn>
                              </p:par>
                            </p:childTnLst>
                          </p:cTn>
                        </p:par>
                      </p:childTnLst>
                    </p:cTn>
                  </p:par>
                  <p:par>
                    <p:cTn id="98" fill="hold">
                      <p:stCondLst>
                        <p:cond delay="indefinite"/>
                      </p:stCondLst>
                      <p:childTnLst>
                        <p:par>
                          <p:cTn id="99" fill="hold">
                            <p:stCondLst>
                              <p:cond delay="0"/>
                            </p:stCondLst>
                            <p:childTnLst>
                              <p:par>
                                <p:cTn id="100" presetID="3" presetClass="entr" presetSubtype="10" fill="hold" grpId="0" nodeType="clickEffect">
                                  <p:stCondLst>
                                    <p:cond delay="0"/>
                                  </p:stCondLst>
                                  <p:childTnLst>
                                    <p:set>
                                      <p:cBhvr>
                                        <p:cTn id="101" dur="1" fill="hold">
                                          <p:stCondLst>
                                            <p:cond delay="0"/>
                                          </p:stCondLst>
                                        </p:cTn>
                                        <p:tgtEl>
                                          <p:spTgt spid="9"/>
                                        </p:tgtEl>
                                        <p:attrNameLst>
                                          <p:attrName>style.visibility</p:attrName>
                                        </p:attrNameLst>
                                      </p:cBhvr>
                                      <p:to>
                                        <p:strVal val="visible"/>
                                      </p:to>
                                    </p:set>
                                    <p:animEffect transition="in" filter="blinds(horizontal)">
                                      <p:cBhvr>
                                        <p:cTn id="102" dur="500"/>
                                        <p:tgtEl>
                                          <p:spTgt spid="9"/>
                                        </p:tgtEl>
                                      </p:cBhvr>
                                    </p:animEffect>
                                  </p:childTnLst>
                                </p:cTn>
                              </p:par>
                            </p:childTnLst>
                          </p:cTn>
                        </p:par>
                      </p:childTnLst>
                    </p:cTn>
                  </p:par>
                  <p:par>
                    <p:cTn id="103" fill="hold">
                      <p:stCondLst>
                        <p:cond delay="indefinite"/>
                      </p:stCondLst>
                      <p:childTnLst>
                        <p:par>
                          <p:cTn id="104" fill="hold">
                            <p:stCondLst>
                              <p:cond delay="0"/>
                            </p:stCondLst>
                            <p:childTnLst>
                              <p:par>
                                <p:cTn id="105" presetID="3" presetClass="entr" presetSubtype="10" fill="hold" nodeType="clickEffect">
                                  <p:stCondLst>
                                    <p:cond delay="0"/>
                                  </p:stCondLst>
                                  <p:childTnLst>
                                    <p:set>
                                      <p:cBhvr>
                                        <p:cTn id="106" dur="1" fill="hold">
                                          <p:stCondLst>
                                            <p:cond delay="0"/>
                                          </p:stCondLst>
                                        </p:cTn>
                                        <p:tgtEl>
                                          <p:spTgt spid="12"/>
                                        </p:tgtEl>
                                        <p:attrNameLst>
                                          <p:attrName>style.visibility</p:attrName>
                                        </p:attrNameLst>
                                      </p:cBhvr>
                                      <p:to>
                                        <p:strVal val="visible"/>
                                      </p:to>
                                    </p:set>
                                    <p:animEffect transition="in" filter="blinds(horizontal)">
                                      <p:cBhvr>
                                        <p:cTn id="107" dur="500"/>
                                        <p:tgtEl>
                                          <p:spTgt spid="12"/>
                                        </p:tgtEl>
                                      </p:cBhvr>
                                    </p:animEffect>
                                  </p:childTnLst>
                                </p:cTn>
                              </p:par>
                            </p:childTnLst>
                          </p:cTn>
                        </p:par>
                      </p:childTnLst>
                    </p:cTn>
                  </p:par>
                  <p:par>
                    <p:cTn id="108" fill="hold">
                      <p:stCondLst>
                        <p:cond delay="indefinite"/>
                      </p:stCondLst>
                      <p:childTnLst>
                        <p:par>
                          <p:cTn id="109" fill="hold">
                            <p:stCondLst>
                              <p:cond delay="0"/>
                            </p:stCondLst>
                            <p:childTnLst>
                              <p:par>
                                <p:cTn id="110" presetID="3" presetClass="entr" presetSubtype="10" fill="hold" grpId="0" nodeType="clickEffect">
                                  <p:stCondLst>
                                    <p:cond delay="0"/>
                                  </p:stCondLst>
                                  <p:childTnLst>
                                    <p:set>
                                      <p:cBhvr>
                                        <p:cTn id="111" dur="1" fill="hold">
                                          <p:stCondLst>
                                            <p:cond delay="0"/>
                                          </p:stCondLst>
                                        </p:cTn>
                                        <p:tgtEl>
                                          <p:spTgt spid="8"/>
                                        </p:tgtEl>
                                        <p:attrNameLst>
                                          <p:attrName>style.visibility</p:attrName>
                                        </p:attrNameLst>
                                      </p:cBhvr>
                                      <p:to>
                                        <p:strVal val="visible"/>
                                      </p:to>
                                    </p:set>
                                    <p:animEffect transition="in" filter="blinds(horizontal)">
                                      <p:cBhvr>
                                        <p:cTn id="1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build="p"/>
      <p:bldP spid="7" grpId="0" animBg="1"/>
      <p:bldP spid="8" grpId="0" animBg="1"/>
      <p:bldP spid="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33600" y="990600"/>
            <a:ext cx="7620000" cy="5562600"/>
          </a:xfrm>
        </p:spPr>
        <p:txBody>
          <a:bodyPr>
            <a:normAutofit lnSpcReduction="10000"/>
          </a:bodyPr>
          <a:lstStyle/>
          <a:p>
            <a:pPr>
              <a:buNone/>
            </a:pPr>
            <a:r>
              <a:rPr lang="en-US" b="1" u="sng" dirty="0">
                <a:solidFill>
                  <a:srgbClr val="FF0000"/>
                </a:solidFill>
              </a:rPr>
              <a:t>Declaring Structure Variables</a:t>
            </a:r>
            <a:r>
              <a:rPr lang="en-US" b="1" u="sng" dirty="0"/>
              <a:t>:</a:t>
            </a:r>
          </a:p>
          <a:p>
            <a:pPr algn="just"/>
            <a:r>
              <a:rPr lang="en-US" dirty="0"/>
              <a:t>A structure variable declaration is similar to the declaration of variables of any other data types. It includes the following elements: </a:t>
            </a:r>
          </a:p>
          <a:p>
            <a:pPr marL="514350" indent="-514350">
              <a:buAutoNum type="arabicPeriod"/>
            </a:pPr>
            <a:r>
              <a:rPr lang="en-US" dirty="0"/>
              <a:t>The keyword struct. </a:t>
            </a:r>
          </a:p>
          <a:p>
            <a:pPr marL="514350" indent="-514350">
              <a:buAutoNum type="arabicPeriod"/>
            </a:pPr>
            <a:r>
              <a:rPr lang="en-US" dirty="0"/>
              <a:t>The structure tag name. </a:t>
            </a:r>
          </a:p>
          <a:p>
            <a:pPr marL="514350" indent="-514350">
              <a:buAutoNum type="arabicPeriod"/>
            </a:pPr>
            <a:r>
              <a:rPr lang="en-US" dirty="0"/>
              <a:t>List of variable names separated by commas. </a:t>
            </a:r>
          </a:p>
          <a:p>
            <a:pPr marL="514350" indent="-514350">
              <a:buAutoNum type="arabicPeriod"/>
            </a:pPr>
            <a:r>
              <a:rPr lang="en-US" dirty="0"/>
              <a:t> A terminating semicolon.</a:t>
            </a:r>
            <a:endParaRPr lang="en-US" u="sng" dirty="0"/>
          </a:p>
          <a:p>
            <a:pPr>
              <a:buNone/>
            </a:pPr>
            <a:endParaRPr lang="en-US" b="1" dirty="0"/>
          </a:p>
          <a:p>
            <a:pPr>
              <a:buNone/>
            </a:pPr>
            <a:r>
              <a:rPr lang="en-US" b="1" dirty="0"/>
              <a:t>Syntax: </a:t>
            </a:r>
            <a:r>
              <a:rPr lang="en-US" b="1" dirty="0" err="1"/>
              <a:t>struct</a:t>
            </a:r>
            <a:r>
              <a:rPr lang="en-US" b="1" dirty="0"/>
              <a:t>  </a:t>
            </a:r>
            <a:r>
              <a:rPr lang="en-US" b="1" dirty="0" err="1"/>
              <a:t>tagName</a:t>
            </a:r>
            <a:r>
              <a:rPr lang="en-US" b="1" dirty="0"/>
              <a:t>  variable1,variable2;</a:t>
            </a:r>
            <a:endParaRPr lang="en-US" dirty="0"/>
          </a:p>
          <a:p>
            <a:pPr>
              <a:buNone/>
            </a:pPr>
            <a:r>
              <a:rPr lang="en-US" dirty="0"/>
              <a:t> </a:t>
            </a:r>
          </a:p>
          <a:p>
            <a:pPr>
              <a:buNone/>
            </a:pPr>
            <a:r>
              <a:rPr lang="en-US" b="1" dirty="0" err="1"/>
              <a:t>Eg</a:t>
            </a:r>
            <a:r>
              <a:rPr lang="en-US" b="1" dirty="0"/>
              <a:t>:        </a:t>
            </a:r>
            <a:r>
              <a:rPr lang="en-US" b="1" dirty="0" err="1">
                <a:solidFill>
                  <a:srgbClr val="FF0000"/>
                </a:solidFill>
              </a:rPr>
              <a:t>struct</a:t>
            </a:r>
            <a:r>
              <a:rPr lang="en-US" b="1" dirty="0">
                <a:solidFill>
                  <a:srgbClr val="FF0000"/>
                </a:solidFill>
              </a:rPr>
              <a:t> employee emp1,emp2;</a:t>
            </a:r>
          </a:p>
        </p:txBody>
      </p:sp>
      <p:cxnSp>
        <p:nvCxnSpPr>
          <p:cNvPr id="5" name="Straight Arrow Connector 4"/>
          <p:cNvCxnSpPr/>
          <p:nvPr/>
        </p:nvCxnSpPr>
        <p:spPr>
          <a:xfrm rot="5400000">
            <a:off x="4610100" y="5791200"/>
            <a:ext cx="533400" cy="152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rot="5400000">
            <a:off x="6101275" y="5524500"/>
            <a:ext cx="685800" cy="533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rot="5400000">
            <a:off x="7203537" y="5448300"/>
            <a:ext cx="685800" cy="685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BD1E0DC0-2EDB-5491-37B4-BBD3D8854850}"/>
              </a:ext>
            </a:extLst>
          </p:cNvPr>
          <p:cNvSpPr>
            <a:spLocks noGrp="1"/>
          </p:cNvSpPr>
          <p:nvPr>
            <p:ph type="ftr" sz="quarter" idx="11"/>
          </p:nvPr>
        </p:nvSpPr>
        <p:spPr/>
        <p:txBody>
          <a:bodyPr/>
          <a:lstStyle/>
          <a:p>
            <a:r>
              <a:rPr lang="en-US"/>
              <a:t>Mrs Saranya Babu, Asst. Professor, GAT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blinds(horizontal)">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blinds(horizontal)">
                                      <p:cBhvr>
                                        <p:cTn id="42" dur="500"/>
                                        <p:tgtEl>
                                          <p:spTgt spid="3">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animEffect transition="in" filter="blinds(horizontal)">
                                      <p:cBhvr>
                                        <p:cTn id="47" dur="500"/>
                                        <p:tgtEl>
                                          <p:spTgt spid="3">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5"/>
                                        </p:tgtEl>
                                        <p:attrNameLst>
                                          <p:attrName>style.visibility</p:attrName>
                                        </p:attrNameLst>
                                      </p:cBhvr>
                                      <p:to>
                                        <p:strVal val="visible"/>
                                      </p:to>
                                    </p:set>
                                    <p:animEffect transition="in" filter="blinds(horizontal)">
                                      <p:cBhvr>
                                        <p:cTn id="52" dur="500"/>
                                        <p:tgtEl>
                                          <p:spTgt spid="5"/>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7"/>
                                        </p:tgtEl>
                                        <p:attrNameLst>
                                          <p:attrName>style.visibility</p:attrName>
                                        </p:attrNameLst>
                                      </p:cBhvr>
                                      <p:to>
                                        <p:strVal val="visible"/>
                                      </p:to>
                                    </p:set>
                                    <p:animEffect transition="in" filter="blinds(horizontal)">
                                      <p:cBhvr>
                                        <p:cTn id="57" dur="500"/>
                                        <p:tgtEl>
                                          <p:spTgt spid="7"/>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9"/>
                                        </p:tgtEl>
                                        <p:attrNameLst>
                                          <p:attrName>style.visibility</p:attrName>
                                        </p:attrNameLst>
                                      </p:cBhvr>
                                      <p:to>
                                        <p:strVal val="visible"/>
                                      </p:to>
                                    </p:set>
                                    <p:animEffect transition="in" filter="blinds(horizontal)">
                                      <p:cBhvr>
                                        <p:cTn id="6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E5C6E31-F905-A713-05E4-708DF5188505}"/>
              </a:ext>
            </a:extLst>
          </p:cNvPr>
          <p:cNvSpPr>
            <a:spLocks noGrp="1"/>
          </p:cNvSpPr>
          <p:nvPr>
            <p:ph idx="1"/>
          </p:nvPr>
        </p:nvSpPr>
        <p:spPr>
          <a:xfrm>
            <a:off x="838200" y="993913"/>
            <a:ext cx="10515600" cy="5183050"/>
          </a:xfrm>
        </p:spPr>
        <p:txBody>
          <a:bodyPr>
            <a:normAutofit fontScale="92500" lnSpcReduction="20000"/>
          </a:bodyPr>
          <a:lstStyle/>
          <a:p>
            <a:pPr marL="0" indent="0">
              <a:buNone/>
            </a:pPr>
            <a:r>
              <a:rPr lang="en-US" b="1" i="1" u="sng" dirty="0">
                <a:solidFill>
                  <a:schemeClr val="accent2">
                    <a:lumMod val="75000"/>
                  </a:schemeClr>
                </a:solidFill>
              </a:rPr>
              <a:t>Another way of structure variable declaration</a:t>
            </a:r>
          </a:p>
          <a:p>
            <a:r>
              <a:rPr lang="en-US" dirty="0"/>
              <a:t> It is also allowed to combine both the structure definition and variables declaration in one statement.</a:t>
            </a:r>
          </a:p>
          <a:p>
            <a:r>
              <a:rPr lang="en-US" dirty="0"/>
              <a:t>The declaration</a:t>
            </a:r>
          </a:p>
          <a:p>
            <a:pPr marL="0" indent="0">
              <a:buNone/>
            </a:pPr>
            <a:r>
              <a:rPr lang="en-US" b="1" dirty="0"/>
              <a:t> struct </a:t>
            </a:r>
            <a:r>
              <a:rPr lang="en-US" b="1" dirty="0" err="1"/>
              <a:t>book_bank</a:t>
            </a:r>
            <a:endParaRPr lang="en-US" b="1" dirty="0"/>
          </a:p>
          <a:p>
            <a:pPr marL="0" indent="0">
              <a:buNone/>
            </a:pPr>
            <a:r>
              <a:rPr lang="en-US" b="1" dirty="0"/>
              <a:t> {</a:t>
            </a:r>
          </a:p>
          <a:p>
            <a:pPr marL="0" indent="0">
              <a:buNone/>
            </a:pPr>
            <a:r>
              <a:rPr lang="en-US" b="1" dirty="0"/>
              <a:t> char title[20];</a:t>
            </a:r>
          </a:p>
          <a:p>
            <a:pPr marL="0" indent="0">
              <a:buNone/>
            </a:pPr>
            <a:r>
              <a:rPr lang="en-US" b="1" dirty="0"/>
              <a:t> char author[15];</a:t>
            </a:r>
          </a:p>
          <a:p>
            <a:pPr marL="0" indent="0">
              <a:buNone/>
            </a:pPr>
            <a:r>
              <a:rPr lang="en-US" b="1" dirty="0"/>
              <a:t> int pages;</a:t>
            </a:r>
          </a:p>
          <a:p>
            <a:pPr marL="0" indent="0">
              <a:buNone/>
            </a:pPr>
            <a:r>
              <a:rPr lang="en-US" b="1" dirty="0"/>
              <a:t> float price;</a:t>
            </a:r>
          </a:p>
          <a:p>
            <a:pPr marL="0" indent="0">
              <a:buNone/>
            </a:pPr>
            <a:r>
              <a:rPr lang="en-US" b="1" dirty="0"/>
              <a:t>} </a:t>
            </a:r>
            <a:r>
              <a:rPr lang="en-US" dirty="0">
                <a:solidFill>
                  <a:srgbClr val="FF0000"/>
                </a:solidFill>
              </a:rPr>
              <a:t>book1, book2, book3</a:t>
            </a:r>
            <a:r>
              <a:rPr lang="en-US" dirty="0"/>
              <a:t>; </a:t>
            </a:r>
          </a:p>
          <a:p>
            <a:pPr marL="0" indent="0">
              <a:buNone/>
            </a:pPr>
            <a:endParaRPr lang="en-US" dirty="0"/>
          </a:p>
          <a:p>
            <a:pPr marL="0" indent="0">
              <a:buNone/>
            </a:pPr>
            <a:r>
              <a:rPr lang="en-US" dirty="0"/>
              <a:t>is valid. The use of tag name is optional here. </a:t>
            </a:r>
          </a:p>
          <a:p>
            <a:endParaRPr lang="en-US" dirty="0"/>
          </a:p>
        </p:txBody>
      </p:sp>
      <p:sp>
        <p:nvSpPr>
          <p:cNvPr id="4" name="Footer Placeholder 3">
            <a:extLst>
              <a:ext uri="{FF2B5EF4-FFF2-40B4-BE49-F238E27FC236}">
                <a16:creationId xmlns:a16="http://schemas.microsoft.com/office/drawing/2014/main" id="{2F7FCD0D-AF84-E606-497D-6AFA92F230A8}"/>
              </a:ext>
            </a:extLst>
          </p:cNvPr>
          <p:cNvSpPr>
            <a:spLocks noGrp="1"/>
          </p:cNvSpPr>
          <p:nvPr>
            <p:ph type="ftr" sz="quarter" idx="11"/>
          </p:nvPr>
        </p:nvSpPr>
        <p:spPr/>
        <p:txBody>
          <a:bodyPr/>
          <a:lstStyle/>
          <a:p>
            <a:r>
              <a:rPr lang="en-US"/>
              <a:t>Mrs Saranya Babu, Asst. Professor, GAT</a:t>
            </a:r>
          </a:p>
        </p:txBody>
      </p:sp>
    </p:spTree>
    <p:extLst>
      <p:ext uri="{BB962C8B-B14F-4D97-AF65-F5344CB8AC3E}">
        <p14:creationId xmlns:p14="http://schemas.microsoft.com/office/powerpoint/2010/main" val="31980253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990600"/>
            <a:ext cx="8305800" cy="5486400"/>
          </a:xfrm>
        </p:spPr>
        <p:txBody>
          <a:bodyPr>
            <a:normAutofit/>
          </a:bodyPr>
          <a:lstStyle/>
          <a:p>
            <a:pPr algn="just">
              <a:buNone/>
            </a:pPr>
            <a:r>
              <a:rPr lang="en-US" sz="2400" b="1" u="sng" dirty="0">
                <a:solidFill>
                  <a:srgbClr val="FF0000"/>
                </a:solidFill>
              </a:rPr>
              <a:t>Structure Initialization:</a:t>
            </a:r>
          </a:p>
          <a:p>
            <a:pPr algn="just"/>
            <a:r>
              <a:rPr lang="en-US" sz="2400" dirty="0"/>
              <a:t>Assigning</a:t>
            </a:r>
            <a:r>
              <a:rPr lang="en-US" sz="2400" dirty="0">
                <a:solidFill>
                  <a:srgbClr val="FF0000"/>
                </a:solidFill>
              </a:rPr>
              <a:t> </a:t>
            </a:r>
            <a:r>
              <a:rPr lang="en-US" sz="2400" dirty="0"/>
              <a:t>the values to the structure member fields is known as structure initialization</a:t>
            </a:r>
            <a:r>
              <a:rPr lang="en-US" sz="2400" b="1" dirty="0"/>
              <a:t>. </a:t>
            </a:r>
          </a:p>
          <a:p>
            <a:pPr algn="just"/>
            <a:r>
              <a:rPr lang="en-US" sz="2400" b="1" dirty="0"/>
              <a:t>Syntax:</a:t>
            </a:r>
          </a:p>
          <a:p>
            <a:pPr algn="just">
              <a:buNone/>
            </a:pPr>
            <a:r>
              <a:rPr lang="en-US" sz="2400" b="1" dirty="0"/>
              <a:t>		</a:t>
            </a:r>
            <a:r>
              <a:rPr lang="en-US" sz="2400" b="1" dirty="0" err="1"/>
              <a:t>struct</a:t>
            </a:r>
            <a:r>
              <a:rPr lang="en-US" sz="2400" b="1" dirty="0"/>
              <a:t>  </a:t>
            </a:r>
            <a:r>
              <a:rPr lang="en-US" sz="2400" b="1" dirty="0" err="1"/>
              <a:t>tagName</a:t>
            </a:r>
            <a:r>
              <a:rPr lang="en-US" sz="2400" b="1" dirty="0"/>
              <a:t>  variable = {value1,value2,…</a:t>
            </a:r>
            <a:r>
              <a:rPr lang="en-US" sz="2400" b="1" dirty="0" err="1"/>
              <a:t>valuen</a:t>
            </a:r>
            <a:r>
              <a:rPr lang="en-US" sz="2400" b="1" dirty="0"/>
              <a:t>};</a:t>
            </a:r>
            <a:endParaRPr lang="en-US" sz="2400" dirty="0"/>
          </a:p>
          <a:p>
            <a:pPr algn="just"/>
            <a:r>
              <a:rPr lang="en-US" sz="2400" b="1" dirty="0" err="1"/>
              <a:t>Eg</a:t>
            </a:r>
            <a:r>
              <a:rPr lang="en-US" sz="2400" b="1" dirty="0"/>
              <a:t>:</a:t>
            </a:r>
          </a:p>
          <a:p>
            <a:pPr algn="just">
              <a:buNone/>
            </a:pPr>
            <a:r>
              <a:rPr lang="en-US" sz="2400" b="1" dirty="0"/>
              <a:t> 		</a:t>
            </a:r>
            <a:r>
              <a:rPr lang="en-US" sz="2400" b="1" dirty="0" err="1"/>
              <a:t>struct</a:t>
            </a:r>
            <a:r>
              <a:rPr lang="en-US" sz="2400" b="1" dirty="0"/>
              <a:t> employee emp1 = { “Raj”,1000,1};</a:t>
            </a:r>
          </a:p>
          <a:p>
            <a:pPr algn="just">
              <a:buNone/>
            </a:pPr>
            <a:endParaRPr lang="en-US" sz="2400" dirty="0"/>
          </a:p>
        </p:txBody>
      </p:sp>
      <p:sp>
        <p:nvSpPr>
          <p:cNvPr id="2" name="Footer Placeholder 1">
            <a:extLst>
              <a:ext uri="{FF2B5EF4-FFF2-40B4-BE49-F238E27FC236}">
                <a16:creationId xmlns:a16="http://schemas.microsoft.com/office/drawing/2014/main" id="{6B613B59-AE2A-B951-D99B-4C0C686AAC86}"/>
              </a:ext>
            </a:extLst>
          </p:cNvPr>
          <p:cNvSpPr>
            <a:spLocks noGrp="1"/>
          </p:cNvSpPr>
          <p:nvPr>
            <p:ph type="ftr" sz="quarter" idx="11"/>
          </p:nvPr>
        </p:nvSpPr>
        <p:spPr/>
        <p:txBody>
          <a:bodyPr/>
          <a:lstStyle/>
          <a:p>
            <a:r>
              <a:rPr lang="en-US"/>
              <a:t>Mrs Saranya Babu, Asst. Professor, GAT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563562"/>
          </a:xfrm>
        </p:spPr>
        <p:txBody>
          <a:bodyPr>
            <a:normAutofit fontScale="90000"/>
          </a:bodyPr>
          <a:lstStyle/>
          <a:p>
            <a:endParaRPr lang="en-US" dirty="0"/>
          </a:p>
        </p:txBody>
      </p:sp>
      <p:sp>
        <p:nvSpPr>
          <p:cNvPr id="3" name="Content Placeholder 2"/>
          <p:cNvSpPr>
            <a:spLocks noGrp="1"/>
          </p:cNvSpPr>
          <p:nvPr>
            <p:ph idx="1"/>
          </p:nvPr>
        </p:nvSpPr>
        <p:spPr>
          <a:xfrm>
            <a:off x="1981200" y="990601"/>
            <a:ext cx="8229600" cy="5135563"/>
          </a:xfrm>
        </p:spPr>
        <p:txBody>
          <a:bodyPr>
            <a:normAutofit fontScale="77500" lnSpcReduction="20000"/>
          </a:bodyPr>
          <a:lstStyle/>
          <a:p>
            <a:pPr>
              <a:buNone/>
            </a:pPr>
            <a:r>
              <a:rPr lang="en-US" dirty="0"/>
              <a:t>The complete structure definition, declaration and initialization of employee is as shown below:</a:t>
            </a:r>
          </a:p>
          <a:p>
            <a:pPr>
              <a:buNone/>
            </a:pPr>
            <a:r>
              <a:rPr lang="en-US" b="1" i="1" u="sng" dirty="0">
                <a:solidFill>
                  <a:srgbClr val="FF0000"/>
                </a:solidFill>
              </a:rPr>
              <a:t>Structure Definition :</a:t>
            </a:r>
            <a:endParaRPr lang="en-US" i="1" u="sng" dirty="0">
              <a:solidFill>
                <a:srgbClr val="FF0000"/>
              </a:solidFill>
            </a:endParaRPr>
          </a:p>
          <a:p>
            <a:pPr>
              <a:buNone/>
            </a:pPr>
            <a:r>
              <a:rPr lang="en-US" dirty="0" err="1"/>
              <a:t>struct</a:t>
            </a:r>
            <a:r>
              <a:rPr lang="en-US" dirty="0"/>
              <a:t> employee</a:t>
            </a:r>
          </a:p>
          <a:p>
            <a:pPr>
              <a:buNone/>
            </a:pPr>
            <a:r>
              <a:rPr lang="en-US" dirty="0"/>
              <a:t>{ </a:t>
            </a:r>
          </a:p>
          <a:p>
            <a:pPr>
              <a:buNone/>
            </a:pPr>
            <a:r>
              <a:rPr lang="en-US" dirty="0"/>
              <a:t>char name[20];</a:t>
            </a:r>
          </a:p>
          <a:p>
            <a:pPr>
              <a:buNone/>
            </a:pPr>
            <a:r>
              <a:rPr lang="en-US" dirty="0"/>
              <a:t>float salary;</a:t>
            </a:r>
          </a:p>
          <a:p>
            <a:pPr>
              <a:buNone/>
            </a:pPr>
            <a:r>
              <a:rPr lang="en-US" dirty="0" err="1"/>
              <a:t>int</a:t>
            </a:r>
            <a:r>
              <a:rPr lang="en-US" dirty="0"/>
              <a:t> </a:t>
            </a:r>
            <a:r>
              <a:rPr lang="en-US" dirty="0" err="1"/>
              <a:t>empno</a:t>
            </a:r>
            <a:r>
              <a:rPr lang="en-US" dirty="0"/>
              <a:t>;</a:t>
            </a:r>
          </a:p>
          <a:p>
            <a:pPr>
              <a:buNone/>
            </a:pPr>
            <a:r>
              <a:rPr lang="en-US" dirty="0"/>
              <a:t>};</a:t>
            </a:r>
          </a:p>
          <a:p>
            <a:pPr>
              <a:buNone/>
            </a:pPr>
            <a:r>
              <a:rPr lang="en-US" b="1" i="1" u="sng" dirty="0">
                <a:solidFill>
                  <a:srgbClr val="FF0000"/>
                </a:solidFill>
              </a:rPr>
              <a:t>Structure Declaration</a:t>
            </a:r>
            <a:endParaRPr lang="en-US" i="1" u="sng" dirty="0">
              <a:solidFill>
                <a:srgbClr val="FF0000"/>
              </a:solidFill>
            </a:endParaRPr>
          </a:p>
          <a:p>
            <a:pPr>
              <a:buNone/>
            </a:pPr>
            <a:r>
              <a:rPr lang="en-US" dirty="0" err="1"/>
              <a:t>struct</a:t>
            </a:r>
            <a:r>
              <a:rPr lang="en-US" dirty="0"/>
              <a:t> employee emp1,emp2;</a:t>
            </a:r>
          </a:p>
          <a:p>
            <a:pPr>
              <a:buNone/>
            </a:pPr>
            <a:r>
              <a:rPr lang="en-US" b="1" i="1" u="sng" dirty="0">
                <a:solidFill>
                  <a:srgbClr val="FF0000"/>
                </a:solidFill>
              </a:rPr>
              <a:t>Structure Initialization :</a:t>
            </a:r>
            <a:endParaRPr lang="en-US" i="1" u="sng" dirty="0">
              <a:solidFill>
                <a:srgbClr val="FF0000"/>
              </a:solidFill>
            </a:endParaRPr>
          </a:p>
          <a:p>
            <a:pPr>
              <a:buNone/>
            </a:pPr>
            <a:r>
              <a:rPr lang="en-US" dirty="0" err="1"/>
              <a:t>struct</a:t>
            </a:r>
            <a:r>
              <a:rPr lang="en-US" dirty="0"/>
              <a:t> employee emp1 = { “ Raj”,1000,1};</a:t>
            </a:r>
          </a:p>
          <a:p>
            <a:pPr>
              <a:buNone/>
            </a:pPr>
            <a:r>
              <a:rPr lang="en-US" dirty="0" err="1"/>
              <a:t>struct</a:t>
            </a:r>
            <a:r>
              <a:rPr lang="en-US" dirty="0"/>
              <a:t> employee emp2 = { “Taj”,2000,2};</a:t>
            </a:r>
          </a:p>
          <a:p>
            <a:pPr>
              <a:buNone/>
            </a:pPr>
            <a:endParaRPr lang="en-US" dirty="0"/>
          </a:p>
        </p:txBody>
      </p:sp>
      <p:sp>
        <p:nvSpPr>
          <p:cNvPr id="4" name="Footer Placeholder 3">
            <a:extLst>
              <a:ext uri="{FF2B5EF4-FFF2-40B4-BE49-F238E27FC236}">
                <a16:creationId xmlns:a16="http://schemas.microsoft.com/office/drawing/2014/main" id="{C49BDA1F-D41B-AF43-901E-9F82F8FE7797}"/>
              </a:ext>
            </a:extLst>
          </p:cNvPr>
          <p:cNvSpPr>
            <a:spLocks noGrp="1"/>
          </p:cNvSpPr>
          <p:nvPr>
            <p:ph type="ftr" sz="quarter" idx="11"/>
          </p:nvPr>
        </p:nvSpPr>
        <p:spPr/>
        <p:txBody>
          <a:bodyPr/>
          <a:lstStyle/>
          <a:p>
            <a:r>
              <a:rPr lang="en-US"/>
              <a:t>Mrs Saranya Babu, Asst. Professor, GAT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blinds(horizontal)">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blinds(horizontal)">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blinds(horizontal)">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blinds(horizontal)">
                                      <p:cBhvr>
                                        <p:cTn id="57" dur="5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blinds(horizontal)">
                                      <p:cBhvr>
                                        <p:cTn id="62" dur="500"/>
                                        <p:tgtEl>
                                          <p:spTgt spid="3">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3">
                                            <p:txEl>
                                              <p:pRg st="12" end="12"/>
                                            </p:txEl>
                                          </p:spTgt>
                                        </p:tgtEl>
                                        <p:attrNameLst>
                                          <p:attrName>style.visibility</p:attrName>
                                        </p:attrNameLst>
                                      </p:cBhvr>
                                      <p:to>
                                        <p:strVal val="visible"/>
                                      </p:to>
                                    </p:set>
                                    <p:animEffect transition="in" filter="blinds(horizontal)">
                                      <p:cBhvr>
                                        <p:cTn id="67" dur="5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FF0000"/>
                </a:solidFill>
              </a:rPr>
              <a:t>Accessing Members of Structures </a:t>
            </a:r>
          </a:p>
        </p:txBody>
      </p:sp>
      <p:sp>
        <p:nvSpPr>
          <p:cNvPr id="3" name="Content Placeholder 2"/>
          <p:cNvSpPr>
            <a:spLocks noGrp="1"/>
          </p:cNvSpPr>
          <p:nvPr>
            <p:ph idx="1"/>
          </p:nvPr>
        </p:nvSpPr>
        <p:spPr>
          <a:xfrm>
            <a:off x="1828800" y="1600201"/>
            <a:ext cx="8382000" cy="4525963"/>
          </a:xfrm>
        </p:spPr>
        <p:txBody>
          <a:bodyPr>
            <a:normAutofit/>
          </a:bodyPr>
          <a:lstStyle/>
          <a:p>
            <a:pPr algn="just"/>
            <a:r>
              <a:rPr lang="en-US" sz="2400" dirty="0"/>
              <a:t>The member of structure is identified and accessed using the dot operator(.) </a:t>
            </a:r>
          </a:p>
          <a:p>
            <a:pPr algn="just"/>
            <a:r>
              <a:rPr lang="en-US" sz="2400" dirty="0"/>
              <a:t>The link between a member and a variable is established using the member operator ‘.’ which is also known as ‘dot operator’ or ‘period operator’.</a:t>
            </a:r>
          </a:p>
          <a:p>
            <a:pPr algn="just"/>
            <a:endParaRPr lang="en-US" sz="2400" b="1" dirty="0"/>
          </a:p>
          <a:p>
            <a:pPr>
              <a:buNone/>
            </a:pPr>
            <a:r>
              <a:rPr lang="en-US" sz="2400" b="1" dirty="0"/>
              <a:t>Syntax is </a:t>
            </a:r>
            <a:r>
              <a:rPr lang="en-US" sz="2400" dirty="0"/>
              <a:t>:</a:t>
            </a:r>
          </a:p>
          <a:p>
            <a:pPr>
              <a:buNone/>
            </a:pPr>
            <a:r>
              <a:rPr lang="en-US" sz="2400" b="1" i="1" dirty="0"/>
              <a:t>			</a:t>
            </a:r>
            <a:r>
              <a:rPr lang="en-US" sz="2400" b="1" i="1" dirty="0" err="1"/>
              <a:t>struct_variable.membername</a:t>
            </a:r>
            <a:r>
              <a:rPr lang="en-US" sz="2400" b="1" dirty="0"/>
              <a:t>;</a:t>
            </a:r>
            <a:endParaRPr lang="en-US" sz="2400" dirty="0"/>
          </a:p>
          <a:p>
            <a:pPr>
              <a:buNone/>
            </a:pPr>
            <a:endParaRPr lang="en-US" sz="2400" dirty="0"/>
          </a:p>
        </p:txBody>
      </p:sp>
      <p:sp>
        <p:nvSpPr>
          <p:cNvPr id="4" name="Footer Placeholder 3">
            <a:extLst>
              <a:ext uri="{FF2B5EF4-FFF2-40B4-BE49-F238E27FC236}">
                <a16:creationId xmlns:a16="http://schemas.microsoft.com/office/drawing/2014/main" id="{E9A55BE3-AE9A-E09B-028D-285F7E310C2C}"/>
              </a:ext>
            </a:extLst>
          </p:cNvPr>
          <p:cNvSpPr>
            <a:spLocks noGrp="1"/>
          </p:cNvSpPr>
          <p:nvPr>
            <p:ph type="ftr" sz="quarter" idx="11"/>
          </p:nvPr>
        </p:nvSpPr>
        <p:spPr/>
        <p:txBody>
          <a:bodyPr/>
          <a:lstStyle/>
          <a:p>
            <a:r>
              <a:rPr lang="en-US"/>
              <a:t>Mrs Saranya Babu, Asst. Professor, GAT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457200"/>
            <a:ext cx="8229600" cy="6096000"/>
          </a:xfrm>
        </p:spPr>
        <p:txBody>
          <a:bodyPr>
            <a:normAutofit fontScale="92500" lnSpcReduction="10000"/>
          </a:bodyPr>
          <a:lstStyle/>
          <a:p>
            <a:pPr>
              <a:buNone/>
            </a:pPr>
            <a:r>
              <a:rPr lang="en-US" b="1" dirty="0"/>
              <a:t>Example : </a:t>
            </a:r>
            <a:r>
              <a:rPr lang="en-US" dirty="0"/>
              <a:t>Consider the structure definition and initialization as shown below:</a:t>
            </a:r>
          </a:p>
          <a:p>
            <a:pPr>
              <a:buNone/>
            </a:pPr>
            <a:endParaRPr lang="en-US" dirty="0"/>
          </a:p>
          <a:p>
            <a:pPr>
              <a:buNone/>
            </a:pPr>
            <a:r>
              <a:rPr lang="en-US" dirty="0" err="1">
                <a:solidFill>
                  <a:srgbClr val="FF0000"/>
                </a:solidFill>
              </a:rPr>
              <a:t>struct</a:t>
            </a:r>
            <a:r>
              <a:rPr lang="en-US" dirty="0">
                <a:solidFill>
                  <a:srgbClr val="FF0000"/>
                </a:solidFill>
              </a:rPr>
              <a:t> employee</a:t>
            </a:r>
          </a:p>
          <a:p>
            <a:pPr>
              <a:buNone/>
            </a:pPr>
            <a:r>
              <a:rPr lang="en-US" dirty="0">
                <a:solidFill>
                  <a:srgbClr val="FF0000"/>
                </a:solidFill>
              </a:rPr>
              <a:t>{ </a:t>
            </a:r>
          </a:p>
          <a:p>
            <a:pPr>
              <a:buNone/>
            </a:pPr>
            <a:r>
              <a:rPr lang="en-US" dirty="0">
                <a:solidFill>
                  <a:srgbClr val="FF0000"/>
                </a:solidFill>
              </a:rPr>
              <a:t>char name[10];</a:t>
            </a:r>
          </a:p>
          <a:p>
            <a:pPr>
              <a:buNone/>
            </a:pPr>
            <a:r>
              <a:rPr lang="en-US" dirty="0">
                <a:solidFill>
                  <a:srgbClr val="FF0000"/>
                </a:solidFill>
              </a:rPr>
              <a:t>float salary ;</a:t>
            </a:r>
          </a:p>
          <a:p>
            <a:pPr>
              <a:buNone/>
            </a:pPr>
            <a:r>
              <a:rPr lang="en-US" dirty="0" err="1">
                <a:solidFill>
                  <a:srgbClr val="FF0000"/>
                </a:solidFill>
              </a:rPr>
              <a:t>int</a:t>
            </a:r>
            <a:r>
              <a:rPr lang="en-US" dirty="0">
                <a:solidFill>
                  <a:srgbClr val="FF0000"/>
                </a:solidFill>
              </a:rPr>
              <a:t> </a:t>
            </a:r>
            <a:r>
              <a:rPr lang="en-US" dirty="0" err="1">
                <a:solidFill>
                  <a:srgbClr val="FF0000"/>
                </a:solidFill>
              </a:rPr>
              <a:t>empno</a:t>
            </a:r>
            <a:r>
              <a:rPr lang="en-US" dirty="0">
                <a:solidFill>
                  <a:srgbClr val="FF0000"/>
                </a:solidFill>
              </a:rPr>
              <a:t>;</a:t>
            </a:r>
          </a:p>
          <a:p>
            <a:pPr>
              <a:buNone/>
            </a:pPr>
            <a:r>
              <a:rPr lang="en-US" dirty="0">
                <a:solidFill>
                  <a:srgbClr val="FF0000"/>
                </a:solidFill>
              </a:rPr>
              <a:t>};</a:t>
            </a:r>
          </a:p>
          <a:p>
            <a:pPr>
              <a:buNone/>
            </a:pPr>
            <a:r>
              <a:rPr lang="en-US" dirty="0" err="1">
                <a:solidFill>
                  <a:srgbClr val="0070C0"/>
                </a:solidFill>
              </a:rPr>
              <a:t>struct</a:t>
            </a:r>
            <a:r>
              <a:rPr lang="en-US" dirty="0">
                <a:solidFill>
                  <a:srgbClr val="0070C0"/>
                </a:solidFill>
              </a:rPr>
              <a:t> employee e = { “Raj”,1000,1};</a:t>
            </a:r>
          </a:p>
          <a:p>
            <a:pPr>
              <a:buNone/>
            </a:pPr>
            <a:endParaRPr lang="en-US" dirty="0"/>
          </a:p>
          <a:p>
            <a:pPr>
              <a:buNone/>
            </a:pPr>
            <a:r>
              <a:rPr lang="en-US" b="1" dirty="0"/>
              <a:t>e.name </a:t>
            </a:r>
            <a:r>
              <a:rPr lang="en-US" dirty="0"/>
              <a:t>can access the string “Raj</a:t>
            </a:r>
            <a:r>
              <a:rPr lang="en-US" b="1" dirty="0"/>
              <a:t>”</a:t>
            </a:r>
            <a:endParaRPr lang="en-US" dirty="0"/>
          </a:p>
          <a:p>
            <a:pPr>
              <a:buNone/>
            </a:pPr>
            <a:r>
              <a:rPr lang="en-US" b="1" dirty="0" err="1"/>
              <a:t>e.salary</a:t>
            </a:r>
            <a:r>
              <a:rPr lang="en-US" b="1" dirty="0"/>
              <a:t> </a:t>
            </a:r>
            <a:r>
              <a:rPr lang="en-US" dirty="0"/>
              <a:t>can access the value 1000</a:t>
            </a:r>
          </a:p>
          <a:p>
            <a:pPr>
              <a:buNone/>
            </a:pPr>
            <a:r>
              <a:rPr lang="en-US" b="1" dirty="0" err="1"/>
              <a:t>e.empno</a:t>
            </a:r>
            <a:r>
              <a:rPr lang="en-US" b="1" dirty="0"/>
              <a:t> </a:t>
            </a:r>
            <a:r>
              <a:rPr lang="en-US" dirty="0"/>
              <a:t>can access the value of 1</a:t>
            </a:r>
          </a:p>
          <a:p>
            <a:pPr>
              <a:buNone/>
            </a:pPr>
            <a:endParaRPr lang="en-US" dirty="0"/>
          </a:p>
        </p:txBody>
      </p:sp>
      <p:sp>
        <p:nvSpPr>
          <p:cNvPr id="4" name="TextBox 3"/>
          <p:cNvSpPr txBox="1"/>
          <p:nvPr/>
        </p:nvSpPr>
        <p:spPr>
          <a:xfrm>
            <a:off x="6400801" y="2667000"/>
            <a:ext cx="2018245" cy="369332"/>
          </a:xfrm>
          <a:prstGeom prst="rect">
            <a:avLst/>
          </a:prstGeom>
          <a:solidFill>
            <a:srgbClr val="FFC000"/>
          </a:solidFill>
        </p:spPr>
        <p:txBody>
          <a:bodyPr wrap="none" rtlCol="0">
            <a:spAutoFit/>
          </a:bodyPr>
          <a:lstStyle/>
          <a:p>
            <a:r>
              <a:rPr lang="en-US" dirty="0"/>
              <a:t>Structure definition</a:t>
            </a:r>
          </a:p>
        </p:txBody>
      </p:sp>
      <p:sp>
        <p:nvSpPr>
          <p:cNvPr id="6" name="TextBox 5"/>
          <p:cNvSpPr txBox="1"/>
          <p:nvPr/>
        </p:nvSpPr>
        <p:spPr>
          <a:xfrm>
            <a:off x="8077200" y="3962400"/>
            <a:ext cx="2254784" cy="369332"/>
          </a:xfrm>
          <a:prstGeom prst="rect">
            <a:avLst/>
          </a:prstGeom>
          <a:solidFill>
            <a:srgbClr val="FFC000"/>
          </a:solidFill>
        </p:spPr>
        <p:txBody>
          <a:bodyPr wrap="none" rtlCol="0">
            <a:spAutoFit/>
          </a:bodyPr>
          <a:lstStyle/>
          <a:p>
            <a:r>
              <a:rPr lang="en-US" dirty="0"/>
              <a:t>Structure initialization</a:t>
            </a:r>
          </a:p>
        </p:txBody>
      </p:sp>
      <p:cxnSp>
        <p:nvCxnSpPr>
          <p:cNvPr id="8" name="Straight Arrow Connector 7"/>
          <p:cNvCxnSpPr/>
          <p:nvPr/>
        </p:nvCxnSpPr>
        <p:spPr>
          <a:xfrm flipV="1">
            <a:off x="7239000" y="4191000"/>
            <a:ext cx="685800" cy="76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9" name="Right Brace 8"/>
          <p:cNvSpPr/>
          <p:nvPr/>
        </p:nvSpPr>
        <p:spPr>
          <a:xfrm>
            <a:off x="4495800" y="1828800"/>
            <a:ext cx="533400" cy="20574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1" name="Straight Arrow Connector 10"/>
          <p:cNvCxnSpPr/>
          <p:nvPr/>
        </p:nvCxnSpPr>
        <p:spPr>
          <a:xfrm>
            <a:off x="5181600" y="2895600"/>
            <a:ext cx="10668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6EFD07EC-FA81-2054-C26C-4E5937F5B1FC}"/>
              </a:ext>
            </a:extLst>
          </p:cNvPr>
          <p:cNvSpPr>
            <a:spLocks noGrp="1"/>
          </p:cNvSpPr>
          <p:nvPr>
            <p:ph type="ftr" sz="quarter" idx="11"/>
          </p:nvPr>
        </p:nvSpPr>
        <p:spPr/>
        <p:txBody>
          <a:bodyPr/>
          <a:lstStyle/>
          <a:p>
            <a:r>
              <a:rPr lang="en-US"/>
              <a:t>Mrs Saranya Babu, Asst. Professor, GAT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blinds(horizontal)">
                                      <p:cBhvr>
                                        <p:cTn id="7" dur="500"/>
                                        <p:tgtEl>
                                          <p:spTgt spid="3">
                                            <p:txEl>
                                              <p:pRg st="2" end="2"/>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blinds(horizontal)">
                                      <p:cBhvr>
                                        <p:cTn id="10" dur="500"/>
                                        <p:tgtEl>
                                          <p:spTgt spid="3">
                                            <p:txEl>
                                              <p:pRg st="3" end="3"/>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blinds(horizontal)">
                                      <p:cBhvr>
                                        <p:cTn id="13" dur="500"/>
                                        <p:tgtEl>
                                          <p:spTgt spid="3">
                                            <p:txEl>
                                              <p:pRg st="4" end="4"/>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3">
                                            <p:txEl>
                                              <p:pRg st="5" end="5"/>
                                            </p:txEl>
                                          </p:spTgt>
                                        </p:tgtEl>
                                        <p:attrNameLst>
                                          <p:attrName>style.visibility</p:attrName>
                                        </p:attrNameLst>
                                      </p:cBhvr>
                                      <p:to>
                                        <p:strVal val="visible"/>
                                      </p:to>
                                    </p:set>
                                    <p:animEffect transition="in" filter="blinds(horizontal)">
                                      <p:cBhvr>
                                        <p:cTn id="16" dur="500"/>
                                        <p:tgtEl>
                                          <p:spTgt spid="3">
                                            <p:txEl>
                                              <p:pRg st="5" end="5"/>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Effect transition="in" filter="blinds(horizontal)">
                                      <p:cBhvr>
                                        <p:cTn id="19" dur="500"/>
                                        <p:tgtEl>
                                          <p:spTgt spid="3">
                                            <p:txEl>
                                              <p:pRg st="6" end="6"/>
                                            </p:txEl>
                                          </p:spTgt>
                                        </p:tgtEl>
                                      </p:cBhvr>
                                    </p:animEffect>
                                  </p:childTnLst>
                                </p:cTn>
                              </p:par>
                              <p:par>
                                <p:cTn id="20" presetID="3" presetClass="entr" presetSubtype="10" fill="hold" nodeType="withEffect">
                                  <p:stCondLst>
                                    <p:cond delay="0"/>
                                  </p:stCondLst>
                                  <p:childTnLst>
                                    <p:set>
                                      <p:cBhvr>
                                        <p:cTn id="21" dur="1" fill="hold">
                                          <p:stCondLst>
                                            <p:cond delay="0"/>
                                          </p:stCondLst>
                                        </p:cTn>
                                        <p:tgtEl>
                                          <p:spTgt spid="3">
                                            <p:txEl>
                                              <p:pRg st="7" end="7"/>
                                            </p:txEl>
                                          </p:spTgt>
                                        </p:tgtEl>
                                        <p:attrNameLst>
                                          <p:attrName>style.visibility</p:attrName>
                                        </p:attrNameLst>
                                      </p:cBhvr>
                                      <p:to>
                                        <p:strVal val="visible"/>
                                      </p:to>
                                    </p:set>
                                    <p:animEffect transition="in" filter="blinds(horizontal)">
                                      <p:cBhvr>
                                        <p:cTn id="22" dur="500"/>
                                        <p:tgtEl>
                                          <p:spTgt spid="3">
                                            <p:txEl>
                                              <p:pRg st="7" end="7"/>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blinds(horizontal)">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blinds(horizontal)">
                                      <p:cBhvr>
                                        <p:cTn id="32" dur="500"/>
                                        <p:tgtEl>
                                          <p:spTgt spid="11"/>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blinds(horizontal)">
                                      <p:cBhvr>
                                        <p:cTn id="37" dur="500"/>
                                        <p:tgtEl>
                                          <p:spTgt spid="4"/>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blinds(horizontal)">
                                      <p:cBhvr>
                                        <p:cTn id="42" dur="500"/>
                                        <p:tgtEl>
                                          <p:spTgt spid="3">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8"/>
                                        </p:tgtEl>
                                        <p:attrNameLst>
                                          <p:attrName>style.visibility</p:attrName>
                                        </p:attrNameLst>
                                      </p:cBhvr>
                                      <p:to>
                                        <p:strVal val="visible"/>
                                      </p:to>
                                    </p:set>
                                    <p:animEffect transition="in" filter="blinds(horizontal)">
                                      <p:cBhvr>
                                        <p:cTn id="47" dur="500"/>
                                        <p:tgtEl>
                                          <p:spTgt spid="8"/>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6"/>
                                        </p:tgtEl>
                                        <p:attrNameLst>
                                          <p:attrName>style.visibility</p:attrName>
                                        </p:attrNameLst>
                                      </p:cBhvr>
                                      <p:to>
                                        <p:strVal val="visible"/>
                                      </p:to>
                                    </p:set>
                                    <p:animEffect transition="in" filter="blinds(horizontal)">
                                      <p:cBhvr>
                                        <p:cTn id="52" dur="500"/>
                                        <p:tgtEl>
                                          <p:spTgt spid="6"/>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blinds(horizontal)">
                                      <p:cBhvr>
                                        <p:cTn id="57" dur="5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blinds(horizontal)">
                                      <p:cBhvr>
                                        <p:cTn id="62" dur="500"/>
                                        <p:tgtEl>
                                          <p:spTgt spid="3">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nodeType="clickEffect">
                                  <p:stCondLst>
                                    <p:cond delay="0"/>
                                  </p:stCondLst>
                                  <p:childTnLst>
                                    <p:set>
                                      <p:cBhvr>
                                        <p:cTn id="66" dur="1" fill="hold">
                                          <p:stCondLst>
                                            <p:cond delay="0"/>
                                          </p:stCondLst>
                                        </p:cTn>
                                        <p:tgtEl>
                                          <p:spTgt spid="3">
                                            <p:txEl>
                                              <p:pRg st="12" end="12"/>
                                            </p:txEl>
                                          </p:spTgt>
                                        </p:tgtEl>
                                        <p:attrNameLst>
                                          <p:attrName>style.visibility</p:attrName>
                                        </p:attrNameLst>
                                      </p:cBhvr>
                                      <p:to>
                                        <p:strVal val="visible"/>
                                      </p:to>
                                    </p:set>
                                    <p:animEffect transition="in" filter="blinds(horizontal)">
                                      <p:cBhvr>
                                        <p:cTn id="67" dur="5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FF0000"/>
                </a:solidFill>
              </a:rPr>
              <a:t>Displaying the various members of Structures</a:t>
            </a:r>
            <a:endParaRPr lang="en-US" sz="2800" dirty="0">
              <a:solidFill>
                <a:srgbClr val="FF0000"/>
              </a:solidFill>
            </a:endParaRPr>
          </a:p>
        </p:txBody>
      </p:sp>
      <p:sp>
        <p:nvSpPr>
          <p:cNvPr id="3" name="Content Placeholder 2"/>
          <p:cNvSpPr>
            <a:spLocks noGrp="1"/>
          </p:cNvSpPr>
          <p:nvPr>
            <p:ph idx="1"/>
          </p:nvPr>
        </p:nvSpPr>
        <p:spPr>
          <a:xfrm>
            <a:off x="1752600" y="1600201"/>
            <a:ext cx="8458200" cy="4525963"/>
          </a:xfrm>
        </p:spPr>
        <p:txBody>
          <a:bodyPr>
            <a:normAutofit/>
          </a:bodyPr>
          <a:lstStyle/>
          <a:p>
            <a:pPr>
              <a:buNone/>
            </a:pPr>
            <a:r>
              <a:rPr lang="en-US" sz="2400" b="1" dirty="0" err="1"/>
              <a:t>printf</a:t>
            </a:r>
            <a:r>
              <a:rPr lang="en-US" sz="2400" b="1" dirty="0"/>
              <a:t>(“%</a:t>
            </a:r>
            <a:r>
              <a:rPr lang="en-US" sz="2400" b="1" dirty="0" err="1"/>
              <a:t>s”,e.name</a:t>
            </a:r>
            <a:r>
              <a:rPr lang="en-US" sz="2400" b="1" dirty="0"/>
              <a:t>);  //</a:t>
            </a:r>
            <a:r>
              <a:rPr lang="en-US" sz="2400" dirty="0"/>
              <a:t>prints the name of the employee</a:t>
            </a:r>
          </a:p>
          <a:p>
            <a:pPr>
              <a:buNone/>
            </a:pPr>
            <a:r>
              <a:rPr lang="en-US" sz="2400" b="1" dirty="0" err="1"/>
              <a:t>printf</a:t>
            </a:r>
            <a:r>
              <a:rPr lang="en-US" sz="2400" b="1" dirty="0"/>
              <a:t>(“%</a:t>
            </a:r>
            <a:r>
              <a:rPr lang="en-US" sz="2400" b="1" dirty="0" err="1"/>
              <a:t>f”,e.salary</a:t>
            </a:r>
            <a:r>
              <a:rPr lang="en-US" sz="2400" b="1" dirty="0"/>
              <a:t>);  // </a:t>
            </a:r>
            <a:r>
              <a:rPr lang="en-US" sz="2400" dirty="0"/>
              <a:t>prints the salary</a:t>
            </a:r>
          </a:p>
          <a:p>
            <a:pPr>
              <a:buNone/>
            </a:pPr>
            <a:r>
              <a:rPr lang="en-US" sz="2400" b="1" dirty="0" err="1"/>
              <a:t>printf</a:t>
            </a:r>
            <a:r>
              <a:rPr lang="en-US" sz="2400" b="1" dirty="0"/>
              <a:t>(“%</a:t>
            </a:r>
            <a:r>
              <a:rPr lang="en-US" sz="2400" b="1" dirty="0" err="1"/>
              <a:t>d”,e.empno</a:t>
            </a:r>
            <a:r>
              <a:rPr lang="en-US" sz="2400" b="1" dirty="0"/>
              <a:t>);  //</a:t>
            </a:r>
            <a:r>
              <a:rPr lang="en-US" sz="2400" dirty="0"/>
              <a:t>prints</a:t>
            </a:r>
            <a:r>
              <a:rPr lang="en-US" sz="2400" b="1" dirty="0"/>
              <a:t> </a:t>
            </a:r>
            <a:r>
              <a:rPr lang="en-US" sz="2400" dirty="0"/>
              <a:t>the employee number</a:t>
            </a:r>
          </a:p>
          <a:p>
            <a:pPr>
              <a:buNone/>
            </a:pPr>
            <a:endParaRPr lang="en-US" sz="2400" dirty="0"/>
          </a:p>
        </p:txBody>
      </p:sp>
      <p:sp>
        <p:nvSpPr>
          <p:cNvPr id="4" name="Footer Placeholder 3">
            <a:extLst>
              <a:ext uri="{FF2B5EF4-FFF2-40B4-BE49-F238E27FC236}">
                <a16:creationId xmlns:a16="http://schemas.microsoft.com/office/drawing/2014/main" id="{25E753D1-3833-33F8-138B-BE1171939442}"/>
              </a:ext>
            </a:extLst>
          </p:cNvPr>
          <p:cNvSpPr>
            <a:spLocks noGrp="1"/>
          </p:cNvSpPr>
          <p:nvPr>
            <p:ph type="ftr" sz="quarter" idx="11"/>
          </p:nvPr>
        </p:nvSpPr>
        <p:spPr/>
        <p:txBody>
          <a:bodyPr/>
          <a:lstStyle/>
          <a:p>
            <a:r>
              <a:rPr lang="en-US"/>
              <a:t>Mrs Saranya Babu, Asst. Professor, GAT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981200" y="1600201"/>
            <a:ext cx="8229600" cy="4525963"/>
          </a:xfrm>
        </p:spPr>
        <p:txBody>
          <a:bodyPr>
            <a:normAutofit/>
          </a:bodyPr>
          <a:lstStyle/>
          <a:p>
            <a:pPr algn="just">
              <a:buNone/>
            </a:pPr>
            <a:r>
              <a:rPr lang="en-US" sz="2400" b="1" dirty="0">
                <a:solidFill>
                  <a:srgbClr val="FF0000"/>
                </a:solidFill>
              </a:rPr>
              <a:t>Reading the values for various members of structures </a:t>
            </a:r>
          </a:p>
          <a:p>
            <a:pPr algn="just">
              <a:buNone/>
            </a:pPr>
            <a:endParaRPr lang="en-US" sz="2400" b="1" dirty="0"/>
          </a:p>
          <a:p>
            <a:pPr algn="just">
              <a:buNone/>
            </a:pPr>
            <a:r>
              <a:rPr lang="en-US" sz="2400" b="1" dirty="0" err="1"/>
              <a:t>scanf</a:t>
            </a:r>
            <a:r>
              <a:rPr lang="en-US" sz="2400" b="1" dirty="0"/>
              <a:t>(“%s”, e.name);     	//</a:t>
            </a:r>
            <a:r>
              <a:rPr lang="en-US" sz="2400" dirty="0"/>
              <a:t>reads the employee name</a:t>
            </a:r>
          </a:p>
          <a:p>
            <a:pPr algn="just">
              <a:buNone/>
            </a:pPr>
            <a:r>
              <a:rPr lang="en-US" sz="2400" b="1" dirty="0"/>
              <a:t>scanf(“%f”, &amp;</a:t>
            </a:r>
            <a:r>
              <a:rPr lang="en-US" sz="2400" b="1" dirty="0" err="1"/>
              <a:t>e.salary</a:t>
            </a:r>
            <a:r>
              <a:rPr lang="en-US" sz="2400" b="1" dirty="0"/>
              <a:t>);   	// </a:t>
            </a:r>
            <a:r>
              <a:rPr lang="en-US" sz="2400" dirty="0"/>
              <a:t>reads the salary of employee</a:t>
            </a:r>
          </a:p>
          <a:p>
            <a:pPr algn="just">
              <a:buNone/>
            </a:pPr>
            <a:r>
              <a:rPr lang="en-US" sz="2400" b="1" dirty="0"/>
              <a:t>scanf(“%d”, &amp;</a:t>
            </a:r>
            <a:r>
              <a:rPr lang="en-US" sz="2400" b="1" dirty="0" err="1"/>
              <a:t>e.empno</a:t>
            </a:r>
            <a:r>
              <a:rPr lang="en-US" sz="2400" b="1" dirty="0"/>
              <a:t>);	// </a:t>
            </a:r>
            <a:r>
              <a:rPr lang="en-US" sz="2400" dirty="0"/>
              <a:t>reads the employee id</a:t>
            </a:r>
          </a:p>
          <a:p>
            <a:pPr algn="just">
              <a:buNone/>
            </a:pPr>
            <a:endParaRPr lang="en-US" sz="2400" dirty="0"/>
          </a:p>
        </p:txBody>
      </p:sp>
      <p:sp>
        <p:nvSpPr>
          <p:cNvPr id="4" name="Footer Placeholder 3">
            <a:extLst>
              <a:ext uri="{FF2B5EF4-FFF2-40B4-BE49-F238E27FC236}">
                <a16:creationId xmlns:a16="http://schemas.microsoft.com/office/drawing/2014/main" id="{770951BE-5380-9021-E8BB-13A5412F2212}"/>
              </a:ext>
            </a:extLst>
          </p:cNvPr>
          <p:cNvSpPr>
            <a:spLocks noGrp="1"/>
          </p:cNvSpPr>
          <p:nvPr>
            <p:ph type="ftr" sz="quarter" idx="11"/>
          </p:nvPr>
        </p:nvSpPr>
        <p:spPr/>
        <p:txBody>
          <a:bodyPr/>
          <a:lstStyle/>
          <a:p>
            <a:r>
              <a:rPr lang="en-US"/>
              <a:t>Mrs Saranya Babu, Asst. Professor, GAT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304800"/>
            <a:ext cx="8229600" cy="6019800"/>
          </a:xfrm>
        </p:spPr>
        <p:txBody>
          <a:bodyPr>
            <a:noAutofit/>
          </a:bodyPr>
          <a:lstStyle/>
          <a:p>
            <a:r>
              <a:rPr lang="en-US" sz="2000" b="1" u="sng" dirty="0">
                <a:solidFill>
                  <a:srgbClr val="7030A0"/>
                </a:solidFill>
                <a:latin typeface="Times New Roman" pitchFamily="18" charset="0"/>
                <a:cs typeface="Times New Roman" pitchFamily="18" charset="0"/>
              </a:rPr>
              <a:t>Write a program to read employee number, name, salary and print the details.</a:t>
            </a:r>
          </a:p>
          <a:p>
            <a:pPr>
              <a:buNone/>
            </a:pPr>
            <a:endParaRPr lang="en-US" sz="1800" b="1" dirty="0">
              <a:latin typeface="Times New Roman" pitchFamily="18" charset="0"/>
              <a:cs typeface="Times New Roman" pitchFamily="18" charset="0"/>
            </a:endParaRPr>
          </a:p>
          <a:p>
            <a:pPr>
              <a:buNone/>
            </a:pPr>
            <a:r>
              <a:rPr lang="en-US" sz="1800" b="1" dirty="0">
                <a:latin typeface="Times New Roman" pitchFamily="18" charset="0"/>
                <a:cs typeface="Times New Roman" pitchFamily="18" charset="0"/>
              </a:rPr>
              <a:t>#include&lt;</a:t>
            </a:r>
            <a:r>
              <a:rPr lang="en-US" sz="1800" b="1" dirty="0" err="1">
                <a:latin typeface="Times New Roman" pitchFamily="18" charset="0"/>
                <a:cs typeface="Times New Roman" pitchFamily="18" charset="0"/>
              </a:rPr>
              <a:t>stdio.h</a:t>
            </a:r>
            <a:r>
              <a:rPr lang="en-US" sz="1800" b="1" dirty="0">
                <a:latin typeface="Times New Roman" pitchFamily="18" charset="0"/>
                <a:cs typeface="Times New Roman" pitchFamily="18" charset="0"/>
              </a:rPr>
              <a:t>&gt;</a:t>
            </a:r>
          </a:p>
          <a:p>
            <a:pPr>
              <a:buNone/>
            </a:pPr>
            <a:r>
              <a:rPr lang="en-US" sz="1800" b="1" dirty="0" err="1">
                <a:solidFill>
                  <a:srgbClr val="FF0000"/>
                </a:solidFill>
                <a:latin typeface="Times New Roman" pitchFamily="18" charset="0"/>
                <a:cs typeface="Times New Roman" pitchFamily="18" charset="0"/>
              </a:rPr>
              <a:t>struct</a:t>
            </a:r>
            <a:r>
              <a:rPr lang="en-US" sz="1800" b="1" dirty="0">
                <a:solidFill>
                  <a:srgbClr val="FF0000"/>
                </a:solidFill>
                <a:latin typeface="Times New Roman" pitchFamily="18" charset="0"/>
                <a:cs typeface="Times New Roman" pitchFamily="18" charset="0"/>
              </a:rPr>
              <a:t> employee</a:t>
            </a:r>
          </a:p>
          <a:p>
            <a:pPr>
              <a:buNone/>
            </a:pPr>
            <a:r>
              <a:rPr lang="en-US" sz="1800" b="1" dirty="0">
                <a:solidFill>
                  <a:srgbClr val="FF0000"/>
                </a:solidFill>
                <a:latin typeface="Times New Roman" pitchFamily="18" charset="0"/>
                <a:cs typeface="Times New Roman" pitchFamily="18" charset="0"/>
              </a:rPr>
              <a:t>{</a:t>
            </a:r>
          </a:p>
          <a:p>
            <a:pPr>
              <a:buNone/>
            </a:pPr>
            <a:r>
              <a:rPr lang="en-US" sz="1800" b="1" dirty="0">
                <a:solidFill>
                  <a:srgbClr val="FF0000"/>
                </a:solidFill>
                <a:latin typeface="Times New Roman" pitchFamily="18" charset="0"/>
                <a:cs typeface="Times New Roman" pitchFamily="18" charset="0"/>
              </a:rPr>
              <a:t>    char name[20];</a:t>
            </a:r>
          </a:p>
          <a:p>
            <a:pPr>
              <a:buNone/>
            </a:pPr>
            <a:r>
              <a:rPr lang="en-US" sz="1800" b="1" dirty="0">
                <a:solidFill>
                  <a:srgbClr val="FF0000"/>
                </a:solidFill>
                <a:latin typeface="Times New Roman" pitchFamily="18" charset="0"/>
                <a:cs typeface="Times New Roman" pitchFamily="18" charset="0"/>
              </a:rPr>
              <a:t>	float salary;</a:t>
            </a:r>
          </a:p>
          <a:p>
            <a:pPr>
              <a:buNone/>
            </a:pPr>
            <a:r>
              <a:rPr lang="en-US" sz="1800" b="1" dirty="0">
                <a:solidFill>
                  <a:srgbClr val="FF0000"/>
                </a:solidFill>
                <a:latin typeface="Times New Roman" pitchFamily="18" charset="0"/>
                <a:cs typeface="Times New Roman" pitchFamily="18" charset="0"/>
              </a:rPr>
              <a:t>    </a:t>
            </a:r>
            <a:r>
              <a:rPr lang="en-US" sz="1800" b="1" dirty="0" err="1">
                <a:solidFill>
                  <a:srgbClr val="FF0000"/>
                </a:solidFill>
                <a:latin typeface="Times New Roman" pitchFamily="18" charset="0"/>
                <a:cs typeface="Times New Roman" pitchFamily="18" charset="0"/>
              </a:rPr>
              <a:t>int</a:t>
            </a:r>
            <a:r>
              <a:rPr lang="en-US" sz="1800" b="1" dirty="0">
                <a:solidFill>
                  <a:srgbClr val="FF0000"/>
                </a:solidFill>
                <a:latin typeface="Times New Roman" pitchFamily="18" charset="0"/>
                <a:cs typeface="Times New Roman" pitchFamily="18" charset="0"/>
              </a:rPr>
              <a:t> </a:t>
            </a:r>
            <a:r>
              <a:rPr lang="en-US" sz="1800" b="1" dirty="0" err="1">
                <a:solidFill>
                  <a:srgbClr val="FF0000"/>
                </a:solidFill>
                <a:latin typeface="Times New Roman" pitchFamily="18" charset="0"/>
                <a:cs typeface="Times New Roman" pitchFamily="18" charset="0"/>
              </a:rPr>
              <a:t>empno</a:t>
            </a:r>
            <a:r>
              <a:rPr lang="en-US" sz="1800" b="1" dirty="0">
                <a:solidFill>
                  <a:srgbClr val="FF0000"/>
                </a:solidFill>
                <a:latin typeface="Times New Roman" pitchFamily="18" charset="0"/>
                <a:cs typeface="Times New Roman" pitchFamily="18" charset="0"/>
              </a:rPr>
              <a:t>;    </a:t>
            </a:r>
          </a:p>
          <a:p>
            <a:pPr>
              <a:buNone/>
            </a:pPr>
            <a:r>
              <a:rPr lang="en-US" sz="1800" b="1" dirty="0">
                <a:solidFill>
                  <a:srgbClr val="FF0000"/>
                </a:solidFill>
                <a:latin typeface="Times New Roman" pitchFamily="18" charset="0"/>
                <a:cs typeface="Times New Roman" pitchFamily="18" charset="0"/>
              </a:rPr>
              <a:t>};</a:t>
            </a:r>
          </a:p>
          <a:p>
            <a:pPr>
              <a:buNone/>
            </a:pPr>
            <a:r>
              <a:rPr lang="en-US" sz="1800" b="1" dirty="0">
                <a:latin typeface="Times New Roman" pitchFamily="18" charset="0"/>
                <a:cs typeface="Times New Roman" pitchFamily="18" charset="0"/>
              </a:rPr>
              <a:t>void main()</a:t>
            </a:r>
          </a:p>
          <a:p>
            <a:pPr>
              <a:buNone/>
            </a:pPr>
            <a:r>
              <a:rPr lang="en-US" sz="1800" b="1" dirty="0">
                <a:latin typeface="Times New Roman" pitchFamily="18" charset="0"/>
                <a:cs typeface="Times New Roman" pitchFamily="18" charset="0"/>
              </a:rPr>
              <a:t>{</a:t>
            </a:r>
          </a:p>
          <a:p>
            <a:pPr>
              <a:buNone/>
            </a:pPr>
            <a:r>
              <a:rPr lang="en-US" sz="1800" b="1" dirty="0">
                <a:latin typeface="Times New Roman" pitchFamily="18" charset="0"/>
                <a:cs typeface="Times New Roman" pitchFamily="18" charset="0"/>
              </a:rPr>
              <a:t>    </a:t>
            </a:r>
            <a:r>
              <a:rPr lang="en-US" sz="1800" b="1" dirty="0" err="1">
                <a:solidFill>
                  <a:srgbClr val="FF0000"/>
                </a:solidFill>
                <a:latin typeface="Times New Roman" pitchFamily="18" charset="0"/>
                <a:cs typeface="Times New Roman" pitchFamily="18" charset="0"/>
              </a:rPr>
              <a:t>struct</a:t>
            </a:r>
            <a:r>
              <a:rPr lang="en-US" sz="1800" b="1" dirty="0">
                <a:solidFill>
                  <a:srgbClr val="FF0000"/>
                </a:solidFill>
                <a:latin typeface="Times New Roman" pitchFamily="18" charset="0"/>
                <a:cs typeface="Times New Roman" pitchFamily="18" charset="0"/>
              </a:rPr>
              <a:t> employee e;</a:t>
            </a:r>
          </a:p>
          <a:p>
            <a:pPr>
              <a:buNone/>
            </a:pPr>
            <a:r>
              <a:rPr lang="en-US" sz="1800" b="1" dirty="0">
                <a:latin typeface="Times New Roman" pitchFamily="18" charset="0"/>
                <a:cs typeface="Times New Roman" pitchFamily="18" charset="0"/>
              </a:rPr>
              <a:t>    </a:t>
            </a:r>
            <a:r>
              <a:rPr lang="en-US" sz="1800" b="1" dirty="0" err="1">
                <a:latin typeface="Times New Roman" pitchFamily="18" charset="0"/>
                <a:cs typeface="Times New Roman" pitchFamily="18" charset="0"/>
              </a:rPr>
              <a:t>printf</a:t>
            </a:r>
            <a:r>
              <a:rPr lang="en-US" sz="1800" b="1" dirty="0">
                <a:latin typeface="Times New Roman" pitchFamily="18" charset="0"/>
                <a:cs typeface="Times New Roman" pitchFamily="18" charset="0"/>
              </a:rPr>
              <a:t>("Enter name, number and salary of employee\n");</a:t>
            </a:r>
          </a:p>
          <a:p>
            <a:pPr>
              <a:buNone/>
            </a:pPr>
            <a:r>
              <a:rPr lang="en-US" sz="1800" b="1" dirty="0">
                <a:latin typeface="Times New Roman" pitchFamily="18" charset="0"/>
                <a:cs typeface="Times New Roman" pitchFamily="18" charset="0"/>
              </a:rPr>
              <a:t>    </a:t>
            </a:r>
            <a:r>
              <a:rPr lang="en-US" sz="1800" b="1" dirty="0" err="1">
                <a:solidFill>
                  <a:srgbClr val="FF0000"/>
                </a:solidFill>
                <a:latin typeface="Times New Roman" pitchFamily="18" charset="0"/>
                <a:cs typeface="Times New Roman" pitchFamily="18" charset="0"/>
              </a:rPr>
              <a:t>scanf</a:t>
            </a:r>
            <a:r>
              <a:rPr lang="en-US" sz="1800" b="1" dirty="0">
                <a:solidFill>
                  <a:srgbClr val="FF0000"/>
                </a:solidFill>
                <a:latin typeface="Times New Roman" pitchFamily="18" charset="0"/>
                <a:cs typeface="Times New Roman" pitchFamily="18" charset="0"/>
              </a:rPr>
              <a:t>("%</a:t>
            </a:r>
            <a:r>
              <a:rPr lang="en-US" sz="1800" b="1" dirty="0" err="1">
                <a:solidFill>
                  <a:srgbClr val="FF0000"/>
                </a:solidFill>
                <a:latin typeface="Times New Roman" pitchFamily="18" charset="0"/>
                <a:cs typeface="Times New Roman" pitchFamily="18" charset="0"/>
              </a:rPr>
              <a:t>s%d%f</a:t>
            </a:r>
            <a:r>
              <a:rPr lang="en-US" sz="1800" b="1" dirty="0">
                <a:solidFill>
                  <a:srgbClr val="FF0000"/>
                </a:solidFill>
                <a:latin typeface="Times New Roman" pitchFamily="18" charset="0"/>
                <a:cs typeface="Times New Roman" pitchFamily="18" charset="0"/>
              </a:rPr>
              <a:t>", e.name, &amp;</a:t>
            </a:r>
            <a:r>
              <a:rPr lang="en-US" sz="1800" b="1" dirty="0" err="1">
                <a:solidFill>
                  <a:srgbClr val="FF0000"/>
                </a:solidFill>
                <a:latin typeface="Times New Roman" pitchFamily="18" charset="0"/>
                <a:cs typeface="Times New Roman" pitchFamily="18" charset="0"/>
              </a:rPr>
              <a:t>e.empno</a:t>
            </a:r>
            <a:r>
              <a:rPr lang="en-US" sz="1800" b="1" dirty="0">
                <a:solidFill>
                  <a:srgbClr val="FF0000"/>
                </a:solidFill>
                <a:latin typeface="Times New Roman" pitchFamily="18" charset="0"/>
                <a:cs typeface="Times New Roman" pitchFamily="18" charset="0"/>
              </a:rPr>
              <a:t>, &amp;</a:t>
            </a:r>
            <a:r>
              <a:rPr lang="en-US" sz="1800" b="1" dirty="0" err="1">
                <a:solidFill>
                  <a:srgbClr val="FF0000"/>
                </a:solidFill>
                <a:latin typeface="Times New Roman" pitchFamily="18" charset="0"/>
                <a:cs typeface="Times New Roman" pitchFamily="18" charset="0"/>
              </a:rPr>
              <a:t>e.salary</a:t>
            </a:r>
            <a:r>
              <a:rPr lang="en-US" sz="1800" b="1" dirty="0">
                <a:solidFill>
                  <a:srgbClr val="FF0000"/>
                </a:solidFill>
                <a:latin typeface="Times New Roman" pitchFamily="18" charset="0"/>
                <a:cs typeface="Times New Roman" pitchFamily="18" charset="0"/>
              </a:rPr>
              <a:t>);         </a:t>
            </a:r>
            <a:r>
              <a:rPr lang="en-US" sz="1400" b="1" dirty="0">
                <a:latin typeface="Times New Roman" pitchFamily="18" charset="0"/>
                <a:cs typeface="Times New Roman" pitchFamily="18" charset="0"/>
              </a:rPr>
              <a:t>//reading details</a:t>
            </a:r>
            <a:endParaRPr lang="en-US" sz="1800" b="1" dirty="0">
              <a:latin typeface="Times New Roman" pitchFamily="18" charset="0"/>
              <a:cs typeface="Times New Roman" pitchFamily="18" charset="0"/>
            </a:endParaRPr>
          </a:p>
          <a:p>
            <a:pPr>
              <a:buNone/>
            </a:pPr>
            <a:r>
              <a:rPr lang="en-US" sz="1800" b="1" dirty="0">
                <a:latin typeface="Times New Roman" pitchFamily="18" charset="0"/>
                <a:cs typeface="Times New Roman" pitchFamily="18" charset="0"/>
              </a:rPr>
              <a:t>    </a:t>
            </a:r>
            <a:r>
              <a:rPr lang="en-US" sz="1800" b="1" dirty="0" err="1">
                <a:latin typeface="Times New Roman" pitchFamily="18" charset="0"/>
                <a:cs typeface="Times New Roman" pitchFamily="18" charset="0"/>
              </a:rPr>
              <a:t>printf</a:t>
            </a:r>
            <a:r>
              <a:rPr lang="en-US" sz="1800" b="1" dirty="0">
                <a:latin typeface="Times New Roman" pitchFamily="18" charset="0"/>
                <a:cs typeface="Times New Roman" pitchFamily="18" charset="0"/>
              </a:rPr>
              <a:t>("Entered name number and salary of employee is\n");</a:t>
            </a:r>
          </a:p>
          <a:p>
            <a:pPr>
              <a:buNone/>
            </a:pPr>
            <a:r>
              <a:rPr lang="en-US" sz="1800" b="1" dirty="0">
                <a:latin typeface="Times New Roman" pitchFamily="18" charset="0"/>
                <a:cs typeface="Times New Roman" pitchFamily="18" charset="0"/>
              </a:rPr>
              <a:t>    </a:t>
            </a:r>
            <a:r>
              <a:rPr lang="en-US" sz="1800" b="1" dirty="0" err="1">
                <a:solidFill>
                  <a:srgbClr val="FF0000"/>
                </a:solidFill>
                <a:latin typeface="Times New Roman" pitchFamily="18" charset="0"/>
                <a:cs typeface="Times New Roman" pitchFamily="18" charset="0"/>
              </a:rPr>
              <a:t>printf</a:t>
            </a:r>
            <a:r>
              <a:rPr lang="en-US" sz="1800" b="1" dirty="0">
                <a:solidFill>
                  <a:srgbClr val="FF0000"/>
                </a:solidFill>
                <a:latin typeface="Times New Roman" pitchFamily="18" charset="0"/>
                <a:cs typeface="Times New Roman" pitchFamily="18" charset="0"/>
              </a:rPr>
              <a:t>("%s \</a:t>
            </a:r>
            <a:r>
              <a:rPr lang="en-US" sz="1800" b="1" dirty="0" err="1">
                <a:solidFill>
                  <a:srgbClr val="FF0000"/>
                </a:solidFill>
                <a:latin typeface="Times New Roman" pitchFamily="18" charset="0"/>
                <a:cs typeface="Times New Roman" pitchFamily="18" charset="0"/>
              </a:rPr>
              <a:t>t%d</a:t>
            </a:r>
            <a:r>
              <a:rPr lang="en-US" sz="1800" b="1" dirty="0">
                <a:solidFill>
                  <a:srgbClr val="FF0000"/>
                </a:solidFill>
                <a:latin typeface="Times New Roman" pitchFamily="18" charset="0"/>
                <a:cs typeface="Times New Roman" pitchFamily="18" charset="0"/>
              </a:rPr>
              <a:t> \</a:t>
            </a:r>
            <a:r>
              <a:rPr lang="en-US" sz="1800" b="1" dirty="0" err="1">
                <a:solidFill>
                  <a:srgbClr val="FF0000"/>
                </a:solidFill>
                <a:latin typeface="Times New Roman" pitchFamily="18" charset="0"/>
                <a:cs typeface="Times New Roman" pitchFamily="18" charset="0"/>
              </a:rPr>
              <a:t>t%f</a:t>
            </a:r>
            <a:r>
              <a:rPr lang="en-US" sz="1800" b="1" dirty="0">
                <a:solidFill>
                  <a:srgbClr val="FF0000"/>
                </a:solidFill>
                <a:latin typeface="Times New Roman" pitchFamily="18" charset="0"/>
                <a:cs typeface="Times New Roman" pitchFamily="18" charset="0"/>
              </a:rPr>
              <a:t>", e.name, </a:t>
            </a:r>
            <a:r>
              <a:rPr lang="en-US" sz="1800" b="1" dirty="0" err="1">
                <a:solidFill>
                  <a:srgbClr val="FF0000"/>
                </a:solidFill>
                <a:latin typeface="Times New Roman" pitchFamily="18" charset="0"/>
                <a:cs typeface="Times New Roman" pitchFamily="18" charset="0"/>
              </a:rPr>
              <a:t>e.empno</a:t>
            </a:r>
            <a:r>
              <a:rPr lang="en-US" sz="1800" b="1" dirty="0">
                <a:solidFill>
                  <a:srgbClr val="FF0000"/>
                </a:solidFill>
                <a:latin typeface="Times New Roman" pitchFamily="18" charset="0"/>
                <a:cs typeface="Times New Roman" pitchFamily="18" charset="0"/>
              </a:rPr>
              <a:t>, </a:t>
            </a:r>
            <a:r>
              <a:rPr lang="en-US" sz="1800" b="1" dirty="0" err="1">
                <a:solidFill>
                  <a:srgbClr val="FF0000"/>
                </a:solidFill>
                <a:latin typeface="Times New Roman" pitchFamily="18" charset="0"/>
                <a:cs typeface="Times New Roman" pitchFamily="18" charset="0"/>
              </a:rPr>
              <a:t>e.salary</a:t>
            </a:r>
            <a:r>
              <a:rPr lang="en-US" sz="1800" b="1" dirty="0">
                <a:solidFill>
                  <a:srgbClr val="FF0000"/>
                </a:solidFill>
                <a:latin typeface="Times New Roman" pitchFamily="18" charset="0"/>
                <a:cs typeface="Times New Roman" pitchFamily="18" charset="0"/>
              </a:rPr>
              <a:t>);	   </a:t>
            </a:r>
            <a:r>
              <a:rPr lang="en-US" sz="1400" b="1" dirty="0">
                <a:latin typeface="Times New Roman" pitchFamily="18" charset="0"/>
                <a:cs typeface="Times New Roman" pitchFamily="18" charset="0"/>
              </a:rPr>
              <a:t>// printing details</a:t>
            </a:r>
            <a:endParaRPr lang="en-US" sz="1800" b="1" dirty="0">
              <a:latin typeface="Times New Roman" pitchFamily="18" charset="0"/>
              <a:cs typeface="Times New Roman" pitchFamily="18" charset="0"/>
            </a:endParaRPr>
          </a:p>
          <a:p>
            <a:pPr>
              <a:buNone/>
            </a:pPr>
            <a:r>
              <a:rPr lang="en-US" sz="1800" b="1" dirty="0">
                <a:latin typeface="Times New Roman" pitchFamily="18" charset="0"/>
                <a:cs typeface="Times New Roman" pitchFamily="18" charset="0"/>
              </a:rPr>
              <a:t>}</a:t>
            </a:r>
          </a:p>
          <a:p>
            <a:pPr>
              <a:buNone/>
            </a:pPr>
            <a:r>
              <a:rPr lang="en-US" sz="1600" b="1" dirty="0">
                <a:latin typeface="Times New Roman" pitchFamily="18" charset="0"/>
                <a:cs typeface="Times New Roman" pitchFamily="18" charset="0"/>
              </a:rPr>
              <a:t>   </a:t>
            </a:r>
            <a:r>
              <a:rPr lang="en-US" sz="2000" b="1" dirty="0">
                <a:latin typeface="Times New Roman" pitchFamily="18" charset="0"/>
                <a:cs typeface="Times New Roman" pitchFamily="18" charset="0"/>
              </a:rPr>
              <a:t>  </a:t>
            </a:r>
          </a:p>
        </p:txBody>
      </p:sp>
      <p:sp>
        <p:nvSpPr>
          <p:cNvPr id="6" name="TextBox 5"/>
          <p:cNvSpPr txBox="1"/>
          <p:nvPr/>
        </p:nvSpPr>
        <p:spPr>
          <a:xfrm>
            <a:off x="6019800" y="2514601"/>
            <a:ext cx="1676400" cy="307777"/>
          </a:xfrm>
          <a:prstGeom prst="rect">
            <a:avLst/>
          </a:prstGeom>
          <a:solidFill>
            <a:srgbClr val="FFC000"/>
          </a:solidFill>
        </p:spPr>
        <p:txBody>
          <a:bodyPr wrap="square" rtlCol="0">
            <a:spAutoFit/>
          </a:bodyPr>
          <a:lstStyle/>
          <a:p>
            <a:r>
              <a:rPr lang="en-US" sz="1400" b="1" dirty="0"/>
              <a:t>Structure definition </a:t>
            </a:r>
          </a:p>
        </p:txBody>
      </p:sp>
      <p:sp>
        <p:nvSpPr>
          <p:cNvPr id="9" name="Right Brace 8"/>
          <p:cNvSpPr/>
          <p:nvPr/>
        </p:nvSpPr>
        <p:spPr>
          <a:xfrm>
            <a:off x="3962400" y="1752600"/>
            <a:ext cx="381000" cy="17526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1" name="Straight Arrow Connector 10"/>
          <p:cNvCxnSpPr/>
          <p:nvPr/>
        </p:nvCxnSpPr>
        <p:spPr>
          <a:xfrm>
            <a:off x="4648200" y="2667000"/>
            <a:ext cx="12954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6248400" y="3886201"/>
            <a:ext cx="2895600" cy="307777"/>
          </a:xfrm>
          <a:prstGeom prst="rect">
            <a:avLst/>
          </a:prstGeom>
          <a:solidFill>
            <a:srgbClr val="FFC000"/>
          </a:solidFill>
        </p:spPr>
        <p:txBody>
          <a:bodyPr wrap="square" rtlCol="0">
            <a:spAutoFit/>
          </a:bodyPr>
          <a:lstStyle/>
          <a:p>
            <a:r>
              <a:rPr lang="en-US" sz="1400" b="1" dirty="0"/>
              <a:t>Structure declaration with variable </a:t>
            </a:r>
            <a:r>
              <a:rPr lang="en-US" sz="1400" b="1" dirty="0">
                <a:solidFill>
                  <a:srgbClr val="FF0000"/>
                </a:solidFill>
              </a:rPr>
              <a:t>e</a:t>
            </a:r>
            <a:r>
              <a:rPr lang="en-US" sz="1400" b="1" dirty="0"/>
              <a:t> </a:t>
            </a:r>
          </a:p>
        </p:txBody>
      </p:sp>
      <p:cxnSp>
        <p:nvCxnSpPr>
          <p:cNvPr id="14" name="Straight Arrow Connector 13"/>
          <p:cNvCxnSpPr/>
          <p:nvPr/>
        </p:nvCxnSpPr>
        <p:spPr>
          <a:xfrm flipV="1">
            <a:off x="4267200" y="4038600"/>
            <a:ext cx="1981200" cy="381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379FE352-9718-60F5-64CC-14B3C936C896}"/>
              </a:ext>
            </a:extLst>
          </p:cNvPr>
          <p:cNvSpPr>
            <a:spLocks noGrp="1"/>
          </p:cNvSpPr>
          <p:nvPr>
            <p:ph type="ftr" sz="quarter" idx="11"/>
          </p:nvPr>
        </p:nvSpPr>
        <p:spPr/>
        <p:txBody>
          <a:bodyPr/>
          <a:lstStyle/>
          <a:p>
            <a:r>
              <a:rPr lang="en-US"/>
              <a:t>Mrs Saranya Babu, Asst. Professor, GAT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linds(horizontal)">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blinds(horizontal)">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blinds(horizontal)">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blinds(horizontal)">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blinds(horizontal)">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blinds(horizontal)">
                                      <p:cBhvr>
                                        <p:cTn id="42" dur="500"/>
                                        <p:tgtEl>
                                          <p:spTgt spid="3">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animEffect transition="in" filter="blinds(horizontal)">
                                      <p:cBhvr>
                                        <p:cTn id="47" dur="500"/>
                                        <p:tgtEl>
                                          <p:spTgt spid="3">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3">
                                            <p:txEl>
                                              <p:pRg st="10" end="10"/>
                                            </p:txEl>
                                          </p:spTgt>
                                        </p:tgtEl>
                                        <p:attrNameLst>
                                          <p:attrName>style.visibility</p:attrName>
                                        </p:attrNameLst>
                                      </p:cBhvr>
                                      <p:to>
                                        <p:strVal val="visible"/>
                                      </p:to>
                                    </p:set>
                                    <p:animEffect transition="in" filter="blinds(horizontal)">
                                      <p:cBhvr>
                                        <p:cTn id="52" dur="500"/>
                                        <p:tgtEl>
                                          <p:spTgt spid="3">
                                            <p:txEl>
                                              <p:pRg st="10" end="1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3">
                                            <p:txEl>
                                              <p:pRg st="11" end="11"/>
                                            </p:txEl>
                                          </p:spTgt>
                                        </p:tgtEl>
                                        <p:attrNameLst>
                                          <p:attrName>style.visibility</p:attrName>
                                        </p:attrNameLst>
                                      </p:cBhvr>
                                      <p:to>
                                        <p:strVal val="visible"/>
                                      </p:to>
                                    </p:set>
                                    <p:animEffect transition="in" filter="blinds(horizontal)">
                                      <p:cBhvr>
                                        <p:cTn id="57" dur="500"/>
                                        <p:tgtEl>
                                          <p:spTgt spid="3">
                                            <p:txEl>
                                              <p:pRg st="11" end="11"/>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3">
                                            <p:txEl>
                                              <p:pRg st="12" end="12"/>
                                            </p:txEl>
                                          </p:spTgt>
                                        </p:tgtEl>
                                        <p:attrNameLst>
                                          <p:attrName>style.visibility</p:attrName>
                                        </p:attrNameLst>
                                      </p:cBhvr>
                                      <p:to>
                                        <p:strVal val="visible"/>
                                      </p:to>
                                    </p:set>
                                    <p:animEffect transition="in" filter="blinds(horizontal)">
                                      <p:cBhvr>
                                        <p:cTn id="62" dur="500"/>
                                        <p:tgtEl>
                                          <p:spTgt spid="3">
                                            <p:txEl>
                                              <p:pRg st="12" end="12"/>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3">
                                            <p:txEl>
                                              <p:pRg st="13" end="13"/>
                                            </p:txEl>
                                          </p:spTgt>
                                        </p:tgtEl>
                                        <p:attrNameLst>
                                          <p:attrName>style.visibility</p:attrName>
                                        </p:attrNameLst>
                                      </p:cBhvr>
                                      <p:to>
                                        <p:strVal val="visible"/>
                                      </p:to>
                                    </p:set>
                                    <p:animEffect transition="in" filter="blinds(horizontal)">
                                      <p:cBhvr>
                                        <p:cTn id="67" dur="500"/>
                                        <p:tgtEl>
                                          <p:spTgt spid="3">
                                            <p:txEl>
                                              <p:pRg st="13" end="13"/>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3">
                                            <p:txEl>
                                              <p:pRg st="14" end="14"/>
                                            </p:txEl>
                                          </p:spTgt>
                                        </p:tgtEl>
                                        <p:attrNameLst>
                                          <p:attrName>style.visibility</p:attrName>
                                        </p:attrNameLst>
                                      </p:cBhvr>
                                      <p:to>
                                        <p:strVal val="visible"/>
                                      </p:to>
                                    </p:set>
                                    <p:animEffect transition="in" filter="blinds(horizontal)">
                                      <p:cBhvr>
                                        <p:cTn id="72" dur="500"/>
                                        <p:tgtEl>
                                          <p:spTgt spid="3">
                                            <p:txEl>
                                              <p:pRg st="14" end="14"/>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grpId="0" nodeType="clickEffect">
                                  <p:stCondLst>
                                    <p:cond delay="0"/>
                                  </p:stCondLst>
                                  <p:childTnLst>
                                    <p:set>
                                      <p:cBhvr>
                                        <p:cTn id="76" dur="1" fill="hold">
                                          <p:stCondLst>
                                            <p:cond delay="0"/>
                                          </p:stCondLst>
                                        </p:cTn>
                                        <p:tgtEl>
                                          <p:spTgt spid="3">
                                            <p:txEl>
                                              <p:pRg st="15" end="15"/>
                                            </p:txEl>
                                          </p:spTgt>
                                        </p:tgtEl>
                                        <p:attrNameLst>
                                          <p:attrName>style.visibility</p:attrName>
                                        </p:attrNameLst>
                                      </p:cBhvr>
                                      <p:to>
                                        <p:strVal val="visible"/>
                                      </p:to>
                                    </p:set>
                                    <p:animEffect transition="in" filter="blinds(horizontal)">
                                      <p:cBhvr>
                                        <p:cTn id="77" dur="500"/>
                                        <p:tgtEl>
                                          <p:spTgt spid="3">
                                            <p:txEl>
                                              <p:pRg st="15" end="15"/>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3" presetClass="entr" presetSubtype="10" fill="hold" grpId="0" nodeType="clickEffect">
                                  <p:stCondLst>
                                    <p:cond delay="0"/>
                                  </p:stCondLst>
                                  <p:childTnLst>
                                    <p:set>
                                      <p:cBhvr>
                                        <p:cTn id="81" dur="1" fill="hold">
                                          <p:stCondLst>
                                            <p:cond delay="0"/>
                                          </p:stCondLst>
                                        </p:cTn>
                                        <p:tgtEl>
                                          <p:spTgt spid="3">
                                            <p:txEl>
                                              <p:pRg st="16" end="16"/>
                                            </p:txEl>
                                          </p:spTgt>
                                        </p:tgtEl>
                                        <p:attrNameLst>
                                          <p:attrName>style.visibility</p:attrName>
                                        </p:attrNameLst>
                                      </p:cBhvr>
                                      <p:to>
                                        <p:strVal val="visible"/>
                                      </p:to>
                                    </p:set>
                                    <p:animEffect transition="in" filter="blinds(horizontal)">
                                      <p:cBhvr>
                                        <p:cTn id="82" dur="500"/>
                                        <p:tgtEl>
                                          <p:spTgt spid="3">
                                            <p:txEl>
                                              <p:pRg st="16" end="16"/>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3" presetClass="entr" presetSubtype="10" fill="hold" grpId="0" nodeType="clickEffect">
                                  <p:stCondLst>
                                    <p:cond delay="0"/>
                                  </p:stCondLst>
                                  <p:childTnLst>
                                    <p:set>
                                      <p:cBhvr>
                                        <p:cTn id="86" dur="1" fill="hold">
                                          <p:stCondLst>
                                            <p:cond delay="0"/>
                                          </p:stCondLst>
                                        </p:cTn>
                                        <p:tgtEl>
                                          <p:spTgt spid="3">
                                            <p:txEl>
                                              <p:pRg st="17" end="17"/>
                                            </p:txEl>
                                          </p:spTgt>
                                        </p:tgtEl>
                                        <p:attrNameLst>
                                          <p:attrName>style.visibility</p:attrName>
                                        </p:attrNameLst>
                                      </p:cBhvr>
                                      <p:to>
                                        <p:strVal val="visible"/>
                                      </p:to>
                                    </p:set>
                                    <p:animEffect transition="in" filter="blinds(horizontal)">
                                      <p:cBhvr>
                                        <p:cTn id="87" dur="500"/>
                                        <p:tgtEl>
                                          <p:spTgt spid="3">
                                            <p:txEl>
                                              <p:pRg st="17" end="17"/>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3" presetClass="entr" presetSubtype="10" fill="hold" grpId="0" nodeType="clickEffect">
                                  <p:stCondLst>
                                    <p:cond delay="0"/>
                                  </p:stCondLst>
                                  <p:childTnLst>
                                    <p:set>
                                      <p:cBhvr>
                                        <p:cTn id="91" dur="1" fill="hold">
                                          <p:stCondLst>
                                            <p:cond delay="0"/>
                                          </p:stCondLst>
                                        </p:cTn>
                                        <p:tgtEl>
                                          <p:spTgt spid="9"/>
                                        </p:tgtEl>
                                        <p:attrNameLst>
                                          <p:attrName>style.visibility</p:attrName>
                                        </p:attrNameLst>
                                      </p:cBhvr>
                                      <p:to>
                                        <p:strVal val="visible"/>
                                      </p:to>
                                    </p:set>
                                    <p:animEffect transition="in" filter="blinds(horizontal)">
                                      <p:cBhvr>
                                        <p:cTn id="92" dur="500"/>
                                        <p:tgtEl>
                                          <p:spTgt spid="9"/>
                                        </p:tgtEl>
                                      </p:cBhvr>
                                    </p:animEffect>
                                  </p:childTnLst>
                                </p:cTn>
                              </p:par>
                            </p:childTnLst>
                          </p:cTn>
                        </p:par>
                      </p:childTnLst>
                    </p:cTn>
                  </p:par>
                  <p:par>
                    <p:cTn id="93" fill="hold">
                      <p:stCondLst>
                        <p:cond delay="indefinite"/>
                      </p:stCondLst>
                      <p:childTnLst>
                        <p:par>
                          <p:cTn id="94" fill="hold">
                            <p:stCondLst>
                              <p:cond delay="0"/>
                            </p:stCondLst>
                            <p:childTnLst>
                              <p:par>
                                <p:cTn id="95" presetID="3" presetClass="entr" presetSubtype="10" fill="hold" nodeType="clickEffect">
                                  <p:stCondLst>
                                    <p:cond delay="0"/>
                                  </p:stCondLst>
                                  <p:childTnLst>
                                    <p:set>
                                      <p:cBhvr>
                                        <p:cTn id="96" dur="1" fill="hold">
                                          <p:stCondLst>
                                            <p:cond delay="0"/>
                                          </p:stCondLst>
                                        </p:cTn>
                                        <p:tgtEl>
                                          <p:spTgt spid="11"/>
                                        </p:tgtEl>
                                        <p:attrNameLst>
                                          <p:attrName>style.visibility</p:attrName>
                                        </p:attrNameLst>
                                      </p:cBhvr>
                                      <p:to>
                                        <p:strVal val="visible"/>
                                      </p:to>
                                    </p:set>
                                    <p:animEffect transition="in" filter="blinds(horizontal)">
                                      <p:cBhvr>
                                        <p:cTn id="97" dur="500"/>
                                        <p:tgtEl>
                                          <p:spTgt spid="11"/>
                                        </p:tgtEl>
                                      </p:cBhvr>
                                    </p:animEffect>
                                  </p:childTnLst>
                                </p:cTn>
                              </p:par>
                            </p:childTnLst>
                          </p:cTn>
                        </p:par>
                      </p:childTnLst>
                    </p:cTn>
                  </p:par>
                  <p:par>
                    <p:cTn id="98" fill="hold">
                      <p:stCondLst>
                        <p:cond delay="indefinite"/>
                      </p:stCondLst>
                      <p:childTnLst>
                        <p:par>
                          <p:cTn id="99" fill="hold">
                            <p:stCondLst>
                              <p:cond delay="0"/>
                            </p:stCondLst>
                            <p:childTnLst>
                              <p:par>
                                <p:cTn id="100" presetID="3" presetClass="entr" presetSubtype="10" fill="hold" grpId="0" nodeType="clickEffect">
                                  <p:stCondLst>
                                    <p:cond delay="0"/>
                                  </p:stCondLst>
                                  <p:childTnLst>
                                    <p:set>
                                      <p:cBhvr>
                                        <p:cTn id="101" dur="1" fill="hold">
                                          <p:stCondLst>
                                            <p:cond delay="0"/>
                                          </p:stCondLst>
                                        </p:cTn>
                                        <p:tgtEl>
                                          <p:spTgt spid="6"/>
                                        </p:tgtEl>
                                        <p:attrNameLst>
                                          <p:attrName>style.visibility</p:attrName>
                                        </p:attrNameLst>
                                      </p:cBhvr>
                                      <p:to>
                                        <p:strVal val="visible"/>
                                      </p:to>
                                    </p:set>
                                    <p:animEffect transition="in" filter="blinds(horizontal)">
                                      <p:cBhvr>
                                        <p:cTn id="102" dur="500"/>
                                        <p:tgtEl>
                                          <p:spTgt spid="6"/>
                                        </p:tgtEl>
                                      </p:cBhvr>
                                    </p:animEffect>
                                  </p:childTnLst>
                                </p:cTn>
                              </p:par>
                            </p:childTnLst>
                          </p:cTn>
                        </p:par>
                      </p:childTnLst>
                    </p:cTn>
                  </p:par>
                  <p:par>
                    <p:cTn id="103" fill="hold">
                      <p:stCondLst>
                        <p:cond delay="indefinite"/>
                      </p:stCondLst>
                      <p:childTnLst>
                        <p:par>
                          <p:cTn id="104" fill="hold">
                            <p:stCondLst>
                              <p:cond delay="0"/>
                            </p:stCondLst>
                            <p:childTnLst>
                              <p:par>
                                <p:cTn id="105" presetID="3" presetClass="entr" presetSubtype="10" fill="hold" nodeType="clickEffect">
                                  <p:stCondLst>
                                    <p:cond delay="0"/>
                                  </p:stCondLst>
                                  <p:childTnLst>
                                    <p:set>
                                      <p:cBhvr>
                                        <p:cTn id="106" dur="1" fill="hold">
                                          <p:stCondLst>
                                            <p:cond delay="0"/>
                                          </p:stCondLst>
                                        </p:cTn>
                                        <p:tgtEl>
                                          <p:spTgt spid="14"/>
                                        </p:tgtEl>
                                        <p:attrNameLst>
                                          <p:attrName>style.visibility</p:attrName>
                                        </p:attrNameLst>
                                      </p:cBhvr>
                                      <p:to>
                                        <p:strVal val="visible"/>
                                      </p:to>
                                    </p:set>
                                    <p:animEffect transition="in" filter="blinds(horizontal)">
                                      <p:cBhvr>
                                        <p:cTn id="107" dur="500"/>
                                        <p:tgtEl>
                                          <p:spTgt spid="14"/>
                                        </p:tgtEl>
                                      </p:cBhvr>
                                    </p:animEffect>
                                  </p:childTnLst>
                                </p:cTn>
                              </p:par>
                            </p:childTnLst>
                          </p:cTn>
                        </p:par>
                      </p:childTnLst>
                    </p:cTn>
                  </p:par>
                  <p:par>
                    <p:cTn id="108" fill="hold">
                      <p:stCondLst>
                        <p:cond delay="indefinite"/>
                      </p:stCondLst>
                      <p:childTnLst>
                        <p:par>
                          <p:cTn id="109" fill="hold">
                            <p:stCondLst>
                              <p:cond delay="0"/>
                            </p:stCondLst>
                            <p:childTnLst>
                              <p:par>
                                <p:cTn id="110" presetID="3" presetClass="entr" presetSubtype="10" fill="hold" grpId="0" nodeType="clickEffect">
                                  <p:stCondLst>
                                    <p:cond delay="0"/>
                                  </p:stCondLst>
                                  <p:childTnLst>
                                    <p:set>
                                      <p:cBhvr>
                                        <p:cTn id="111" dur="1" fill="hold">
                                          <p:stCondLst>
                                            <p:cond delay="0"/>
                                          </p:stCondLst>
                                        </p:cTn>
                                        <p:tgtEl>
                                          <p:spTgt spid="12"/>
                                        </p:tgtEl>
                                        <p:attrNameLst>
                                          <p:attrName>style.visibility</p:attrName>
                                        </p:attrNameLst>
                                      </p:cBhvr>
                                      <p:to>
                                        <p:strVal val="visible"/>
                                      </p:to>
                                    </p:set>
                                    <p:animEffect transition="in" filter="blinds(horizontal)">
                                      <p:cBhvr>
                                        <p:cTn id="1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animBg="1"/>
      <p:bldP spid="9" grpId="0" animBg="1"/>
      <p:bldP spid="12"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0"/>
            <a:ext cx="8229600" cy="838200"/>
          </a:xfrm>
        </p:spPr>
        <p:txBody>
          <a:bodyPr>
            <a:normAutofit/>
          </a:bodyPr>
          <a:lstStyle/>
          <a:p>
            <a:r>
              <a:rPr lang="en-US" b="1" dirty="0">
                <a:solidFill>
                  <a:srgbClr val="FF0000"/>
                </a:solidFill>
              </a:rPr>
              <a:t>Array inside structure</a:t>
            </a:r>
          </a:p>
        </p:txBody>
      </p:sp>
      <p:sp>
        <p:nvSpPr>
          <p:cNvPr id="3" name="Content Placeholder 2"/>
          <p:cNvSpPr>
            <a:spLocks noGrp="1"/>
          </p:cNvSpPr>
          <p:nvPr>
            <p:ph idx="1"/>
          </p:nvPr>
        </p:nvSpPr>
        <p:spPr>
          <a:xfrm>
            <a:off x="1752600" y="762000"/>
            <a:ext cx="8458200" cy="4953000"/>
          </a:xfrm>
        </p:spPr>
        <p:txBody>
          <a:bodyPr>
            <a:noAutofit/>
          </a:bodyPr>
          <a:lstStyle/>
          <a:p>
            <a:pPr>
              <a:buNone/>
            </a:pPr>
            <a:r>
              <a:rPr lang="en-US" sz="2000" b="1" dirty="0">
                <a:latin typeface="Times New Roman" pitchFamily="18" charset="0"/>
                <a:cs typeface="Times New Roman" pitchFamily="18" charset="0"/>
              </a:rPr>
              <a:t>#include&lt;</a:t>
            </a:r>
            <a:r>
              <a:rPr lang="en-US" sz="2000" b="1" dirty="0" err="1">
                <a:latin typeface="Times New Roman" pitchFamily="18" charset="0"/>
                <a:cs typeface="Times New Roman" pitchFamily="18" charset="0"/>
              </a:rPr>
              <a:t>stdio.h</a:t>
            </a:r>
            <a:r>
              <a:rPr lang="en-US" sz="2000" b="1" dirty="0">
                <a:latin typeface="Times New Roman" pitchFamily="18" charset="0"/>
                <a:cs typeface="Times New Roman" pitchFamily="18" charset="0"/>
              </a:rPr>
              <a:t>&gt;</a:t>
            </a:r>
          </a:p>
          <a:p>
            <a:pPr>
              <a:buNone/>
            </a:pPr>
            <a:r>
              <a:rPr lang="en-US" sz="2000" b="1" dirty="0" err="1">
                <a:solidFill>
                  <a:srgbClr val="FF0000"/>
                </a:solidFill>
                <a:latin typeface="Times New Roman" pitchFamily="18" charset="0"/>
                <a:cs typeface="Times New Roman" pitchFamily="18" charset="0"/>
              </a:rPr>
              <a:t>struct</a:t>
            </a:r>
            <a:r>
              <a:rPr lang="en-US" sz="2000" b="1" dirty="0">
                <a:solidFill>
                  <a:srgbClr val="FF0000"/>
                </a:solidFill>
                <a:latin typeface="Times New Roman" pitchFamily="18" charset="0"/>
                <a:cs typeface="Times New Roman" pitchFamily="18" charset="0"/>
              </a:rPr>
              <a:t> student</a:t>
            </a:r>
          </a:p>
          <a:p>
            <a:pPr>
              <a:buNone/>
            </a:pPr>
            <a:r>
              <a:rPr lang="en-US" sz="2000" b="1" dirty="0">
                <a:solidFill>
                  <a:srgbClr val="FF0000"/>
                </a:solidFill>
                <a:latin typeface="Times New Roman" pitchFamily="18" charset="0"/>
                <a:cs typeface="Times New Roman" pitchFamily="18" charset="0"/>
              </a:rPr>
              <a:t>{</a:t>
            </a:r>
          </a:p>
          <a:p>
            <a:pPr>
              <a:buNone/>
            </a:pPr>
            <a:r>
              <a:rPr lang="en-US" sz="2000" b="1" dirty="0">
                <a:solidFill>
                  <a:srgbClr val="FF0000"/>
                </a:solidFill>
                <a:latin typeface="Times New Roman" pitchFamily="18" charset="0"/>
                <a:cs typeface="Times New Roman" pitchFamily="18" charset="0"/>
              </a:rPr>
              <a:t>    char name[20];</a:t>
            </a:r>
          </a:p>
          <a:p>
            <a:pPr>
              <a:buNone/>
            </a:pPr>
            <a:r>
              <a:rPr lang="en-US" sz="2000" b="1" dirty="0">
                <a:solidFill>
                  <a:srgbClr val="FF0000"/>
                </a:solidFill>
                <a:latin typeface="Times New Roman" pitchFamily="18" charset="0"/>
                <a:cs typeface="Times New Roman" pitchFamily="18" charset="0"/>
              </a:rPr>
              <a:t>    </a:t>
            </a:r>
            <a:r>
              <a:rPr lang="en-US" sz="2000" b="1" dirty="0" err="1">
                <a:solidFill>
                  <a:srgbClr val="FF0000"/>
                </a:solidFill>
                <a:latin typeface="Times New Roman" pitchFamily="18" charset="0"/>
                <a:cs typeface="Times New Roman" pitchFamily="18" charset="0"/>
              </a:rPr>
              <a:t>int</a:t>
            </a:r>
            <a:r>
              <a:rPr lang="en-US" sz="2000" b="1" dirty="0">
                <a:solidFill>
                  <a:srgbClr val="FF0000"/>
                </a:solidFill>
                <a:latin typeface="Times New Roman" pitchFamily="18" charset="0"/>
                <a:cs typeface="Times New Roman" pitchFamily="18" charset="0"/>
              </a:rPr>
              <a:t> </a:t>
            </a:r>
            <a:r>
              <a:rPr lang="en-US" sz="2000" b="1" dirty="0" err="1">
                <a:solidFill>
                  <a:srgbClr val="FF0000"/>
                </a:solidFill>
                <a:latin typeface="Times New Roman" pitchFamily="18" charset="0"/>
                <a:cs typeface="Times New Roman" pitchFamily="18" charset="0"/>
              </a:rPr>
              <a:t>usn</a:t>
            </a:r>
            <a:r>
              <a:rPr lang="en-US" sz="2000" b="1" dirty="0">
                <a:solidFill>
                  <a:srgbClr val="FF0000"/>
                </a:solidFill>
                <a:latin typeface="Times New Roman" pitchFamily="18" charset="0"/>
                <a:cs typeface="Times New Roman" pitchFamily="18" charset="0"/>
              </a:rPr>
              <a:t>;</a:t>
            </a:r>
          </a:p>
          <a:p>
            <a:pPr>
              <a:buNone/>
            </a:pPr>
            <a:r>
              <a:rPr lang="en-US" sz="2000" b="1" dirty="0">
                <a:solidFill>
                  <a:srgbClr val="FF0000"/>
                </a:solidFill>
                <a:latin typeface="Times New Roman" pitchFamily="18" charset="0"/>
                <a:cs typeface="Times New Roman" pitchFamily="18" charset="0"/>
              </a:rPr>
              <a:t>    </a:t>
            </a:r>
            <a:r>
              <a:rPr lang="en-US" sz="2000" b="1" dirty="0" err="1">
                <a:solidFill>
                  <a:srgbClr val="FF0000"/>
                </a:solidFill>
                <a:latin typeface="Times New Roman" pitchFamily="18" charset="0"/>
                <a:cs typeface="Times New Roman" pitchFamily="18" charset="0"/>
              </a:rPr>
              <a:t>int</a:t>
            </a:r>
            <a:r>
              <a:rPr lang="en-US" sz="2000" b="1" dirty="0">
                <a:solidFill>
                  <a:srgbClr val="FF0000"/>
                </a:solidFill>
                <a:latin typeface="Times New Roman" pitchFamily="18" charset="0"/>
                <a:cs typeface="Times New Roman" pitchFamily="18" charset="0"/>
              </a:rPr>
              <a:t> </a:t>
            </a:r>
            <a:r>
              <a:rPr lang="en-US" sz="2000" b="1" dirty="0">
                <a:solidFill>
                  <a:srgbClr val="002060"/>
                </a:solidFill>
                <a:latin typeface="Times New Roman" pitchFamily="18" charset="0"/>
                <a:cs typeface="Times New Roman" pitchFamily="18" charset="0"/>
              </a:rPr>
              <a:t>marks[3], </a:t>
            </a:r>
            <a:r>
              <a:rPr lang="en-US" sz="2000" b="1" dirty="0">
                <a:solidFill>
                  <a:srgbClr val="FF0000"/>
                </a:solidFill>
                <a:latin typeface="Times New Roman" pitchFamily="18" charset="0"/>
                <a:cs typeface="Times New Roman" pitchFamily="18" charset="0"/>
              </a:rPr>
              <a:t>total;</a:t>
            </a:r>
          </a:p>
          <a:p>
            <a:pPr>
              <a:buNone/>
            </a:pPr>
            <a:r>
              <a:rPr lang="en-US" sz="2000" b="1" dirty="0">
                <a:solidFill>
                  <a:srgbClr val="FF0000"/>
                </a:solidFill>
                <a:latin typeface="Times New Roman" pitchFamily="18" charset="0"/>
                <a:cs typeface="Times New Roman" pitchFamily="18" charset="0"/>
              </a:rPr>
              <a:t>};</a:t>
            </a:r>
          </a:p>
          <a:p>
            <a:pPr>
              <a:buNone/>
            </a:pPr>
            <a:r>
              <a:rPr lang="en-US" sz="2000" b="1" dirty="0">
                <a:latin typeface="Times New Roman" pitchFamily="18" charset="0"/>
                <a:cs typeface="Times New Roman" pitchFamily="18" charset="0"/>
              </a:rPr>
              <a:t>void main()</a:t>
            </a:r>
          </a:p>
          <a:p>
            <a:pPr>
              <a:buNone/>
            </a:pPr>
            <a:r>
              <a:rPr lang="en-US" sz="2000" b="1" dirty="0">
                <a:latin typeface="Times New Roman" pitchFamily="18" charset="0"/>
                <a:cs typeface="Times New Roman" pitchFamily="18" charset="0"/>
              </a:rPr>
              <a:t>{</a:t>
            </a:r>
          </a:p>
          <a:p>
            <a:pPr>
              <a:buNone/>
            </a:pPr>
            <a:r>
              <a:rPr lang="en-US" sz="2000" b="1" dirty="0">
                <a:latin typeface="Times New Roman" pitchFamily="18" charset="0"/>
                <a:cs typeface="Times New Roman" pitchFamily="18" charset="0"/>
              </a:rPr>
              <a:t>    </a:t>
            </a:r>
            <a:r>
              <a:rPr lang="en-US" sz="2000" b="1" dirty="0" err="1">
                <a:latin typeface="Times New Roman" pitchFamily="18" charset="0"/>
                <a:cs typeface="Times New Roman" pitchFamily="18" charset="0"/>
              </a:rPr>
              <a:t>struct</a:t>
            </a:r>
            <a:r>
              <a:rPr lang="en-US" sz="2000" b="1" dirty="0">
                <a:latin typeface="Times New Roman" pitchFamily="18" charset="0"/>
                <a:cs typeface="Times New Roman" pitchFamily="18" charset="0"/>
              </a:rPr>
              <a:t> student s;</a:t>
            </a:r>
          </a:p>
          <a:p>
            <a:pPr>
              <a:buNone/>
            </a:pPr>
            <a:r>
              <a:rPr lang="en-US" sz="2000" b="1" dirty="0">
                <a:latin typeface="Times New Roman" pitchFamily="18" charset="0"/>
                <a:cs typeface="Times New Roman" pitchFamily="18" charset="0"/>
              </a:rPr>
              <a:t>    </a:t>
            </a:r>
            <a:r>
              <a:rPr lang="en-US" sz="2000" b="1" dirty="0" err="1">
                <a:latin typeface="Times New Roman" pitchFamily="18" charset="0"/>
                <a:cs typeface="Times New Roman" pitchFamily="18" charset="0"/>
              </a:rPr>
              <a:t>int</a:t>
            </a:r>
            <a:r>
              <a:rPr lang="en-US" sz="2000" b="1" dirty="0">
                <a:latin typeface="Times New Roman" pitchFamily="18" charset="0"/>
                <a:cs typeface="Times New Roman" pitchFamily="18" charset="0"/>
              </a:rPr>
              <a:t> </a:t>
            </a:r>
            <a:r>
              <a:rPr lang="en-US" sz="2000" b="1" dirty="0" err="1">
                <a:latin typeface="Times New Roman" pitchFamily="18" charset="0"/>
                <a:cs typeface="Times New Roman" pitchFamily="18" charset="0"/>
              </a:rPr>
              <a:t>i,n</a:t>
            </a:r>
            <a:r>
              <a:rPr lang="en-US" sz="2000" b="1" dirty="0">
                <a:latin typeface="Times New Roman" pitchFamily="18" charset="0"/>
                <a:cs typeface="Times New Roman" pitchFamily="18" charset="0"/>
              </a:rPr>
              <a:t>;</a:t>
            </a:r>
          </a:p>
          <a:p>
            <a:pPr>
              <a:buNone/>
            </a:pPr>
            <a:r>
              <a:rPr lang="en-US" sz="2000" b="1" dirty="0">
                <a:latin typeface="Times New Roman" pitchFamily="18" charset="0"/>
                <a:cs typeface="Times New Roman" pitchFamily="18" charset="0"/>
              </a:rPr>
              <a:t>    </a:t>
            </a:r>
            <a:r>
              <a:rPr lang="en-US" sz="2000" b="1" dirty="0" err="1">
                <a:latin typeface="Times New Roman" pitchFamily="18" charset="0"/>
                <a:cs typeface="Times New Roman" pitchFamily="18" charset="0"/>
              </a:rPr>
              <a:t>printf</a:t>
            </a:r>
            <a:r>
              <a:rPr lang="en-US" sz="2000" b="1" dirty="0">
                <a:latin typeface="Times New Roman" pitchFamily="18" charset="0"/>
                <a:cs typeface="Times New Roman" pitchFamily="18" charset="0"/>
              </a:rPr>
              <a:t>("Enter the </a:t>
            </a:r>
            <a:r>
              <a:rPr lang="en-US" sz="2000" b="1" dirty="0" err="1">
                <a:latin typeface="Times New Roman" pitchFamily="18" charset="0"/>
                <a:cs typeface="Times New Roman" pitchFamily="18" charset="0"/>
              </a:rPr>
              <a:t>usn</a:t>
            </a:r>
            <a:r>
              <a:rPr lang="en-US" sz="2000" b="1" dirty="0">
                <a:latin typeface="Times New Roman" pitchFamily="18" charset="0"/>
                <a:cs typeface="Times New Roman" pitchFamily="18" charset="0"/>
              </a:rPr>
              <a:t> and name\n");</a:t>
            </a:r>
          </a:p>
          <a:p>
            <a:pPr>
              <a:buNone/>
            </a:pPr>
            <a:r>
              <a:rPr lang="en-US" sz="2000" b="1" dirty="0">
                <a:latin typeface="Times New Roman" pitchFamily="18" charset="0"/>
                <a:cs typeface="Times New Roman" pitchFamily="18" charset="0"/>
              </a:rPr>
              <a:t>    </a:t>
            </a:r>
            <a:r>
              <a:rPr lang="en-US" sz="2000" b="1" dirty="0" err="1">
                <a:latin typeface="Times New Roman" pitchFamily="18" charset="0"/>
                <a:cs typeface="Times New Roman" pitchFamily="18" charset="0"/>
              </a:rPr>
              <a:t>scanf</a:t>
            </a:r>
            <a:r>
              <a:rPr lang="en-US" sz="2000" b="1" dirty="0">
                <a:latin typeface="Times New Roman" pitchFamily="18" charset="0"/>
                <a:cs typeface="Times New Roman" pitchFamily="18" charset="0"/>
              </a:rPr>
              <a:t>("%</a:t>
            </a:r>
            <a:r>
              <a:rPr lang="en-US" sz="2000" b="1" dirty="0" err="1">
                <a:latin typeface="Times New Roman" pitchFamily="18" charset="0"/>
                <a:cs typeface="Times New Roman" pitchFamily="18" charset="0"/>
              </a:rPr>
              <a:t>d%s",&amp;s.usn,s.name</a:t>
            </a:r>
            <a:r>
              <a:rPr lang="en-US" sz="2000" b="1" dirty="0">
                <a:latin typeface="Times New Roman" pitchFamily="18" charset="0"/>
                <a:cs typeface="Times New Roman" pitchFamily="18" charset="0"/>
              </a:rPr>
              <a:t>);</a:t>
            </a:r>
          </a:p>
          <a:p>
            <a:pPr>
              <a:buNone/>
            </a:pPr>
            <a:r>
              <a:rPr lang="en-US" sz="2000" b="1" dirty="0">
                <a:latin typeface="Times New Roman" pitchFamily="18" charset="0"/>
                <a:cs typeface="Times New Roman" pitchFamily="18" charset="0"/>
              </a:rPr>
              <a:t>    </a:t>
            </a:r>
          </a:p>
          <a:p>
            <a:pPr>
              <a:buNone/>
            </a:pPr>
            <a:r>
              <a:rPr lang="en-US" sz="2000" b="1" dirty="0">
                <a:latin typeface="Times New Roman" pitchFamily="18" charset="0"/>
                <a:cs typeface="Times New Roman" pitchFamily="18" charset="0"/>
              </a:rPr>
              <a:t>              </a:t>
            </a:r>
          </a:p>
        </p:txBody>
      </p:sp>
      <p:sp>
        <p:nvSpPr>
          <p:cNvPr id="4" name="TextBox 3"/>
          <p:cNvSpPr txBox="1"/>
          <p:nvPr/>
        </p:nvSpPr>
        <p:spPr>
          <a:xfrm>
            <a:off x="6172200" y="1981200"/>
            <a:ext cx="3288016" cy="369332"/>
          </a:xfrm>
          <a:prstGeom prst="rect">
            <a:avLst/>
          </a:prstGeom>
          <a:solidFill>
            <a:srgbClr val="FFC000"/>
          </a:solidFill>
        </p:spPr>
        <p:txBody>
          <a:bodyPr wrap="none" rtlCol="0">
            <a:spAutoFit/>
          </a:bodyPr>
          <a:lstStyle/>
          <a:p>
            <a:r>
              <a:rPr lang="en-US" dirty="0"/>
              <a:t>Array of marks as a data member</a:t>
            </a:r>
          </a:p>
        </p:txBody>
      </p:sp>
      <p:cxnSp>
        <p:nvCxnSpPr>
          <p:cNvPr id="6" name="Straight Arrow Connector 5"/>
          <p:cNvCxnSpPr/>
          <p:nvPr/>
        </p:nvCxnSpPr>
        <p:spPr>
          <a:xfrm flipV="1">
            <a:off x="3200400" y="2209800"/>
            <a:ext cx="2819400" cy="533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586CB3F2-FB4A-59B7-7AAB-28C1232E5C41}"/>
              </a:ext>
            </a:extLst>
          </p:cNvPr>
          <p:cNvSpPr>
            <a:spLocks noGrp="1"/>
          </p:cNvSpPr>
          <p:nvPr>
            <p:ph type="ftr" sz="quarter" idx="11"/>
          </p:nvPr>
        </p:nvSpPr>
        <p:spPr/>
        <p:txBody>
          <a:bodyPr/>
          <a:lstStyle/>
          <a:p>
            <a:r>
              <a:rPr lang="en-US"/>
              <a:t>Mrs Saranya Babu, Asst. Professor, GAT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blinds(horizontal)">
                                      <p:cBhvr>
                                        <p:cTn id="15" dur="500"/>
                                        <p:tgtEl>
                                          <p:spTgt spid="3">
                                            <p:txEl>
                                              <p:pRg st="2" end="2"/>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blinds(horizontal)">
                                      <p:cBhvr>
                                        <p:cTn id="18" dur="500"/>
                                        <p:tgtEl>
                                          <p:spTgt spid="3">
                                            <p:txEl>
                                              <p:pRg st="3" end="3"/>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blinds(horizontal)">
                                      <p:cBhvr>
                                        <p:cTn id="21" dur="500"/>
                                        <p:tgtEl>
                                          <p:spTgt spid="3">
                                            <p:txEl>
                                              <p:pRg st="4" end="4"/>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blinds(horizontal)">
                                      <p:cBhvr>
                                        <p:cTn id="24" dur="500"/>
                                        <p:tgtEl>
                                          <p:spTgt spid="3">
                                            <p:txEl>
                                              <p:pRg st="5" end="5"/>
                                            </p:txEl>
                                          </p:spTgt>
                                        </p:tgtEl>
                                      </p:cBhvr>
                                    </p:animEffect>
                                  </p:childTnLst>
                                </p:cTn>
                              </p:par>
                              <p:par>
                                <p:cTn id="25" presetID="3" presetClass="entr" presetSubtype="10" fill="hold"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blinds(horizontal)">
                                      <p:cBhvr>
                                        <p:cTn id="27" dur="500"/>
                                        <p:tgtEl>
                                          <p:spTgt spid="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blinds(horizontal)">
                                      <p:cBhvr>
                                        <p:cTn id="32" dur="5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blinds(horizontal)">
                                      <p:cBhvr>
                                        <p:cTn id="37" dur="500"/>
                                        <p:tgtEl>
                                          <p:spTgt spid="4"/>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blinds(horizontal)">
                                      <p:cBhvr>
                                        <p:cTn id="42" dur="500"/>
                                        <p:tgtEl>
                                          <p:spTgt spid="3">
                                            <p:txEl>
                                              <p:pRg st="7" end="7"/>
                                            </p:txEl>
                                          </p:spTgt>
                                        </p:tgtEl>
                                      </p:cBhvr>
                                    </p:animEffect>
                                  </p:childTnLst>
                                </p:cTn>
                              </p:par>
                              <p:par>
                                <p:cTn id="43" presetID="3" presetClass="entr" presetSubtype="10" fill="hold" nodeType="withEffect">
                                  <p:stCondLst>
                                    <p:cond delay="0"/>
                                  </p:stCondLst>
                                  <p:childTnLst>
                                    <p:set>
                                      <p:cBhvr>
                                        <p:cTn id="44" dur="1" fill="hold">
                                          <p:stCondLst>
                                            <p:cond delay="0"/>
                                          </p:stCondLst>
                                        </p:cTn>
                                        <p:tgtEl>
                                          <p:spTgt spid="3">
                                            <p:txEl>
                                              <p:pRg st="8" end="8"/>
                                            </p:txEl>
                                          </p:spTgt>
                                        </p:tgtEl>
                                        <p:attrNameLst>
                                          <p:attrName>style.visibility</p:attrName>
                                        </p:attrNameLst>
                                      </p:cBhvr>
                                      <p:to>
                                        <p:strVal val="visible"/>
                                      </p:to>
                                    </p:set>
                                    <p:animEffect transition="in" filter="blinds(horizontal)">
                                      <p:cBhvr>
                                        <p:cTn id="45" dur="500"/>
                                        <p:tgtEl>
                                          <p:spTgt spid="3">
                                            <p:txEl>
                                              <p:pRg st="8" end="8"/>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nodeType="clickEffect">
                                  <p:stCondLst>
                                    <p:cond delay="0"/>
                                  </p:stCondLst>
                                  <p:childTnLst>
                                    <p:set>
                                      <p:cBhvr>
                                        <p:cTn id="49" dur="1" fill="hold">
                                          <p:stCondLst>
                                            <p:cond delay="0"/>
                                          </p:stCondLst>
                                        </p:cTn>
                                        <p:tgtEl>
                                          <p:spTgt spid="3">
                                            <p:txEl>
                                              <p:pRg st="9" end="9"/>
                                            </p:txEl>
                                          </p:spTgt>
                                        </p:tgtEl>
                                        <p:attrNameLst>
                                          <p:attrName>style.visibility</p:attrName>
                                        </p:attrNameLst>
                                      </p:cBhvr>
                                      <p:to>
                                        <p:strVal val="visible"/>
                                      </p:to>
                                    </p:set>
                                    <p:animEffect transition="in" filter="blinds(horizontal)">
                                      <p:cBhvr>
                                        <p:cTn id="50" dur="500"/>
                                        <p:tgtEl>
                                          <p:spTgt spid="3">
                                            <p:txEl>
                                              <p:pRg st="9" end="9"/>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nodeType="clickEffect">
                                  <p:stCondLst>
                                    <p:cond delay="0"/>
                                  </p:stCondLst>
                                  <p:childTnLst>
                                    <p:set>
                                      <p:cBhvr>
                                        <p:cTn id="54" dur="1" fill="hold">
                                          <p:stCondLst>
                                            <p:cond delay="0"/>
                                          </p:stCondLst>
                                        </p:cTn>
                                        <p:tgtEl>
                                          <p:spTgt spid="3">
                                            <p:txEl>
                                              <p:pRg st="10" end="10"/>
                                            </p:txEl>
                                          </p:spTgt>
                                        </p:tgtEl>
                                        <p:attrNameLst>
                                          <p:attrName>style.visibility</p:attrName>
                                        </p:attrNameLst>
                                      </p:cBhvr>
                                      <p:to>
                                        <p:strVal val="visible"/>
                                      </p:to>
                                    </p:set>
                                    <p:animEffect transition="in" filter="blinds(horizontal)">
                                      <p:cBhvr>
                                        <p:cTn id="55" dur="500"/>
                                        <p:tgtEl>
                                          <p:spTgt spid="3">
                                            <p:txEl>
                                              <p:pRg st="10" end="10"/>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3" presetClass="entr" presetSubtype="10" fill="hold" nodeType="clickEffect">
                                  <p:stCondLst>
                                    <p:cond delay="0"/>
                                  </p:stCondLst>
                                  <p:childTnLst>
                                    <p:set>
                                      <p:cBhvr>
                                        <p:cTn id="59" dur="1" fill="hold">
                                          <p:stCondLst>
                                            <p:cond delay="0"/>
                                          </p:stCondLst>
                                        </p:cTn>
                                        <p:tgtEl>
                                          <p:spTgt spid="3">
                                            <p:txEl>
                                              <p:pRg st="11" end="11"/>
                                            </p:txEl>
                                          </p:spTgt>
                                        </p:tgtEl>
                                        <p:attrNameLst>
                                          <p:attrName>style.visibility</p:attrName>
                                        </p:attrNameLst>
                                      </p:cBhvr>
                                      <p:to>
                                        <p:strVal val="visible"/>
                                      </p:to>
                                    </p:set>
                                    <p:animEffect transition="in" filter="blinds(horizontal)">
                                      <p:cBhvr>
                                        <p:cTn id="60" dur="500"/>
                                        <p:tgtEl>
                                          <p:spTgt spid="3">
                                            <p:txEl>
                                              <p:pRg st="11" end="11"/>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3" presetClass="entr" presetSubtype="10" fill="hold" nodeType="clickEffect">
                                  <p:stCondLst>
                                    <p:cond delay="0"/>
                                  </p:stCondLst>
                                  <p:childTnLst>
                                    <p:set>
                                      <p:cBhvr>
                                        <p:cTn id="64" dur="1" fill="hold">
                                          <p:stCondLst>
                                            <p:cond delay="0"/>
                                          </p:stCondLst>
                                        </p:cTn>
                                        <p:tgtEl>
                                          <p:spTgt spid="3">
                                            <p:txEl>
                                              <p:pRg st="12" end="12"/>
                                            </p:txEl>
                                          </p:spTgt>
                                        </p:tgtEl>
                                        <p:attrNameLst>
                                          <p:attrName>style.visibility</p:attrName>
                                        </p:attrNameLst>
                                      </p:cBhvr>
                                      <p:to>
                                        <p:strVal val="visible"/>
                                      </p:to>
                                    </p:set>
                                    <p:animEffect transition="in" filter="blinds(horizontal)">
                                      <p:cBhvr>
                                        <p:cTn id="65" dur="5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28800" y="457200"/>
            <a:ext cx="8839200" cy="6019800"/>
          </a:xfrm>
        </p:spPr>
        <p:txBody>
          <a:bodyPr>
            <a:normAutofit/>
          </a:bodyPr>
          <a:lstStyle/>
          <a:p>
            <a:pPr>
              <a:buNone/>
            </a:pPr>
            <a:r>
              <a:rPr lang="en-US" sz="2000" b="1" dirty="0"/>
              <a:t> </a:t>
            </a:r>
            <a:r>
              <a:rPr lang="en-US" sz="2000" b="1" dirty="0" err="1">
                <a:latin typeface="Times New Roman" pitchFamily="18" charset="0"/>
                <a:cs typeface="Times New Roman" pitchFamily="18" charset="0"/>
              </a:rPr>
              <a:t>printf</a:t>
            </a:r>
            <a:r>
              <a:rPr lang="en-US" sz="2000" b="1" dirty="0">
                <a:latin typeface="Times New Roman" pitchFamily="18" charset="0"/>
                <a:cs typeface="Times New Roman" pitchFamily="18" charset="0"/>
              </a:rPr>
              <a:t>("Enter marks in 3 subjects\n");</a:t>
            </a:r>
          </a:p>
          <a:p>
            <a:pPr>
              <a:buNone/>
            </a:pPr>
            <a:r>
              <a:rPr lang="en-US" sz="2400" b="1" dirty="0">
                <a:solidFill>
                  <a:srgbClr val="FF0000"/>
                </a:solidFill>
              </a:rPr>
              <a:t>for(</a:t>
            </a:r>
            <a:r>
              <a:rPr lang="en-US" sz="2400" b="1" dirty="0" err="1">
                <a:solidFill>
                  <a:srgbClr val="FF0000"/>
                </a:solidFill>
              </a:rPr>
              <a:t>i</a:t>
            </a:r>
            <a:r>
              <a:rPr lang="en-US" sz="2400" b="1" dirty="0">
                <a:solidFill>
                  <a:srgbClr val="FF0000"/>
                </a:solidFill>
              </a:rPr>
              <a:t>=0;i&lt;3;i++)</a:t>
            </a:r>
          </a:p>
          <a:p>
            <a:pPr>
              <a:buNone/>
            </a:pPr>
            <a:r>
              <a:rPr lang="en-US" sz="2400" b="1" dirty="0">
                <a:solidFill>
                  <a:srgbClr val="FF0000"/>
                </a:solidFill>
              </a:rPr>
              <a:t>      {</a:t>
            </a:r>
          </a:p>
          <a:p>
            <a:pPr>
              <a:buNone/>
            </a:pPr>
            <a:r>
              <a:rPr lang="en-US" sz="2400" b="1" dirty="0">
                <a:solidFill>
                  <a:srgbClr val="FF0000"/>
                </a:solidFill>
              </a:rPr>
              <a:t>           </a:t>
            </a:r>
            <a:r>
              <a:rPr lang="en-US" sz="2400" b="1" dirty="0" err="1">
                <a:solidFill>
                  <a:srgbClr val="FF0000"/>
                </a:solidFill>
              </a:rPr>
              <a:t>scanf</a:t>
            </a:r>
            <a:r>
              <a:rPr lang="en-US" sz="2400" b="1" dirty="0">
                <a:solidFill>
                  <a:srgbClr val="FF0000"/>
                </a:solidFill>
              </a:rPr>
              <a:t>("%</a:t>
            </a:r>
            <a:r>
              <a:rPr lang="en-US" sz="2400" b="1" dirty="0" err="1">
                <a:solidFill>
                  <a:srgbClr val="FF0000"/>
                </a:solidFill>
              </a:rPr>
              <a:t>d",&amp;s.marks</a:t>
            </a:r>
            <a:r>
              <a:rPr lang="en-US" sz="2400" b="1" dirty="0">
                <a:solidFill>
                  <a:srgbClr val="FF0000"/>
                </a:solidFill>
              </a:rPr>
              <a:t>[</a:t>
            </a:r>
            <a:r>
              <a:rPr lang="en-US" sz="2400" b="1" dirty="0" err="1">
                <a:solidFill>
                  <a:srgbClr val="FF0000"/>
                </a:solidFill>
              </a:rPr>
              <a:t>i</a:t>
            </a:r>
            <a:r>
              <a:rPr lang="en-US" sz="2400" b="1" dirty="0">
                <a:solidFill>
                  <a:srgbClr val="FF0000"/>
                </a:solidFill>
              </a:rPr>
              <a:t>]);</a:t>
            </a:r>
          </a:p>
          <a:p>
            <a:pPr>
              <a:buNone/>
            </a:pPr>
            <a:r>
              <a:rPr lang="en-US" sz="2400" b="1" dirty="0">
                <a:solidFill>
                  <a:srgbClr val="FF0000"/>
                </a:solidFill>
              </a:rPr>
              <a:t>           </a:t>
            </a:r>
            <a:r>
              <a:rPr lang="en-US" sz="2400" b="1" dirty="0" err="1">
                <a:solidFill>
                  <a:srgbClr val="FF0000"/>
                </a:solidFill>
              </a:rPr>
              <a:t>s.total</a:t>
            </a:r>
            <a:r>
              <a:rPr lang="en-US" sz="2400" b="1" dirty="0">
                <a:solidFill>
                  <a:srgbClr val="FF0000"/>
                </a:solidFill>
              </a:rPr>
              <a:t> = </a:t>
            </a:r>
            <a:r>
              <a:rPr lang="en-US" sz="2400" b="1" dirty="0" err="1">
                <a:solidFill>
                  <a:srgbClr val="FF0000"/>
                </a:solidFill>
              </a:rPr>
              <a:t>s.total</a:t>
            </a:r>
            <a:r>
              <a:rPr lang="en-US" sz="2400" b="1" dirty="0">
                <a:solidFill>
                  <a:srgbClr val="FF0000"/>
                </a:solidFill>
              </a:rPr>
              <a:t> + </a:t>
            </a:r>
            <a:r>
              <a:rPr lang="en-US" sz="2400" b="1" dirty="0" err="1">
                <a:solidFill>
                  <a:srgbClr val="FF0000"/>
                </a:solidFill>
              </a:rPr>
              <a:t>s.marks</a:t>
            </a:r>
            <a:r>
              <a:rPr lang="en-US" sz="2400" b="1" dirty="0">
                <a:solidFill>
                  <a:srgbClr val="FF0000"/>
                </a:solidFill>
              </a:rPr>
              <a:t>[</a:t>
            </a:r>
            <a:r>
              <a:rPr lang="en-US" sz="2400" b="1" dirty="0" err="1">
                <a:solidFill>
                  <a:srgbClr val="FF0000"/>
                </a:solidFill>
              </a:rPr>
              <a:t>i</a:t>
            </a:r>
            <a:r>
              <a:rPr lang="en-US" sz="2400" b="1" dirty="0">
                <a:solidFill>
                  <a:srgbClr val="FF0000"/>
                </a:solidFill>
              </a:rPr>
              <a:t>];</a:t>
            </a:r>
          </a:p>
          <a:p>
            <a:pPr>
              <a:buNone/>
            </a:pPr>
            <a:r>
              <a:rPr lang="en-US" sz="2400" b="1" dirty="0">
                <a:solidFill>
                  <a:srgbClr val="FF0000"/>
                </a:solidFill>
              </a:rPr>
              <a:t>      }</a:t>
            </a:r>
          </a:p>
          <a:p>
            <a:pPr>
              <a:buNone/>
            </a:pPr>
            <a:r>
              <a:rPr lang="en-US" sz="2400" b="1" dirty="0"/>
              <a:t>    </a:t>
            </a:r>
            <a:r>
              <a:rPr lang="en-US" sz="2400" b="1" dirty="0" err="1"/>
              <a:t>printf</a:t>
            </a:r>
            <a:r>
              <a:rPr lang="en-US" sz="2400" b="1" dirty="0"/>
              <a:t>("Student with </a:t>
            </a:r>
            <a:r>
              <a:rPr lang="en-US" sz="2400" b="1" dirty="0" err="1"/>
              <a:t>usn</a:t>
            </a:r>
            <a:r>
              <a:rPr lang="en-US" sz="2400" b="1" dirty="0"/>
              <a:t> %d and name %s has total 					marks=%d\</a:t>
            </a:r>
            <a:r>
              <a:rPr lang="en-US" sz="2400" b="1" dirty="0" err="1"/>
              <a:t>n",s.usn,s.name,s.total</a:t>
            </a:r>
            <a:r>
              <a:rPr lang="en-US" sz="2400" b="1" dirty="0"/>
              <a:t>);</a:t>
            </a:r>
          </a:p>
          <a:p>
            <a:pPr>
              <a:buNone/>
            </a:pPr>
            <a:r>
              <a:rPr lang="en-US" sz="2400" b="1" dirty="0"/>
              <a:t> }</a:t>
            </a:r>
          </a:p>
          <a:p>
            <a:pPr>
              <a:buNone/>
            </a:pPr>
            <a:endParaRPr lang="en-US" sz="2400" b="1" dirty="0"/>
          </a:p>
          <a:p>
            <a:pPr>
              <a:buNone/>
            </a:pPr>
            <a:endParaRPr lang="en-US" sz="2200" b="1" dirty="0"/>
          </a:p>
        </p:txBody>
      </p:sp>
      <p:sp>
        <p:nvSpPr>
          <p:cNvPr id="6" name="Right Brace 5"/>
          <p:cNvSpPr/>
          <p:nvPr/>
        </p:nvSpPr>
        <p:spPr>
          <a:xfrm>
            <a:off x="6248400" y="914400"/>
            <a:ext cx="685800" cy="19050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TextBox 6"/>
          <p:cNvSpPr txBox="1"/>
          <p:nvPr/>
        </p:nvSpPr>
        <p:spPr>
          <a:xfrm>
            <a:off x="7848600" y="1600201"/>
            <a:ext cx="2438400" cy="646331"/>
          </a:xfrm>
          <a:prstGeom prst="rect">
            <a:avLst/>
          </a:prstGeom>
          <a:solidFill>
            <a:srgbClr val="FFC000"/>
          </a:solidFill>
        </p:spPr>
        <p:txBody>
          <a:bodyPr wrap="square" rtlCol="0">
            <a:spAutoFit/>
          </a:bodyPr>
          <a:lstStyle/>
          <a:p>
            <a:r>
              <a:rPr lang="en-US" dirty="0"/>
              <a:t>Reading three marks and calculating its total</a:t>
            </a:r>
          </a:p>
        </p:txBody>
      </p:sp>
      <p:cxnSp>
        <p:nvCxnSpPr>
          <p:cNvPr id="9" name="Straight Arrow Connector 8"/>
          <p:cNvCxnSpPr/>
          <p:nvPr/>
        </p:nvCxnSpPr>
        <p:spPr>
          <a:xfrm>
            <a:off x="7086600" y="1905000"/>
            <a:ext cx="5334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0C900D75-6FA3-28D9-62F9-1B9AD214AA18}"/>
              </a:ext>
            </a:extLst>
          </p:cNvPr>
          <p:cNvSpPr>
            <a:spLocks noGrp="1"/>
          </p:cNvSpPr>
          <p:nvPr>
            <p:ph type="ftr" sz="quarter" idx="11"/>
          </p:nvPr>
        </p:nvSpPr>
        <p:spPr/>
        <p:txBody>
          <a:bodyPr/>
          <a:lstStyle/>
          <a:p>
            <a:r>
              <a:rPr lang="en-US"/>
              <a:t>Mrs Saranya Babu, Asst. Professor, GAT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blinds(horizontal)">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6"/>
                                        </p:tgtEl>
                                        <p:attrNameLst>
                                          <p:attrName>style.visibility</p:attrName>
                                        </p:attrNameLst>
                                      </p:cBhvr>
                                      <p:to>
                                        <p:strVal val="visible"/>
                                      </p:to>
                                    </p:set>
                                    <p:animEffect transition="in" filter="blinds(horizontal)">
                                      <p:cBhvr>
                                        <p:cTn id="47" dur="500"/>
                                        <p:tgtEl>
                                          <p:spTgt spid="6"/>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9"/>
                                        </p:tgtEl>
                                        <p:attrNameLst>
                                          <p:attrName>style.visibility</p:attrName>
                                        </p:attrNameLst>
                                      </p:cBhvr>
                                      <p:to>
                                        <p:strVal val="visible"/>
                                      </p:to>
                                    </p:set>
                                    <p:animEffect transition="in" filter="blinds(horizontal)">
                                      <p:cBhvr>
                                        <p:cTn id="52" dur="500"/>
                                        <p:tgtEl>
                                          <p:spTgt spid="9"/>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7"/>
                                        </p:tgtEl>
                                        <p:attrNameLst>
                                          <p:attrName>style.visibility</p:attrName>
                                        </p:attrNameLst>
                                      </p:cBhvr>
                                      <p:to>
                                        <p:strVal val="visible"/>
                                      </p:to>
                                    </p:set>
                                    <p:animEffect transition="in" filter="blinds(horizontal)">
                                      <p:cBhvr>
                                        <p:cTn id="5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animBg="1"/>
      <p:bldP spid="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80140B-5FE2-F21B-FE3D-B128F57678EC}"/>
              </a:ext>
            </a:extLst>
          </p:cNvPr>
          <p:cNvSpPr>
            <a:spLocks noGrp="1"/>
          </p:cNvSpPr>
          <p:nvPr>
            <p:ph type="title"/>
          </p:nvPr>
        </p:nvSpPr>
        <p:spPr/>
        <p:txBody>
          <a:bodyPr/>
          <a:lstStyle/>
          <a:p>
            <a:r>
              <a:rPr lang="en-US" b="1" dirty="0">
                <a:solidFill>
                  <a:srgbClr val="FF0000"/>
                </a:solidFill>
              </a:rPr>
              <a:t>Array of Structures</a:t>
            </a:r>
            <a:endParaRPr lang="en-US" dirty="0"/>
          </a:p>
        </p:txBody>
      </p:sp>
      <p:sp>
        <p:nvSpPr>
          <p:cNvPr id="3" name="Content Placeholder 2">
            <a:extLst>
              <a:ext uri="{FF2B5EF4-FFF2-40B4-BE49-F238E27FC236}">
                <a16:creationId xmlns:a16="http://schemas.microsoft.com/office/drawing/2014/main" id="{B10D1C3A-4527-C1D9-7011-89988229D4EE}"/>
              </a:ext>
            </a:extLst>
          </p:cNvPr>
          <p:cNvSpPr>
            <a:spLocks noGrp="1"/>
          </p:cNvSpPr>
          <p:nvPr>
            <p:ph idx="1"/>
          </p:nvPr>
        </p:nvSpPr>
        <p:spPr>
          <a:xfrm>
            <a:off x="838200" y="1325217"/>
            <a:ext cx="10515600" cy="5420140"/>
          </a:xfrm>
        </p:spPr>
        <p:txBody>
          <a:bodyPr>
            <a:normAutofit/>
          </a:bodyPr>
          <a:lstStyle/>
          <a:p>
            <a:r>
              <a:rPr lang="en-US" sz="1800" b="0" kern="0" dirty="0">
                <a:effectLst/>
                <a:latin typeface="Times New Roman" panose="02020603050405020304" pitchFamily="18" charset="0"/>
                <a:ea typeface="Wingdings" panose="05000000000000000000" pitchFamily="2" charset="2"/>
                <a:cs typeface="Wingdings" panose="05000000000000000000" pitchFamily="2" charset="2"/>
              </a:rPr>
              <a:t>It is a collection of structure variables</a:t>
            </a:r>
            <a:endParaRPr lang="en-US" sz="1800" b="1" kern="0" dirty="0">
              <a:effectLst/>
              <a:latin typeface="Times New Roman" panose="02020603050405020304" pitchFamily="18" charset="0"/>
              <a:ea typeface="Wingdings" panose="05000000000000000000" pitchFamily="2" charset="2"/>
              <a:cs typeface="Wingdings" panose="05000000000000000000" pitchFamily="2" charset="2"/>
            </a:endParaRPr>
          </a:p>
          <a:p>
            <a:pPr marL="215900" marR="31750" algn="just">
              <a:spcBef>
                <a:spcPts val="430"/>
              </a:spcBef>
            </a:pPr>
            <a:r>
              <a:rPr lang="en-US" sz="1800" b="0" kern="0" dirty="0">
                <a:effectLst/>
                <a:latin typeface="Times New Roman" panose="02020603050405020304" pitchFamily="18" charset="0"/>
                <a:ea typeface="Times New Roman" panose="02020603050405020304" pitchFamily="18" charset="0"/>
              </a:rPr>
              <a:t>Syntax: </a:t>
            </a:r>
            <a:endParaRPr lang="en-US" sz="1800" b="1" kern="0" dirty="0">
              <a:effectLst/>
              <a:latin typeface="Times New Roman" panose="02020603050405020304" pitchFamily="18" charset="0"/>
              <a:ea typeface="Times New Roman" panose="02020603050405020304" pitchFamily="18" charset="0"/>
            </a:endParaRPr>
          </a:p>
          <a:p>
            <a:pPr marL="0" indent="0">
              <a:buNone/>
            </a:pPr>
            <a:r>
              <a:rPr lang="en-US" sz="1800" b="1" dirty="0">
                <a:effectLst/>
                <a:latin typeface="Georgia" panose="02040502050405020303" pitchFamily="18" charset="0"/>
                <a:ea typeface="Georgia" panose="02040502050405020303" pitchFamily="18" charset="0"/>
                <a:cs typeface="Georgia" panose="02040502050405020303" pitchFamily="18" charset="0"/>
              </a:rPr>
              <a:t>            struct </a:t>
            </a:r>
            <a:r>
              <a:rPr lang="en-US" sz="1800" b="1" dirty="0" err="1">
                <a:effectLst/>
                <a:latin typeface="Georgia" panose="02040502050405020303" pitchFamily="18" charset="0"/>
                <a:ea typeface="Georgia" panose="02040502050405020303" pitchFamily="18" charset="0"/>
                <a:cs typeface="Georgia" panose="02040502050405020303" pitchFamily="18" charset="0"/>
              </a:rPr>
              <a:t>tag_namestructure_variable</a:t>
            </a:r>
            <a:r>
              <a:rPr lang="en-US" sz="1800" b="1" dirty="0">
                <a:effectLst/>
                <a:latin typeface="Georgia" panose="02040502050405020303" pitchFamily="18" charset="0"/>
                <a:ea typeface="Georgia" panose="02040502050405020303" pitchFamily="18" charset="0"/>
                <a:cs typeface="Georgia" panose="02040502050405020303" pitchFamily="18" charset="0"/>
              </a:rPr>
              <a:t>[size];</a:t>
            </a:r>
          </a:p>
          <a:p>
            <a:r>
              <a:rPr lang="en-US" sz="1800" b="0" kern="0" spc="-20" dirty="0">
                <a:effectLst/>
                <a:latin typeface="Times New Roman" panose="02020603050405020304" pitchFamily="18" charset="0"/>
                <a:ea typeface="Wingdings" panose="05000000000000000000" pitchFamily="2" charset="2"/>
                <a:cs typeface="Wingdings" panose="05000000000000000000" pitchFamily="2" charset="2"/>
              </a:rPr>
              <a:t>T</a:t>
            </a:r>
            <a:r>
              <a:rPr lang="en-US" sz="1800" b="0" kern="0" dirty="0">
                <a:effectLst/>
                <a:latin typeface="Times New Roman" panose="02020603050405020304" pitchFamily="18" charset="0"/>
                <a:ea typeface="Wingdings" panose="05000000000000000000" pitchFamily="2" charset="2"/>
                <a:cs typeface="Wingdings" panose="05000000000000000000" pitchFamily="2" charset="2"/>
              </a:rPr>
              <a:t>o store the information of 10 students consisting of name and </a:t>
            </a:r>
            <a:r>
              <a:rPr lang="en-US" sz="1800" b="0" kern="0" dirty="0" err="1">
                <a:effectLst/>
                <a:latin typeface="Times New Roman" panose="02020603050405020304" pitchFamily="18" charset="0"/>
                <a:ea typeface="Wingdings" panose="05000000000000000000" pitchFamily="2" charset="2"/>
                <a:cs typeface="Wingdings" panose="05000000000000000000" pitchFamily="2" charset="2"/>
              </a:rPr>
              <a:t>usn</a:t>
            </a:r>
            <a:r>
              <a:rPr lang="en-US" sz="1800" b="0" kern="0" dirty="0">
                <a:effectLst/>
                <a:latin typeface="Times New Roman" panose="02020603050405020304" pitchFamily="18" charset="0"/>
                <a:ea typeface="Wingdings" panose="05000000000000000000" pitchFamily="2" charset="2"/>
                <a:cs typeface="Wingdings" panose="05000000000000000000" pitchFamily="2" charset="2"/>
              </a:rPr>
              <a:t>.</a:t>
            </a:r>
            <a:endParaRPr lang="en-US" sz="1800" b="1" kern="0" dirty="0">
              <a:effectLst/>
              <a:latin typeface="Times New Roman" panose="02020603050405020304" pitchFamily="18" charset="0"/>
              <a:ea typeface="Wingdings" panose="05000000000000000000" pitchFamily="2" charset="2"/>
              <a:cs typeface="Wingdings" panose="05000000000000000000" pitchFamily="2" charset="2"/>
            </a:endParaRPr>
          </a:p>
          <a:p>
            <a:pPr marL="0" marR="31750" indent="0" algn="just">
              <a:spcBef>
                <a:spcPts val="430"/>
              </a:spcBef>
              <a:buNone/>
            </a:pPr>
            <a:r>
              <a:rPr lang="en-US" sz="1800" b="1" kern="0" dirty="0">
                <a:effectLst/>
                <a:latin typeface="Times New Roman" panose="02020603050405020304" pitchFamily="18" charset="0"/>
                <a:ea typeface="Times New Roman" panose="02020603050405020304" pitchFamily="18" charset="0"/>
              </a:rPr>
              <a:t>struct student</a:t>
            </a:r>
          </a:p>
          <a:p>
            <a:pPr marL="0" marR="31750" indent="0" algn="just">
              <a:spcBef>
                <a:spcPts val="430"/>
              </a:spcBef>
              <a:buNone/>
            </a:pPr>
            <a:r>
              <a:rPr lang="en-US" sz="1800" b="1" kern="0" dirty="0">
                <a:effectLst/>
                <a:latin typeface="Times New Roman" panose="02020603050405020304" pitchFamily="18" charset="0"/>
                <a:ea typeface="Times New Roman" panose="02020603050405020304" pitchFamily="18" charset="0"/>
              </a:rPr>
              <a:t>{  </a:t>
            </a:r>
          </a:p>
          <a:p>
            <a:pPr marL="0" marR="31750" indent="0" algn="just">
              <a:spcBef>
                <a:spcPts val="430"/>
              </a:spcBef>
              <a:buNone/>
            </a:pPr>
            <a:r>
              <a:rPr lang="en-US" sz="1800" b="1" kern="0" dirty="0">
                <a:effectLst/>
                <a:latin typeface="Times New Roman" panose="02020603050405020304" pitchFamily="18" charset="0"/>
                <a:ea typeface="Times New Roman" panose="02020603050405020304" pitchFamily="18" charset="0"/>
              </a:rPr>
              <a:t>  char name[30];</a:t>
            </a:r>
          </a:p>
          <a:p>
            <a:pPr marL="0" marR="31750" indent="0" algn="just">
              <a:spcBef>
                <a:spcPts val="430"/>
              </a:spcBef>
              <a:buNone/>
            </a:pPr>
            <a:r>
              <a:rPr lang="en-US" sz="1800" b="1" kern="0" dirty="0">
                <a:effectLst/>
                <a:latin typeface="Times New Roman" panose="02020603050405020304" pitchFamily="18" charset="0"/>
                <a:ea typeface="Times New Roman" panose="02020603050405020304" pitchFamily="18" charset="0"/>
              </a:rPr>
              <a:t>  int </a:t>
            </a:r>
            <a:r>
              <a:rPr lang="en-US" sz="1800" b="1" kern="0" dirty="0" err="1">
                <a:effectLst/>
                <a:latin typeface="Times New Roman" panose="02020603050405020304" pitchFamily="18" charset="0"/>
                <a:ea typeface="Times New Roman" panose="02020603050405020304" pitchFamily="18" charset="0"/>
              </a:rPr>
              <a:t>roll_no</a:t>
            </a:r>
            <a:r>
              <a:rPr lang="en-US" sz="1800" b="1" kern="0" dirty="0">
                <a:effectLst/>
                <a:latin typeface="Times New Roman" panose="02020603050405020304" pitchFamily="18" charset="0"/>
                <a:ea typeface="Times New Roman" panose="02020603050405020304" pitchFamily="18" charset="0"/>
              </a:rPr>
              <a:t>;</a:t>
            </a:r>
          </a:p>
          <a:p>
            <a:pPr marL="0" marR="31750" indent="0" algn="just">
              <a:spcBef>
                <a:spcPts val="430"/>
              </a:spcBef>
              <a:buNone/>
            </a:pPr>
            <a:r>
              <a:rPr lang="en-US" sz="1800" b="1" kern="0" dirty="0">
                <a:effectLst/>
                <a:latin typeface="Times New Roman" panose="02020603050405020304" pitchFamily="18" charset="0"/>
                <a:ea typeface="Times New Roman" panose="02020603050405020304" pitchFamily="18" charset="0"/>
              </a:rPr>
              <a:t>  float marks;</a:t>
            </a:r>
          </a:p>
          <a:p>
            <a:pPr marL="0" indent="0">
              <a:buNone/>
            </a:pPr>
            <a:r>
              <a:rPr lang="en-US" sz="1800" b="1" dirty="0">
                <a:effectLst/>
                <a:latin typeface="Georgia" panose="02040502050405020303" pitchFamily="18" charset="0"/>
                <a:ea typeface="Georgia" panose="02040502050405020303" pitchFamily="18" charset="0"/>
                <a:cs typeface="Georgia" panose="02040502050405020303" pitchFamily="18" charset="0"/>
              </a:rPr>
              <a:t>};</a:t>
            </a:r>
          </a:p>
          <a:p>
            <a:pPr marL="104140">
              <a:spcBef>
                <a:spcPts val="230"/>
              </a:spcBef>
              <a:spcAft>
                <a:spcPts val="0"/>
              </a:spcAft>
            </a:pPr>
            <a:r>
              <a:rPr lang="en-US" sz="1800" dirty="0">
                <a:effectLst/>
                <a:latin typeface="Times New Roman" panose="02020603050405020304" pitchFamily="18" charset="0"/>
                <a:ea typeface="Georgia" panose="02040502050405020303" pitchFamily="18" charset="0"/>
                <a:cs typeface="Georgia" panose="02040502050405020303" pitchFamily="18" charset="0"/>
              </a:rPr>
              <a:t>To store the information of </a:t>
            </a:r>
            <a:r>
              <a:rPr lang="en-US" sz="1800" b="1" dirty="0">
                <a:effectLst/>
                <a:latin typeface="Times New Roman" panose="02020603050405020304" pitchFamily="18" charset="0"/>
                <a:ea typeface="Georgia" panose="02040502050405020303" pitchFamily="18" charset="0"/>
                <a:cs typeface="Georgia" panose="02040502050405020303" pitchFamily="18" charset="0"/>
              </a:rPr>
              <a:t>10 students </a:t>
            </a:r>
            <a:r>
              <a:rPr lang="en-US" sz="1800" dirty="0">
                <a:effectLst/>
                <a:latin typeface="Times New Roman" panose="02020603050405020304" pitchFamily="18" charset="0"/>
                <a:ea typeface="Georgia" panose="02040502050405020303" pitchFamily="18" charset="0"/>
                <a:cs typeface="Georgia" panose="02040502050405020303" pitchFamily="18" charset="0"/>
              </a:rPr>
              <a:t>the structure variable has to be declared as follows:</a:t>
            </a:r>
            <a:endParaRPr lang="en-US" sz="1800" dirty="0">
              <a:effectLst/>
              <a:latin typeface="Georgia" panose="02040502050405020303" pitchFamily="18" charset="0"/>
              <a:ea typeface="Georgia" panose="02040502050405020303" pitchFamily="18" charset="0"/>
              <a:cs typeface="Georgia" panose="02040502050405020303" pitchFamily="18" charset="0"/>
            </a:endParaRPr>
          </a:p>
          <a:p>
            <a:pPr marL="215900" marR="31750" indent="0" algn="l">
              <a:spcBef>
                <a:spcPts val="300"/>
              </a:spcBef>
              <a:spcAft>
                <a:spcPts val="0"/>
              </a:spcAft>
              <a:buNone/>
            </a:pPr>
            <a:r>
              <a:rPr lang="en-US" sz="1800" b="1" kern="0" dirty="0">
                <a:effectLst/>
                <a:latin typeface="Times New Roman" panose="02020603050405020304" pitchFamily="18" charset="0"/>
                <a:ea typeface="Times New Roman" panose="02020603050405020304" pitchFamily="18" charset="0"/>
              </a:rPr>
              <a:t>	struct Student s[10];</a:t>
            </a:r>
            <a:endParaRPr lang="en-US" sz="1800" dirty="0">
              <a:latin typeface="Georgia" panose="02040502050405020303" pitchFamily="18" charset="0"/>
              <a:ea typeface="Georgia" panose="02040502050405020303" pitchFamily="18" charset="0"/>
              <a:cs typeface="Georgia" panose="02040502050405020303" pitchFamily="18" charset="0"/>
            </a:endParaRPr>
          </a:p>
          <a:p>
            <a:pPr marL="110490" indent="-6350">
              <a:lnSpc>
                <a:spcPct val="115000"/>
              </a:lnSpc>
            </a:pPr>
            <a:r>
              <a:rPr lang="en-US" sz="1800" dirty="0">
                <a:effectLst/>
                <a:latin typeface="Times New Roman" panose="02020603050405020304" pitchFamily="18" charset="0"/>
                <a:ea typeface="Georgia" panose="02040502050405020303" pitchFamily="18" charset="0"/>
                <a:cs typeface="Georgia" panose="02040502050405020303" pitchFamily="18" charset="0"/>
              </a:rPr>
              <a:t>s is an array consisting of 10 memory location. Each memory location is of type struct student hence 10 student information can be stored. </a:t>
            </a:r>
            <a:endParaRPr lang="en-US" sz="1800" dirty="0">
              <a:effectLst/>
              <a:latin typeface="Georgia" panose="02040502050405020303" pitchFamily="18" charset="0"/>
              <a:ea typeface="Georgia" panose="02040502050405020303" pitchFamily="18" charset="0"/>
              <a:cs typeface="Georgia" panose="02040502050405020303" pitchFamily="18" charset="0"/>
            </a:endParaRPr>
          </a:p>
          <a:p>
            <a:pPr marL="215900" marR="31750" algn="just">
              <a:spcBef>
                <a:spcPts val="430"/>
              </a:spcBef>
            </a:pPr>
            <a:r>
              <a:rPr lang="en-US" sz="1800" b="0" kern="0" dirty="0">
                <a:effectLst/>
                <a:latin typeface="Times New Roman" panose="02020603050405020304" pitchFamily="18" charset="0"/>
                <a:ea typeface="Times New Roman" panose="02020603050405020304" pitchFamily="18" charset="0"/>
              </a:rPr>
              <a:t>To access member of a structure below symbol is used:</a:t>
            </a:r>
            <a:endParaRPr lang="en-US" sz="1800" b="1" kern="0" dirty="0">
              <a:effectLst/>
              <a:latin typeface="Times New Roman" panose="02020603050405020304" pitchFamily="18" charset="0"/>
              <a:ea typeface="Times New Roman" panose="02020603050405020304" pitchFamily="18" charset="0"/>
            </a:endParaRPr>
          </a:p>
          <a:p>
            <a:r>
              <a:rPr lang="en-US" sz="1800" dirty="0" err="1">
                <a:effectLst/>
                <a:latin typeface="Georgia" panose="02040502050405020303" pitchFamily="18" charset="0"/>
                <a:ea typeface="Georgia" panose="02040502050405020303" pitchFamily="18" charset="0"/>
                <a:cs typeface="Georgia" panose="02040502050405020303" pitchFamily="18" charset="0"/>
              </a:rPr>
              <a:t>structure_variable</a:t>
            </a:r>
            <a:r>
              <a:rPr lang="en-US" sz="1800" dirty="0">
                <a:effectLst/>
                <a:latin typeface="Georgia" panose="02040502050405020303" pitchFamily="18" charset="0"/>
                <a:ea typeface="Georgia" panose="02040502050405020303" pitchFamily="18" charset="0"/>
                <a:cs typeface="Georgia" panose="02040502050405020303" pitchFamily="18" charset="0"/>
              </a:rPr>
              <a:t>[subscript].members</a:t>
            </a:r>
            <a:endParaRPr lang="en-US" dirty="0"/>
          </a:p>
        </p:txBody>
      </p:sp>
      <p:sp>
        <p:nvSpPr>
          <p:cNvPr id="4" name="Footer Placeholder 3">
            <a:extLst>
              <a:ext uri="{FF2B5EF4-FFF2-40B4-BE49-F238E27FC236}">
                <a16:creationId xmlns:a16="http://schemas.microsoft.com/office/drawing/2014/main" id="{697AD250-F1BC-2F91-A834-DC9D6CFC40FB}"/>
              </a:ext>
            </a:extLst>
          </p:cNvPr>
          <p:cNvSpPr>
            <a:spLocks noGrp="1"/>
          </p:cNvSpPr>
          <p:nvPr>
            <p:ph type="ftr" sz="quarter" idx="11"/>
          </p:nvPr>
        </p:nvSpPr>
        <p:spPr/>
        <p:txBody>
          <a:bodyPr/>
          <a:lstStyle/>
          <a:p>
            <a:r>
              <a:rPr lang="en-US"/>
              <a:t>Mrs Saranya Babu, Asst. Professor, GAT</a:t>
            </a:r>
          </a:p>
        </p:txBody>
      </p:sp>
    </p:spTree>
    <p:extLst>
      <p:ext uri="{BB962C8B-B14F-4D97-AF65-F5344CB8AC3E}">
        <p14:creationId xmlns:p14="http://schemas.microsoft.com/office/powerpoint/2010/main" val="5557119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3339" y="0"/>
            <a:ext cx="9667461" cy="609600"/>
          </a:xfrm>
        </p:spPr>
        <p:txBody>
          <a:bodyPr>
            <a:noAutofit/>
          </a:bodyPr>
          <a:lstStyle/>
          <a:p>
            <a:r>
              <a:rPr lang="en-US" sz="2000" b="1" dirty="0">
                <a:solidFill>
                  <a:srgbClr val="FF0000"/>
                </a:solidFill>
              </a:rPr>
              <a:t>C program to read and print n employee details</a:t>
            </a:r>
          </a:p>
        </p:txBody>
      </p:sp>
      <p:sp>
        <p:nvSpPr>
          <p:cNvPr id="3" name="Content Placeholder 2"/>
          <p:cNvSpPr>
            <a:spLocks noGrp="1"/>
          </p:cNvSpPr>
          <p:nvPr>
            <p:ph idx="1"/>
          </p:nvPr>
        </p:nvSpPr>
        <p:spPr>
          <a:xfrm>
            <a:off x="1981200" y="609600"/>
            <a:ext cx="8229600" cy="6248400"/>
          </a:xfrm>
        </p:spPr>
        <p:txBody>
          <a:bodyPr>
            <a:normAutofit fontScale="62500" lnSpcReduction="20000"/>
          </a:bodyPr>
          <a:lstStyle/>
          <a:p>
            <a:pPr>
              <a:buNone/>
            </a:pPr>
            <a:r>
              <a:rPr lang="en-US" b="1" dirty="0"/>
              <a:t>#include&lt;</a:t>
            </a:r>
            <a:r>
              <a:rPr lang="en-US" b="1" dirty="0" err="1"/>
              <a:t>stdio.h</a:t>
            </a:r>
            <a:r>
              <a:rPr lang="en-US" b="1" dirty="0"/>
              <a:t>&gt;</a:t>
            </a:r>
          </a:p>
          <a:p>
            <a:pPr>
              <a:buNone/>
            </a:pPr>
            <a:r>
              <a:rPr lang="en-US" b="1" dirty="0" err="1">
                <a:solidFill>
                  <a:srgbClr val="FF0000"/>
                </a:solidFill>
              </a:rPr>
              <a:t>struct</a:t>
            </a:r>
            <a:r>
              <a:rPr lang="en-US" b="1" dirty="0">
                <a:solidFill>
                  <a:srgbClr val="FF0000"/>
                </a:solidFill>
              </a:rPr>
              <a:t> employee</a:t>
            </a:r>
          </a:p>
          <a:p>
            <a:pPr>
              <a:buNone/>
            </a:pPr>
            <a:r>
              <a:rPr lang="en-US" b="1" dirty="0">
                <a:solidFill>
                  <a:srgbClr val="FF0000"/>
                </a:solidFill>
              </a:rPr>
              <a:t>{</a:t>
            </a:r>
          </a:p>
          <a:p>
            <a:pPr>
              <a:buNone/>
            </a:pPr>
            <a:r>
              <a:rPr lang="en-US" b="1" dirty="0">
                <a:solidFill>
                  <a:srgbClr val="FF0000"/>
                </a:solidFill>
              </a:rPr>
              <a:t>    char name[20];    </a:t>
            </a:r>
          </a:p>
          <a:p>
            <a:pPr>
              <a:buNone/>
            </a:pPr>
            <a:r>
              <a:rPr lang="en-US" b="1" dirty="0">
                <a:solidFill>
                  <a:srgbClr val="FF0000"/>
                </a:solidFill>
              </a:rPr>
              <a:t>    float salary;</a:t>
            </a:r>
          </a:p>
          <a:p>
            <a:pPr>
              <a:buNone/>
            </a:pPr>
            <a:r>
              <a:rPr lang="en-US" b="1" dirty="0">
                <a:solidFill>
                  <a:srgbClr val="FF0000"/>
                </a:solidFill>
              </a:rPr>
              <a:t>     </a:t>
            </a:r>
            <a:r>
              <a:rPr lang="en-US" b="1" dirty="0" err="1">
                <a:solidFill>
                  <a:srgbClr val="FF0000"/>
                </a:solidFill>
              </a:rPr>
              <a:t>int</a:t>
            </a:r>
            <a:r>
              <a:rPr lang="en-US" b="1" dirty="0">
                <a:solidFill>
                  <a:srgbClr val="FF0000"/>
                </a:solidFill>
              </a:rPr>
              <a:t> </a:t>
            </a:r>
            <a:r>
              <a:rPr lang="en-US" b="1" dirty="0" err="1">
                <a:solidFill>
                  <a:srgbClr val="FF0000"/>
                </a:solidFill>
              </a:rPr>
              <a:t>empno</a:t>
            </a:r>
            <a:r>
              <a:rPr lang="en-US" b="1" dirty="0">
                <a:solidFill>
                  <a:srgbClr val="FF0000"/>
                </a:solidFill>
              </a:rPr>
              <a:t>;</a:t>
            </a:r>
          </a:p>
          <a:p>
            <a:pPr>
              <a:buNone/>
            </a:pPr>
            <a:r>
              <a:rPr lang="en-US" b="1" dirty="0">
                <a:solidFill>
                  <a:srgbClr val="FF0000"/>
                </a:solidFill>
              </a:rPr>
              <a:t>};</a:t>
            </a:r>
          </a:p>
          <a:p>
            <a:pPr>
              <a:buNone/>
            </a:pPr>
            <a:r>
              <a:rPr lang="en-US" b="1" dirty="0"/>
              <a:t>void main()</a:t>
            </a:r>
          </a:p>
          <a:p>
            <a:pPr>
              <a:buNone/>
            </a:pPr>
            <a:r>
              <a:rPr lang="en-US" b="1" dirty="0"/>
              <a:t>{</a:t>
            </a:r>
          </a:p>
          <a:p>
            <a:pPr>
              <a:buNone/>
            </a:pPr>
            <a:r>
              <a:rPr lang="en-US" b="1" dirty="0"/>
              <a:t>    </a:t>
            </a:r>
            <a:r>
              <a:rPr lang="en-US" b="1" dirty="0" err="1">
                <a:solidFill>
                  <a:srgbClr val="FF0000"/>
                </a:solidFill>
              </a:rPr>
              <a:t>struct</a:t>
            </a:r>
            <a:r>
              <a:rPr lang="en-US" b="1" dirty="0">
                <a:solidFill>
                  <a:srgbClr val="FF0000"/>
                </a:solidFill>
              </a:rPr>
              <a:t> employee e[10];</a:t>
            </a:r>
          </a:p>
          <a:p>
            <a:pPr>
              <a:buNone/>
            </a:pPr>
            <a:r>
              <a:rPr lang="en-US" b="1" dirty="0"/>
              <a:t>    </a:t>
            </a:r>
            <a:r>
              <a:rPr lang="en-US" b="1" dirty="0" err="1"/>
              <a:t>int</a:t>
            </a:r>
            <a:r>
              <a:rPr lang="en-US" b="1" dirty="0"/>
              <a:t> </a:t>
            </a:r>
            <a:r>
              <a:rPr lang="en-US" b="1" dirty="0" err="1"/>
              <a:t>n,i</a:t>
            </a:r>
            <a:r>
              <a:rPr lang="en-US" b="1" dirty="0"/>
              <a:t>;</a:t>
            </a:r>
          </a:p>
          <a:p>
            <a:pPr>
              <a:buNone/>
            </a:pPr>
            <a:r>
              <a:rPr lang="en-US" b="1" dirty="0"/>
              <a:t>    </a:t>
            </a:r>
            <a:r>
              <a:rPr lang="en-US" b="1" dirty="0" err="1"/>
              <a:t>printf</a:t>
            </a:r>
            <a:r>
              <a:rPr lang="en-US" b="1" dirty="0"/>
              <a:t>("Enter </a:t>
            </a:r>
            <a:r>
              <a:rPr lang="en-US" b="1" dirty="0" err="1"/>
              <a:t>no.of</a:t>
            </a:r>
            <a:r>
              <a:rPr lang="en-US" b="1" dirty="0"/>
              <a:t> employees\n");</a:t>
            </a:r>
          </a:p>
          <a:p>
            <a:pPr>
              <a:buNone/>
            </a:pPr>
            <a:r>
              <a:rPr lang="en-US" b="1" dirty="0"/>
              <a:t>    </a:t>
            </a:r>
            <a:r>
              <a:rPr lang="en-US" b="1" dirty="0" err="1"/>
              <a:t>scanf</a:t>
            </a:r>
            <a:r>
              <a:rPr lang="en-US" b="1" dirty="0"/>
              <a:t>("%</a:t>
            </a:r>
            <a:r>
              <a:rPr lang="en-US" b="1" dirty="0" err="1"/>
              <a:t>d",&amp;n</a:t>
            </a:r>
            <a:r>
              <a:rPr lang="en-US" b="1" dirty="0"/>
              <a:t>);</a:t>
            </a:r>
          </a:p>
          <a:p>
            <a:pPr>
              <a:buNone/>
            </a:pPr>
            <a:r>
              <a:rPr lang="en-US" b="1" dirty="0">
                <a:solidFill>
                  <a:srgbClr val="FF0000"/>
                </a:solidFill>
              </a:rPr>
              <a:t>    for(</a:t>
            </a:r>
            <a:r>
              <a:rPr lang="en-US" b="1" dirty="0" err="1">
                <a:solidFill>
                  <a:srgbClr val="FF0000"/>
                </a:solidFill>
              </a:rPr>
              <a:t>i</a:t>
            </a:r>
            <a:r>
              <a:rPr lang="en-US" b="1" dirty="0">
                <a:solidFill>
                  <a:srgbClr val="FF0000"/>
                </a:solidFill>
              </a:rPr>
              <a:t>=0;i&lt;</a:t>
            </a:r>
            <a:r>
              <a:rPr lang="en-US" b="1" dirty="0" err="1">
                <a:solidFill>
                  <a:srgbClr val="FF0000"/>
                </a:solidFill>
              </a:rPr>
              <a:t>n;i</a:t>
            </a:r>
            <a:r>
              <a:rPr lang="en-US" b="1" dirty="0">
                <a:solidFill>
                  <a:srgbClr val="FF0000"/>
                </a:solidFill>
              </a:rPr>
              <a:t>++)</a:t>
            </a:r>
          </a:p>
          <a:p>
            <a:pPr>
              <a:buNone/>
            </a:pPr>
            <a:r>
              <a:rPr lang="en-US" b="1" dirty="0">
                <a:solidFill>
                  <a:srgbClr val="FF0000"/>
                </a:solidFill>
              </a:rPr>
              <a:t>    {</a:t>
            </a:r>
          </a:p>
          <a:p>
            <a:pPr>
              <a:buNone/>
            </a:pPr>
            <a:r>
              <a:rPr lang="en-US" b="1" dirty="0">
                <a:solidFill>
                  <a:srgbClr val="FF0000"/>
                </a:solidFill>
              </a:rPr>
              <a:t>    </a:t>
            </a:r>
            <a:r>
              <a:rPr lang="en-US" b="1" dirty="0" err="1"/>
              <a:t>printf</a:t>
            </a:r>
            <a:r>
              <a:rPr lang="en-US" b="1" dirty="0"/>
              <a:t>("Enter details of employee %d \n",i+1);</a:t>
            </a:r>
          </a:p>
          <a:p>
            <a:pPr>
              <a:buNone/>
            </a:pPr>
            <a:r>
              <a:rPr lang="en-US" b="1" dirty="0"/>
              <a:t>    </a:t>
            </a:r>
            <a:r>
              <a:rPr lang="en-US" b="1" dirty="0" err="1"/>
              <a:t>printf</a:t>
            </a:r>
            <a:r>
              <a:rPr lang="en-US" b="1" dirty="0"/>
              <a:t>("Enter name, salary and </a:t>
            </a:r>
            <a:r>
              <a:rPr lang="en-US" b="1" dirty="0" err="1"/>
              <a:t>employee_number</a:t>
            </a:r>
            <a:r>
              <a:rPr lang="en-US" b="1" dirty="0"/>
              <a:t>\n");</a:t>
            </a:r>
          </a:p>
          <a:p>
            <a:pPr>
              <a:buNone/>
            </a:pPr>
            <a:r>
              <a:rPr lang="en-US" b="1" dirty="0"/>
              <a:t>    </a:t>
            </a:r>
            <a:r>
              <a:rPr lang="en-US" b="1" dirty="0" err="1"/>
              <a:t>scanf</a:t>
            </a:r>
            <a:r>
              <a:rPr lang="en-US" b="1" dirty="0"/>
              <a:t>("%</a:t>
            </a:r>
            <a:r>
              <a:rPr lang="en-US" b="1" dirty="0" err="1"/>
              <a:t>s%f%d",e</a:t>
            </a:r>
            <a:r>
              <a:rPr lang="en-US" b="1" dirty="0"/>
              <a:t>[</a:t>
            </a:r>
            <a:r>
              <a:rPr lang="en-US" b="1" dirty="0" err="1"/>
              <a:t>i</a:t>
            </a:r>
            <a:r>
              <a:rPr lang="en-US" b="1" dirty="0"/>
              <a:t>].</a:t>
            </a:r>
            <a:r>
              <a:rPr lang="en-US" b="1" dirty="0" err="1"/>
              <a:t>name,&amp;e</a:t>
            </a:r>
            <a:r>
              <a:rPr lang="en-US" b="1" dirty="0"/>
              <a:t>[</a:t>
            </a:r>
            <a:r>
              <a:rPr lang="en-US" b="1" dirty="0" err="1"/>
              <a:t>i</a:t>
            </a:r>
            <a:r>
              <a:rPr lang="en-US" b="1" dirty="0"/>
              <a:t>].</a:t>
            </a:r>
            <a:r>
              <a:rPr lang="en-US" b="1" dirty="0" err="1"/>
              <a:t>salary,&amp;e</a:t>
            </a:r>
            <a:r>
              <a:rPr lang="en-US" b="1" dirty="0"/>
              <a:t>[</a:t>
            </a:r>
            <a:r>
              <a:rPr lang="en-US" b="1" dirty="0" err="1"/>
              <a:t>i</a:t>
            </a:r>
            <a:r>
              <a:rPr lang="en-US" b="1" dirty="0"/>
              <a:t>].</a:t>
            </a:r>
            <a:r>
              <a:rPr lang="en-US" b="1" dirty="0" err="1"/>
              <a:t>empno</a:t>
            </a:r>
            <a:r>
              <a:rPr lang="en-US" b="1" dirty="0"/>
              <a:t>);</a:t>
            </a:r>
          </a:p>
          <a:p>
            <a:pPr>
              <a:buNone/>
            </a:pPr>
            <a:r>
              <a:rPr lang="en-US" b="1" dirty="0"/>
              <a:t>   </a:t>
            </a:r>
            <a:r>
              <a:rPr lang="en-US" b="1" dirty="0">
                <a:solidFill>
                  <a:srgbClr val="FF0000"/>
                </a:solidFill>
              </a:rPr>
              <a:t> }</a:t>
            </a:r>
          </a:p>
          <a:p>
            <a:pPr>
              <a:buNone/>
            </a:pPr>
            <a:endParaRPr lang="en-US" b="1" dirty="0"/>
          </a:p>
        </p:txBody>
      </p:sp>
      <p:sp>
        <p:nvSpPr>
          <p:cNvPr id="4" name="TextBox 3"/>
          <p:cNvSpPr txBox="1"/>
          <p:nvPr/>
        </p:nvSpPr>
        <p:spPr>
          <a:xfrm>
            <a:off x="8458200" y="5105401"/>
            <a:ext cx="2057400" cy="830997"/>
          </a:xfrm>
          <a:prstGeom prst="rect">
            <a:avLst/>
          </a:prstGeom>
          <a:solidFill>
            <a:srgbClr val="FFC000"/>
          </a:solidFill>
        </p:spPr>
        <p:txBody>
          <a:bodyPr wrap="square" rtlCol="0">
            <a:spAutoFit/>
          </a:bodyPr>
          <a:lstStyle/>
          <a:p>
            <a:r>
              <a:rPr lang="en-US" sz="1600" dirty="0"/>
              <a:t>Reading </a:t>
            </a:r>
            <a:r>
              <a:rPr lang="en-US" sz="1600" b="1" dirty="0"/>
              <a:t>n</a:t>
            </a:r>
            <a:r>
              <a:rPr lang="en-US" sz="1600" dirty="0"/>
              <a:t> employees details using array of structures</a:t>
            </a:r>
          </a:p>
        </p:txBody>
      </p:sp>
      <p:sp>
        <p:nvSpPr>
          <p:cNvPr id="5" name="Right Brace 4"/>
          <p:cNvSpPr/>
          <p:nvPr/>
        </p:nvSpPr>
        <p:spPr>
          <a:xfrm>
            <a:off x="7924800" y="4800600"/>
            <a:ext cx="762000" cy="16764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 name="TextBox 5"/>
          <p:cNvSpPr txBox="1"/>
          <p:nvPr/>
        </p:nvSpPr>
        <p:spPr>
          <a:xfrm>
            <a:off x="5867400" y="2895601"/>
            <a:ext cx="2802306" cy="646331"/>
          </a:xfrm>
          <a:prstGeom prst="rect">
            <a:avLst/>
          </a:prstGeom>
          <a:solidFill>
            <a:srgbClr val="FFC000"/>
          </a:solidFill>
        </p:spPr>
        <p:txBody>
          <a:bodyPr wrap="none" rtlCol="0">
            <a:spAutoFit/>
          </a:bodyPr>
          <a:lstStyle/>
          <a:p>
            <a:r>
              <a:rPr lang="en-US" dirty="0"/>
              <a:t>Array of structures to store</a:t>
            </a:r>
          </a:p>
          <a:p>
            <a:r>
              <a:rPr lang="en-US" dirty="0"/>
              <a:t>Multiple ( employee details </a:t>
            </a:r>
          </a:p>
        </p:txBody>
      </p:sp>
      <p:cxnSp>
        <p:nvCxnSpPr>
          <p:cNvPr id="8" name="Straight Arrow Connector 7"/>
          <p:cNvCxnSpPr/>
          <p:nvPr/>
        </p:nvCxnSpPr>
        <p:spPr>
          <a:xfrm flipV="1">
            <a:off x="4800600" y="3200400"/>
            <a:ext cx="914400" cy="228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7" name="Footer Placeholder 6">
            <a:extLst>
              <a:ext uri="{FF2B5EF4-FFF2-40B4-BE49-F238E27FC236}">
                <a16:creationId xmlns:a16="http://schemas.microsoft.com/office/drawing/2014/main" id="{60E5C6CA-5E66-A331-64DD-9CB26DE129A3}"/>
              </a:ext>
            </a:extLst>
          </p:cNvPr>
          <p:cNvSpPr>
            <a:spLocks noGrp="1"/>
          </p:cNvSpPr>
          <p:nvPr>
            <p:ph type="ftr" sz="quarter" idx="11"/>
          </p:nvPr>
        </p:nvSpPr>
        <p:spPr/>
        <p:txBody>
          <a:bodyPr/>
          <a:lstStyle/>
          <a:p>
            <a:r>
              <a:rPr lang="en-US"/>
              <a:t>Mrs Saranya Babu, Asst. Professor, GAT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blinds(horizontal)">
                                      <p:cBhvr>
                                        <p:cTn id="10" dur="500"/>
                                        <p:tgtEl>
                                          <p:spTgt spid="3">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blinds(horizontal)">
                                      <p:cBhvr>
                                        <p:cTn id="13" dur="500"/>
                                        <p:tgtEl>
                                          <p:spTgt spid="3">
                                            <p:txEl>
                                              <p:pRg st="3" end="3"/>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blinds(horizontal)">
                                      <p:cBhvr>
                                        <p:cTn id="16" dur="500"/>
                                        <p:tgtEl>
                                          <p:spTgt spid="3">
                                            <p:txEl>
                                              <p:pRg st="4" end="4"/>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Effect transition="in" filter="blinds(horizontal)">
                                      <p:cBhvr>
                                        <p:cTn id="19" dur="500"/>
                                        <p:tgtEl>
                                          <p:spTgt spid="3">
                                            <p:txEl>
                                              <p:pRg st="5" end="5"/>
                                            </p:txEl>
                                          </p:spTgt>
                                        </p:tgtEl>
                                      </p:cBhvr>
                                    </p:animEffect>
                                  </p:childTnLst>
                                </p:cTn>
                              </p:par>
                              <p:par>
                                <p:cTn id="20" presetID="3" presetClass="entr" presetSubtype="10" fill="hold" nodeType="with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blinds(horizontal)">
                                      <p:cBhvr>
                                        <p:cTn id="22" dur="500"/>
                                        <p:tgtEl>
                                          <p:spTgt spid="3">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Effect transition="in" filter="blinds(horizontal)">
                                      <p:cBhvr>
                                        <p:cTn id="27" dur="500"/>
                                        <p:tgtEl>
                                          <p:spTgt spid="3">
                                            <p:txEl>
                                              <p:pRg st="7" end="7"/>
                                            </p:txEl>
                                          </p:spTgt>
                                        </p:tgtEl>
                                      </p:cBhvr>
                                    </p:animEffect>
                                  </p:childTnLst>
                                </p:cTn>
                              </p:par>
                              <p:par>
                                <p:cTn id="28" presetID="3" presetClass="entr" presetSubtype="10" fill="hold" nodeType="withEffect">
                                  <p:stCondLst>
                                    <p:cond delay="0"/>
                                  </p:stCondLst>
                                  <p:childTnLst>
                                    <p:set>
                                      <p:cBhvr>
                                        <p:cTn id="29" dur="1" fill="hold">
                                          <p:stCondLst>
                                            <p:cond delay="0"/>
                                          </p:stCondLst>
                                        </p:cTn>
                                        <p:tgtEl>
                                          <p:spTgt spid="3">
                                            <p:txEl>
                                              <p:pRg st="8" end="8"/>
                                            </p:txEl>
                                          </p:spTgt>
                                        </p:tgtEl>
                                        <p:attrNameLst>
                                          <p:attrName>style.visibility</p:attrName>
                                        </p:attrNameLst>
                                      </p:cBhvr>
                                      <p:to>
                                        <p:strVal val="visible"/>
                                      </p:to>
                                    </p:set>
                                    <p:animEffect transition="in" filter="blinds(horizontal)">
                                      <p:cBhvr>
                                        <p:cTn id="30" dur="500"/>
                                        <p:tgtEl>
                                          <p:spTgt spid="3">
                                            <p:txEl>
                                              <p:pRg st="8" end="8"/>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animEffect transition="in" filter="blinds(horizontal)">
                                      <p:cBhvr>
                                        <p:cTn id="35" dur="500"/>
                                        <p:tgtEl>
                                          <p:spTgt spid="3">
                                            <p:txEl>
                                              <p:pRg st="9" end="9"/>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nodeType="clickEffect">
                                  <p:stCondLst>
                                    <p:cond delay="0"/>
                                  </p:stCondLst>
                                  <p:childTnLst>
                                    <p:set>
                                      <p:cBhvr>
                                        <p:cTn id="39" dur="1" fill="hold">
                                          <p:stCondLst>
                                            <p:cond delay="0"/>
                                          </p:stCondLst>
                                        </p:cTn>
                                        <p:tgtEl>
                                          <p:spTgt spid="8"/>
                                        </p:tgtEl>
                                        <p:attrNameLst>
                                          <p:attrName>style.visibility</p:attrName>
                                        </p:attrNameLst>
                                      </p:cBhvr>
                                      <p:to>
                                        <p:strVal val="visible"/>
                                      </p:to>
                                    </p:set>
                                    <p:animEffect transition="in" filter="blinds(horizontal)">
                                      <p:cBhvr>
                                        <p:cTn id="40" dur="500"/>
                                        <p:tgtEl>
                                          <p:spTgt spid="8"/>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6"/>
                                        </p:tgtEl>
                                        <p:attrNameLst>
                                          <p:attrName>style.visibility</p:attrName>
                                        </p:attrNameLst>
                                      </p:cBhvr>
                                      <p:to>
                                        <p:strVal val="visible"/>
                                      </p:to>
                                    </p:set>
                                    <p:animEffect transition="in" filter="blinds(horizontal)">
                                      <p:cBhvr>
                                        <p:cTn id="45" dur="500"/>
                                        <p:tgtEl>
                                          <p:spTgt spid="6"/>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nodeType="clickEffect">
                                  <p:stCondLst>
                                    <p:cond delay="0"/>
                                  </p:stCondLst>
                                  <p:childTnLst>
                                    <p:set>
                                      <p:cBhvr>
                                        <p:cTn id="49" dur="1" fill="hold">
                                          <p:stCondLst>
                                            <p:cond delay="0"/>
                                          </p:stCondLst>
                                        </p:cTn>
                                        <p:tgtEl>
                                          <p:spTgt spid="3">
                                            <p:txEl>
                                              <p:pRg st="10" end="10"/>
                                            </p:txEl>
                                          </p:spTgt>
                                        </p:tgtEl>
                                        <p:attrNameLst>
                                          <p:attrName>style.visibility</p:attrName>
                                        </p:attrNameLst>
                                      </p:cBhvr>
                                      <p:to>
                                        <p:strVal val="visible"/>
                                      </p:to>
                                    </p:set>
                                    <p:animEffect transition="in" filter="blinds(horizontal)">
                                      <p:cBhvr>
                                        <p:cTn id="50" dur="500"/>
                                        <p:tgtEl>
                                          <p:spTgt spid="3">
                                            <p:txEl>
                                              <p:pRg st="10" end="10"/>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nodeType="clickEffect">
                                  <p:stCondLst>
                                    <p:cond delay="0"/>
                                  </p:stCondLst>
                                  <p:childTnLst>
                                    <p:set>
                                      <p:cBhvr>
                                        <p:cTn id="54" dur="1" fill="hold">
                                          <p:stCondLst>
                                            <p:cond delay="0"/>
                                          </p:stCondLst>
                                        </p:cTn>
                                        <p:tgtEl>
                                          <p:spTgt spid="3">
                                            <p:txEl>
                                              <p:pRg st="11" end="11"/>
                                            </p:txEl>
                                          </p:spTgt>
                                        </p:tgtEl>
                                        <p:attrNameLst>
                                          <p:attrName>style.visibility</p:attrName>
                                        </p:attrNameLst>
                                      </p:cBhvr>
                                      <p:to>
                                        <p:strVal val="visible"/>
                                      </p:to>
                                    </p:set>
                                    <p:animEffect transition="in" filter="blinds(horizontal)">
                                      <p:cBhvr>
                                        <p:cTn id="55" dur="500"/>
                                        <p:tgtEl>
                                          <p:spTgt spid="3">
                                            <p:txEl>
                                              <p:pRg st="11" end="11"/>
                                            </p:txEl>
                                          </p:spTgt>
                                        </p:tgtEl>
                                      </p:cBhvr>
                                    </p:animEffect>
                                  </p:childTnLst>
                                </p:cTn>
                              </p:par>
                              <p:par>
                                <p:cTn id="56" presetID="3" presetClass="entr" presetSubtype="10" fill="hold" nodeType="withEffect">
                                  <p:stCondLst>
                                    <p:cond delay="0"/>
                                  </p:stCondLst>
                                  <p:childTnLst>
                                    <p:set>
                                      <p:cBhvr>
                                        <p:cTn id="57" dur="1" fill="hold">
                                          <p:stCondLst>
                                            <p:cond delay="0"/>
                                          </p:stCondLst>
                                        </p:cTn>
                                        <p:tgtEl>
                                          <p:spTgt spid="3">
                                            <p:txEl>
                                              <p:pRg st="12" end="12"/>
                                            </p:txEl>
                                          </p:spTgt>
                                        </p:tgtEl>
                                        <p:attrNameLst>
                                          <p:attrName>style.visibility</p:attrName>
                                        </p:attrNameLst>
                                      </p:cBhvr>
                                      <p:to>
                                        <p:strVal val="visible"/>
                                      </p:to>
                                    </p:set>
                                    <p:animEffect transition="in" filter="blinds(horizontal)">
                                      <p:cBhvr>
                                        <p:cTn id="58" dur="500"/>
                                        <p:tgtEl>
                                          <p:spTgt spid="3">
                                            <p:txEl>
                                              <p:pRg st="12" end="12"/>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3" presetClass="entr" presetSubtype="10" fill="hold" nodeType="clickEffect">
                                  <p:stCondLst>
                                    <p:cond delay="0"/>
                                  </p:stCondLst>
                                  <p:childTnLst>
                                    <p:set>
                                      <p:cBhvr>
                                        <p:cTn id="62" dur="1" fill="hold">
                                          <p:stCondLst>
                                            <p:cond delay="0"/>
                                          </p:stCondLst>
                                        </p:cTn>
                                        <p:tgtEl>
                                          <p:spTgt spid="3">
                                            <p:txEl>
                                              <p:pRg st="13" end="13"/>
                                            </p:txEl>
                                          </p:spTgt>
                                        </p:tgtEl>
                                        <p:attrNameLst>
                                          <p:attrName>style.visibility</p:attrName>
                                        </p:attrNameLst>
                                      </p:cBhvr>
                                      <p:to>
                                        <p:strVal val="visible"/>
                                      </p:to>
                                    </p:set>
                                    <p:animEffect transition="in" filter="blinds(horizontal)">
                                      <p:cBhvr>
                                        <p:cTn id="63" dur="500"/>
                                        <p:tgtEl>
                                          <p:spTgt spid="3">
                                            <p:txEl>
                                              <p:pRg st="13" end="13"/>
                                            </p:txEl>
                                          </p:spTgt>
                                        </p:tgtEl>
                                      </p:cBhvr>
                                    </p:animEffect>
                                  </p:childTnLst>
                                </p:cTn>
                              </p:par>
                              <p:par>
                                <p:cTn id="64" presetID="3" presetClass="entr" presetSubtype="10" fill="hold" nodeType="withEffect">
                                  <p:stCondLst>
                                    <p:cond delay="0"/>
                                  </p:stCondLst>
                                  <p:childTnLst>
                                    <p:set>
                                      <p:cBhvr>
                                        <p:cTn id="65" dur="1" fill="hold">
                                          <p:stCondLst>
                                            <p:cond delay="0"/>
                                          </p:stCondLst>
                                        </p:cTn>
                                        <p:tgtEl>
                                          <p:spTgt spid="3">
                                            <p:txEl>
                                              <p:pRg st="14" end="14"/>
                                            </p:txEl>
                                          </p:spTgt>
                                        </p:tgtEl>
                                        <p:attrNameLst>
                                          <p:attrName>style.visibility</p:attrName>
                                        </p:attrNameLst>
                                      </p:cBhvr>
                                      <p:to>
                                        <p:strVal val="visible"/>
                                      </p:to>
                                    </p:set>
                                    <p:animEffect transition="in" filter="blinds(horizontal)">
                                      <p:cBhvr>
                                        <p:cTn id="66" dur="500"/>
                                        <p:tgtEl>
                                          <p:spTgt spid="3">
                                            <p:txEl>
                                              <p:pRg st="14" end="14"/>
                                            </p:txEl>
                                          </p:spTgt>
                                        </p:tgtEl>
                                      </p:cBhvr>
                                    </p:animEffect>
                                  </p:childTnLst>
                                </p:cTn>
                              </p:par>
                            </p:childTnLst>
                          </p:cTn>
                        </p:par>
                      </p:childTnLst>
                    </p:cTn>
                  </p:par>
                  <p:par>
                    <p:cTn id="67" fill="hold">
                      <p:stCondLst>
                        <p:cond delay="indefinite"/>
                      </p:stCondLst>
                      <p:childTnLst>
                        <p:par>
                          <p:cTn id="68" fill="hold">
                            <p:stCondLst>
                              <p:cond delay="0"/>
                            </p:stCondLst>
                            <p:childTnLst>
                              <p:par>
                                <p:cTn id="69" presetID="3" presetClass="entr" presetSubtype="10" fill="hold" nodeType="clickEffect">
                                  <p:stCondLst>
                                    <p:cond delay="0"/>
                                  </p:stCondLst>
                                  <p:childTnLst>
                                    <p:set>
                                      <p:cBhvr>
                                        <p:cTn id="70" dur="1" fill="hold">
                                          <p:stCondLst>
                                            <p:cond delay="0"/>
                                          </p:stCondLst>
                                        </p:cTn>
                                        <p:tgtEl>
                                          <p:spTgt spid="3">
                                            <p:txEl>
                                              <p:pRg st="15" end="15"/>
                                            </p:txEl>
                                          </p:spTgt>
                                        </p:tgtEl>
                                        <p:attrNameLst>
                                          <p:attrName>style.visibility</p:attrName>
                                        </p:attrNameLst>
                                      </p:cBhvr>
                                      <p:to>
                                        <p:strVal val="visible"/>
                                      </p:to>
                                    </p:set>
                                    <p:animEffect transition="in" filter="blinds(horizontal)">
                                      <p:cBhvr>
                                        <p:cTn id="71" dur="500"/>
                                        <p:tgtEl>
                                          <p:spTgt spid="3">
                                            <p:txEl>
                                              <p:pRg st="15" end="15"/>
                                            </p:txEl>
                                          </p:spTgt>
                                        </p:tgtEl>
                                      </p:cBhvr>
                                    </p:animEffect>
                                  </p:childTnLst>
                                </p:cTn>
                              </p:par>
                            </p:childTnLst>
                          </p:cTn>
                        </p:par>
                      </p:childTnLst>
                    </p:cTn>
                  </p:par>
                  <p:par>
                    <p:cTn id="72" fill="hold">
                      <p:stCondLst>
                        <p:cond delay="indefinite"/>
                      </p:stCondLst>
                      <p:childTnLst>
                        <p:par>
                          <p:cTn id="73" fill="hold">
                            <p:stCondLst>
                              <p:cond delay="0"/>
                            </p:stCondLst>
                            <p:childTnLst>
                              <p:par>
                                <p:cTn id="74" presetID="3" presetClass="entr" presetSubtype="10" fill="hold" nodeType="clickEffect">
                                  <p:stCondLst>
                                    <p:cond delay="0"/>
                                  </p:stCondLst>
                                  <p:childTnLst>
                                    <p:set>
                                      <p:cBhvr>
                                        <p:cTn id="75" dur="1" fill="hold">
                                          <p:stCondLst>
                                            <p:cond delay="0"/>
                                          </p:stCondLst>
                                        </p:cTn>
                                        <p:tgtEl>
                                          <p:spTgt spid="3">
                                            <p:txEl>
                                              <p:pRg st="16" end="16"/>
                                            </p:txEl>
                                          </p:spTgt>
                                        </p:tgtEl>
                                        <p:attrNameLst>
                                          <p:attrName>style.visibility</p:attrName>
                                        </p:attrNameLst>
                                      </p:cBhvr>
                                      <p:to>
                                        <p:strVal val="visible"/>
                                      </p:to>
                                    </p:set>
                                    <p:animEffect transition="in" filter="blinds(horizontal)">
                                      <p:cBhvr>
                                        <p:cTn id="76" dur="500"/>
                                        <p:tgtEl>
                                          <p:spTgt spid="3">
                                            <p:txEl>
                                              <p:pRg st="16" end="16"/>
                                            </p:txEl>
                                          </p:spTgt>
                                        </p:tgtEl>
                                      </p:cBhvr>
                                    </p:animEffect>
                                  </p:childTnLst>
                                </p:cTn>
                              </p:par>
                            </p:childTnLst>
                          </p:cTn>
                        </p:par>
                      </p:childTnLst>
                    </p:cTn>
                  </p:par>
                  <p:par>
                    <p:cTn id="77" fill="hold">
                      <p:stCondLst>
                        <p:cond delay="indefinite"/>
                      </p:stCondLst>
                      <p:childTnLst>
                        <p:par>
                          <p:cTn id="78" fill="hold">
                            <p:stCondLst>
                              <p:cond delay="0"/>
                            </p:stCondLst>
                            <p:childTnLst>
                              <p:par>
                                <p:cTn id="79" presetID="3" presetClass="entr" presetSubtype="10" fill="hold" nodeType="clickEffect">
                                  <p:stCondLst>
                                    <p:cond delay="0"/>
                                  </p:stCondLst>
                                  <p:childTnLst>
                                    <p:set>
                                      <p:cBhvr>
                                        <p:cTn id="80" dur="1" fill="hold">
                                          <p:stCondLst>
                                            <p:cond delay="0"/>
                                          </p:stCondLst>
                                        </p:cTn>
                                        <p:tgtEl>
                                          <p:spTgt spid="3">
                                            <p:txEl>
                                              <p:pRg st="17" end="17"/>
                                            </p:txEl>
                                          </p:spTgt>
                                        </p:tgtEl>
                                        <p:attrNameLst>
                                          <p:attrName>style.visibility</p:attrName>
                                        </p:attrNameLst>
                                      </p:cBhvr>
                                      <p:to>
                                        <p:strVal val="visible"/>
                                      </p:to>
                                    </p:set>
                                    <p:animEffect transition="in" filter="blinds(horizontal)">
                                      <p:cBhvr>
                                        <p:cTn id="81" dur="500"/>
                                        <p:tgtEl>
                                          <p:spTgt spid="3">
                                            <p:txEl>
                                              <p:pRg st="17" end="17"/>
                                            </p:txEl>
                                          </p:spTgt>
                                        </p:tgtEl>
                                      </p:cBhvr>
                                    </p:animEffect>
                                  </p:childTnLst>
                                </p:cTn>
                              </p:par>
                            </p:childTnLst>
                          </p:cTn>
                        </p:par>
                      </p:childTnLst>
                    </p:cTn>
                  </p:par>
                  <p:par>
                    <p:cTn id="82" fill="hold">
                      <p:stCondLst>
                        <p:cond delay="indefinite"/>
                      </p:stCondLst>
                      <p:childTnLst>
                        <p:par>
                          <p:cTn id="83" fill="hold">
                            <p:stCondLst>
                              <p:cond delay="0"/>
                            </p:stCondLst>
                            <p:childTnLst>
                              <p:par>
                                <p:cTn id="84" presetID="3" presetClass="entr" presetSubtype="10" fill="hold" nodeType="clickEffect">
                                  <p:stCondLst>
                                    <p:cond delay="0"/>
                                  </p:stCondLst>
                                  <p:childTnLst>
                                    <p:set>
                                      <p:cBhvr>
                                        <p:cTn id="85" dur="1" fill="hold">
                                          <p:stCondLst>
                                            <p:cond delay="0"/>
                                          </p:stCondLst>
                                        </p:cTn>
                                        <p:tgtEl>
                                          <p:spTgt spid="3">
                                            <p:txEl>
                                              <p:pRg st="18" end="18"/>
                                            </p:txEl>
                                          </p:spTgt>
                                        </p:tgtEl>
                                        <p:attrNameLst>
                                          <p:attrName>style.visibility</p:attrName>
                                        </p:attrNameLst>
                                      </p:cBhvr>
                                      <p:to>
                                        <p:strVal val="visible"/>
                                      </p:to>
                                    </p:set>
                                    <p:animEffect transition="in" filter="blinds(horizontal)">
                                      <p:cBhvr>
                                        <p:cTn id="86" dur="500"/>
                                        <p:tgtEl>
                                          <p:spTgt spid="3">
                                            <p:txEl>
                                              <p:pRg st="18" end="18"/>
                                            </p:txEl>
                                          </p:spTgt>
                                        </p:tgtEl>
                                      </p:cBhvr>
                                    </p:animEffect>
                                  </p:childTnLst>
                                </p:cTn>
                              </p:par>
                            </p:childTnLst>
                          </p:cTn>
                        </p:par>
                      </p:childTnLst>
                    </p:cTn>
                  </p:par>
                  <p:par>
                    <p:cTn id="87" fill="hold">
                      <p:stCondLst>
                        <p:cond delay="indefinite"/>
                      </p:stCondLst>
                      <p:childTnLst>
                        <p:par>
                          <p:cTn id="88" fill="hold">
                            <p:stCondLst>
                              <p:cond delay="0"/>
                            </p:stCondLst>
                            <p:childTnLst>
                              <p:par>
                                <p:cTn id="89" presetID="3" presetClass="entr" presetSubtype="10" fill="hold" grpId="0" nodeType="clickEffect">
                                  <p:stCondLst>
                                    <p:cond delay="0"/>
                                  </p:stCondLst>
                                  <p:childTnLst>
                                    <p:set>
                                      <p:cBhvr>
                                        <p:cTn id="90" dur="1" fill="hold">
                                          <p:stCondLst>
                                            <p:cond delay="0"/>
                                          </p:stCondLst>
                                        </p:cTn>
                                        <p:tgtEl>
                                          <p:spTgt spid="5"/>
                                        </p:tgtEl>
                                        <p:attrNameLst>
                                          <p:attrName>style.visibility</p:attrName>
                                        </p:attrNameLst>
                                      </p:cBhvr>
                                      <p:to>
                                        <p:strVal val="visible"/>
                                      </p:to>
                                    </p:set>
                                    <p:animEffect transition="in" filter="blinds(horizontal)">
                                      <p:cBhvr>
                                        <p:cTn id="91" dur="500"/>
                                        <p:tgtEl>
                                          <p:spTgt spid="5"/>
                                        </p:tgtEl>
                                      </p:cBhvr>
                                    </p:animEffect>
                                  </p:childTnLst>
                                </p:cTn>
                              </p:par>
                            </p:childTnLst>
                          </p:cTn>
                        </p:par>
                      </p:childTnLst>
                    </p:cTn>
                  </p:par>
                  <p:par>
                    <p:cTn id="92" fill="hold">
                      <p:stCondLst>
                        <p:cond delay="indefinite"/>
                      </p:stCondLst>
                      <p:childTnLst>
                        <p:par>
                          <p:cTn id="93" fill="hold">
                            <p:stCondLst>
                              <p:cond delay="0"/>
                            </p:stCondLst>
                            <p:childTnLst>
                              <p:par>
                                <p:cTn id="94" presetID="3" presetClass="entr" presetSubtype="10" fill="hold" grpId="0" nodeType="clickEffect">
                                  <p:stCondLst>
                                    <p:cond delay="0"/>
                                  </p:stCondLst>
                                  <p:childTnLst>
                                    <p:set>
                                      <p:cBhvr>
                                        <p:cTn id="95" dur="1" fill="hold">
                                          <p:stCondLst>
                                            <p:cond delay="0"/>
                                          </p:stCondLst>
                                        </p:cTn>
                                        <p:tgtEl>
                                          <p:spTgt spid="4"/>
                                        </p:tgtEl>
                                        <p:attrNameLst>
                                          <p:attrName>style.visibility</p:attrName>
                                        </p:attrNameLst>
                                      </p:cBhvr>
                                      <p:to>
                                        <p:strVal val="visible"/>
                                      </p:to>
                                    </p:set>
                                    <p:animEffect transition="in" filter="blinds(horizontal)">
                                      <p:cBhvr>
                                        <p:cTn id="9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buNone/>
            </a:pPr>
            <a:r>
              <a:rPr lang="en-US" sz="2400" b="1" dirty="0">
                <a:solidFill>
                  <a:srgbClr val="FF0000"/>
                </a:solidFill>
              </a:rPr>
              <a:t> 	for(</a:t>
            </a:r>
            <a:r>
              <a:rPr lang="en-US" sz="2400" b="1" dirty="0" err="1">
                <a:solidFill>
                  <a:srgbClr val="FF0000"/>
                </a:solidFill>
              </a:rPr>
              <a:t>i</a:t>
            </a:r>
            <a:r>
              <a:rPr lang="en-US" sz="2400" b="1" dirty="0">
                <a:solidFill>
                  <a:srgbClr val="FF0000"/>
                </a:solidFill>
              </a:rPr>
              <a:t>=0;i&lt;</a:t>
            </a:r>
            <a:r>
              <a:rPr lang="en-US" sz="2400" b="1" dirty="0" err="1">
                <a:solidFill>
                  <a:srgbClr val="FF0000"/>
                </a:solidFill>
              </a:rPr>
              <a:t>n;i</a:t>
            </a:r>
            <a:r>
              <a:rPr lang="en-US" sz="2400" b="1" dirty="0">
                <a:solidFill>
                  <a:srgbClr val="FF0000"/>
                </a:solidFill>
              </a:rPr>
              <a:t>++)</a:t>
            </a:r>
          </a:p>
          <a:p>
            <a:pPr>
              <a:buNone/>
            </a:pPr>
            <a:r>
              <a:rPr lang="en-US" sz="2400" b="1" dirty="0">
                <a:solidFill>
                  <a:srgbClr val="FF0000"/>
                </a:solidFill>
              </a:rPr>
              <a:t>    {</a:t>
            </a:r>
          </a:p>
          <a:p>
            <a:pPr>
              <a:buNone/>
            </a:pPr>
            <a:r>
              <a:rPr lang="en-US" sz="2400" b="1" dirty="0"/>
              <a:t>    </a:t>
            </a:r>
            <a:r>
              <a:rPr lang="en-US" sz="2400" b="1" dirty="0" err="1"/>
              <a:t>printf</a:t>
            </a:r>
            <a:r>
              <a:rPr lang="en-US" sz="2400" b="1" dirty="0"/>
              <a:t>("\</a:t>
            </a:r>
            <a:r>
              <a:rPr lang="en-US" sz="2400" b="1" dirty="0" err="1"/>
              <a:t>nDetails</a:t>
            </a:r>
            <a:r>
              <a:rPr lang="en-US" sz="2400" b="1" dirty="0"/>
              <a:t> of employee %d \n",i+1);</a:t>
            </a:r>
          </a:p>
          <a:p>
            <a:pPr>
              <a:buNone/>
            </a:pPr>
            <a:r>
              <a:rPr lang="en-US" sz="2400" b="1" dirty="0"/>
              <a:t>    </a:t>
            </a:r>
            <a:r>
              <a:rPr lang="en-US" sz="2400" b="1" dirty="0" err="1"/>
              <a:t>printf</a:t>
            </a:r>
            <a:r>
              <a:rPr lang="en-US" sz="2400" b="1" dirty="0"/>
              <a:t>("Entered name salary and </a:t>
            </a:r>
            <a:r>
              <a:rPr lang="en-US" sz="2400" b="1" dirty="0" err="1"/>
              <a:t>employee_number</a:t>
            </a:r>
            <a:r>
              <a:rPr lang="en-US" sz="2400" b="1" dirty="0"/>
              <a:t> is:-\n");</a:t>
            </a:r>
          </a:p>
          <a:p>
            <a:pPr>
              <a:buNone/>
            </a:pPr>
            <a:r>
              <a:rPr lang="en-US" sz="2400" b="1" dirty="0"/>
              <a:t>    </a:t>
            </a:r>
            <a:r>
              <a:rPr lang="en-US" sz="2400" b="1" dirty="0" err="1"/>
              <a:t>printf</a:t>
            </a:r>
            <a:r>
              <a:rPr lang="en-US" sz="2400" b="1" dirty="0"/>
              <a:t>("%s\</a:t>
            </a:r>
            <a:r>
              <a:rPr lang="en-US" sz="2400" b="1" dirty="0" err="1"/>
              <a:t>t%f</a:t>
            </a:r>
            <a:r>
              <a:rPr lang="en-US" sz="2400" b="1" dirty="0"/>
              <a:t>\</a:t>
            </a:r>
            <a:r>
              <a:rPr lang="en-US" sz="2400" b="1" dirty="0" err="1"/>
              <a:t>t%d",e</a:t>
            </a:r>
            <a:r>
              <a:rPr lang="en-US" sz="2400" b="1" dirty="0"/>
              <a:t>[</a:t>
            </a:r>
            <a:r>
              <a:rPr lang="en-US" sz="2400" b="1" dirty="0" err="1"/>
              <a:t>i</a:t>
            </a:r>
            <a:r>
              <a:rPr lang="en-US" sz="2400" b="1" dirty="0"/>
              <a:t>].name, e[</a:t>
            </a:r>
            <a:r>
              <a:rPr lang="en-US" sz="2400" b="1" dirty="0" err="1"/>
              <a:t>i</a:t>
            </a:r>
            <a:r>
              <a:rPr lang="en-US" sz="2400" b="1" dirty="0"/>
              <a:t>].</a:t>
            </a:r>
            <a:r>
              <a:rPr lang="en-US" sz="2400" b="1" dirty="0" err="1"/>
              <a:t>salary,e</a:t>
            </a:r>
            <a:r>
              <a:rPr lang="en-US" sz="2400" b="1" dirty="0"/>
              <a:t>[</a:t>
            </a:r>
            <a:r>
              <a:rPr lang="en-US" sz="2400" b="1" dirty="0" err="1"/>
              <a:t>i</a:t>
            </a:r>
            <a:r>
              <a:rPr lang="en-US" sz="2400" b="1" dirty="0"/>
              <a:t>].</a:t>
            </a:r>
            <a:r>
              <a:rPr lang="en-US" sz="2400" b="1" dirty="0" err="1"/>
              <a:t>empno</a:t>
            </a:r>
            <a:r>
              <a:rPr lang="en-US" sz="2400" b="1" dirty="0"/>
              <a:t>);</a:t>
            </a:r>
          </a:p>
          <a:p>
            <a:pPr>
              <a:buNone/>
            </a:pPr>
            <a:r>
              <a:rPr lang="en-US" sz="2400" b="1" dirty="0">
                <a:solidFill>
                  <a:srgbClr val="FF0000"/>
                </a:solidFill>
              </a:rPr>
              <a:t>    }</a:t>
            </a:r>
          </a:p>
          <a:p>
            <a:pPr>
              <a:buNone/>
            </a:pPr>
            <a:r>
              <a:rPr lang="en-US" sz="2400" b="1" dirty="0"/>
              <a:t>}</a:t>
            </a:r>
            <a:endParaRPr lang="en-US" sz="2400" dirty="0"/>
          </a:p>
        </p:txBody>
      </p:sp>
      <p:sp>
        <p:nvSpPr>
          <p:cNvPr id="4" name="Footer Placeholder 3">
            <a:extLst>
              <a:ext uri="{FF2B5EF4-FFF2-40B4-BE49-F238E27FC236}">
                <a16:creationId xmlns:a16="http://schemas.microsoft.com/office/drawing/2014/main" id="{A8209005-13D3-954C-2DCE-31357F8CCF89}"/>
              </a:ext>
            </a:extLst>
          </p:cNvPr>
          <p:cNvSpPr>
            <a:spLocks noGrp="1"/>
          </p:cNvSpPr>
          <p:nvPr>
            <p:ph type="ftr" sz="quarter" idx="11"/>
          </p:nvPr>
        </p:nvSpPr>
        <p:spPr/>
        <p:txBody>
          <a:bodyPr/>
          <a:lstStyle/>
          <a:p>
            <a:r>
              <a:rPr lang="en-US"/>
              <a:t>Mrs Saranya Babu, Asst. Professor, GAT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563562"/>
          </a:xfrm>
        </p:spPr>
        <p:txBody>
          <a:bodyPr>
            <a:normAutofit fontScale="90000"/>
          </a:bodyPr>
          <a:lstStyle/>
          <a:p>
            <a:r>
              <a:rPr lang="en-US" dirty="0"/>
              <a:t>Output </a:t>
            </a:r>
          </a:p>
        </p:txBody>
      </p:sp>
      <p:sp>
        <p:nvSpPr>
          <p:cNvPr id="3" name="Content Placeholder 2"/>
          <p:cNvSpPr>
            <a:spLocks noGrp="1"/>
          </p:cNvSpPr>
          <p:nvPr>
            <p:ph idx="1"/>
          </p:nvPr>
        </p:nvSpPr>
        <p:spPr>
          <a:xfrm>
            <a:off x="1981200" y="990601"/>
            <a:ext cx="8229600" cy="5135563"/>
          </a:xfrm>
        </p:spPr>
        <p:txBody>
          <a:bodyPr>
            <a:normAutofit fontScale="47500" lnSpcReduction="20000"/>
          </a:bodyPr>
          <a:lstStyle/>
          <a:p>
            <a:pPr>
              <a:buNone/>
            </a:pPr>
            <a:r>
              <a:rPr lang="en-US" b="1" dirty="0"/>
              <a:t>Enter </a:t>
            </a:r>
            <a:r>
              <a:rPr lang="en-US" b="1" dirty="0" err="1"/>
              <a:t>no.of</a:t>
            </a:r>
            <a:r>
              <a:rPr lang="en-US" b="1" dirty="0"/>
              <a:t> employees</a:t>
            </a:r>
          </a:p>
          <a:p>
            <a:pPr>
              <a:buNone/>
            </a:pPr>
            <a:r>
              <a:rPr lang="en-US" b="1" dirty="0">
                <a:solidFill>
                  <a:srgbClr val="FF0000"/>
                </a:solidFill>
              </a:rPr>
              <a:t>2</a:t>
            </a:r>
          </a:p>
          <a:p>
            <a:pPr>
              <a:buNone/>
            </a:pPr>
            <a:r>
              <a:rPr lang="en-US" b="1" dirty="0"/>
              <a:t>Enter details of employee 1</a:t>
            </a:r>
          </a:p>
          <a:p>
            <a:pPr>
              <a:buNone/>
            </a:pPr>
            <a:r>
              <a:rPr lang="en-US" b="1" dirty="0"/>
              <a:t>Enter name, salary and </a:t>
            </a:r>
            <a:r>
              <a:rPr lang="en-US" b="1" dirty="0" err="1"/>
              <a:t>employee_number</a:t>
            </a:r>
            <a:endParaRPr lang="en-US" b="1" dirty="0"/>
          </a:p>
          <a:p>
            <a:pPr>
              <a:buNone/>
            </a:pPr>
            <a:r>
              <a:rPr lang="en-US" b="1" dirty="0">
                <a:solidFill>
                  <a:srgbClr val="FF0000"/>
                </a:solidFill>
              </a:rPr>
              <a:t>Raj</a:t>
            </a:r>
          </a:p>
          <a:p>
            <a:pPr>
              <a:buNone/>
            </a:pPr>
            <a:r>
              <a:rPr lang="en-US" b="1" dirty="0">
                <a:solidFill>
                  <a:srgbClr val="FF0000"/>
                </a:solidFill>
              </a:rPr>
              <a:t>12000</a:t>
            </a:r>
          </a:p>
          <a:p>
            <a:pPr>
              <a:buNone/>
            </a:pPr>
            <a:r>
              <a:rPr lang="en-US" b="1" dirty="0">
                <a:solidFill>
                  <a:srgbClr val="FF0000"/>
                </a:solidFill>
              </a:rPr>
              <a:t>15</a:t>
            </a:r>
          </a:p>
          <a:p>
            <a:pPr>
              <a:buNone/>
            </a:pPr>
            <a:r>
              <a:rPr lang="en-US" b="1" dirty="0"/>
              <a:t>Enter details of employee 2</a:t>
            </a:r>
          </a:p>
          <a:p>
            <a:pPr>
              <a:buNone/>
            </a:pPr>
            <a:r>
              <a:rPr lang="en-US" b="1" dirty="0"/>
              <a:t>Enter name, salary and </a:t>
            </a:r>
            <a:r>
              <a:rPr lang="en-US" b="1" dirty="0" err="1"/>
              <a:t>employee_number</a:t>
            </a:r>
            <a:endParaRPr lang="en-US" b="1" dirty="0"/>
          </a:p>
          <a:p>
            <a:pPr>
              <a:buNone/>
            </a:pPr>
            <a:r>
              <a:rPr lang="en-US" b="1" dirty="0" err="1">
                <a:solidFill>
                  <a:srgbClr val="FF0000"/>
                </a:solidFill>
              </a:rPr>
              <a:t>Thejas</a:t>
            </a:r>
            <a:r>
              <a:rPr lang="en-US" b="1" dirty="0">
                <a:solidFill>
                  <a:srgbClr val="FF0000"/>
                </a:solidFill>
              </a:rPr>
              <a:t> </a:t>
            </a:r>
          </a:p>
          <a:p>
            <a:pPr>
              <a:buNone/>
            </a:pPr>
            <a:r>
              <a:rPr lang="en-US" b="1" dirty="0">
                <a:solidFill>
                  <a:srgbClr val="FF0000"/>
                </a:solidFill>
              </a:rPr>
              <a:t>10000</a:t>
            </a:r>
          </a:p>
          <a:p>
            <a:pPr>
              <a:buNone/>
            </a:pPr>
            <a:r>
              <a:rPr lang="en-US" b="1" dirty="0">
                <a:solidFill>
                  <a:srgbClr val="FF0000"/>
                </a:solidFill>
              </a:rPr>
              <a:t>18</a:t>
            </a:r>
          </a:p>
          <a:p>
            <a:pPr>
              <a:buNone/>
            </a:pPr>
            <a:endParaRPr lang="en-US" b="1" dirty="0">
              <a:solidFill>
                <a:srgbClr val="FF0000"/>
              </a:solidFill>
            </a:endParaRPr>
          </a:p>
          <a:p>
            <a:pPr>
              <a:buNone/>
            </a:pPr>
            <a:r>
              <a:rPr lang="en-US" b="1" dirty="0"/>
              <a:t>Details of employee 1</a:t>
            </a:r>
          </a:p>
          <a:p>
            <a:pPr>
              <a:buNone/>
            </a:pPr>
            <a:r>
              <a:rPr lang="en-US" b="1" dirty="0"/>
              <a:t>Entered name salary and </a:t>
            </a:r>
            <a:r>
              <a:rPr lang="en-US" b="1" dirty="0" err="1"/>
              <a:t>employee_number</a:t>
            </a:r>
            <a:r>
              <a:rPr lang="en-US" b="1" dirty="0"/>
              <a:t> is:-</a:t>
            </a:r>
          </a:p>
          <a:p>
            <a:pPr>
              <a:buNone/>
            </a:pPr>
            <a:r>
              <a:rPr lang="en-US" b="1" dirty="0"/>
              <a:t>Raj   	12000	15</a:t>
            </a:r>
          </a:p>
          <a:p>
            <a:pPr>
              <a:buNone/>
            </a:pPr>
            <a:r>
              <a:rPr lang="en-US" b="1" dirty="0"/>
              <a:t>Details of employee 2</a:t>
            </a:r>
          </a:p>
          <a:p>
            <a:pPr>
              <a:buNone/>
            </a:pPr>
            <a:r>
              <a:rPr lang="en-US" b="1" dirty="0"/>
              <a:t>Entered name salary and </a:t>
            </a:r>
            <a:r>
              <a:rPr lang="en-US" b="1" dirty="0" err="1"/>
              <a:t>employee_number</a:t>
            </a:r>
            <a:r>
              <a:rPr lang="en-US" b="1" dirty="0"/>
              <a:t> is:-</a:t>
            </a:r>
          </a:p>
          <a:p>
            <a:pPr>
              <a:buNone/>
            </a:pPr>
            <a:r>
              <a:rPr lang="en-US" b="1" dirty="0" err="1"/>
              <a:t>Thejas</a:t>
            </a:r>
            <a:r>
              <a:rPr lang="en-US" b="1" dirty="0"/>
              <a:t>   	10000	18</a:t>
            </a:r>
          </a:p>
          <a:p>
            <a:pPr>
              <a:buNone/>
            </a:pPr>
            <a:endParaRPr lang="en-US" b="1" dirty="0">
              <a:solidFill>
                <a:srgbClr val="FF0000"/>
              </a:solidFill>
            </a:endParaRPr>
          </a:p>
          <a:p>
            <a:pPr>
              <a:buNone/>
            </a:pPr>
            <a:endParaRPr lang="en-US" dirty="0"/>
          </a:p>
        </p:txBody>
      </p:sp>
      <p:sp>
        <p:nvSpPr>
          <p:cNvPr id="4" name="Footer Placeholder 3">
            <a:extLst>
              <a:ext uri="{FF2B5EF4-FFF2-40B4-BE49-F238E27FC236}">
                <a16:creationId xmlns:a16="http://schemas.microsoft.com/office/drawing/2014/main" id="{8F0501FB-284E-9035-72EF-729A23E01F1D}"/>
              </a:ext>
            </a:extLst>
          </p:cNvPr>
          <p:cNvSpPr>
            <a:spLocks noGrp="1"/>
          </p:cNvSpPr>
          <p:nvPr>
            <p:ph type="ftr" sz="quarter" idx="11"/>
          </p:nvPr>
        </p:nvSpPr>
        <p:spPr/>
        <p:txBody>
          <a:bodyPr/>
          <a:lstStyle/>
          <a:p>
            <a:r>
              <a:rPr lang="en-US"/>
              <a:t>Mrs Saranya Babu, Asst. Professor, GAT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blinds(horizontal)">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blinds(horizontal)">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blinds(horizontal)">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blinds(horizontal)">
                                      <p:cBhvr>
                                        <p:cTn id="57" dur="5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blinds(horizontal)">
                                      <p:cBhvr>
                                        <p:cTn id="62" dur="500"/>
                                        <p:tgtEl>
                                          <p:spTgt spid="3">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3">
                                            <p:txEl>
                                              <p:pRg st="13" end="13"/>
                                            </p:txEl>
                                          </p:spTgt>
                                        </p:tgtEl>
                                        <p:attrNameLst>
                                          <p:attrName>style.visibility</p:attrName>
                                        </p:attrNameLst>
                                      </p:cBhvr>
                                      <p:to>
                                        <p:strVal val="visible"/>
                                      </p:to>
                                    </p:set>
                                    <p:animEffect transition="in" filter="blinds(horizontal)">
                                      <p:cBhvr>
                                        <p:cTn id="67" dur="500"/>
                                        <p:tgtEl>
                                          <p:spTgt spid="3">
                                            <p:txEl>
                                              <p:pRg st="13" end="13"/>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3">
                                            <p:txEl>
                                              <p:pRg st="14" end="14"/>
                                            </p:txEl>
                                          </p:spTgt>
                                        </p:tgtEl>
                                        <p:attrNameLst>
                                          <p:attrName>style.visibility</p:attrName>
                                        </p:attrNameLst>
                                      </p:cBhvr>
                                      <p:to>
                                        <p:strVal val="visible"/>
                                      </p:to>
                                    </p:set>
                                    <p:animEffect transition="in" filter="blinds(horizontal)">
                                      <p:cBhvr>
                                        <p:cTn id="72" dur="500"/>
                                        <p:tgtEl>
                                          <p:spTgt spid="3">
                                            <p:txEl>
                                              <p:pRg st="14" end="14"/>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grpId="0" nodeType="clickEffect">
                                  <p:stCondLst>
                                    <p:cond delay="0"/>
                                  </p:stCondLst>
                                  <p:childTnLst>
                                    <p:set>
                                      <p:cBhvr>
                                        <p:cTn id="76" dur="1" fill="hold">
                                          <p:stCondLst>
                                            <p:cond delay="0"/>
                                          </p:stCondLst>
                                        </p:cTn>
                                        <p:tgtEl>
                                          <p:spTgt spid="3">
                                            <p:txEl>
                                              <p:pRg st="15" end="15"/>
                                            </p:txEl>
                                          </p:spTgt>
                                        </p:tgtEl>
                                        <p:attrNameLst>
                                          <p:attrName>style.visibility</p:attrName>
                                        </p:attrNameLst>
                                      </p:cBhvr>
                                      <p:to>
                                        <p:strVal val="visible"/>
                                      </p:to>
                                    </p:set>
                                    <p:animEffect transition="in" filter="blinds(horizontal)">
                                      <p:cBhvr>
                                        <p:cTn id="77" dur="500"/>
                                        <p:tgtEl>
                                          <p:spTgt spid="3">
                                            <p:txEl>
                                              <p:pRg st="15" end="15"/>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3" presetClass="entr" presetSubtype="10" fill="hold" grpId="0" nodeType="clickEffect">
                                  <p:stCondLst>
                                    <p:cond delay="0"/>
                                  </p:stCondLst>
                                  <p:childTnLst>
                                    <p:set>
                                      <p:cBhvr>
                                        <p:cTn id="81" dur="1" fill="hold">
                                          <p:stCondLst>
                                            <p:cond delay="0"/>
                                          </p:stCondLst>
                                        </p:cTn>
                                        <p:tgtEl>
                                          <p:spTgt spid="3">
                                            <p:txEl>
                                              <p:pRg st="16" end="16"/>
                                            </p:txEl>
                                          </p:spTgt>
                                        </p:tgtEl>
                                        <p:attrNameLst>
                                          <p:attrName>style.visibility</p:attrName>
                                        </p:attrNameLst>
                                      </p:cBhvr>
                                      <p:to>
                                        <p:strVal val="visible"/>
                                      </p:to>
                                    </p:set>
                                    <p:animEffect transition="in" filter="blinds(horizontal)">
                                      <p:cBhvr>
                                        <p:cTn id="82" dur="500"/>
                                        <p:tgtEl>
                                          <p:spTgt spid="3">
                                            <p:txEl>
                                              <p:pRg st="16" end="16"/>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3" presetClass="entr" presetSubtype="10" fill="hold" grpId="0" nodeType="clickEffect">
                                  <p:stCondLst>
                                    <p:cond delay="0"/>
                                  </p:stCondLst>
                                  <p:childTnLst>
                                    <p:set>
                                      <p:cBhvr>
                                        <p:cTn id="86" dur="1" fill="hold">
                                          <p:stCondLst>
                                            <p:cond delay="0"/>
                                          </p:stCondLst>
                                        </p:cTn>
                                        <p:tgtEl>
                                          <p:spTgt spid="3">
                                            <p:txEl>
                                              <p:pRg st="17" end="17"/>
                                            </p:txEl>
                                          </p:spTgt>
                                        </p:tgtEl>
                                        <p:attrNameLst>
                                          <p:attrName>style.visibility</p:attrName>
                                        </p:attrNameLst>
                                      </p:cBhvr>
                                      <p:to>
                                        <p:strVal val="visible"/>
                                      </p:to>
                                    </p:set>
                                    <p:animEffect transition="in" filter="blinds(horizontal)">
                                      <p:cBhvr>
                                        <p:cTn id="87" dur="500"/>
                                        <p:tgtEl>
                                          <p:spTgt spid="3">
                                            <p:txEl>
                                              <p:pRg st="17" end="17"/>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3" presetClass="entr" presetSubtype="10" fill="hold" grpId="0" nodeType="clickEffect">
                                  <p:stCondLst>
                                    <p:cond delay="0"/>
                                  </p:stCondLst>
                                  <p:childTnLst>
                                    <p:set>
                                      <p:cBhvr>
                                        <p:cTn id="91" dur="1" fill="hold">
                                          <p:stCondLst>
                                            <p:cond delay="0"/>
                                          </p:stCondLst>
                                        </p:cTn>
                                        <p:tgtEl>
                                          <p:spTgt spid="3">
                                            <p:txEl>
                                              <p:pRg st="18" end="18"/>
                                            </p:txEl>
                                          </p:spTgt>
                                        </p:tgtEl>
                                        <p:attrNameLst>
                                          <p:attrName>style.visibility</p:attrName>
                                        </p:attrNameLst>
                                      </p:cBhvr>
                                      <p:to>
                                        <p:strVal val="visible"/>
                                      </p:to>
                                    </p:set>
                                    <p:animEffect transition="in" filter="blinds(horizontal)">
                                      <p:cBhvr>
                                        <p:cTn id="92" dur="500"/>
                                        <p:tgtEl>
                                          <p:spTgt spid="3">
                                            <p:txEl>
                                              <p:pRg st="18" end="1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F7A6CD-2A2A-D802-E84B-62EAC33FB11A}"/>
              </a:ext>
            </a:extLst>
          </p:cNvPr>
          <p:cNvSpPr>
            <a:spLocks noGrp="1"/>
          </p:cNvSpPr>
          <p:nvPr>
            <p:ph type="title"/>
          </p:nvPr>
        </p:nvSpPr>
        <p:spPr/>
        <p:txBody>
          <a:bodyPr/>
          <a:lstStyle/>
          <a:p>
            <a:r>
              <a:rPr lang="en-US" dirty="0"/>
              <a:t>Rules for Initializing Structures</a:t>
            </a:r>
          </a:p>
        </p:txBody>
      </p:sp>
      <p:sp>
        <p:nvSpPr>
          <p:cNvPr id="3" name="Content Placeholder 2">
            <a:extLst>
              <a:ext uri="{FF2B5EF4-FFF2-40B4-BE49-F238E27FC236}">
                <a16:creationId xmlns:a16="http://schemas.microsoft.com/office/drawing/2014/main" id="{0D53D103-7B8B-891E-7CCF-672E42A7F309}"/>
              </a:ext>
            </a:extLst>
          </p:cNvPr>
          <p:cNvSpPr>
            <a:spLocks noGrp="1"/>
          </p:cNvSpPr>
          <p:nvPr>
            <p:ph idx="1"/>
          </p:nvPr>
        </p:nvSpPr>
        <p:spPr/>
        <p:txBody>
          <a:bodyPr>
            <a:normAutofit/>
          </a:bodyPr>
          <a:lstStyle/>
          <a:p>
            <a:pPr algn="just"/>
            <a:r>
              <a:rPr lang="en-US" dirty="0"/>
              <a:t>We cannot initialize individual members inside the structure template.</a:t>
            </a:r>
          </a:p>
          <a:p>
            <a:pPr algn="just"/>
            <a:r>
              <a:rPr lang="en-US" dirty="0"/>
              <a:t> The order of values enclosed in braces must match the order of members in the structure definition.</a:t>
            </a:r>
          </a:p>
          <a:p>
            <a:pPr algn="just"/>
            <a:r>
              <a:rPr lang="en-US" dirty="0"/>
              <a:t>It is permitted to have a partial initialization. We can initialize only the first few members and leave the remaining blank. The uninitialized members should be only at the end of the list.</a:t>
            </a:r>
          </a:p>
          <a:p>
            <a:pPr algn="just"/>
            <a:r>
              <a:rPr lang="en-US" dirty="0"/>
              <a:t> The uninitialized members will be assigned default values as follows:</a:t>
            </a:r>
          </a:p>
          <a:p>
            <a:pPr lvl="1" algn="just"/>
            <a:r>
              <a:rPr lang="en-US" dirty="0"/>
              <a:t> Zero for integer and floating point numbers.</a:t>
            </a:r>
          </a:p>
          <a:p>
            <a:pPr lvl="1" algn="just"/>
            <a:r>
              <a:rPr lang="en-US" dirty="0"/>
              <a:t>‘\0’ for characters and strings.</a:t>
            </a:r>
          </a:p>
        </p:txBody>
      </p:sp>
      <p:sp>
        <p:nvSpPr>
          <p:cNvPr id="4" name="Footer Placeholder 3">
            <a:extLst>
              <a:ext uri="{FF2B5EF4-FFF2-40B4-BE49-F238E27FC236}">
                <a16:creationId xmlns:a16="http://schemas.microsoft.com/office/drawing/2014/main" id="{88B54450-DF69-8F48-2052-5B5B6F6FEC0D}"/>
              </a:ext>
            </a:extLst>
          </p:cNvPr>
          <p:cNvSpPr>
            <a:spLocks noGrp="1"/>
          </p:cNvSpPr>
          <p:nvPr>
            <p:ph type="ftr" sz="quarter" idx="11"/>
          </p:nvPr>
        </p:nvSpPr>
        <p:spPr/>
        <p:txBody>
          <a:bodyPr/>
          <a:lstStyle/>
          <a:p>
            <a:r>
              <a:rPr lang="en-US"/>
              <a:t>Mrs Saranya Babu, Asst. Professor, GAT</a:t>
            </a:r>
          </a:p>
        </p:txBody>
      </p:sp>
    </p:spTree>
    <p:extLst>
      <p:ext uri="{BB962C8B-B14F-4D97-AF65-F5344CB8AC3E}">
        <p14:creationId xmlns:p14="http://schemas.microsoft.com/office/powerpoint/2010/main" val="26659287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C9D6E-651D-E1BC-B15E-62C3BAFD60D4}"/>
              </a:ext>
            </a:extLst>
          </p:cNvPr>
          <p:cNvSpPr>
            <a:spLocks noGrp="1"/>
          </p:cNvSpPr>
          <p:nvPr>
            <p:ph type="title"/>
          </p:nvPr>
        </p:nvSpPr>
        <p:spPr/>
        <p:txBody>
          <a:bodyPr>
            <a:noAutofit/>
          </a:bodyPr>
          <a:lstStyle/>
          <a:p>
            <a:pPr algn="just"/>
            <a:r>
              <a:rPr lang="en-US" sz="2000" dirty="0"/>
              <a:t>Write a C program to maintain a record of n students details using an array of structures with four fields-Roll number, name, marks and grade. Calculate the grade according to the following conditions. Marks grade &gt;=80 A ,&gt;=60 B,&gt;=50 C,&gt;=40 D.</a:t>
            </a:r>
          </a:p>
        </p:txBody>
      </p:sp>
      <p:sp>
        <p:nvSpPr>
          <p:cNvPr id="3" name="Content Placeholder 2">
            <a:extLst>
              <a:ext uri="{FF2B5EF4-FFF2-40B4-BE49-F238E27FC236}">
                <a16:creationId xmlns:a16="http://schemas.microsoft.com/office/drawing/2014/main" id="{3E0BCFA4-1AE4-AE53-B4B2-3FDE96D18925}"/>
              </a:ext>
            </a:extLst>
          </p:cNvPr>
          <p:cNvSpPr>
            <a:spLocks noGrp="1"/>
          </p:cNvSpPr>
          <p:nvPr>
            <p:ph idx="1"/>
          </p:nvPr>
        </p:nvSpPr>
        <p:spPr/>
        <p:txBody>
          <a:bodyPr/>
          <a:lstStyle/>
          <a:p>
            <a:endParaRPr lang="en-US" dirty="0"/>
          </a:p>
        </p:txBody>
      </p:sp>
      <p:pic>
        <p:nvPicPr>
          <p:cNvPr id="5" name="Picture 4">
            <a:extLst>
              <a:ext uri="{FF2B5EF4-FFF2-40B4-BE49-F238E27FC236}">
                <a16:creationId xmlns:a16="http://schemas.microsoft.com/office/drawing/2014/main" id="{80F2EB51-35D6-8C8D-A619-82C0491087D9}"/>
              </a:ext>
            </a:extLst>
          </p:cNvPr>
          <p:cNvPicPr>
            <a:picLocks noChangeAspect="1"/>
          </p:cNvPicPr>
          <p:nvPr/>
        </p:nvPicPr>
        <p:blipFill>
          <a:blip r:embed="rId2"/>
          <a:stretch>
            <a:fillRect/>
          </a:stretch>
        </p:blipFill>
        <p:spPr>
          <a:xfrm>
            <a:off x="838201" y="1825625"/>
            <a:ext cx="4674704" cy="4071592"/>
          </a:xfrm>
          <a:prstGeom prst="rect">
            <a:avLst/>
          </a:prstGeom>
        </p:spPr>
      </p:pic>
      <p:sp>
        <p:nvSpPr>
          <p:cNvPr id="4" name="Footer Placeholder 3">
            <a:extLst>
              <a:ext uri="{FF2B5EF4-FFF2-40B4-BE49-F238E27FC236}">
                <a16:creationId xmlns:a16="http://schemas.microsoft.com/office/drawing/2014/main" id="{EFD10AFC-0179-2358-D373-74F8D05D4100}"/>
              </a:ext>
            </a:extLst>
          </p:cNvPr>
          <p:cNvSpPr>
            <a:spLocks noGrp="1"/>
          </p:cNvSpPr>
          <p:nvPr>
            <p:ph type="ftr" sz="quarter" idx="11"/>
          </p:nvPr>
        </p:nvSpPr>
        <p:spPr/>
        <p:txBody>
          <a:bodyPr/>
          <a:lstStyle/>
          <a:p>
            <a:r>
              <a:rPr lang="en-US"/>
              <a:t>Mrs Saranya Babu, Asst. Professor, GAT</a:t>
            </a:r>
          </a:p>
        </p:txBody>
      </p:sp>
    </p:spTree>
    <p:extLst>
      <p:ext uri="{BB962C8B-B14F-4D97-AF65-F5344CB8AC3E}">
        <p14:creationId xmlns:p14="http://schemas.microsoft.com/office/powerpoint/2010/main" val="21261221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E675532-33E0-4B22-889A-D213E6FAB34D}"/>
              </a:ext>
            </a:extLst>
          </p:cNvPr>
          <p:cNvPicPr>
            <a:picLocks noGrp="1" noChangeAspect="1"/>
          </p:cNvPicPr>
          <p:nvPr>
            <p:ph idx="1"/>
          </p:nvPr>
        </p:nvPicPr>
        <p:blipFill>
          <a:blip r:embed="rId2"/>
          <a:stretch>
            <a:fillRect/>
          </a:stretch>
        </p:blipFill>
        <p:spPr>
          <a:xfrm>
            <a:off x="3581400" y="228600"/>
            <a:ext cx="6400800" cy="6248400"/>
          </a:xfrm>
          <a:prstGeom prst="rect">
            <a:avLst/>
          </a:prstGeom>
        </p:spPr>
      </p:pic>
      <p:sp>
        <p:nvSpPr>
          <p:cNvPr id="2" name="Footer Placeholder 1">
            <a:extLst>
              <a:ext uri="{FF2B5EF4-FFF2-40B4-BE49-F238E27FC236}">
                <a16:creationId xmlns:a16="http://schemas.microsoft.com/office/drawing/2014/main" id="{AF7C6036-0249-7E50-D707-B5CD780A08FB}"/>
              </a:ext>
            </a:extLst>
          </p:cNvPr>
          <p:cNvSpPr>
            <a:spLocks noGrp="1"/>
          </p:cNvSpPr>
          <p:nvPr>
            <p:ph type="ftr" sz="quarter" idx="11"/>
          </p:nvPr>
        </p:nvSpPr>
        <p:spPr/>
        <p:txBody>
          <a:bodyPr/>
          <a:lstStyle/>
          <a:p>
            <a:r>
              <a:rPr lang="en-US"/>
              <a:t>Mrs Saranya Babu, Asst. Professor, GAT</a:t>
            </a:r>
          </a:p>
        </p:txBody>
      </p:sp>
    </p:spTree>
    <p:extLst>
      <p:ext uri="{BB962C8B-B14F-4D97-AF65-F5344CB8AC3E}">
        <p14:creationId xmlns:p14="http://schemas.microsoft.com/office/powerpoint/2010/main" val="484882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C7016DB-C7F0-6381-6E05-F3C05875689F}"/>
              </a:ext>
            </a:extLst>
          </p:cNvPr>
          <p:cNvPicPr>
            <a:picLocks noChangeAspect="1"/>
          </p:cNvPicPr>
          <p:nvPr/>
        </p:nvPicPr>
        <p:blipFill>
          <a:blip r:embed="rId2"/>
          <a:stretch>
            <a:fillRect/>
          </a:stretch>
        </p:blipFill>
        <p:spPr>
          <a:xfrm>
            <a:off x="1981201" y="457201"/>
            <a:ext cx="5105399" cy="3405981"/>
          </a:xfrm>
          <a:prstGeom prst="rect">
            <a:avLst/>
          </a:prstGeom>
        </p:spPr>
      </p:pic>
      <p:pic>
        <p:nvPicPr>
          <p:cNvPr id="7" name="Picture 6">
            <a:extLst>
              <a:ext uri="{FF2B5EF4-FFF2-40B4-BE49-F238E27FC236}">
                <a16:creationId xmlns:a16="http://schemas.microsoft.com/office/drawing/2014/main" id="{C5ABE5AD-C3B1-C4B7-86F5-986099E0D4DD}"/>
              </a:ext>
            </a:extLst>
          </p:cNvPr>
          <p:cNvPicPr>
            <a:picLocks noChangeAspect="1"/>
          </p:cNvPicPr>
          <p:nvPr/>
        </p:nvPicPr>
        <p:blipFill>
          <a:blip r:embed="rId3"/>
          <a:stretch>
            <a:fillRect/>
          </a:stretch>
        </p:blipFill>
        <p:spPr>
          <a:xfrm>
            <a:off x="1560342" y="3863182"/>
            <a:ext cx="3962400" cy="2651319"/>
          </a:xfrm>
          <a:prstGeom prst="rect">
            <a:avLst/>
          </a:prstGeom>
        </p:spPr>
      </p:pic>
      <p:sp>
        <p:nvSpPr>
          <p:cNvPr id="2" name="Footer Placeholder 1">
            <a:extLst>
              <a:ext uri="{FF2B5EF4-FFF2-40B4-BE49-F238E27FC236}">
                <a16:creationId xmlns:a16="http://schemas.microsoft.com/office/drawing/2014/main" id="{E9349837-83B2-698F-3A67-92BC55517B20}"/>
              </a:ext>
            </a:extLst>
          </p:cNvPr>
          <p:cNvSpPr>
            <a:spLocks noGrp="1"/>
          </p:cNvSpPr>
          <p:nvPr>
            <p:ph type="ftr" sz="quarter" idx="11"/>
          </p:nvPr>
        </p:nvSpPr>
        <p:spPr/>
        <p:txBody>
          <a:bodyPr/>
          <a:lstStyle/>
          <a:p>
            <a:r>
              <a:rPr lang="en-US"/>
              <a:t>Mrs Saranya Babu, Asst. Professor, GAT</a:t>
            </a:r>
          </a:p>
        </p:txBody>
      </p:sp>
    </p:spTree>
    <p:extLst>
      <p:ext uri="{BB962C8B-B14F-4D97-AF65-F5344CB8AC3E}">
        <p14:creationId xmlns:p14="http://schemas.microsoft.com/office/powerpoint/2010/main" val="1683376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2730" y="260074"/>
            <a:ext cx="11257722" cy="699052"/>
          </a:xfrm>
        </p:spPr>
        <p:txBody>
          <a:bodyPr>
            <a:noAutofit/>
          </a:bodyPr>
          <a:lstStyle/>
          <a:p>
            <a:r>
              <a:rPr lang="en-US" sz="2400" b="1" dirty="0"/>
              <a:t>Write a program to read employee number, name, salary and print the details if salary is greater then Rs.5000.</a:t>
            </a:r>
            <a:br>
              <a:rPr lang="en-US" sz="2400" dirty="0"/>
            </a:br>
            <a:endParaRPr lang="en-US" sz="2400" dirty="0"/>
          </a:p>
        </p:txBody>
      </p:sp>
      <p:sp>
        <p:nvSpPr>
          <p:cNvPr id="3" name="Content Placeholder 2"/>
          <p:cNvSpPr>
            <a:spLocks noGrp="1"/>
          </p:cNvSpPr>
          <p:nvPr>
            <p:ph idx="1"/>
          </p:nvPr>
        </p:nvSpPr>
        <p:spPr>
          <a:xfrm>
            <a:off x="1981200" y="781878"/>
            <a:ext cx="8229600" cy="5466522"/>
          </a:xfrm>
        </p:spPr>
        <p:txBody>
          <a:bodyPr>
            <a:noAutofit/>
          </a:bodyPr>
          <a:lstStyle/>
          <a:p>
            <a:pPr>
              <a:buNone/>
            </a:pPr>
            <a:r>
              <a:rPr lang="en-US" sz="1800" b="1" dirty="0">
                <a:latin typeface="Times New Roman" pitchFamily="18" charset="0"/>
                <a:cs typeface="Times New Roman" pitchFamily="18" charset="0"/>
              </a:rPr>
              <a:t>#include&lt;</a:t>
            </a:r>
            <a:r>
              <a:rPr lang="en-US" sz="1800" b="1" dirty="0" err="1">
                <a:latin typeface="Times New Roman" pitchFamily="18" charset="0"/>
                <a:cs typeface="Times New Roman" pitchFamily="18" charset="0"/>
              </a:rPr>
              <a:t>stdio.h</a:t>
            </a:r>
            <a:r>
              <a:rPr lang="en-US" sz="1800" b="1" dirty="0">
                <a:latin typeface="Times New Roman" pitchFamily="18" charset="0"/>
                <a:cs typeface="Times New Roman" pitchFamily="18" charset="0"/>
              </a:rPr>
              <a:t>&gt;</a:t>
            </a:r>
          </a:p>
          <a:p>
            <a:pPr>
              <a:buNone/>
            </a:pPr>
            <a:r>
              <a:rPr lang="en-US" sz="1800" b="1" dirty="0" err="1">
                <a:solidFill>
                  <a:srgbClr val="FF0000"/>
                </a:solidFill>
                <a:latin typeface="Times New Roman" pitchFamily="18" charset="0"/>
                <a:cs typeface="Times New Roman" pitchFamily="18" charset="0"/>
              </a:rPr>
              <a:t>struct</a:t>
            </a:r>
            <a:r>
              <a:rPr lang="en-US" sz="1800" b="1" dirty="0">
                <a:solidFill>
                  <a:srgbClr val="FF0000"/>
                </a:solidFill>
                <a:latin typeface="Times New Roman" pitchFamily="18" charset="0"/>
                <a:cs typeface="Times New Roman" pitchFamily="18" charset="0"/>
              </a:rPr>
              <a:t> employee</a:t>
            </a:r>
          </a:p>
          <a:p>
            <a:pPr>
              <a:buNone/>
            </a:pPr>
            <a:r>
              <a:rPr lang="en-US" sz="1800" b="1" dirty="0">
                <a:solidFill>
                  <a:srgbClr val="FF0000"/>
                </a:solidFill>
                <a:latin typeface="Times New Roman" pitchFamily="18" charset="0"/>
                <a:cs typeface="Times New Roman" pitchFamily="18" charset="0"/>
              </a:rPr>
              <a:t>{</a:t>
            </a:r>
          </a:p>
          <a:p>
            <a:pPr>
              <a:buNone/>
            </a:pPr>
            <a:r>
              <a:rPr lang="en-US" sz="1800" b="1" dirty="0">
                <a:solidFill>
                  <a:srgbClr val="FF0000"/>
                </a:solidFill>
                <a:latin typeface="Times New Roman" pitchFamily="18" charset="0"/>
                <a:cs typeface="Times New Roman" pitchFamily="18" charset="0"/>
              </a:rPr>
              <a:t>    char name[20];    </a:t>
            </a:r>
          </a:p>
          <a:p>
            <a:pPr>
              <a:buNone/>
            </a:pPr>
            <a:r>
              <a:rPr lang="en-US" sz="1800" b="1" dirty="0">
                <a:solidFill>
                  <a:srgbClr val="FF0000"/>
                </a:solidFill>
                <a:latin typeface="Times New Roman" pitchFamily="18" charset="0"/>
                <a:cs typeface="Times New Roman" pitchFamily="18" charset="0"/>
              </a:rPr>
              <a:t>    float salary;</a:t>
            </a:r>
          </a:p>
          <a:p>
            <a:pPr>
              <a:buNone/>
            </a:pPr>
            <a:r>
              <a:rPr lang="en-US" sz="1800" b="1" dirty="0">
                <a:solidFill>
                  <a:srgbClr val="FF0000"/>
                </a:solidFill>
                <a:latin typeface="Times New Roman" pitchFamily="18" charset="0"/>
                <a:cs typeface="Times New Roman" pitchFamily="18" charset="0"/>
              </a:rPr>
              <a:t>	</a:t>
            </a:r>
            <a:r>
              <a:rPr lang="en-US" sz="1800" b="1" dirty="0" err="1">
                <a:solidFill>
                  <a:srgbClr val="FF0000"/>
                </a:solidFill>
                <a:latin typeface="Times New Roman" pitchFamily="18" charset="0"/>
                <a:cs typeface="Times New Roman" pitchFamily="18" charset="0"/>
              </a:rPr>
              <a:t>int</a:t>
            </a:r>
            <a:r>
              <a:rPr lang="en-US" sz="1800" b="1" dirty="0">
                <a:solidFill>
                  <a:srgbClr val="FF0000"/>
                </a:solidFill>
                <a:latin typeface="Times New Roman" pitchFamily="18" charset="0"/>
                <a:cs typeface="Times New Roman" pitchFamily="18" charset="0"/>
              </a:rPr>
              <a:t> </a:t>
            </a:r>
            <a:r>
              <a:rPr lang="en-US" sz="1800" b="1" dirty="0" err="1">
                <a:solidFill>
                  <a:srgbClr val="FF0000"/>
                </a:solidFill>
                <a:latin typeface="Times New Roman" pitchFamily="18" charset="0"/>
                <a:cs typeface="Times New Roman" pitchFamily="18" charset="0"/>
              </a:rPr>
              <a:t>empno</a:t>
            </a:r>
            <a:r>
              <a:rPr lang="en-US" sz="1800" b="1" dirty="0">
                <a:solidFill>
                  <a:srgbClr val="FF0000"/>
                </a:solidFill>
                <a:latin typeface="Times New Roman" pitchFamily="18" charset="0"/>
                <a:cs typeface="Times New Roman" pitchFamily="18" charset="0"/>
              </a:rPr>
              <a:t>;</a:t>
            </a:r>
          </a:p>
          <a:p>
            <a:pPr>
              <a:buNone/>
            </a:pPr>
            <a:r>
              <a:rPr lang="en-US" sz="1800" b="1" dirty="0">
                <a:solidFill>
                  <a:srgbClr val="FF0000"/>
                </a:solidFill>
                <a:latin typeface="Times New Roman" pitchFamily="18" charset="0"/>
                <a:cs typeface="Times New Roman" pitchFamily="18" charset="0"/>
              </a:rPr>
              <a:t>};</a:t>
            </a:r>
          </a:p>
          <a:p>
            <a:pPr>
              <a:buNone/>
            </a:pPr>
            <a:r>
              <a:rPr lang="en-US" sz="1800" b="1" dirty="0">
                <a:latin typeface="Times New Roman" pitchFamily="18" charset="0"/>
                <a:cs typeface="Times New Roman" pitchFamily="18" charset="0"/>
              </a:rPr>
              <a:t>void main()</a:t>
            </a:r>
          </a:p>
          <a:p>
            <a:pPr>
              <a:buNone/>
            </a:pPr>
            <a:r>
              <a:rPr lang="en-US" sz="1800" b="1" dirty="0">
                <a:latin typeface="Times New Roman" pitchFamily="18" charset="0"/>
                <a:cs typeface="Times New Roman" pitchFamily="18" charset="0"/>
              </a:rPr>
              <a:t>{</a:t>
            </a:r>
            <a:endParaRPr lang="en-US" sz="1800" b="1" dirty="0">
              <a:solidFill>
                <a:srgbClr val="FF0000"/>
              </a:solidFill>
              <a:latin typeface="Times New Roman" pitchFamily="18" charset="0"/>
              <a:cs typeface="Times New Roman" pitchFamily="18" charset="0"/>
            </a:endParaRPr>
          </a:p>
          <a:p>
            <a:pPr>
              <a:buNone/>
            </a:pPr>
            <a:r>
              <a:rPr lang="en-US" sz="1800" b="1" dirty="0">
                <a:solidFill>
                  <a:srgbClr val="FF0000"/>
                </a:solidFill>
                <a:latin typeface="Times New Roman" pitchFamily="18" charset="0"/>
                <a:cs typeface="Times New Roman" pitchFamily="18" charset="0"/>
              </a:rPr>
              <a:t>    </a:t>
            </a:r>
            <a:r>
              <a:rPr lang="en-US" sz="1800" b="1" dirty="0" err="1">
                <a:solidFill>
                  <a:srgbClr val="FF0000"/>
                </a:solidFill>
                <a:latin typeface="Times New Roman" pitchFamily="18" charset="0"/>
                <a:cs typeface="Times New Roman" pitchFamily="18" charset="0"/>
              </a:rPr>
              <a:t>struct</a:t>
            </a:r>
            <a:r>
              <a:rPr lang="en-US" sz="1800" b="1" dirty="0">
                <a:solidFill>
                  <a:srgbClr val="FF0000"/>
                </a:solidFill>
                <a:latin typeface="Times New Roman" pitchFamily="18" charset="0"/>
                <a:cs typeface="Times New Roman" pitchFamily="18" charset="0"/>
              </a:rPr>
              <a:t> employee e[10];</a:t>
            </a:r>
          </a:p>
          <a:p>
            <a:pPr>
              <a:buNone/>
            </a:pPr>
            <a:r>
              <a:rPr lang="en-US" sz="1800" b="1" dirty="0">
                <a:latin typeface="Times New Roman" pitchFamily="18" charset="0"/>
                <a:cs typeface="Times New Roman" pitchFamily="18" charset="0"/>
              </a:rPr>
              <a:t>    </a:t>
            </a:r>
            <a:r>
              <a:rPr lang="en-US" sz="1800" b="1" dirty="0" err="1">
                <a:latin typeface="Times New Roman" pitchFamily="18" charset="0"/>
                <a:cs typeface="Times New Roman" pitchFamily="18" charset="0"/>
              </a:rPr>
              <a:t>int</a:t>
            </a:r>
            <a:r>
              <a:rPr lang="en-US" sz="1800" b="1" dirty="0">
                <a:latin typeface="Times New Roman" pitchFamily="18" charset="0"/>
                <a:cs typeface="Times New Roman" pitchFamily="18" charset="0"/>
              </a:rPr>
              <a:t> </a:t>
            </a:r>
            <a:r>
              <a:rPr lang="en-US" sz="1800" b="1" dirty="0" err="1">
                <a:latin typeface="Times New Roman" pitchFamily="18" charset="0"/>
                <a:cs typeface="Times New Roman" pitchFamily="18" charset="0"/>
              </a:rPr>
              <a:t>n,i</a:t>
            </a:r>
            <a:r>
              <a:rPr lang="en-US" sz="1800" b="1" dirty="0">
                <a:latin typeface="Times New Roman" pitchFamily="18" charset="0"/>
                <a:cs typeface="Times New Roman" pitchFamily="18" charset="0"/>
              </a:rPr>
              <a:t>;</a:t>
            </a:r>
          </a:p>
          <a:p>
            <a:pPr>
              <a:buNone/>
            </a:pPr>
            <a:r>
              <a:rPr lang="en-US" sz="1800" b="1" dirty="0">
                <a:latin typeface="Times New Roman" pitchFamily="18" charset="0"/>
                <a:cs typeface="Times New Roman" pitchFamily="18" charset="0"/>
              </a:rPr>
              <a:t>    </a:t>
            </a:r>
            <a:r>
              <a:rPr lang="en-US" sz="1800" b="1" dirty="0" err="1">
                <a:latin typeface="Times New Roman" pitchFamily="18" charset="0"/>
                <a:cs typeface="Times New Roman" pitchFamily="18" charset="0"/>
              </a:rPr>
              <a:t>printf</a:t>
            </a:r>
            <a:r>
              <a:rPr lang="en-US" sz="1800" b="1" dirty="0">
                <a:latin typeface="Times New Roman" pitchFamily="18" charset="0"/>
                <a:cs typeface="Times New Roman" pitchFamily="18" charset="0"/>
              </a:rPr>
              <a:t>("Enter </a:t>
            </a:r>
            <a:r>
              <a:rPr lang="en-US" sz="1800" b="1" dirty="0" err="1">
                <a:latin typeface="Times New Roman" pitchFamily="18" charset="0"/>
                <a:cs typeface="Times New Roman" pitchFamily="18" charset="0"/>
              </a:rPr>
              <a:t>no.of</a:t>
            </a:r>
            <a:r>
              <a:rPr lang="en-US" sz="1800" b="1" dirty="0">
                <a:latin typeface="Times New Roman" pitchFamily="18" charset="0"/>
                <a:cs typeface="Times New Roman" pitchFamily="18" charset="0"/>
              </a:rPr>
              <a:t> employees\n");</a:t>
            </a:r>
          </a:p>
          <a:p>
            <a:pPr>
              <a:buNone/>
            </a:pPr>
            <a:r>
              <a:rPr lang="en-US" sz="1800" b="1" dirty="0">
                <a:latin typeface="Times New Roman" pitchFamily="18" charset="0"/>
                <a:cs typeface="Times New Roman" pitchFamily="18" charset="0"/>
              </a:rPr>
              <a:t>    </a:t>
            </a:r>
            <a:r>
              <a:rPr lang="en-US" sz="1800" b="1" dirty="0" err="1">
                <a:latin typeface="Times New Roman" pitchFamily="18" charset="0"/>
                <a:cs typeface="Times New Roman" pitchFamily="18" charset="0"/>
              </a:rPr>
              <a:t>scanf</a:t>
            </a:r>
            <a:r>
              <a:rPr lang="en-US" sz="1800" b="1" dirty="0">
                <a:latin typeface="Times New Roman" pitchFamily="18" charset="0"/>
                <a:cs typeface="Times New Roman" pitchFamily="18" charset="0"/>
              </a:rPr>
              <a:t>("%</a:t>
            </a:r>
            <a:r>
              <a:rPr lang="en-US" sz="1800" b="1" dirty="0" err="1">
                <a:latin typeface="Times New Roman" pitchFamily="18" charset="0"/>
                <a:cs typeface="Times New Roman" pitchFamily="18" charset="0"/>
              </a:rPr>
              <a:t>d",&amp;n</a:t>
            </a:r>
            <a:r>
              <a:rPr lang="en-US" sz="1800" b="1" dirty="0">
                <a:latin typeface="Times New Roman" pitchFamily="18" charset="0"/>
                <a:cs typeface="Times New Roman" pitchFamily="18" charset="0"/>
              </a:rPr>
              <a:t>);</a:t>
            </a:r>
          </a:p>
          <a:p>
            <a:pPr>
              <a:buNone/>
            </a:pPr>
            <a:r>
              <a:rPr lang="en-US" sz="1800" b="1" dirty="0">
                <a:latin typeface="Times New Roman" pitchFamily="18" charset="0"/>
                <a:cs typeface="Times New Roman" pitchFamily="18" charset="0"/>
              </a:rPr>
              <a:t>    for(</a:t>
            </a:r>
            <a:r>
              <a:rPr lang="en-US" sz="1800" b="1" dirty="0" err="1">
                <a:latin typeface="Times New Roman" pitchFamily="18" charset="0"/>
                <a:cs typeface="Times New Roman" pitchFamily="18" charset="0"/>
              </a:rPr>
              <a:t>i</a:t>
            </a:r>
            <a:r>
              <a:rPr lang="en-US" sz="1800" b="1" dirty="0">
                <a:latin typeface="Times New Roman" pitchFamily="18" charset="0"/>
                <a:cs typeface="Times New Roman" pitchFamily="18" charset="0"/>
              </a:rPr>
              <a:t>=0;i&lt;</a:t>
            </a:r>
            <a:r>
              <a:rPr lang="en-US" sz="1800" b="1" dirty="0" err="1">
                <a:latin typeface="Times New Roman" pitchFamily="18" charset="0"/>
                <a:cs typeface="Times New Roman" pitchFamily="18" charset="0"/>
              </a:rPr>
              <a:t>n;i</a:t>
            </a:r>
            <a:r>
              <a:rPr lang="en-US" sz="1800" b="1" dirty="0">
                <a:latin typeface="Times New Roman" pitchFamily="18" charset="0"/>
                <a:cs typeface="Times New Roman" pitchFamily="18" charset="0"/>
              </a:rPr>
              <a:t>++)</a:t>
            </a:r>
          </a:p>
          <a:p>
            <a:pPr>
              <a:buNone/>
            </a:pPr>
            <a:r>
              <a:rPr lang="en-US" sz="1800" b="1" dirty="0">
                <a:latin typeface="Times New Roman" pitchFamily="18" charset="0"/>
                <a:cs typeface="Times New Roman" pitchFamily="18" charset="0"/>
              </a:rPr>
              <a:t>    {</a:t>
            </a:r>
          </a:p>
          <a:p>
            <a:pPr>
              <a:buNone/>
            </a:pPr>
            <a:r>
              <a:rPr lang="en-US" sz="1800" b="1" dirty="0">
                <a:latin typeface="Times New Roman" pitchFamily="18" charset="0"/>
                <a:cs typeface="Times New Roman" pitchFamily="18" charset="0"/>
              </a:rPr>
              <a:t>    </a:t>
            </a:r>
            <a:r>
              <a:rPr lang="en-US" sz="1800" b="1" dirty="0" err="1">
                <a:latin typeface="Times New Roman" pitchFamily="18" charset="0"/>
                <a:cs typeface="Times New Roman" pitchFamily="18" charset="0"/>
              </a:rPr>
              <a:t>printf</a:t>
            </a:r>
            <a:r>
              <a:rPr lang="en-US" sz="1800" b="1" dirty="0">
                <a:latin typeface="Times New Roman" pitchFamily="18" charset="0"/>
                <a:cs typeface="Times New Roman" pitchFamily="18" charset="0"/>
              </a:rPr>
              <a:t>("Enter details of employee %d \n",i+1);</a:t>
            </a:r>
          </a:p>
          <a:p>
            <a:pPr>
              <a:buNone/>
            </a:pPr>
            <a:endParaRPr lang="en-US" sz="1800" b="1" dirty="0">
              <a:latin typeface="Times New Roman" pitchFamily="18" charset="0"/>
              <a:cs typeface="Times New Roman" pitchFamily="18" charset="0"/>
            </a:endParaRPr>
          </a:p>
          <a:p>
            <a:pPr>
              <a:buNone/>
            </a:pPr>
            <a:endParaRPr lang="en-US" sz="1800" b="1" dirty="0">
              <a:latin typeface="Times New Roman" pitchFamily="18" charset="0"/>
              <a:cs typeface="Times New Roman" pitchFamily="18" charset="0"/>
            </a:endParaRPr>
          </a:p>
          <a:p>
            <a:pPr>
              <a:buNone/>
            </a:pPr>
            <a:endParaRPr lang="en-US" sz="1800" b="1" dirty="0">
              <a:latin typeface="Times New Roman" pitchFamily="18" charset="0"/>
              <a:cs typeface="Times New Roman" pitchFamily="18" charset="0"/>
            </a:endParaRPr>
          </a:p>
        </p:txBody>
      </p:sp>
      <p:sp>
        <p:nvSpPr>
          <p:cNvPr id="4" name="Footer Placeholder 3">
            <a:extLst>
              <a:ext uri="{FF2B5EF4-FFF2-40B4-BE49-F238E27FC236}">
                <a16:creationId xmlns:a16="http://schemas.microsoft.com/office/drawing/2014/main" id="{B178B64E-3C60-0326-4714-26B7F15EE35F}"/>
              </a:ext>
            </a:extLst>
          </p:cNvPr>
          <p:cNvSpPr>
            <a:spLocks noGrp="1"/>
          </p:cNvSpPr>
          <p:nvPr>
            <p:ph type="ftr" sz="quarter" idx="11"/>
          </p:nvPr>
        </p:nvSpPr>
        <p:spPr/>
        <p:txBody>
          <a:bodyPr/>
          <a:lstStyle/>
          <a:p>
            <a:r>
              <a:rPr lang="en-US"/>
              <a:t>Mrs Saranya Babu, Asst. Professor, GAT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blinds(horizontal)">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blinds(horizontal)">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blinds(horizontal)">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blinds(horizontal)">
                                      <p:cBhvr>
                                        <p:cTn id="57" dur="5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blinds(horizontal)">
                                      <p:cBhvr>
                                        <p:cTn id="62" dur="500"/>
                                        <p:tgtEl>
                                          <p:spTgt spid="3">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3">
                                            <p:txEl>
                                              <p:pRg st="12" end="12"/>
                                            </p:txEl>
                                          </p:spTgt>
                                        </p:tgtEl>
                                        <p:attrNameLst>
                                          <p:attrName>style.visibility</p:attrName>
                                        </p:attrNameLst>
                                      </p:cBhvr>
                                      <p:to>
                                        <p:strVal val="visible"/>
                                      </p:to>
                                    </p:set>
                                    <p:animEffect transition="in" filter="blinds(horizontal)">
                                      <p:cBhvr>
                                        <p:cTn id="67" dur="500"/>
                                        <p:tgtEl>
                                          <p:spTgt spid="3">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3">
                                            <p:txEl>
                                              <p:pRg st="13" end="13"/>
                                            </p:txEl>
                                          </p:spTgt>
                                        </p:tgtEl>
                                        <p:attrNameLst>
                                          <p:attrName>style.visibility</p:attrName>
                                        </p:attrNameLst>
                                      </p:cBhvr>
                                      <p:to>
                                        <p:strVal val="visible"/>
                                      </p:to>
                                    </p:set>
                                    <p:animEffect transition="in" filter="blinds(horizontal)">
                                      <p:cBhvr>
                                        <p:cTn id="72" dur="500"/>
                                        <p:tgtEl>
                                          <p:spTgt spid="3">
                                            <p:txEl>
                                              <p:pRg st="13" end="1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grpId="0" nodeType="clickEffect">
                                  <p:stCondLst>
                                    <p:cond delay="0"/>
                                  </p:stCondLst>
                                  <p:childTnLst>
                                    <p:set>
                                      <p:cBhvr>
                                        <p:cTn id="76" dur="1" fill="hold">
                                          <p:stCondLst>
                                            <p:cond delay="0"/>
                                          </p:stCondLst>
                                        </p:cTn>
                                        <p:tgtEl>
                                          <p:spTgt spid="3">
                                            <p:txEl>
                                              <p:pRg st="14" end="14"/>
                                            </p:txEl>
                                          </p:spTgt>
                                        </p:tgtEl>
                                        <p:attrNameLst>
                                          <p:attrName>style.visibility</p:attrName>
                                        </p:attrNameLst>
                                      </p:cBhvr>
                                      <p:to>
                                        <p:strVal val="visible"/>
                                      </p:to>
                                    </p:set>
                                    <p:animEffect transition="in" filter="blinds(horizontal)">
                                      <p:cBhvr>
                                        <p:cTn id="77" dur="500"/>
                                        <p:tgtEl>
                                          <p:spTgt spid="3">
                                            <p:txEl>
                                              <p:pRg st="14" end="14"/>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3" presetClass="entr" presetSubtype="10" fill="hold" grpId="0" nodeType="clickEffect">
                                  <p:stCondLst>
                                    <p:cond delay="0"/>
                                  </p:stCondLst>
                                  <p:childTnLst>
                                    <p:set>
                                      <p:cBhvr>
                                        <p:cTn id="81" dur="1" fill="hold">
                                          <p:stCondLst>
                                            <p:cond delay="0"/>
                                          </p:stCondLst>
                                        </p:cTn>
                                        <p:tgtEl>
                                          <p:spTgt spid="3">
                                            <p:txEl>
                                              <p:pRg st="15" end="15"/>
                                            </p:txEl>
                                          </p:spTgt>
                                        </p:tgtEl>
                                        <p:attrNameLst>
                                          <p:attrName>style.visibility</p:attrName>
                                        </p:attrNameLst>
                                      </p:cBhvr>
                                      <p:to>
                                        <p:strVal val="visible"/>
                                      </p:to>
                                    </p:set>
                                    <p:animEffect transition="in" filter="blinds(horizontal)">
                                      <p:cBhvr>
                                        <p:cTn id="82" dur="500"/>
                                        <p:tgtEl>
                                          <p:spTgt spid="3">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52600" y="228600"/>
            <a:ext cx="8915400" cy="6400800"/>
          </a:xfrm>
        </p:spPr>
        <p:txBody>
          <a:bodyPr>
            <a:normAutofit/>
          </a:bodyPr>
          <a:lstStyle/>
          <a:p>
            <a:pPr>
              <a:buNone/>
            </a:pPr>
            <a:r>
              <a:rPr lang="en-US" sz="2400" b="1" dirty="0">
                <a:latin typeface="Times New Roman" pitchFamily="18" charset="0"/>
                <a:cs typeface="Times New Roman" pitchFamily="18" charset="0"/>
              </a:rPr>
              <a:t> </a:t>
            </a:r>
            <a:r>
              <a:rPr lang="en-US" sz="2400" b="1" dirty="0" err="1">
                <a:latin typeface="Times New Roman" pitchFamily="18" charset="0"/>
                <a:cs typeface="Times New Roman" pitchFamily="18" charset="0"/>
              </a:rPr>
              <a:t>printf</a:t>
            </a:r>
            <a:r>
              <a:rPr lang="en-US" sz="2400" b="1" dirty="0">
                <a:latin typeface="Times New Roman" pitchFamily="18" charset="0"/>
                <a:cs typeface="Times New Roman" pitchFamily="18" charset="0"/>
              </a:rPr>
              <a:t>("Enter name, salary and number of employee\n");</a:t>
            </a:r>
          </a:p>
          <a:p>
            <a:pPr>
              <a:buNone/>
            </a:pPr>
            <a:r>
              <a:rPr lang="en-US" sz="2400" b="1" dirty="0">
                <a:latin typeface="Times New Roman" pitchFamily="18" charset="0"/>
                <a:cs typeface="Times New Roman" pitchFamily="18" charset="0"/>
              </a:rPr>
              <a:t> </a:t>
            </a:r>
            <a:r>
              <a:rPr lang="en-US" sz="2400" b="1" dirty="0" err="1">
                <a:latin typeface="Times New Roman" pitchFamily="18" charset="0"/>
                <a:cs typeface="Times New Roman" pitchFamily="18" charset="0"/>
              </a:rPr>
              <a:t>scanf</a:t>
            </a:r>
            <a:r>
              <a:rPr lang="en-US" sz="2400" b="1" dirty="0">
                <a:latin typeface="Times New Roman" pitchFamily="18" charset="0"/>
                <a:cs typeface="Times New Roman" pitchFamily="18" charset="0"/>
              </a:rPr>
              <a:t>("%</a:t>
            </a:r>
            <a:r>
              <a:rPr lang="en-US" sz="2400" b="1" dirty="0" err="1">
                <a:latin typeface="Times New Roman" pitchFamily="18" charset="0"/>
                <a:cs typeface="Times New Roman" pitchFamily="18" charset="0"/>
              </a:rPr>
              <a:t>s%f%d",e</a:t>
            </a:r>
            <a:r>
              <a:rPr lang="en-US" sz="2400" b="1" dirty="0">
                <a:latin typeface="Times New Roman" pitchFamily="18" charset="0"/>
                <a:cs typeface="Times New Roman" pitchFamily="18" charset="0"/>
              </a:rPr>
              <a:t>[</a:t>
            </a:r>
            <a:r>
              <a:rPr lang="en-US" sz="2400" b="1" dirty="0" err="1">
                <a:latin typeface="Times New Roman" pitchFamily="18" charset="0"/>
                <a:cs typeface="Times New Roman" pitchFamily="18" charset="0"/>
              </a:rPr>
              <a:t>i</a:t>
            </a:r>
            <a:r>
              <a:rPr lang="en-US" sz="2400" b="1" dirty="0">
                <a:latin typeface="Times New Roman" pitchFamily="18" charset="0"/>
                <a:cs typeface="Times New Roman" pitchFamily="18" charset="0"/>
              </a:rPr>
              <a:t>].</a:t>
            </a:r>
            <a:r>
              <a:rPr lang="en-US" sz="2400" b="1" dirty="0" err="1">
                <a:latin typeface="Times New Roman" pitchFamily="18" charset="0"/>
                <a:cs typeface="Times New Roman" pitchFamily="18" charset="0"/>
              </a:rPr>
              <a:t>name,&amp;e</a:t>
            </a:r>
            <a:r>
              <a:rPr lang="en-US" sz="2400" b="1" dirty="0">
                <a:latin typeface="Times New Roman" pitchFamily="18" charset="0"/>
                <a:cs typeface="Times New Roman" pitchFamily="18" charset="0"/>
              </a:rPr>
              <a:t>[</a:t>
            </a:r>
            <a:r>
              <a:rPr lang="en-US" sz="2400" b="1" dirty="0" err="1">
                <a:latin typeface="Times New Roman" pitchFamily="18" charset="0"/>
                <a:cs typeface="Times New Roman" pitchFamily="18" charset="0"/>
              </a:rPr>
              <a:t>i</a:t>
            </a:r>
            <a:r>
              <a:rPr lang="en-US" sz="2400" b="1" dirty="0">
                <a:latin typeface="Times New Roman" pitchFamily="18" charset="0"/>
                <a:cs typeface="Times New Roman" pitchFamily="18" charset="0"/>
              </a:rPr>
              <a:t>].</a:t>
            </a:r>
            <a:r>
              <a:rPr lang="en-US" sz="2400" b="1" dirty="0" err="1">
                <a:latin typeface="Times New Roman" pitchFamily="18" charset="0"/>
                <a:cs typeface="Times New Roman" pitchFamily="18" charset="0"/>
              </a:rPr>
              <a:t>salary,&amp;e</a:t>
            </a:r>
            <a:r>
              <a:rPr lang="en-US" sz="2400" b="1" dirty="0">
                <a:latin typeface="Times New Roman" pitchFamily="18" charset="0"/>
                <a:cs typeface="Times New Roman" pitchFamily="18" charset="0"/>
              </a:rPr>
              <a:t>[</a:t>
            </a:r>
            <a:r>
              <a:rPr lang="en-US" sz="2400" b="1" dirty="0" err="1">
                <a:latin typeface="Times New Roman" pitchFamily="18" charset="0"/>
                <a:cs typeface="Times New Roman" pitchFamily="18" charset="0"/>
              </a:rPr>
              <a:t>i</a:t>
            </a:r>
            <a:r>
              <a:rPr lang="en-US" sz="2400" b="1" dirty="0">
                <a:latin typeface="Times New Roman" pitchFamily="18" charset="0"/>
                <a:cs typeface="Times New Roman" pitchFamily="18" charset="0"/>
              </a:rPr>
              <a:t>].</a:t>
            </a:r>
            <a:r>
              <a:rPr lang="en-US" sz="2400" b="1" dirty="0" err="1">
                <a:latin typeface="Times New Roman" pitchFamily="18" charset="0"/>
                <a:cs typeface="Times New Roman" pitchFamily="18" charset="0"/>
              </a:rPr>
              <a:t>empno</a:t>
            </a:r>
            <a:r>
              <a:rPr lang="en-US" sz="2400" b="1" dirty="0">
                <a:latin typeface="Times New Roman" pitchFamily="18" charset="0"/>
                <a:cs typeface="Times New Roman" pitchFamily="18" charset="0"/>
              </a:rPr>
              <a:t>);</a:t>
            </a:r>
          </a:p>
          <a:p>
            <a:pPr>
              <a:buNone/>
            </a:pPr>
            <a:r>
              <a:rPr lang="en-US" sz="2400" b="1" dirty="0">
                <a:latin typeface="Times New Roman" pitchFamily="18" charset="0"/>
                <a:cs typeface="Times New Roman" pitchFamily="18" charset="0"/>
              </a:rPr>
              <a:t>}</a:t>
            </a:r>
          </a:p>
          <a:p>
            <a:pPr>
              <a:buNone/>
            </a:pPr>
            <a:r>
              <a:rPr lang="en-US" sz="2400" b="1" dirty="0" err="1">
                <a:latin typeface="Times New Roman" pitchFamily="18" charset="0"/>
                <a:cs typeface="Times New Roman" pitchFamily="18" charset="0"/>
              </a:rPr>
              <a:t>printf</a:t>
            </a:r>
            <a:r>
              <a:rPr lang="en-US" sz="2400" b="1" dirty="0">
                <a:latin typeface="Times New Roman" pitchFamily="18" charset="0"/>
                <a:cs typeface="Times New Roman" pitchFamily="18" charset="0"/>
              </a:rPr>
              <a:t>("Details of employees whose salary is greater than 5000 are\n");</a:t>
            </a:r>
          </a:p>
          <a:p>
            <a:pPr>
              <a:buNone/>
            </a:pPr>
            <a:r>
              <a:rPr lang="en-US" sz="2400" b="1" dirty="0">
                <a:latin typeface="Times New Roman" pitchFamily="18" charset="0"/>
                <a:cs typeface="Times New Roman" pitchFamily="18" charset="0"/>
              </a:rPr>
              <a:t>for(</a:t>
            </a:r>
            <a:r>
              <a:rPr lang="en-US" sz="2400" b="1" dirty="0" err="1">
                <a:latin typeface="Times New Roman" pitchFamily="18" charset="0"/>
                <a:cs typeface="Times New Roman" pitchFamily="18" charset="0"/>
              </a:rPr>
              <a:t>i</a:t>
            </a:r>
            <a:r>
              <a:rPr lang="en-US" sz="2400" b="1" dirty="0">
                <a:latin typeface="Times New Roman" pitchFamily="18" charset="0"/>
                <a:cs typeface="Times New Roman" pitchFamily="18" charset="0"/>
              </a:rPr>
              <a:t>=0;i&lt;</a:t>
            </a:r>
            <a:r>
              <a:rPr lang="en-US" sz="2400" b="1" dirty="0" err="1">
                <a:latin typeface="Times New Roman" pitchFamily="18" charset="0"/>
                <a:cs typeface="Times New Roman" pitchFamily="18" charset="0"/>
              </a:rPr>
              <a:t>n;i</a:t>
            </a:r>
            <a:r>
              <a:rPr lang="en-US" sz="2400" b="1" dirty="0">
                <a:latin typeface="Times New Roman" pitchFamily="18" charset="0"/>
                <a:cs typeface="Times New Roman" pitchFamily="18" charset="0"/>
              </a:rPr>
              <a:t>++)</a:t>
            </a:r>
          </a:p>
          <a:p>
            <a:pPr>
              <a:buNone/>
            </a:pPr>
            <a:r>
              <a:rPr lang="en-US" sz="2400" b="1" dirty="0">
                <a:latin typeface="Times New Roman" pitchFamily="18" charset="0"/>
                <a:cs typeface="Times New Roman" pitchFamily="18" charset="0"/>
              </a:rPr>
              <a:t>    {</a:t>
            </a:r>
          </a:p>
          <a:p>
            <a:pPr>
              <a:buNone/>
            </a:pPr>
            <a:r>
              <a:rPr lang="en-US" sz="2400" b="1" dirty="0">
                <a:solidFill>
                  <a:srgbClr val="FF0000"/>
                </a:solidFill>
                <a:latin typeface="Times New Roman" pitchFamily="18" charset="0"/>
                <a:cs typeface="Times New Roman" pitchFamily="18" charset="0"/>
              </a:rPr>
              <a:t>        if(e[</a:t>
            </a:r>
            <a:r>
              <a:rPr lang="en-US" sz="2400" b="1" dirty="0" err="1">
                <a:solidFill>
                  <a:srgbClr val="FF0000"/>
                </a:solidFill>
                <a:latin typeface="Times New Roman" pitchFamily="18" charset="0"/>
                <a:cs typeface="Times New Roman" pitchFamily="18" charset="0"/>
              </a:rPr>
              <a:t>i</a:t>
            </a:r>
            <a:r>
              <a:rPr lang="en-US" sz="2400" b="1" dirty="0">
                <a:solidFill>
                  <a:srgbClr val="FF0000"/>
                </a:solidFill>
                <a:latin typeface="Times New Roman" pitchFamily="18" charset="0"/>
                <a:cs typeface="Times New Roman" pitchFamily="18" charset="0"/>
              </a:rPr>
              <a:t>].salary&gt;5000)</a:t>
            </a:r>
          </a:p>
          <a:p>
            <a:pPr>
              <a:buNone/>
            </a:pPr>
            <a:r>
              <a:rPr lang="en-US" sz="2400" b="1" dirty="0">
                <a:solidFill>
                  <a:srgbClr val="FF0000"/>
                </a:solidFill>
                <a:latin typeface="Times New Roman" pitchFamily="18" charset="0"/>
                <a:cs typeface="Times New Roman" pitchFamily="18" charset="0"/>
              </a:rPr>
              <a:t>        {</a:t>
            </a:r>
          </a:p>
          <a:p>
            <a:pPr>
              <a:buNone/>
            </a:pPr>
            <a:r>
              <a:rPr lang="en-US" sz="2400" b="1" dirty="0">
                <a:solidFill>
                  <a:srgbClr val="FF0000"/>
                </a:solidFill>
                <a:latin typeface="Times New Roman" pitchFamily="18" charset="0"/>
                <a:cs typeface="Times New Roman" pitchFamily="18" charset="0"/>
              </a:rPr>
              <a:t>            </a:t>
            </a:r>
          </a:p>
          <a:p>
            <a:pPr>
              <a:buNone/>
            </a:pPr>
            <a:r>
              <a:rPr lang="en-US" sz="2400" b="1" dirty="0">
                <a:solidFill>
                  <a:srgbClr val="FF0000"/>
                </a:solidFill>
                <a:latin typeface="Times New Roman" pitchFamily="18" charset="0"/>
                <a:cs typeface="Times New Roman" pitchFamily="18" charset="0"/>
              </a:rPr>
              <a:t>            </a:t>
            </a:r>
            <a:r>
              <a:rPr lang="en-US" sz="2400" b="1" dirty="0" err="1">
                <a:solidFill>
                  <a:srgbClr val="FF0000"/>
                </a:solidFill>
                <a:latin typeface="Times New Roman" pitchFamily="18" charset="0"/>
                <a:cs typeface="Times New Roman" pitchFamily="18" charset="0"/>
              </a:rPr>
              <a:t>printf</a:t>
            </a:r>
            <a:r>
              <a:rPr lang="en-US" sz="2400" b="1" dirty="0">
                <a:solidFill>
                  <a:srgbClr val="FF0000"/>
                </a:solidFill>
                <a:latin typeface="Times New Roman" pitchFamily="18" charset="0"/>
                <a:cs typeface="Times New Roman" pitchFamily="18" charset="0"/>
              </a:rPr>
              <a:t>("%s %f %d\</a:t>
            </a:r>
            <a:r>
              <a:rPr lang="en-US" sz="2400" b="1" dirty="0" err="1">
                <a:solidFill>
                  <a:srgbClr val="FF0000"/>
                </a:solidFill>
                <a:latin typeface="Times New Roman" pitchFamily="18" charset="0"/>
                <a:cs typeface="Times New Roman" pitchFamily="18" charset="0"/>
              </a:rPr>
              <a:t>n",e</a:t>
            </a:r>
            <a:r>
              <a:rPr lang="en-US" sz="2400" b="1" dirty="0">
                <a:solidFill>
                  <a:srgbClr val="FF0000"/>
                </a:solidFill>
                <a:latin typeface="Times New Roman" pitchFamily="18" charset="0"/>
                <a:cs typeface="Times New Roman" pitchFamily="18" charset="0"/>
              </a:rPr>
              <a:t>[</a:t>
            </a:r>
            <a:r>
              <a:rPr lang="en-US" sz="2400" b="1" dirty="0" err="1">
                <a:solidFill>
                  <a:srgbClr val="FF0000"/>
                </a:solidFill>
                <a:latin typeface="Times New Roman" pitchFamily="18" charset="0"/>
                <a:cs typeface="Times New Roman" pitchFamily="18" charset="0"/>
              </a:rPr>
              <a:t>i</a:t>
            </a:r>
            <a:r>
              <a:rPr lang="en-US" sz="2400" b="1" dirty="0">
                <a:solidFill>
                  <a:srgbClr val="FF0000"/>
                </a:solidFill>
                <a:latin typeface="Times New Roman" pitchFamily="18" charset="0"/>
                <a:cs typeface="Times New Roman" pitchFamily="18" charset="0"/>
              </a:rPr>
              <a:t>].</a:t>
            </a:r>
            <a:r>
              <a:rPr lang="en-US" sz="2400" b="1" dirty="0" err="1">
                <a:solidFill>
                  <a:srgbClr val="FF0000"/>
                </a:solidFill>
                <a:latin typeface="Times New Roman" pitchFamily="18" charset="0"/>
                <a:cs typeface="Times New Roman" pitchFamily="18" charset="0"/>
              </a:rPr>
              <a:t>name,e</a:t>
            </a:r>
            <a:r>
              <a:rPr lang="en-US" sz="2400" b="1" dirty="0">
                <a:solidFill>
                  <a:srgbClr val="FF0000"/>
                </a:solidFill>
                <a:latin typeface="Times New Roman" pitchFamily="18" charset="0"/>
                <a:cs typeface="Times New Roman" pitchFamily="18" charset="0"/>
              </a:rPr>
              <a:t>[</a:t>
            </a:r>
            <a:r>
              <a:rPr lang="en-US" sz="2400" b="1" dirty="0" err="1">
                <a:solidFill>
                  <a:srgbClr val="FF0000"/>
                </a:solidFill>
                <a:latin typeface="Times New Roman" pitchFamily="18" charset="0"/>
                <a:cs typeface="Times New Roman" pitchFamily="18" charset="0"/>
              </a:rPr>
              <a:t>i</a:t>
            </a:r>
            <a:r>
              <a:rPr lang="en-US" sz="2400" b="1" dirty="0">
                <a:solidFill>
                  <a:srgbClr val="FF0000"/>
                </a:solidFill>
                <a:latin typeface="Times New Roman" pitchFamily="18" charset="0"/>
                <a:cs typeface="Times New Roman" pitchFamily="18" charset="0"/>
              </a:rPr>
              <a:t>].</a:t>
            </a:r>
            <a:r>
              <a:rPr lang="en-US" sz="2400" b="1" dirty="0" err="1">
                <a:solidFill>
                  <a:srgbClr val="FF0000"/>
                </a:solidFill>
                <a:latin typeface="Times New Roman" pitchFamily="18" charset="0"/>
                <a:cs typeface="Times New Roman" pitchFamily="18" charset="0"/>
              </a:rPr>
              <a:t>salary,e</a:t>
            </a:r>
            <a:r>
              <a:rPr lang="en-US" sz="2400" b="1" dirty="0">
                <a:solidFill>
                  <a:srgbClr val="FF0000"/>
                </a:solidFill>
                <a:latin typeface="Times New Roman" pitchFamily="18" charset="0"/>
                <a:cs typeface="Times New Roman" pitchFamily="18" charset="0"/>
              </a:rPr>
              <a:t>[</a:t>
            </a:r>
            <a:r>
              <a:rPr lang="en-US" sz="2400" b="1" dirty="0" err="1">
                <a:solidFill>
                  <a:srgbClr val="FF0000"/>
                </a:solidFill>
                <a:latin typeface="Times New Roman" pitchFamily="18" charset="0"/>
                <a:cs typeface="Times New Roman" pitchFamily="18" charset="0"/>
              </a:rPr>
              <a:t>i</a:t>
            </a:r>
            <a:r>
              <a:rPr lang="en-US" sz="2400" b="1" dirty="0">
                <a:solidFill>
                  <a:srgbClr val="FF0000"/>
                </a:solidFill>
                <a:latin typeface="Times New Roman" pitchFamily="18" charset="0"/>
                <a:cs typeface="Times New Roman" pitchFamily="18" charset="0"/>
              </a:rPr>
              <a:t>].</a:t>
            </a:r>
            <a:r>
              <a:rPr lang="en-US" sz="2400" b="1" dirty="0" err="1">
                <a:solidFill>
                  <a:srgbClr val="FF0000"/>
                </a:solidFill>
                <a:latin typeface="Times New Roman" pitchFamily="18" charset="0"/>
                <a:cs typeface="Times New Roman" pitchFamily="18" charset="0"/>
              </a:rPr>
              <a:t>empno</a:t>
            </a:r>
            <a:r>
              <a:rPr lang="en-US" sz="2400" b="1" dirty="0">
                <a:solidFill>
                  <a:srgbClr val="FF0000"/>
                </a:solidFill>
                <a:latin typeface="Times New Roman" pitchFamily="18" charset="0"/>
                <a:cs typeface="Times New Roman" pitchFamily="18" charset="0"/>
              </a:rPr>
              <a:t>);</a:t>
            </a:r>
          </a:p>
          <a:p>
            <a:pPr>
              <a:buNone/>
            </a:pPr>
            <a:r>
              <a:rPr lang="en-US" sz="2400" b="1" dirty="0">
                <a:solidFill>
                  <a:srgbClr val="FF0000"/>
                </a:solidFill>
                <a:latin typeface="Times New Roman" pitchFamily="18" charset="0"/>
                <a:cs typeface="Times New Roman" pitchFamily="18" charset="0"/>
              </a:rPr>
              <a:t>        }</a:t>
            </a:r>
          </a:p>
          <a:p>
            <a:pPr>
              <a:buNone/>
            </a:pPr>
            <a:r>
              <a:rPr lang="en-US" sz="2400" b="1" dirty="0">
                <a:latin typeface="Times New Roman" pitchFamily="18" charset="0"/>
                <a:cs typeface="Times New Roman" pitchFamily="18" charset="0"/>
              </a:rPr>
              <a:t>    }</a:t>
            </a:r>
          </a:p>
          <a:p>
            <a:pPr>
              <a:buNone/>
            </a:pPr>
            <a:r>
              <a:rPr lang="en-US" sz="2400" b="1" dirty="0">
                <a:latin typeface="Times New Roman" pitchFamily="18" charset="0"/>
                <a:cs typeface="Times New Roman" pitchFamily="18" charset="0"/>
              </a:rPr>
              <a:t>}</a:t>
            </a:r>
          </a:p>
          <a:p>
            <a:pPr>
              <a:buNone/>
            </a:pPr>
            <a:endParaRPr lang="en-US" sz="2400" b="1" dirty="0">
              <a:latin typeface="Times New Roman" pitchFamily="18" charset="0"/>
              <a:cs typeface="Times New Roman" pitchFamily="18" charset="0"/>
            </a:endParaRPr>
          </a:p>
        </p:txBody>
      </p:sp>
      <p:sp>
        <p:nvSpPr>
          <p:cNvPr id="4" name="TextBox 3"/>
          <p:cNvSpPr txBox="1"/>
          <p:nvPr/>
        </p:nvSpPr>
        <p:spPr>
          <a:xfrm>
            <a:off x="6781800" y="2590800"/>
            <a:ext cx="3221010" cy="369332"/>
          </a:xfrm>
          <a:prstGeom prst="rect">
            <a:avLst/>
          </a:prstGeom>
          <a:solidFill>
            <a:srgbClr val="FFC000"/>
          </a:solidFill>
        </p:spPr>
        <p:txBody>
          <a:bodyPr wrap="none" rtlCol="0">
            <a:spAutoFit/>
          </a:bodyPr>
          <a:lstStyle/>
          <a:p>
            <a:r>
              <a:rPr lang="en-US" dirty="0"/>
              <a:t>Each employee salary is checked</a:t>
            </a:r>
          </a:p>
        </p:txBody>
      </p:sp>
      <p:cxnSp>
        <p:nvCxnSpPr>
          <p:cNvPr id="6" name="Straight Arrow Connector 5"/>
          <p:cNvCxnSpPr/>
          <p:nvPr/>
        </p:nvCxnSpPr>
        <p:spPr>
          <a:xfrm flipV="1">
            <a:off x="3810000" y="2819400"/>
            <a:ext cx="2667000" cy="533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304F630A-DE89-B896-6A49-3FE609CC995E}"/>
              </a:ext>
            </a:extLst>
          </p:cNvPr>
          <p:cNvSpPr>
            <a:spLocks noGrp="1"/>
          </p:cNvSpPr>
          <p:nvPr>
            <p:ph type="ftr" sz="quarter" idx="11"/>
          </p:nvPr>
        </p:nvSpPr>
        <p:spPr/>
        <p:txBody>
          <a:bodyPr/>
          <a:lstStyle/>
          <a:p>
            <a:r>
              <a:rPr lang="en-US"/>
              <a:t>Mrs Saranya Babu, Asst. Professor, GAT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Output </a:t>
            </a:r>
          </a:p>
        </p:txBody>
      </p:sp>
      <p:pic>
        <p:nvPicPr>
          <p:cNvPr id="5122" name="Picture 2"/>
          <p:cNvPicPr>
            <a:picLocks noGrp="1" noChangeAspect="1" noChangeArrowheads="1"/>
          </p:cNvPicPr>
          <p:nvPr>
            <p:ph idx="1"/>
          </p:nvPr>
        </p:nvPicPr>
        <p:blipFill>
          <a:blip r:embed="rId2"/>
          <a:stretch>
            <a:fillRect/>
          </a:stretch>
        </p:blipFill>
        <p:spPr bwMode="auto">
          <a:xfrm>
            <a:off x="2895600" y="1905000"/>
            <a:ext cx="5581650" cy="2939256"/>
          </a:xfrm>
          <a:prstGeom prst="rect">
            <a:avLst/>
          </a:prstGeom>
          <a:noFill/>
          <a:ln w="9525">
            <a:noFill/>
            <a:miter lim="800000"/>
            <a:headEnd/>
            <a:tailEnd/>
          </a:ln>
          <a:effectLst/>
        </p:spPr>
      </p:pic>
      <p:sp>
        <p:nvSpPr>
          <p:cNvPr id="3" name="Footer Placeholder 2">
            <a:extLst>
              <a:ext uri="{FF2B5EF4-FFF2-40B4-BE49-F238E27FC236}">
                <a16:creationId xmlns:a16="http://schemas.microsoft.com/office/drawing/2014/main" id="{293FABB4-8532-CA39-7B13-637DCAA5E519}"/>
              </a:ext>
            </a:extLst>
          </p:cNvPr>
          <p:cNvSpPr>
            <a:spLocks noGrp="1"/>
          </p:cNvSpPr>
          <p:nvPr>
            <p:ph type="ftr" sz="quarter" idx="11"/>
          </p:nvPr>
        </p:nvSpPr>
        <p:spPr/>
        <p:txBody>
          <a:bodyPr/>
          <a:lstStyle/>
          <a:p>
            <a:r>
              <a:rPr lang="en-US"/>
              <a:t>Mrs Saranya Babu, Asst. Professor, GAT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Structures using </a:t>
            </a:r>
            <a:r>
              <a:rPr lang="en-US" b="1" dirty="0" err="1">
                <a:solidFill>
                  <a:srgbClr val="FF0000"/>
                </a:solidFill>
              </a:rPr>
              <a:t>typedef</a:t>
            </a:r>
            <a:endParaRPr lang="en-US" b="1" dirty="0">
              <a:solidFill>
                <a:srgbClr val="FF0000"/>
              </a:solidFill>
            </a:endParaRPr>
          </a:p>
        </p:txBody>
      </p:sp>
      <p:sp>
        <p:nvSpPr>
          <p:cNvPr id="3" name="Content Placeholder 2"/>
          <p:cNvSpPr>
            <a:spLocks noGrp="1"/>
          </p:cNvSpPr>
          <p:nvPr>
            <p:ph idx="1"/>
          </p:nvPr>
        </p:nvSpPr>
        <p:spPr/>
        <p:txBody>
          <a:bodyPr/>
          <a:lstStyle/>
          <a:p>
            <a:pPr>
              <a:buNone/>
            </a:pPr>
            <a:r>
              <a:rPr lang="en-US" dirty="0">
                <a:latin typeface="Times New Roman" pitchFamily="18" charset="0"/>
                <a:cs typeface="Times New Roman" pitchFamily="18" charset="0"/>
              </a:rPr>
              <a:t>The structure defined using the keyword </a:t>
            </a:r>
            <a:r>
              <a:rPr lang="en-US" b="1" i="1" dirty="0" err="1">
                <a:latin typeface="Times New Roman" pitchFamily="18" charset="0"/>
                <a:cs typeface="Times New Roman" pitchFamily="18" charset="0"/>
              </a:rPr>
              <a:t>typedef</a:t>
            </a:r>
            <a:r>
              <a:rPr lang="en-US" b="1" i="1" dirty="0">
                <a:latin typeface="Times New Roman" pitchFamily="18" charset="0"/>
                <a:cs typeface="Times New Roman" pitchFamily="18" charset="0"/>
              </a:rPr>
              <a:t> </a:t>
            </a:r>
            <a:r>
              <a:rPr lang="en-US" dirty="0">
                <a:latin typeface="Times New Roman" pitchFamily="18" charset="0"/>
                <a:cs typeface="Times New Roman" pitchFamily="18" charset="0"/>
              </a:rPr>
              <a:t>is called type defined structure.</a:t>
            </a:r>
          </a:p>
          <a:p>
            <a:pPr>
              <a:buNone/>
            </a:pPr>
            <a:endParaRPr lang="en-US" dirty="0"/>
          </a:p>
        </p:txBody>
      </p:sp>
      <p:sp>
        <p:nvSpPr>
          <p:cNvPr id="4" name="Footer Placeholder 3">
            <a:extLst>
              <a:ext uri="{FF2B5EF4-FFF2-40B4-BE49-F238E27FC236}">
                <a16:creationId xmlns:a16="http://schemas.microsoft.com/office/drawing/2014/main" id="{A1FE5C83-A612-98EC-FB5A-C2815D62AC81}"/>
              </a:ext>
            </a:extLst>
          </p:cNvPr>
          <p:cNvSpPr>
            <a:spLocks noGrp="1"/>
          </p:cNvSpPr>
          <p:nvPr>
            <p:ph type="ftr" sz="quarter" idx="11"/>
          </p:nvPr>
        </p:nvSpPr>
        <p:spPr/>
        <p:txBody>
          <a:bodyPr/>
          <a:lstStyle/>
          <a:p>
            <a:r>
              <a:rPr lang="en-US"/>
              <a:t>Mrs Saranya Babu, Asst. Professor, GAT</a:t>
            </a: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endParaRPr lang="en-US"/>
          </a:p>
        </p:txBody>
      </p:sp>
      <p:sp>
        <p:nvSpPr>
          <p:cNvPr id="5" name="Content Placeholder 4"/>
          <p:cNvSpPr>
            <a:spLocks noGrp="1"/>
          </p:cNvSpPr>
          <p:nvPr>
            <p:ph sz="half" idx="1"/>
          </p:nvPr>
        </p:nvSpPr>
        <p:spPr/>
        <p:txBody>
          <a:bodyPr>
            <a:normAutofit/>
          </a:bodyPr>
          <a:lstStyle/>
          <a:p>
            <a:pPr>
              <a:buNone/>
            </a:pPr>
            <a:r>
              <a:rPr lang="en-US" sz="2200" b="1" dirty="0">
                <a:latin typeface="Times New Roman" pitchFamily="18" charset="0"/>
                <a:cs typeface="Times New Roman" pitchFamily="18" charset="0"/>
              </a:rPr>
              <a:t>Syntax:</a:t>
            </a:r>
            <a:endParaRPr lang="en-US" sz="2200" dirty="0">
              <a:latin typeface="Times New Roman" pitchFamily="18" charset="0"/>
              <a:cs typeface="Times New Roman" pitchFamily="18" charset="0"/>
            </a:endParaRPr>
          </a:p>
          <a:p>
            <a:pPr>
              <a:buNone/>
            </a:pPr>
            <a:r>
              <a:rPr lang="en-US" sz="2200" b="1" dirty="0" err="1">
                <a:solidFill>
                  <a:srgbClr val="FF0000"/>
                </a:solidFill>
                <a:latin typeface="Times New Roman" pitchFamily="18" charset="0"/>
                <a:cs typeface="Times New Roman" pitchFamily="18" charset="0"/>
              </a:rPr>
              <a:t>typedef</a:t>
            </a:r>
            <a:r>
              <a:rPr lang="en-US" sz="2200" b="1" dirty="0">
                <a:solidFill>
                  <a:srgbClr val="FF0000"/>
                </a:solidFill>
                <a:latin typeface="Times New Roman" pitchFamily="18" charset="0"/>
                <a:cs typeface="Times New Roman" pitchFamily="18" charset="0"/>
              </a:rPr>
              <a:t> </a:t>
            </a:r>
            <a:r>
              <a:rPr lang="en-US" sz="2200" b="1" dirty="0" err="1">
                <a:solidFill>
                  <a:srgbClr val="FF0000"/>
                </a:solidFill>
                <a:latin typeface="Times New Roman" pitchFamily="18" charset="0"/>
                <a:cs typeface="Times New Roman" pitchFamily="18" charset="0"/>
              </a:rPr>
              <a:t>struct</a:t>
            </a:r>
            <a:endParaRPr lang="en-US" sz="2200" b="1" dirty="0">
              <a:solidFill>
                <a:srgbClr val="FF0000"/>
              </a:solidFill>
              <a:latin typeface="Times New Roman" pitchFamily="18" charset="0"/>
              <a:cs typeface="Times New Roman" pitchFamily="18" charset="0"/>
            </a:endParaRPr>
          </a:p>
          <a:p>
            <a:pPr>
              <a:buNone/>
            </a:pPr>
            <a:r>
              <a:rPr lang="en-US" sz="2200" b="1" dirty="0">
                <a:latin typeface="Times New Roman" pitchFamily="18" charset="0"/>
                <a:cs typeface="Times New Roman" pitchFamily="18" charset="0"/>
              </a:rPr>
              <a:t>{</a:t>
            </a:r>
          </a:p>
          <a:p>
            <a:pPr lvl="1">
              <a:buNone/>
            </a:pPr>
            <a:r>
              <a:rPr lang="en-US" sz="2200" b="1" dirty="0" err="1">
                <a:latin typeface="Times New Roman" pitchFamily="18" charset="0"/>
                <a:cs typeface="Times New Roman" pitchFamily="18" charset="0"/>
              </a:rPr>
              <a:t>datatype</a:t>
            </a:r>
            <a:r>
              <a:rPr lang="en-US" sz="2200" b="1" dirty="0">
                <a:latin typeface="Times New Roman" pitchFamily="18" charset="0"/>
                <a:cs typeface="Times New Roman" pitchFamily="18" charset="0"/>
              </a:rPr>
              <a:t> member1;</a:t>
            </a:r>
          </a:p>
          <a:p>
            <a:pPr lvl="1">
              <a:buNone/>
            </a:pPr>
            <a:r>
              <a:rPr lang="en-US" sz="2200" b="1" dirty="0" err="1">
                <a:latin typeface="Times New Roman" pitchFamily="18" charset="0"/>
                <a:cs typeface="Times New Roman" pitchFamily="18" charset="0"/>
              </a:rPr>
              <a:t>datatype</a:t>
            </a:r>
            <a:r>
              <a:rPr lang="en-US" sz="2200" b="1" dirty="0">
                <a:latin typeface="Times New Roman" pitchFamily="18" charset="0"/>
                <a:cs typeface="Times New Roman" pitchFamily="18" charset="0"/>
              </a:rPr>
              <a:t> member2;</a:t>
            </a:r>
          </a:p>
          <a:p>
            <a:pPr lvl="1">
              <a:buNone/>
            </a:pPr>
            <a:r>
              <a:rPr lang="en-US" sz="2200" b="1" dirty="0">
                <a:latin typeface="Times New Roman" pitchFamily="18" charset="0"/>
                <a:cs typeface="Times New Roman" pitchFamily="18" charset="0"/>
              </a:rPr>
              <a:t>----------------------</a:t>
            </a:r>
          </a:p>
          <a:p>
            <a:pPr>
              <a:buNone/>
            </a:pPr>
            <a:r>
              <a:rPr lang="en-US" sz="2200" b="1" dirty="0">
                <a:latin typeface="Times New Roman" pitchFamily="18" charset="0"/>
                <a:cs typeface="Times New Roman" pitchFamily="18" charset="0"/>
              </a:rPr>
              <a:t>} </a:t>
            </a:r>
            <a:r>
              <a:rPr lang="en-US" sz="2200" b="1" dirty="0" err="1">
                <a:solidFill>
                  <a:srgbClr val="FF0000"/>
                </a:solidFill>
                <a:latin typeface="Times New Roman" pitchFamily="18" charset="0"/>
                <a:cs typeface="Times New Roman" pitchFamily="18" charset="0"/>
              </a:rPr>
              <a:t>tagName</a:t>
            </a:r>
            <a:r>
              <a:rPr lang="en-US" sz="2200" b="1" dirty="0">
                <a:solidFill>
                  <a:srgbClr val="FF0000"/>
                </a:solidFill>
                <a:latin typeface="Times New Roman" pitchFamily="18" charset="0"/>
                <a:cs typeface="Times New Roman" pitchFamily="18" charset="0"/>
              </a:rPr>
              <a:t> </a:t>
            </a:r>
            <a:r>
              <a:rPr lang="en-US" sz="2200" b="1" dirty="0">
                <a:latin typeface="Times New Roman" pitchFamily="18" charset="0"/>
                <a:cs typeface="Times New Roman" pitchFamily="18" charset="0"/>
              </a:rPr>
              <a:t>;</a:t>
            </a:r>
          </a:p>
          <a:p>
            <a:pPr>
              <a:buNone/>
            </a:pPr>
            <a:endParaRPr lang="en-US" sz="2200" dirty="0"/>
          </a:p>
        </p:txBody>
      </p:sp>
      <p:sp>
        <p:nvSpPr>
          <p:cNvPr id="6" name="Content Placeholder 5"/>
          <p:cNvSpPr>
            <a:spLocks noGrp="1"/>
          </p:cNvSpPr>
          <p:nvPr>
            <p:ph sz="half" idx="2"/>
          </p:nvPr>
        </p:nvSpPr>
        <p:spPr/>
        <p:txBody>
          <a:bodyPr>
            <a:normAutofit/>
          </a:bodyPr>
          <a:lstStyle/>
          <a:p>
            <a:pPr>
              <a:buNone/>
            </a:pPr>
            <a:r>
              <a:rPr lang="en-US" sz="2200" b="1" dirty="0">
                <a:latin typeface="Times New Roman" pitchFamily="18" charset="0"/>
                <a:cs typeface="Times New Roman" pitchFamily="18" charset="0"/>
              </a:rPr>
              <a:t>Example :</a:t>
            </a:r>
            <a:endParaRPr lang="en-US" sz="2200" dirty="0">
              <a:latin typeface="Times New Roman" pitchFamily="18" charset="0"/>
              <a:cs typeface="Times New Roman" pitchFamily="18" charset="0"/>
            </a:endParaRPr>
          </a:p>
          <a:p>
            <a:pPr>
              <a:buNone/>
            </a:pPr>
            <a:r>
              <a:rPr lang="en-US" sz="2200" b="1" dirty="0" err="1">
                <a:solidFill>
                  <a:srgbClr val="FF0000"/>
                </a:solidFill>
                <a:latin typeface="Times New Roman" pitchFamily="18" charset="0"/>
                <a:cs typeface="Times New Roman" pitchFamily="18" charset="0"/>
              </a:rPr>
              <a:t>typedef</a:t>
            </a:r>
            <a:r>
              <a:rPr lang="en-US" sz="2200" b="1" dirty="0">
                <a:solidFill>
                  <a:srgbClr val="FF0000"/>
                </a:solidFill>
                <a:latin typeface="Times New Roman" pitchFamily="18" charset="0"/>
                <a:cs typeface="Times New Roman" pitchFamily="18" charset="0"/>
              </a:rPr>
              <a:t> </a:t>
            </a:r>
            <a:r>
              <a:rPr lang="en-US" sz="2200" b="1" dirty="0" err="1">
                <a:solidFill>
                  <a:srgbClr val="FF0000"/>
                </a:solidFill>
                <a:latin typeface="Times New Roman" pitchFamily="18" charset="0"/>
                <a:cs typeface="Times New Roman" pitchFamily="18" charset="0"/>
              </a:rPr>
              <a:t>struct</a:t>
            </a:r>
            <a:endParaRPr lang="en-US" sz="2200" b="1" dirty="0">
              <a:solidFill>
                <a:srgbClr val="FF0000"/>
              </a:solidFill>
              <a:latin typeface="Times New Roman" pitchFamily="18" charset="0"/>
              <a:cs typeface="Times New Roman" pitchFamily="18" charset="0"/>
            </a:endParaRPr>
          </a:p>
          <a:p>
            <a:pPr>
              <a:buNone/>
            </a:pPr>
            <a:r>
              <a:rPr lang="en-US" sz="2200" b="1" dirty="0">
                <a:solidFill>
                  <a:srgbClr val="FF0000"/>
                </a:solidFill>
                <a:latin typeface="Times New Roman" pitchFamily="18" charset="0"/>
                <a:cs typeface="Times New Roman" pitchFamily="18" charset="0"/>
              </a:rPr>
              <a:t>{</a:t>
            </a:r>
          </a:p>
          <a:p>
            <a:pPr lvl="1">
              <a:buNone/>
            </a:pPr>
            <a:r>
              <a:rPr lang="en-US" sz="2200" b="1" dirty="0">
                <a:solidFill>
                  <a:srgbClr val="FF0000"/>
                </a:solidFill>
                <a:latin typeface="Times New Roman" pitchFamily="18" charset="0"/>
                <a:cs typeface="Times New Roman" pitchFamily="18" charset="0"/>
              </a:rPr>
              <a:t>char name[20];</a:t>
            </a:r>
          </a:p>
          <a:p>
            <a:pPr lvl="1">
              <a:buNone/>
            </a:pPr>
            <a:r>
              <a:rPr lang="en-US" sz="2200" b="1" dirty="0">
                <a:solidFill>
                  <a:srgbClr val="FF0000"/>
                </a:solidFill>
                <a:latin typeface="Times New Roman" pitchFamily="18" charset="0"/>
                <a:cs typeface="Times New Roman" pitchFamily="18" charset="0"/>
              </a:rPr>
              <a:t>float salary;</a:t>
            </a:r>
          </a:p>
          <a:p>
            <a:pPr lvl="1">
              <a:buNone/>
            </a:pPr>
            <a:r>
              <a:rPr lang="en-US" sz="2200" b="1" dirty="0" err="1">
                <a:solidFill>
                  <a:srgbClr val="FF0000"/>
                </a:solidFill>
                <a:latin typeface="Times New Roman" pitchFamily="18" charset="0"/>
                <a:cs typeface="Times New Roman" pitchFamily="18" charset="0"/>
              </a:rPr>
              <a:t>int</a:t>
            </a:r>
            <a:r>
              <a:rPr lang="en-US" sz="2200" b="1" dirty="0">
                <a:solidFill>
                  <a:srgbClr val="FF0000"/>
                </a:solidFill>
                <a:latin typeface="Times New Roman" pitchFamily="18" charset="0"/>
                <a:cs typeface="Times New Roman" pitchFamily="18" charset="0"/>
              </a:rPr>
              <a:t> </a:t>
            </a:r>
            <a:r>
              <a:rPr lang="en-US" sz="2200" b="1" dirty="0" err="1">
                <a:solidFill>
                  <a:srgbClr val="FF0000"/>
                </a:solidFill>
                <a:latin typeface="Times New Roman" pitchFamily="18" charset="0"/>
                <a:cs typeface="Times New Roman" pitchFamily="18" charset="0"/>
              </a:rPr>
              <a:t>empno</a:t>
            </a:r>
            <a:r>
              <a:rPr lang="en-US" sz="2200" b="1" dirty="0">
                <a:solidFill>
                  <a:srgbClr val="FF0000"/>
                </a:solidFill>
                <a:latin typeface="Times New Roman" pitchFamily="18" charset="0"/>
                <a:cs typeface="Times New Roman" pitchFamily="18" charset="0"/>
              </a:rPr>
              <a:t>;</a:t>
            </a:r>
          </a:p>
          <a:p>
            <a:pPr>
              <a:buNone/>
            </a:pPr>
            <a:r>
              <a:rPr lang="en-US" sz="2200" b="1" dirty="0">
                <a:solidFill>
                  <a:srgbClr val="FF0000"/>
                </a:solidFill>
                <a:latin typeface="Times New Roman" pitchFamily="18" charset="0"/>
                <a:cs typeface="Times New Roman" pitchFamily="18" charset="0"/>
              </a:rPr>
              <a:t>} employee;</a:t>
            </a:r>
          </a:p>
          <a:p>
            <a:pPr>
              <a:buNone/>
            </a:pPr>
            <a:endParaRPr lang="en-US" sz="2200" dirty="0"/>
          </a:p>
        </p:txBody>
      </p:sp>
      <p:sp>
        <p:nvSpPr>
          <p:cNvPr id="2" name="Footer Placeholder 1">
            <a:extLst>
              <a:ext uri="{FF2B5EF4-FFF2-40B4-BE49-F238E27FC236}">
                <a16:creationId xmlns:a16="http://schemas.microsoft.com/office/drawing/2014/main" id="{C8F7ED1C-408F-C843-23DA-91AFF47F8E8B}"/>
              </a:ext>
            </a:extLst>
          </p:cNvPr>
          <p:cNvSpPr>
            <a:spLocks noGrp="1"/>
          </p:cNvSpPr>
          <p:nvPr>
            <p:ph type="ftr" sz="quarter" idx="11"/>
          </p:nvPr>
        </p:nvSpPr>
        <p:spPr/>
        <p:txBody>
          <a:bodyPr/>
          <a:lstStyle/>
          <a:p>
            <a:r>
              <a:rPr lang="en-US"/>
              <a:t>Mrs Saranya Babu, Asst. Professor, GAT</a:t>
            </a: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90869" y="543339"/>
            <a:ext cx="8229600" cy="609600"/>
          </a:xfrm>
        </p:spPr>
        <p:txBody>
          <a:bodyPr>
            <a:noAutofit/>
          </a:bodyPr>
          <a:lstStyle/>
          <a:p>
            <a:r>
              <a:rPr lang="en-US" sz="2400" b="1" dirty="0">
                <a:solidFill>
                  <a:srgbClr val="FF0000"/>
                </a:solidFill>
              </a:rPr>
              <a:t>Example program using </a:t>
            </a:r>
            <a:r>
              <a:rPr lang="en-US" sz="2400" b="1" dirty="0" err="1">
                <a:solidFill>
                  <a:srgbClr val="FF0000"/>
                </a:solidFill>
              </a:rPr>
              <a:t>typedef</a:t>
            </a:r>
            <a:r>
              <a:rPr lang="en-US" sz="2400" b="1" dirty="0">
                <a:solidFill>
                  <a:srgbClr val="FF0000"/>
                </a:solidFill>
              </a:rPr>
              <a:t> in structures:</a:t>
            </a:r>
            <a:br>
              <a:rPr lang="en-US" sz="2400" dirty="0">
                <a:solidFill>
                  <a:srgbClr val="FF0000"/>
                </a:solidFill>
              </a:rPr>
            </a:br>
            <a:endParaRPr lang="en-US" sz="2400" dirty="0">
              <a:solidFill>
                <a:srgbClr val="FF0000"/>
              </a:solidFill>
            </a:endParaRPr>
          </a:p>
        </p:txBody>
      </p:sp>
      <p:sp>
        <p:nvSpPr>
          <p:cNvPr id="3" name="Content Placeholder 2"/>
          <p:cNvSpPr>
            <a:spLocks noGrp="1"/>
          </p:cNvSpPr>
          <p:nvPr>
            <p:ph idx="1"/>
          </p:nvPr>
        </p:nvSpPr>
        <p:spPr>
          <a:xfrm>
            <a:off x="1676400" y="1311964"/>
            <a:ext cx="8839200" cy="5546035"/>
          </a:xfrm>
        </p:spPr>
        <p:txBody>
          <a:bodyPr>
            <a:normAutofit/>
          </a:bodyPr>
          <a:lstStyle/>
          <a:p>
            <a:pPr>
              <a:buNone/>
            </a:pPr>
            <a:r>
              <a:rPr lang="en-US" sz="2200" b="1" dirty="0">
                <a:latin typeface="Times New Roman" pitchFamily="18" charset="0"/>
                <a:cs typeface="Times New Roman" pitchFamily="18" charset="0"/>
              </a:rPr>
              <a:t>#include&lt;</a:t>
            </a:r>
            <a:r>
              <a:rPr lang="en-US" sz="2200" b="1" dirty="0" err="1">
                <a:latin typeface="Times New Roman" pitchFamily="18" charset="0"/>
                <a:cs typeface="Times New Roman" pitchFamily="18" charset="0"/>
              </a:rPr>
              <a:t>stdio.h</a:t>
            </a:r>
            <a:r>
              <a:rPr lang="en-US" sz="2200" b="1" dirty="0">
                <a:latin typeface="Times New Roman" pitchFamily="18" charset="0"/>
                <a:cs typeface="Times New Roman" pitchFamily="18" charset="0"/>
              </a:rPr>
              <a:t>&gt;</a:t>
            </a:r>
          </a:p>
          <a:p>
            <a:pPr>
              <a:buNone/>
            </a:pPr>
            <a:r>
              <a:rPr lang="en-US" sz="2200" b="1" dirty="0" err="1">
                <a:solidFill>
                  <a:srgbClr val="FF0000"/>
                </a:solidFill>
                <a:latin typeface="Times New Roman" pitchFamily="18" charset="0"/>
                <a:cs typeface="Times New Roman" pitchFamily="18" charset="0"/>
              </a:rPr>
              <a:t>typedef</a:t>
            </a:r>
            <a:r>
              <a:rPr lang="en-US" sz="2200" b="1" dirty="0">
                <a:solidFill>
                  <a:srgbClr val="FF0000"/>
                </a:solidFill>
                <a:latin typeface="Times New Roman" pitchFamily="18" charset="0"/>
                <a:cs typeface="Times New Roman" pitchFamily="18" charset="0"/>
              </a:rPr>
              <a:t> </a:t>
            </a:r>
            <a:r>
              <a:rPr lang="en-US" sz="2200" b="1" dirty="0" err="1">
                <a:solidFill>
                  <a:srgbClr val="FF0000"/>
                </a:solidFill>
                <a:latin typeface="Times New Roman" pitchFamily="18" charset="0"/>
                <a:cs typeface="Times New Roman" pitchFamily="18" charset="0"/>
              </a:rPr>
              <a:t>struct</a:t>
            </a:r>
            <a:endParaRPr lang="en-US" sz="2200" b="1" dirty="0">
              <a:solidFill>
                <a:srgbClr val="FF0000"/>
              </a:solidFill>
              <a:latin typeface="Times New Roman" pitchFamily="18" charset="0"/>
              <a:cs typeface="Times New Roman" pitchFamily="18" charset="0"/>
            </a:endParaRPr>
          </a:p>
          <a:p>
            <a:pPr>
              <a:buNone/>
            </a:pPr>
            <a:r>
              <a:rPr lang="en-US" sz="2200" b="1" dirty="0">
                <a:solidFill>
                  <a:srgbClr val="FF0000"/>
                </a:solidFill>
                <a:latin typeface="Times New Roman" pitchFamily="18" charset="0"/>
                <a:cs typeface="Times New Roman" pitchFamily="18" charset="0"/>
              </a:rPr>
              <a:t>{</a:t>
            </a:r>
          </a:p>
          <a:p>
            <a:pPr lvl="1">
              <a:buNone/>
            </a:pPr>
            <a:r>
              <a:rPr lang="en-US" sz="2200" b="1" dirty="0">
                <a:solidFill>
                  <a:srgbClr val="FF0000"/>
                </a:solidFill>
                <a:latin typeface="Times New Roman" pitchFamily="18" charset="0"/>
                <a:cs typeface="Times New Roman" pitchFamily="18" charset="0"/>
              </a:rPr>
              <a:t>char name[20];</a:t>
            </a:r>
          </a:p>
          <a:p>
            <a:pPr lvl="1">
              <a:buNone/>
            </a:pPr>
            <a:r>
              <a:rPr lang="en-US" sz="2200" b="1" dirty="0">
                <a:solidFill>
                  <a:srgbClr val="FF0000"/>
                </a:solidFill>
                <a:latin typeface="Times New Roman" pitchFamily="18" charset="0"/>
                <a:cs typeface="Times New Roman" pitchFamily="18" charset="0"/>
              </a:rPr>
              <a:t>float salary;</a:t>
            </a:r>
          </a:p>
          <a:p>
            <a:pPr lvl="1">
              <a:buNone/>
            </a:pPr>
            <a:r>
              <a:rPr lang="en-US" sz="2200" b="1" dirty="0" err="1">
                <a:solidFill>
                  <a:srgbClr val="FF0000"/>
                </a:solidFill>
                <a:latin typeface="Times New Roman" pitchFamily="18" charset="0"/>
                <a:cs typeface="Times New Roman" pitchFamily="18" charset="0"/>
              </a:rPr>
              <a:t>int</a:t>
            </a:r>
            <a:r>
              <a:rPr lang="en-US" sz="2200" b="1" dirty="0">
                <a:solidFill>
                  <a:srgbClr val="FF0000"/>
                </a:solidFill>
                <a:latin typeface="Times New Roman" pitchFamily="18" charset="0"/>
                <a:cs typeface="Times New Roman" pitchFamily="18" charset="0"/>
              </a:rPr>
              <a:t> </a:t>
            </a:r>
            <a:r>
              <a:rPr lang="en-US" sz="2200" b="1" dirty="0" err="1">
                <a:solidFill>
                  <a:srgbClr val="FF0000"/>
                </a:solidFill>
                <a:latin typeface="Times New Roman" pitchFamily="18" charset="0"/>
                <a:cs typeface="Times New Roman" pitchFamily="18" charset="0"/>
              </a:rPr>
              <a:t>empno</a:t>
            </a:r>
            <a:r>
              <a:rPr lang="en-US" sz="2200" b="1" dirty="0">
                <a:solidFill>
                  <a:srgbClr val="FF0000"/>
                </a:solidFill>
                <a:latin typeface="Times New Roman" pitchFamily="18" charset="0"/>
                <a:cs typeface="Times New Roman" pitchFamily="18" charset="0"/>
              </a:rPr>
              <a:t>;</a:t>
            </a:r>
          </a:p>
          <a:p>
            <a:pPr>
              <a:buNone/>
            </a:pPr>
            <a:r>
              <a:rPr lang="en-US" sz="2200" b="1" dirty="0">
                <a:solidFill>
                  <a:srgbClr val="FF0000"/>
                </a:solidFill>
                <a:latin typeface="Times New Roman" pitchFamily="18" charset="0"/>
                <a:cs typeface="Times New Roman" pitchFamily="18" charset="0"/>
              </a:rPr>
              <a:t>} employee;</a:t>
            </a:r>
          </a:p>
          <a:p>
            <a:pPr>
              <a:buNone/>
            </a:pPr>
            <a:r>
              <a:rPr lang="en-US" sz="2200" b="1" dirty="0">
                <a:latin typeface="Times New Roman" pitchFamily="18" charset="0"/>
                <a:cs typeface="Times New Roman" pitchFamily="18" charset="0"/>
              </a:rPr>
              <a:t>void main()</a:t>
            </a:r>
          </a:p>
          <a:p>
            <a:pPr>
              <a:buNone/>
            </a:pPr>
            <a:r>
              <a:rPr lang="en-US" sz="2200" b="1" dirty="0">
                <a:latin typeface="Times New Roman" pitchFamily="18" charset="0"/>
                <a:cs typeface="Times New Roman" pitchFamily="18" charset="0"/>
              </a:rPr>
              <a:t>{</a:t>
            </a:r>
          </a:p>
          <a:p>
            <a:pPr lvl="1">
              <a:buNone/>
            </a:pPr>
            <a:r>
              <a:rPr lang="en-US" sz="2200" b="1" dirty="0">
                <a:solidFill>
                  <a:srgbClr val="FF0000"/>
                </a:solidFill>
                <a:latin typeface="Times New Roman" pitchFamily="18" charset="0"/>
                <a:cs typeface="Times New Roman" pitchFamily="18" charset="0"/>
              </a:rPr>
              <a:t>employee e={"Raj",1000,101};</a:t>
            </a:r>
          </a:p>
          <a:p>
            <a:pPr lvl="1">
              <a:buNone/>
            </a:pPr>
            <a:r>
              <a:rPr lang="en-US" sz="2200" b="1" dirty="0" err="1">
                <a:latin typeface="Times New Roman" pitchFamily="18" charset="0"/>
                <a:cs typeface="Times New Roman" pitchFamily="18" charset="0"/>
              </a:rPr>
              <a:t>printf</a:t>
            </a:r>
            <a:r>
              <a:rPr lang="en-US" sz="2200" b="1" dirty="0">
                <a:latin typeface="Times New Roman" pitchFamily="18" charset="0"/>
                <a:cs typeface="Times New Roman" pitchFamily="18" charset="0"/>
              </a:rPr>
              <a:t>("Employee name salary and number is\n");</a:t>
            </a:r>
          </a:p>
          <a:p>
            <a:pPr lvl="1">
              <a:buNone/>
            </a:pPr>
            <a:r>
              <a:rPr lang="en-US" sz="2200" b="1" dirty="0" err="1">
                <a:latin typeface="Times New Roman" pitchFamily="18" charset="0"/>
                <a:cs typeface="Times New Roman" pitchFamily="18" charset="0"/>
              </a:rPr>
              <a:t>printf</a:t>
            </a:r>
            <a:r>
              <a:rPr lang="en-US" sz="2200" b="1" dirty="0">
                <a:latin typeface="Times New Roman" pitchFamily="18" charset="0"/>
                <a:cs typeface="Times New Roman" pitchFamily="18" charset="0"/>
              </a:rPr>
              <a:t>("%s %f %</a:t>
            </a:r>
            <a:r>
              <a:rPr lang="en-US" sz="2200" b="1" dirty="0" err="1">
                <a:latin typeface="Times New Roman" pitchFamily="18" charset="0"/>
                <a:cs typeface="Times New Roman" pitchFamily="18" charset="0"/>
              </a:rPr>
              <a:t>d",e.name,e.salary,e.empno</a:t>
            </a:r>
            <a:r>
              <a:rPr lang="en-US" sz="2200" b="1" dirty="0">
                <a:latin typeface="Times New Roman" pitchFamily="18" charset="0"/>
                <a:cs typeface="Times New Roman" pitchFamily="18" charset="0"/>
              </a:rPr>
              <a:t>);</a:t>
            </a:r>
          </a:p>
          <a:p>
            <a:pPr>
              <a:buNone/>
            </a:pPr>
            <a:r>
              <a:rPr lang="en-US" sz="2200" b="1" dirty="0">
                <a:latin typeface="Times New Roman" pitchFamily="18" charset="0"/>
                <a:cs typeface="Times New Roman" pitchFamily="18" charset="0"/>
              </a:rPr>
              <a:t>}</a:t>
            </a:r>
          </a:p>
          <a:p>
            <a:pPr>
              <a:buNone/>
            </a:pPr>
            <a:endParaRPr lang="en-US" sz="2200" b="1" dirty="0">
              <a:latin typeface="Times New Roman" pitchFamily="18" charset="0"/>
              <a:cs typeface="Times New Roman" pitchFamily="18" charset="0"/>
            </a:endParaRPr>
          </a:p>
          <a:p>
            <a:pPr>
              <a:buNone/>
            </a:pPr>
            <a:endParaRPr lang="en-US" sz="2200" b="1" dirty="0">
              <a:latin typeface="Times New Roman" pitchFamily="18" charset="0"/>
              <a:cs typeface="Times New Roman" pitchFamily="18" charset="0"/>
            </a:endParaRPr>
          </a:p>
        </p:txBody>
      </p:sp>
      <p:sp>
        <p:nvSpPr>
          <p:cNvPr id="4" name="Footer Placeholder 3">
            <a:extLst>
              <a:ext uri="{FF2B5EF4-FFF2-40B4-BE49-F238E27FC236}">
                <a16:creationId xmlns:a16="http://schemas.microsoft.com/office/drawing/2014/main" id="{EFCF43F7-A39F-7314-55FE-7BB39747B916}"/>
              </a:ext>
            </a:extLst>
          </p:cNvPr>
          <p:cNvSpPr>
            <a:spLocks noGrp="1"/>
          </p:cNvSpPr>
          <p:nvPr>
            <p:ph type="ftr" sz="quarter" idx="11"/>
          </p:nvPr>
        </p:nvSpPr>
        <p:spPr/>
        <p:txBody>
          <a:bodyPr/>
          <a:lstStyle/>
          <a:p>
            <a:r>
              <a:rPr lang="en-US"/>
              <a:t>Mrs Saranya Babu, Asst. Professor, GAT</a:t>
            </a: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981200" y="0"/>
            <a:ext cx="8229600" cy="990600"/>
          </a:xfrm>
        </p:spPr>
        <p:txBody>
          <a:bodyPr>
            <a:normAutofit fontScale="90000"/>
          </a:bodyPr>
          <a:lstStyle/>
          <a:p>
            <a:r>
              <a:rPr lang="en-US" b="1" dirty="0">
                <a:solidFill>
                  <a:srgbClr val="FF0000"/>
                </a:solidFill>
              </a:rPr>
              <a:t>Difference between Arrays and Structures</a:t>
            </a:r>
          </a:p>
        </p:txBody>
      </p:sp>
      <p:sp>
        <p:nvSpPr>
          <p:cNvPr id="9" name="Content Placeholder 8"/>
          <p:cNvSpPr>
            <a:spLocks noGrp="1"/>
          </p:cNvSpPr>
          <p:nvPr>
            <p:ph idx="1"/>
          </p:nvPr>
        </p:nvSpPr>
        <p:spPr>
          <a:xfrm>
            <a:off x="1828800" y="685800"/>
            <a:ext cx="8382000" cy="6019800"/>
          </a:xfrm>
        </p:spPr>
        <p:txBody>
          <a:bodyPr/>
          <a:lstStyle/>
          <a:p>
            <a:pPr>
              <a:buNone/>
            </a:pPr>
            <a:endParaRPr lang="en-US" dirty="0"/>
          </a:p>
        </p:txBody>
      </p:sp>
      <p:graphicFrame>
        <p:nvGraphicFramePr>
          <p:cNvPr id="2051" name="Object 3"/>
          <p:cNvGraphicFramePr>
            <a:graphicFrameLocks noChangeAspect="1"/>
          </p:cNvGraphicFramePr>
          <p:nvPr/>
        </p:nvGraphicFramePr>
        <p:xfrm>
          <a:off x="2133104" y="1066800"/>
          <a:ext cx="8534896" cy="5791200"/>
        </p:xfrm>
        <a:graphic>
          <a:graphicData uri="http://schemas.openxmlformats.org/presentationml/2006/ole">
            <mc:AlternateContent xmlns:mc="http://schemas.openxmlformats.org/markup-compatibility/2006">
              <mc:Choice xmlns:v="urn:schemas-microsoft-com:vml" Requires="v">
                <p:oleObj name="Document" r:id="rId2" imgW="6084422" imgH="3548921" progId="Word.Document.12">
                  <p:embed/>
                </p:oleObj>
              </mc:Choice>
              <mc:Fallback>
                <p:oleObj name="Document" r:id="rId2" imgW="6084422" imgH="3548921" progId="Word.Document.12">
                  <p:embed/>
                  <p:pic>
                    <p:nvPicPr>
                      <p:cNvPr id="2051"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3104" y="1066800"/>
                        <a:ext cx="8534896" cy="579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Footer Placeholder 1">
            <a:extLst>
              <a:ext uri="{FF2B5EF4-FFF2-40B4-BE49-F238E27FC236}">
                <a16:creationId xmlns:a16="http://schemas.microsoft.com/office/drawing/2014/main" id="{5BB488FD-AFB1-97B3-1293-B97A02554CC6}"/>
              </a:ext>
            </a:extLst>
          </p:cNvPr>
          <p:cNvSpPr>
            <a:spLocks noGrp="1"/>
          </p:cNvSpPr>
          <p:nvPr>
            <p:ph type="ftr" sz="quarter" idx="11"/>
          </p:nvPr>
        </p:nvSpPr>
        <p:spPr/>
        <p:txBody>
          <a:bodyPr/>
          <a:lstStyle/>
          <a:p>
            <a:r>
              <a:rPr lang="en-US"/>
              <a:t>Mrs Saranya Babu, Asst. Professor, GAT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6E89CA-ED4F-F8A0-2FC8-77295712222B}"/>
              </a:ext>
            </a:extLst>
          </p:cNvPr>
          <p:cNvSpPr>
            <a:spLocks noGrp="1"/>
          </p:cNvSpPr>
          <p:nvPr>
            <p:ph type="title"/>
          </p:nvPr>
        </p:nvSpPr>
        <p:spPr>
          <a:xfrm>
            <a:off x="838200" y="365125"/>
            <a:ext cx="10515600" cy="827571"/>
          </a:xfrm>
        </p:spPr>
        <p:txBody>
          <a:bodyPr>
            <a:normAutofit/>
          </a:bodyPr>
          <a:lstStyle/>
          <a:p>
            <a:r>
              <a:rPr lang="en-US" sz="1800" b="1" dirty="0">
                <a:effectLst/>
                <a:latin typeface="Times New Roman" panose="02020603050405020304" pitchFamily="18" charset="0"/>
                <a:ea typeface="Georgia" panose="02040502050405020303" pitchFamily="18" charset="0"/>
              </a:rPr>
              <a:t>Write a C program to compare two student structures with data members name and marks and print if students are  same or different</a:t>
            </a:r>
            <a:endParaRPr lang="en-US" dirty="0"/>
          </a:p>
        </p:txBody>
      </p:sp>
      <p:sp>
        <p:nvSpPr>
          <p:cNvPr id="3" name="Content Placeholder 2">
            <a:extLst>
              <a:ext uri="{FF2B5EF4-FFF2-40B4-BE49-F238E27FC236}">
                <a16:creationId xmlns:a16="http://schemas.microsoft.com/office/drawing/2014/main" id="{6A5BA277-2601-4E37-A189-DBA93CBD03C8}"/>
              </a:ext>
            </a:extLst>
          </p:cNvPr>
          <p:cNvSpPr>
            <a:spLocks noGrp="1"/>
          </p:cNvSpPr>
          <p:nvPr>
            <p:ph idx="1"/>
          </p:nvPr>
        </p:nvSpPr>
        <p:spPr>
          <a:xfrm>
            <a:off x="838200" y="1192696"/>
            <a:ext cx="10515600" cy="5486400"/>
          </a:xfrm>
        </p:spPr>
        <p:txBody>
          <a:bodyPr>
            <a:normAutofit lnSpcReduction="10000"/>
          </a:bodyPr>
          <a:lstStyle/>
          <a:p>
            <a:pPr marL="0" indent="0" algn="just">
              <a:buNone/>
            </a:pPr>
            <a:r>
              <a:rPr lang="en-US" sz="1800" dirty="0">
                <a:effectLst/>
                <a:latin typeface="Times New Roman" panose="02020603050405020304" pitchFamily="18" charset="0"/>
                <a:ea typeface="Georgia" panose="02040502050405020303" pitchFamily="18" charset="0"/>
                <a:cs typeface="Georgia" panose="02040502050405020303" pitchFamily="18" charset="0"/>
              </a:rPr>
              <a:t>#include&lt;stdio.h&gt;</a:t>
            </a:r>
            <a:endParaRPr lang="en-US" sz="1800" dirty="0">
              <a:effectLst/>
              <a:latin typeface="Georgia" panose="02040502050405020303" pitchFamily="18" charset="0"/>
              <a:ea typeface="Georgia" panose="02040502050405020303" pitchFamily="18" charset="0"/>
              <a:cs typeface="Georgia" panose="02040502050405020303" pitchFamily="18" charset="0"/>
            </a:endParaRPr>
          </a:p>
          <a:p>
            <a:pPr marL="0" indent="0" algn="just">
              <a:buNone/>
            </a:pPr>
            <a:r>
              <a:rPr lang="en-US" sz="1800" dirty="0">
                <a:effectLst/>
                <a:latin typeface="Times New Roman" panose="02020603050405020304" pitchFamily="18" charset="0"/>
                <a:ea typeface="Georgia" panose="02040502050405020303" pitchFamily="18" charset="0"/>
                <a:cs typeface="Georgia" panose="02040502050405020303" pitchFamily="18" charset="0"/>
              </a:rPr>
              <a:t>#include&lt;string.h&gt;</a:t>
            </a:r>
            <a:endParaRPr lang="en-US" sz="1800" dirty="0">
              <a:effectLst/>
              <a:latin typeface="Georgia" panose="02040502050405020303" pitchFamily="18" charset="0"/>
              <a:ea typeface="Georgia" panose="02040502050405020303" pitchFamily="18" charset="0"/>
              <a:cs typeface="Georgia" panose="02040502050405020303" pitchFamily="18" charset="0"/>
            </a:endParaRPr>
          </a:p>
          <a:p>
            <a:pPr marL="0" indent="0" algn="just">
              <a:buNone/>
            </a:pPr>
            <a:r>
              <a:rPr lang="en-US" sz="1800" b="1" dirty="0">
                <a:effectLst/>
                <a:latin typeface="Times New Roman" panose="02020603050405020304" pitchFamily="18" charset="0"/>
                <a:ea typeface="Georgia" panose="02040502050405020303" pitchFamily="18" charset="0"/>
                <a:cs typeface="Georgia" panose="02040502050405020303" pitchFamily="18" charset="0"/>
              </a:rPr>
              <a:t>struct student</a:t>
            </a:r>
            <a:endParaRPr lang="en-US" sz="1800" dirty="0">
              <a:effectLst/>
              <a:latin typeface="Georgia" panose="02040502050405020303" pitchFamily="18" charset="0"/>
              <a:ea typeface="Georgia" panose="02040502050405020303" pitchFamily="18" charset="0"/>
              <a:cs typeface="Georgia" panose="02040502050405020303" pitchFamily="18" charset="0"/>
            </a:endParaRPr>
          </a:p>
          <a:p>
            <a:pPr marL="0" indent="0" algn="just">
              <a:buNone/>
            </a:pPr>
            <a:r>
              <a:rPr lang="en-US" sz="1800" b="1" dirty="0">
                <a:effectLst/>
                <a:latin typeface="Times New Roman" panose="02020603050405020304" pitchFamily="18" charset="0"/>
                <a:ea typeface="Georgia" panose="02040502050405020303" pitchFamily="18" charset="0"/>
                <a:cs typeface="Georgia" panose="02040502050405020303" pitchFamily="18" charset="0"/>
              </a:rPr>
              <a:t>{</a:t>
            </a:r>
            <a:endParaRPr lang="en-US" sz="1800" dirty="0">
              <a:effectLst/>
              <a:latin typeface="Georgia" panose="02040502050405020303" pitchFamily="18" charset="0"/>
              <a:ea typeface="Georgia" panose="02040502050405020303" pitchFamily="18" charset="0"/>
              <a:cs typeface="Georgia" panose="02040502050405020303" pitchFamily="18" charset="0"/>
            </a:endParaRPr>
          </a:p>
          <a:p>
            <a:pPr marL="0" indent="0" algn="just">
              <a:buNone/>
            </a:pPr>
            <a:r>
              <a:rPr lang="en-US" sz="1800" dirty="0">
                <a:effectLst/>
                <a:latin typeface="Times New Roman" panose="02020603050405020304" pitchFamily="18" charset="0"/>
                <a:ea typeface="Georgia" panose="02040502050405020303" pitchFamily="18" charset="0"/>
                <a:cs typeface="Georgia" panose="02040502050405020303" pitchFamily="18" charset="0"/>
              </a:rPr>
              <a:t>	char name[20];</a:t>
            </a:r>
            <a:endParaRPr lang="en-US" sz="1800" dirty="0">
              <a:effectLst/>
              <a:latin typeface="Georgia" panose="02040502050405020303" pitchFamily="18" charset="0"/>
              <a:ea typeface="Georgia" panose="02040502050405020303" pitchFamily="18" charset="0"/>
              <a:cs typeface="Georgia" panose="02040502050405020303" pitchFamily="18" charset="0"/>
            </a:endParaRPr>
          </a:p>
          <a:p>
            <a:pPr marL="0" indent="0" algn="just">
              <a:buNone/>
            </a:pPr>
            <a:r>
              <a:rPr lang="en-US" sz="1800" dirty="0">
                <a:effectLst/>
                <a:latin typeface="Times New Roman" panose="02020603050405020304" pitchFamily="18" charset="0"/>
                <a:ea typeface="Georgia" panose="02040502050405020303" pitchFamily="18" charset="0"/>
                <a:cs typeface="Georgia" panose="02040502050405020303" pitchFamily="18" charset="0"/>
              </a:rPr>
              <a:t>	int marks;</a:t>
            </a:r>
            <a:endParaRPr lang="en-US" sz="1800" dirty="0">
              <a:effectLst/>
              <a:latin typeface="Georgia" panose="02040502050405020303" pitchFamily="18" charset="0"/>
              <a:ea typeface="Georgia" panose="02040502050405020303" pitchFamily="18" charset="0"/>
              <a:cs typeface="Georgia" panose="02040502050405020303" pitchFamily="18" charset="0"/>
            </a:endParaRPr>
          </a:p>
          <a:p>
            <a:pPr marL="0" indent="0" algn="just">
              <a:buNone/>
            </a:pPr>
            <a:r>
              <a:rPr lang="en-US" sz="1800" b="1" dirty="0">
                <a:effectLst/>
                <a:latin typeface="Times New Roman" panose="02020603050405020304" pitchFamily="18" charset="0"/>
                <a:ea typeface="Georgia" panose="02040502050405020303" pitchFamily="18" charset="0"/>
                <a:cs typeface="Georgia" panose="02040502050405020303" pitchFamily="18" charset="0"/>
              </a:rPr>
              <a:t>};</a:t>
            </a:r>
          </a:p>
          <a:p>
            <a:pPr marL="0" indent="0" algn="just">
              <a:buNone/>
            </a:pPr>
            <a:r>
              <a:rPr lang="en-US" sz="1800" dirty="0">
                <a:effectLst/>
                <a:latin typeface="Georgia" panose="02040502050405020303" pitchFamily="18" charset="0"/>
                <a:ea typeface="Georgia" panose="02040502050405020303" pitchFamily="18" charset="0"/>
                <a:cs typeface="Georgia" panose="02040502050405020303" pitchFamily="18" charset="0"/>
              </a:rPr>
              <a:t>Void main()</a:t>
            </a:r>
          </a:p>
          <a:p>
            <a:pPr marL="0" indent="0" algn="just">
              <a:buNone/>
            </a:pPr>
            <a:r>
              <a:rPr lang="en-US" sz="1800" b="1" dirty="0">
                <a:effectLst/>
                <a:latin typeface="Times New Roman" panose="02020603050405020304" pitchFamily="18" charset="0"/>
                <a:ea typeface="Georgia" panose="02040502050405020303" pitchFamily="18" charset="0"/>
                <a:cs typeface="Georgia" panose="02040502050405020303" pitchFamily="18" charset="0"/>
              </a:rPr>
              <a:t>{</a:t>
            </a:r>
            <a:endParaRPr lang="en-US" sz="1800" dirty="0">
              <a:effectLst/>
              <a:latin typeface="Georgia" panose="02040502050405020303" pitchFamily="18" charset="0"/>
              <a:ea typeface="Georgia" panose="02040502050405020303" pitchFamily="18" charset="0"/>
              <a:cs typeface="Georgia" panose="02040502050405020303" pitchFamily="18" charset="0"/>
            </a:endParaRPr>
          </a:p>
          <a:p>
            <a:pPr marL="0" indent="0" algn="just">
              <a:buNone/>
            </a:pPr>
            <a:r>
              <a:rPr lang="en-US" sz="1800" dirty="0">
                <a:effectLst/>
                <a:latin typeface="Times New Roman" panose="02020603050405020304" pitchFamily="18" charset="0"/>
                <a:ea typeface="Georgia" panose="02040502050405020303" pitchFamily="18" charset="0"/>
                <a:cs typeface="Georgia" panose="02040502050405020303" pitchFamily="18" charset="0"/>
              </a:rPr>
              <a:t>	struct student s1,s2;</a:t>
            </a:r>
            <a:endParaRPr lang="en-US" sz="1800" dirty="0">
              <a:effectLst/>
              <a:latin typeface="Georgia" panose="02040502050405020303" pitchFamily="18" charset="0"/>
              <a:ea typeface="Georgia" panose="02040502050405020303" pitchFamily="18" charset="0"/>
              <a:cs typeface="Georgia" panose="02040502050405020303" pitchFamily="18" charset="0"/>
            </a:endParaRPr>
          </a:p>
          <a:p>
            <a:pPr marL="0" indent="0" algn="just">
              <a:buNone/>
            </a:pPr>
            <a:r>
              <a:rPr lang="en-US" sz="1800" dirty="0">
                <a:effectLst/>
                <a:latin typeface="Times New Roman" panose="02020603050405020304" pitchFamily="18" charset="0"/>
                <a:ea typeface="Georgia" panose="02040502050405020303" pitchFamily="18" charset="0"/>
                <a:cs typeface="Georgia" panose="02040502050405020303" pitchFamily="18" charset="0"/>
              </a:rPr>
              <a:t>	int result;</a:t>
            </a:r>
          </a:p>
          <a:p>
            <a:pPr marL="0" indent="0" algn="just">
              <a:buNone/>
            </a:pPr>
            <a:r>
              <a:rPr lang="en-US" sz="1800" dirty="0">
                <a:effectLst/>
                <a:latin typeface="Georgia" panose="02040502050405020303" pitchFamily="18" charset="0"/>
                <a:ea typeface="Georgia" panose="02040502050405020303" pitchFamily="18" charset="0"/>
                <a:cs typeface="Georgia" panose="02040502050405020303" pitchFamily="18" charset="0"/>
              </a:rPr>
              <a:t>	</a:t>
            </a:r>
            <a:r>
              <a:rPr lang="en-US" sz="1800" dirty="0" err="1">
                <a:effectLst/>
                <a:latin typeface="Georgia" panose="02040502050405020303" pitchFamily="18" charset="0"/>
                <a:ea typeface="Georgia" panose="02040502050405020303" pitchFamily="18" charset="0"/>
                <a:cs typeface="Georgia" panose="02040502050405020303" pitchFamily="18" charset="0"/>
              </a:rPr>
              <a:t>printf</a:t>
            </a:r>
            <a:r>
              <a:rPr lang="en-US" sz="1800" dirty="0">
                <a:effectLst/>
                <a:latin typeface="Georgia" panose="02040502050405020303" pitchFamily="18" charset="0"/>
                <a:ea typeface="Georgia" panose="02040502050405020303" pitchFamily="18" charset="0"/>
                <a:cs typeface="Georgia" panose="02040502050405020303" pitchFamily="18" charset="0"/>
              </a:rPr>
              <a:t> (“enter student1 name and marks”);</a:t>
            </a:r>
          </a:p>
          <a:p>
            <a:pPr marL="0" indent="0" algn="just">
              <a:buNone/>
            </a:pPr>
            <a:r>
              <a:rPr lang="en-US" sz="1800" dirty="0">
                <a:effectLst/>
                <a:latin typeface="Georgia" panose="02040502050405020303" pitchFamily="18" charset="0"/>
                <a:ea typeface="Georgia" panose="02040502050405020303" pitchFamily="18" charset="0"/>
                <a:cs typeface="Georgia" panose="02040502050405020303" pitchFamily="18" charset="0"/>
              </a:rPr>
              <a:t>	</a:t>
            </a:r>
            <a:r>
              <a:rPr lang="en-US" sz="1800" dirty="0" err="1">
                <a:effectLst/>
                <a:latin typeface="Georgia" panose="02040502050405020303" pitchFamily="18" charset="0"/>
                <a:ea typeface="Georgia" panose="02040502050405020303" pitchFamily="18" charset="0"/>
                <a:cs typeface="Georgia" panose="02040502050405020303" pitchFamily="18" charset="0"/>
              </a:rPr>
              <a:t>scanf</a:t>
            </a:r>
            <a:r>
              <a:rPr lang="en-US" sz="1800" dirty="0">
                <a:effectLst/>
                <a:latin typeface="Georgia" panose="02040502050405020303" pitchFamily="18" charset="0"/>
                <a:ea typeface="Georgia" panose="02040502050405020303" pitchFamily="18" charset="0"/>
                <a:cs typeface="Georgia" panose="02040502050405020303" pitchFamily="18" charset="0"/>
              </a:rPr>
              <a:t>(“%s %d”, s1.name,s1.marks);</a:t>
            </a:r>
          </a:p>
          <a:p>
            <a:pPr marL="0" indent="0" algn="just">
              <a:buNone/>
            </a:pPr>
            <a:r>
              <a:rPr lang="en-US" sz="1800" dirty="0">
                <a:effectLst/>
                <a:latin typeface="Georgia" panose="02040502050405020303" pitchFamily="18" charset="0"/>
                <a:ea typeface="Georgia" panose="02040502050405020303" pitchFamily="18" charset="0"/>
                <a:cs typeface="Georgia" panose="02040502050405020303" pitchFamily="18" charset="0"/>
              </a:rPr>
              <a:t>	</a:t>
            </a:r>
            <a:r>
              <a:rPr lang="en-US" sz="1800" dirty="0" err="1">
                <a:effectLst/>
                <a:latin typeface="Georgia" panose="02040502050405020303" pitchFamily="18" charset="0"/>
                <a:ea typeface="Georgia" panose="02040502050405020303" pitchFamily="18" charset="0"/>
                <a:cs typeface="Georgia" panose="02040502050405020303" pitchFamily="18" charset="0"/>
              </a:rPr>
              <a:t>printf</a:t>
            </a:r>
            <a:r>
              <a:rPr lang="en-US" sz="1800" dirty="0">
                <a:effectLst/>
                <a:latin typeface="Georgia" panose="02040502050405020303" pitchFamily="18" charset="0"/>
                <a:ea typeface="Georgia" panose="02040502050405020303" pitchFamily="18" charset="0"/>
                <a:cs typeface="Georgia" panose="02040502050405020303" pitchFamily="18" charset="0"/>
              </a:rPr>
              <a:t> (“enter student2 name and marks”);</a:t>
            </a:r>
          </a:p>
          <a:p>
            <a:pPr marL="0" indent="0" algn="just">
              <a:buNone/>
            </a:pPr>
            <a:r>
              <a:rPr lang="en-US" sz="1800" dirty="0">
                <a:effectLst/>
                <a:latin typeface="Georgia" panose="02040502050405020303" pitchFamily="18" charset="0"/>
                <a:ea typeface="Georgia" panose="02040502050405020303" pitchFamily="18" charset="0"/>
                <a:cs typeface="Georgia" panose="02040502050405020303" pitchFamily="18" charset="0"/>
              </a:rPr>
              <a:t>	</a:t>
            </a:r>
            <a:r>
              <a:rPr lang="en-US" sz="1800" dirty="0" err="1">
                <a:effectLst/>
                <a:latin typeface="Georgia" panose="02040502050405020303" pitchFamily="18" charset="0"/>
                <a:ea typeface="Georgia" panose="02040502050405020303" pitchFamily="18" charset="0"/>
                <a:cs typeface="Georgia" panose="02040502050405020303" pitchFamily="18" charset="0"/>
              </a:rPr>
              <a:t>scanf</a:t>
            </a:r>
            <a:r>
              <a:rPr lang="en-US" sz="1800" dirty="0">
                <a:effectLst/>
                <a:latin typeface="Georgia" panose="02040502050405020303" pitchFamily="18" charset="0"/>
                <a:ea typeface="Georgia" panose="02040502050405020303" pitchFamily="18" charset="0"/>
                <a:cs typeface="Georgia" panose="02040502050405020303" pitchFamily="18" charset="0"/>
              </a:rPr>
              <a:t>(“%s %d”, s2.name,s2.marks);</a:t>
            </a:r>
          </a:p>
          <a:p>
            <a:pPr marL="0" indent="0" algn="just">
              <a:buNone/>
            </a:pPr>
            <a:endParaRPr lang="en-US" sz="1800" dirty="0">
              <a:effectLst/>
              <a:latin typeface="Georgia" panose="02040502050405020303" pitchFamily="18" charset="0"/>
              <a:ea typeface="Georgia" panose="02040502050405020303" pitchFamily="18" charset="0"/>
              <a:cs typeface="Georgia" panose="02040502050405020303" pitchFamily="18" charset="0"/>
            </a:endParaRPr>
          </a:p>
          <a:p>
            <a:endParaRPr lang="en-US" dirty="0"/>
          </a:p>
        </p:txBody>
      </p:sp>
      <p:sp>
        <p:nvSpPr>
          <p:cNvPr id="4" name="Footer Placeholder 3">
            <a:extLst>
              <a:ext uri="{FF2B5EF4-FFF2-40B4-BE49-F238E27FC236}">
                <a16:creationId xmlns:a16="http://schemas.microsoft.com/office/drawing/2014/main" id="{80FDD8F7-4976-459F-A421-ED76A5D86218}"/>
              </a:ext>
            </a:extLst>
          </p:cNvPr>
          <p:cNvSpPr>
            <a:spLocks noGrp="1"/>
          </p:cNvSpPr>
          <p:nvPr>
            <p:ph type="ftr" sz="quarter" idx="11"/>
          </p:nvPr>
        </p:nvSpPr>
        <p:spPr/>
        <p:txBody>
          <a:bodyPr/>
          <a:lstStyle/>
          <a:p>
            <a:r>
              <a:rPr lang="en-US"/>
              <a:t>Mrs Saranya Babu, Asst. Professor, GAT</a:t>
            </a:r>
          </a:p>
        </p:txBody>
      </p:sp>
    </p:spTree>
    <p:extLst>
      <p:ext uri="{BB962C8B-B14F-4D97-AF65-F5344CB8AC3E}">
        <p14:creationId xmlns:p14="http://schemas.microsoft.com/office/powerpoint/2010/main" val="3087447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F08727-6646-B81B-25B3-D61E73ABE26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A2F2855-4475-33A0-271A-F96DE67ECA51}"/>
              </a:ext>
            </a:extLst>
          </p:cNvPr>
          <p:cNvSpPr>
            <a:spLocks noGrp="1"/>
          </p:cNvSpPr>
          <p:nvPr>
            <p:ph idx="1"/>
          </p:nvPr>
        </p:nvSpPr>
        <p:spPr/>
        <p:txBody>
          <a:bodyPr/>
          <a:lstStyle/>
          <a:p>
            <a:pPr marL="0" indent="0" algn="just">
              <a:buNone/>
            </a:pPr>
            <a:r>
              <a:rPr lang="en-US" sz="2400" b="1" dirty="0">
                <a:effectLst/>
                <a:latin typeface="Times New Roman" panose="02020603050405020304" pitchFamily="18" charset="0"/>
                <a:ea typeface="Georgia" panose="02040502050405020303" pitchFamily="18" charset="0"/>
                <a:cs typeface="Georgia" panose="02040502050405020303" pitchFamily="18" charset="0"/>
              </a:rPr>
              <a:t>result=</a:t>
            </a:r>
            <a:r>
              <a:rPr lang="en-US" sz="2400" b="1" dirty="0" err="1">
                <a:effectLst/>
                <a:latin typeface="Times New Roman" panose="02020603050405020304" pitchFamily="18" charset="0"/>
                <a:ea typeface="Georgia" panose="02040502050405020303" pitchFamily="18" charset="0"/>
                <a:cs typeface="Georgia" panose="02040502050405020303" pitchFamily="18" charset="0"/>
              </a:rPr>
              <a:t>strcmp</a:t>
            </a:r>
            <a:r>
              <a:rPr lang="en-US" sz="2400" b="1" dirty="0">
                <a:effectLst/>
                <a:latin typeface="Times New Roman" panose="02020603050405020304" pitchFamily="18" charset="0"/>
                <a:ea typeface="Georgia" panose="02040502050405020303" pitchFamily="18" charset="0"/>
                <a:cs typeface="Georgia" panose="02040502050405020303" pitchFamily="18" charset="0"/>
              </a:rPr>
              <a:t>(s1.name,s2.name);</a:t>
            </a:r>
          </a:p>
          <a:p>
            <a:pPr marL="0" indent="0" algn="just">
              <a:buNone/>
            </a:pPr>
            <a:endParaRPr lang="en-US" sz="2400" dirty="0">
              <a:effectLst/>
              <a:latin typeface="Georgia" panose="02040502050405020303" pitchFamily="18" charset="0"/>
              <a:ea typeface="Georgia" panose="02040502050405020303" pitchFamily="18" charset="0"/>
              <a:cs typeface="Georgia" panose="02040502050405020303" pitchFamily="18" charset="0"/>
            </a:endParaRPr>
          </a:p>
          <a:p>
            <a:pPr marL="0" indent="0" algn="just">
              <a:buNone/>
            </a:pPr>
            <a:r>
              <a:rPr lang="en-US" sz="2400" b="1" dirty="0">
                <a:effectLst/>
                <a:latin typeface="Times New Roman" panose="02020603050405020304" pitchFamily="18" charset="0"/>
                <a:ea typeface="Georgia" panose="02040502050405020303" pitchFamily="18" charset="0"/>
                <a:cs typeface="Georgia" panose="02040502050405020303" pitchFamily="18" charset="0"/>
              </a:rPr>
              <a:t>if(result==0 &amp;&amp; s1.marks==s2.marks)	</a:t>
            </a:r>
            <a:endParaRPr lang="en-US" sz="2400" dirty="0">
              <a:effectLst/>
              <a:latin typeface="Georgia" panose="02040502050405020303" pitchFamily="18" charset="0"/>
              <a:ea typeface="Georgia" panose="02040502050405020303" pitchFamily="18" charset="0"/>
              <a:cs typeface="Georgia" panose="02040502050405020303" pitchFamily="18" charset="0"/>
            </a:endParaRPr>
          </a:p>
          <a:p>
            <a:pPr indent="0" algn="just">
              <a:buNone/>
            </a:pPr>
            <a:r>
              <a:rPr lang="en-US" sz="2400" dirty="0">
                <a:effectLst/>
                <a:latin typeface="Times New Roman" panose="02020603050405020304" pitchFamily="18" charset="0"/>
                <a:ea typeface="Georgia" panose="02040502050405020303" pitchFamily="18" charset="0"/>
                <a:cs typeface="Georgia" panose="02040502050405020303" pitchFamily="18" charset="0"/>
              </a:rPr>
              <a:t>    </a:t>
            </a:r>
            <a:r>
              <a:rPr lang="en-US" sz="2400" dirty="0" err="1">
                <a:effectLst/>
                <a:latin typeface="Times New Roman" panose="02020603050405020304" pitchFamily="18" charset="0"/>
                <a:ea typeface="Georgia" panose="02040502050405020303" pitchFamily="18" charset="0"/>
                <a:cs typeface="Georgia" panose="02040502050405020303" pitchFamily="18" charset="0"/>
              </a:rPr>
              <a:t>printf</a:t>
            </a:r>
            <a:r>
              <a:rPr lang="en-US" sz="2400" dirty="0">
                <a:effectLst/>
                <a:latin typeface="Times New Roman" panose="02020603050405020304" pitchFamily="18" charset="0"/>
                <a:ea typeface="Georgia" panose="02040502050405020303" pitchFamily="18" charset="0"/>
                <a:cs typeface="Georgia" panose="02040502050405020303" pitchFamily="18" charset="0"/>
              </a:rPr>
              <a:t>("Students are same");</a:t>
            </a:r>
            <a:endParaRPr lang="en-US" sz="2400" dirty="0">
              <a:effectLst/>
              <a:latin typeface="Georgia" panose="02040502050405020303" pitchFamily="18" charset="0"/>
              <a:ea typeface="Georgia" panose="02040502050405020303" pitchFamily="18" charset="0"/>
              <a:cs typeface="Georgia" panose="02040502050405020303" pitchFamily="18" charset="0"/>
            </a:endParaRPr>
          </a:p>
          <a:p>
            <a:pPr marL="0" indent="0" algn="just">
              <a:buNone/>
            </a:pPr>
            <a:r>
              <a:rPr lang="en-US" sz="2400" dirty="0">
                <a:effectLst/>
                <a:latin typeface="Times New Roman" panose="02020603050405020304" pitchFamily="18" charset="0"/>
                <a:ea typeface="Georgia" panose="02040502050405020303" pitchFamily="18" charset="0"/>
                <a:cs typeface="Georgia" panose="02040502050405020303" pitchFamily="18" charset="0"/>
              </a:rPr>
              <a:t>else</a:t>
            </a:r>
            <a:endParaRPr lang="en-US" sz="2400" dirty="0">
              <a:effectLst/>
              <a:latin typeface="Georgia" panose="02040502050405020303" pitchFamily="18" charset="0"/>
              <a:ea typeface="Georgia" panose="02040502050405020303" pitchFamily="18" charset="0"/>
              <a:cs typeface="Georgia" panose="02040502050405020303" pitchFamily="18" charset="0"/>
            </a:endParaRPr>
          </a:p>
          <a:p>
            <a:pPr marL="0" indent="0" algn="just">
              <a:buNone/>
            </a:pPr>
            <a:r>
              <a:rPr lang="en-US" sz="2400" dirty="0">
                <a:effectLst/>
                <a:latin typeface="Times New Roman" panose="02020603050405020304" pitchFamily="18" charset="0"/>
                <a:ea typeface="Georgia" panose="02040502050405020303" pitchFamily="18" charset="0"/>
                <a:cs typeface="Georgia" panose="02040502050405020303" pitchFamily="18" charset="0"/>
              </a:rPr>
              <a:t>	</a:t>
            </a:r>
            <a:r>
              <a:rPr lang="en-US" sz="2400" dirty="0" err="1">
                <a:effectLst/>
                <a:latin typeface="Times New Roman" panose="02020603050405020304" pitchFamily="18" charset="0"/>
                <a:ea typeface="Georgia" panose="02040502050405020303" pitchFamily="18" charset="0"/>
                <a:cs typeface="Georgia" panose="02040502050405020303" pitchFamily="18" charset="0"/>
              </a:rPr>
              <a:t>printf</a:t>
            </a:r>
            <a:r>
              <a:rPr lang="en-US" sz="2400" dirty="0">
                <a:effectLst/>
                <a:latin typeface="Times New Roman" panose="02020603050405020304" pitchFamily="18" charset="0"/>
                <a:ea typeface="Georgia" panose="02040502050405020303" pitchFamily="18" charset="0"/>
                <a:cs typeface="Georgia" panose="02040502050405020303" pitchFamily="18" charset="0"/>
              </a:rPr>
              <a:t>("Students are different");</a:t>
            </a:r>
            <a:endParaRPr lang="en-US" sz="2400" dirty="0">
              <a:effectLst/>
              <a:latin typeface="Georgia" panose="02040502050405020303" pitchFamily="18" charset="0"/>
              <a:ea typeface="Georgia" panose="02040502050405020303" pitchFamily="18" charset="0"/>
              <a:cs typeface="Georgia" panose="02040502050405020303" pitchFamily="18" charset="0"/>
            </a:endParaRPr>
          </a:p>
          <a:p>
            <a:pPr marL="0" indent="0" algn="just">
              <a:buNone/>
            </a:pPr>
            <a:r>
              <a:rPr lang="en-US" sz="2400" dirty="0">
                <a:effectLst/>
                <a:latin typeface="Times New Roman" panose="02020603050405020304" pitchFamily="18" charset="0"/>
                <a:ea typeface="Georgia" panose="02040502050405020303" pitchFamily="18" charset="0"/>
                <a:cs typeface="Georgia" panose="02040502050405020303" pitchFamily="18" charset="0"/>
              </a:rPr>
              <a:t>}</a:t>
            </a:r>
            <a:endParaRPr lang="en-US" sz="2400" dirty="0">
              <a:effectLst/>
              <a:latin typeface="Georgia" panose="02040502050405020303" pitchFamily="18" charset="0"/>
              <a:ea typeface="Georgia" panose="02040502050405020303" pitchFamily="18" charset="0"/>
              <a:cs typeface="Georgia" panose="02040502050405020303" pitchFamily="18" charset="0"/>
            </a:endParaRPr>
          </a:p>
          <a:p>
            <a:endParaRPr lang="en-US" dirty="0"/>
          </a:p>
        </p:txBody>
      </p:sp>
      <p:sp>
        <p:nvSpPr>
          <p:cNvPr id="4" name="Footer Placeholder 3">
            <a:extLst>
              <a:ext uri="{FF2B5EF4-FFF2-40B4-BE49-F238E27FC236}">
                <a16:creationId xmlns:a16="http://schemas.microsoft.com/office/drawing/2014/main" id="{7525091F-C135-3026-8BF1-BB7B4F0EDA26}"/>
              </a:ext>
            </a:extLst>
          </p:cNvPr>
          <p:cNvSpPr>
            <a:spLocks noGrp="1"/>
          </p:cNvSpPr>
          <p:nvPr>
            <p:ph type="ftr" sz="quarter" idx="11"/>
          </p:nvPr>
        </p:nvSpPr>
        <p:spPr/>
        <p:txBody>
          <a:bodyPr/>
          <a:lstStyle/>
          <a:p>
            <a:r>
              <a:rPr lang="en-US"/>
              <a:t>Mrs Saranya Babu, Asst. Professor, GAT</a:t>
            </a:r>
          </a:p>
        </p:txBody>
      </p:sp>
    </p:spTree>
    <p:extLst>
      <p:ext uri="{BB962C8B-B14F-4D97-AF65-F5344CB8AC3E}">
        <p14:creationId xmlns:p14="http://schemas.microsoft.com/office/powerpoint/2010/main" val="26033861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7C790-4721-CD21-CE37-6093323CA192}"/>
              </a:ext>
            </a:extLst>
          </p:cNvPr>
          <p:cNvSpPr>
            <a:spLocks noGrp="1"/>
          </p:cNvSpPr>
          <p:nvPr>
            <p:ph type="title"/>
          </p:nvPr>
        </p:nvSpPr>
        <p:spPr>
          <a:xfrm>
            <a:off x="838200" y="365126"/>
            <a:ext cx="10515600" cy="469762"/>
          </a:xfrm>
        </p:spPr>
        <p:txBody>
          <a:bodyPr>
            <a:noAutofit/>
          </a:bodyPr>
          <a:lstStyle/>
          <a:p>
            <a:r>
              <a:rPr lang="en-US" sz="2800" b="1" dirty="0"/>
              <a:t>Program to add two distances in the inch-feet system using structures</a:t>
            </a:r>
          </a:p>
        </p:txBody>
      </p:sp>
      <p:sp>
        <p:nvSpPr>
          <p:cNvPr id="3" name="Content Placeholder 2">
            <a:extLst>
              <a:ext uri="{FF2B5EF4-FFF2-40B4-BE49-F238E27FC236}">
                <a16:creationId xmlns:a16="http://schemas.microsoft.com/office/drawing/2014/main" id="{FDFA046D-1DA1-C761-118C-7AD6AABFC6FC}"/>
              </a:ext>
            </a:extLst>
          </p:cNvPr>
          <p:cNvSpPr>
            <a:spLocks noGrp="1"/>
          </p:cNvSpPr>
          <p:nvPr>
            <p:ph idx="1"/>
          </p:nvPr>
        </p:nvSpPr>
        <p:spPr>
          <a:xfrm>
            <a:off x="838200" y="1205948"/>
            <a:ext cx="10515600" cy="5286926"/>
          </a:xfrm>
        </p:spPr>
        <p:txBody>
          <a:bodyPr>
            <a:normAutofit fontScale="92500" lnSpcReduction="20000"/>
          </a:bodyPr>
          <a:lstStyle/>
          <a:p>
            <a:pPr marL="0" indent="0">
              <a:buNone/>
            </a:pPr>
            <a:r>
              <a:rPr lang="en-US" sz="1900" dirty="0"/>
              <a:t>#include &lt;</a:t>
            </a:r>
            <a:r>
              <a:rPr lang="en-US" sz="1900" dirty="0" err="1"/>
              <a:t>stdio.h</a:t>
            </a:r>
            <a:r>
              <a:rPr lang="en-US" sz="1900" dirty="0"/>
              <a:t>&gt;</a:t>
            </a:r>
          </a:p>
          <a:p>
            <a:pPr marL="0" indent="0">
              <a:buNone/>
            </a:pPr>
            <a:r>
              <a:rPr lang="en-US" sz="1900" dirty="0"/>
              <a:t>struct Distance</a:t>
            </a:r>
          </a:p>
          <a:p>
            <a:pPr marL="0" indent="0">
              <a:buNone/>
            </a:pPr>
            <a:r>
              <a:rPr lang="en-US" sz="1900" dirty="0"/>
              <a:t> {</a:t>
            </a:r>
          </a:p>
          <a:p>
            <a:pPr marL="0" indent="0">
              <a:buNone/>
            </a:pPr>
            <a:r>
              <a:rPr lang="en-US" sz="1900" dirty="0"/>
              <a:t>	 int feet;</a:t>
            </a:r>
          </a:p>
          <a:p>
            <a:pPr marL="0" indent="0">
              <a:buNone/>
            </a:pPr>
            <a:r>
              <a:rPr lang="en-US" sz="1900" dirty="0"/>
              <a:t>   	float inch;</a:t>
            </a:r>
          </a:p>
          <a:p>
            <a:pPr marL="0" indent="0">
              <a:buNone/>
            </a:pPr>
            <a:r>
              <a:rPr lang="en-US" sz="1900" dirty="0"/>
              <a:t>} d1, d2, result;</a:t>
            </a:r>
          </a:p>
          <a:p>
            <a:pPr marL="0" indent="0">
              <a:buNone/>
            </a:pPr>
            <a:endParaRPr lang="en-US" sz="1900" dirty="0"/>
          </a:p>
          <a:p>
            <a:pPr marL="0" indent="0">
              <a:buNone/>
            </a:pPr>
            <a:r>
              <a:rPr lang="en-US" sz="1900" dirty="0"/>
              <a:t>int main()</a:t>
            </a:r>
          </a:p>
          <a:p>
            <a:pPr marL="0" indent="0">
              <a:buNone/>
            </a:pPr>
            <a:r>
              <a:rPr lang="en-US" sz="1900" dirty="0"/>
              <a:t> {</a:t>
            </a:r>
          </a:p>
          <a:p>
            <a:pPr marL="0" indent="0">
              <a:buNone/>
            </a:pPr>
            <a:r>
              <a:rPr lang="en-US" sz="1900" dirty="0">
                <a:solidFill>
                  <a:srgbClr val="00B050"/>
                </a:solidFill>
              </a:rPr>
              <a:t>   // take first distance input</a:t>
            </a:r>
          </a:p>
          <a:p>
            <a:pPr marL="0" indent="0">
              <a:buNone/>
            </a:pPr>
            <a:r>
              <a:rPr lang="en-US" sz="1900" dirty="0"/>
              <a:t>   </a:t>
            </a:r>
            <a:r>
              <a:rPr lang="en-US" sz="1900" dirty="0" err="1"/>
              <a:t>printf</a:t>
            </a:r>
            <a:r>
              <a:rPr lang="en-US" sz="1900" dirty="0"/>
              <a:t>("Enter 1st distance\n");</a:t>
            </a:r>
          </a:p>
          <a:p>
            <a:pPr marL="0" indent="0">
              <a:buNone/>
            </a:pPr>
            <a:r>
              <a:rPr lang="en-US" sz="1900" dirty="0"/>
              <a:t>   </a:t>
            </a:r>
            <a:r>
              <a:rPr lang="en-US" sz="1900" dirty="0" err="1"/>
              <a:t>printf</a:t>
            </a:r>
            <a:r>
              <a:rPr lang="en-US" sz="1900" dirty="0"/>
              <a:t>("Enter feet: ");</a:t>
            </a:r>
          </a:p>
          <a:p>
            <a:pPr marL="0" indent="0">
              <a:buNone/>
            </a:pPr>
            <a:r>
              <a:rPr lang="en-US" sz="1900" dirty="0"/>
              <a:t>   </a:t>
            </a:r>
            <a:r>
              <a:rPr lang="en-US" sz="1900" dirty="0" err="1"/>
              <a:t>scanf</a:t>
            </a:r>
            <a:r>
              <a:rPr lang="en-US" sz="1900" dirty="0"/>
              <a:t>("%d", &amp;d1.feet);</a:t>
            </a:r>
          </a:p>
          <a:p>
            <a:pPr marL="0" indent="0">
              <a:buNone/>
            </a:pPr>
            <a:r>
              <a:rPr lang="en-US" sz="1900" dirty="0"/>
              <a:t>   </a:t>
            </a:r>
            <a:r>
              <a:rPr lang="en-US" sz="1900" dirty="0" err="1"/>
              <a:t>printf</a:t>
            </a:r>
            <a:r>
              <a:rPr lang="en-US" sz="1900" dirty="0"/>
              <a:t>("Enter inch: ");</a:t>
            </a:r>
          </a:p>
          <a:p>
            <a:pPr marL="0" indent="0">
              <a:buNone/>
            </a:pPr>
            <a:r>
              <a:rPr lang="en-US" sz="1900" dirty="0"/>
              <a:t>   </a:t>
            </a:r>
            <a:r>
              <a:rPr lang="en-US" sz="1900" dirty="0" err="1"/>
              <a:t>scanf</a:t>
            </a:r>
            <a:r>
              <a:rPr lang="en-US" sz="1900" dirty="0"/>
              <a:t>("%f", &amp;d1.inch);</a:t>
            </a:r>
          </a:p>
          <a:p>
            <a:pPr marL="0" indent="0">
              <a:buNone/>
            </a:pPr>
            <a:r>
              <a:rPr lang="en-US" sz="1600" dirty="0"/>
              <a:t> </a:t>
            </a:r>
          </a:p>
        </p:txBody>
      </p:sp>
      <p:sp>
        <p:nvSpPr>
          <p:cNvPr id="4" name="Footer Placeholder 3">
            <a:extLst>
              <a:ext uri="{FF2B5EF4-FFF2-40B4-BE49-F238E27FC236}">
                <a16:creationId xmlns:a16="http://schemas.microsoft.com/office/drawing/2014/main" id="{EA1F0141-F245-3305-8F23-869E0CA52C91}"/>
              </a:ext>
            </a:extLst>
          </p:cNvPr>
          <p:cNvSpPr>
            <a:spLocks noGrp="1"/>
          </p:cNvSpPr>
          <p:nvPr>
            <p:ph type="ftr" sz="quarter" idx="11"/>
          </p:nvPr>
        </p:nvSpPr>
        <p:spPr/>
        <p:txBody>
          <a:bodyPr/>
          <a:lstStyle/>
          <a:p>
            <a:r>
              <a:rPr lang="en-US"/>
              <a:t>Mrs Saranya Babu, Asst. Professor, GAT</a:t>
            </a:r>
          </a:p>
        </p:txBody>
      </p:sp>
    </p:spTree>
    <p:extLst>
      <p:ext uri="{BB962C8B-B14F-4D97-AF65-F5344CB8AC3E}">
        <p14:creationId xmlns:p14="http://schemas.microsoft.com/office/powerpoint/2010/main" val="3711503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E744404-52C8-1BD7-1455-DA92009AF01A}"/>
              </a:ext>
            </a:extLst>
          </p:cNvPr>
          <p:cNvSpPr>
            <a:spLocks noGrp="1"/>
          </p:cNvSpPr>
          <p:nvPr>
            <p:ph idx="1"/>
          </p:nvPr>
        </p:nvSpPr>
        <p:spPr>
          <a:xfrm>
            <a:off x="838200" y="291548"/>
            <a:ext cx="10515600" cy="6387548"/>
          </a:xfrm>
        </p:spPr>
        <p:txBody>
          <a:bodyPr>
            <a:normAutofit fontScale="62500" lnSpcReduction="20000"/>
          </a:bodyPr>
          <a:lstStyle/>
          <a:p>
            <a:pPr marL="0" indent="0">
              <a:buNone/>
            </a:pPr>
            <a:r>
              <a:rPr lang="en-US" dirty="0">
                <a:solidFill>
                  <a:srgbClr val="00B050"/>
                </a:solidFill>
              </a:rPr>
              <a:t> // take second distance input</a:t>
            </a:r>
          </a:p>
          <a:p>
            <a:pPr marL="0" indent="0">
              <a:buNone/>
            </a:pPr>
            <a:r>
              <a:rPr lang="en-US" dirty="0"/>
              <a:t>   </a:t>
            </a:r>
            <a:r>
              <a:rPr lang="en-US" dirty="0" err="1"/>
              <a:t>printf</a:t>
            </a:r>
            <a:r>
              <a:rPr lang="en-US" dirty="0"/>
              <a:t>("\</a:t>
            </a:r>
            <a:r>
              <a:rPr lang="en-US" dirty="0" err="1"/>
              <a:t>nEnter</a:t>
            </a:r>
            <a:r>
              <a:rPr lang="en-US" dirty="0"/>
              <a:t> 2nd distance\n");</a:t>
            </a:r>
          </a:p>
          <a:p>
            <a:pPr marL="0" indent="0">
              <a:buNone/>
            </a:pPr>
            <a:r>
              <a:rPr lang="en-US" dirty="0"/>
              <a:t>   </a:t>
            </a:r>
            <a:r>
              <a:rPr lang="en-US" dirty="0" err="1"/>
              <a:t>printf</a:t>
            </a:r>
            <a:r>
              <a:rPr lang="en-US" dirty="0"/>
              <a:t>("Enter feet: ");</a:t>
            </a:r>
          </a:p>
          <a:p>
            <a:pPr marL="0" indent="0">
              <a:buNone/>
            </a:pPr>
            <a:r>
              <a:rPr lang="en-US" dirty="0"/>
              <a:t>   </a:t>
            </a:r>
            <a:r>
              <a:rPr lang="en-US" dirty="0" err="1"/>
              <a:t>scanf</a:t>
            </a:r>
            <a:r>
              <a:rPr lang="en-US" dirty="0"/>
              <a:t>("%d", &amp;d2.feet);</a:t>
            </a:r>
          </a:p>
          <a:p>
            <a:pPr marL="0" indent="0">
              <a:buNone/>
            </a:pPr>
            <a:r>
              <a:rPr lang="en-US" dirty="0"/>
              <a:t>   </a:t>
            </a:r>
            <a:r>
              <a:rPr lang="en-US" dirty="0" err="1"/>
              <a:t>printf</a:t>
            </a:r>
            <a:r>
              <a:rPr lang="en-US" dirty="0"/>
              <a:t>("Enter inch: ");</a:t>
            </a:r>
          </a:p>
          <a:p>
            <a:pPr marL="0" indent="0">
              <a:buNone/>
            </a:pPr>
            <a:r>
              <a:rPr lang="en-US" dirty="0"/>
              <a:t>   </a:t>
            </a:r>
            <a:r>
              <a:rPr lang="en-US" dirty="0" err="1"/>
              <a:t>scanf</a:t>
            </a:r>
            <a:r>
              <a:rPr lang="en-US" dirty="0"/>
              <a:t>("%f", &amp;d2.inch);</a:t>
            </a:r>
          </a:p>
          <a:p>
            <a:pPr marL="0" indent="0">
              <a:buNone/>
            </a:pPr>
            <a:r>
              <a:rPr lang="en-US" dirty="0"/>
              <a:t>   </a:t>
            </a:r>
          </a:p>
          <a:p>
            <a:pPr marL="0" indent="0">
              <a:buNone/>
            </a:pPr>
            <a:r>
              <a:rPr lang="en-US" dirty="0">
                <a:solidFill>
                  <a:srgbClr val="00B050"/>
                </a:solidFill>
              </a:rPr>
              <a:t>   // adding distances</a:t>
            </a:r>
          </a:p>
          <a:p>
            <a:pPr marL="0" indent="0">
              <a:buNone/>
            </a:pPr>
            <a:r>
              <a:rPr lang="en-US" dirty="0"/>
              <a:t>   </a:t>
            </a:r>
            <a:r>
              <a:rPr lang="en-US" dirty="0" err="1"/>
              <a:t>result.feet</a:t>
            </a:r>
            <a:r>
              <a:rPr lang="en-US" dirty="0"/>
              <a:t> = d1.feet + d2.feet;</a:t>
            </a:r>
          </a:p>
          <a:p>
            <a:pPr marL="0" indent="0">
              <a:buNone/>
            </a:pPr>
            <a:r>
              <a:rPr lang="en-US" dirty="0"/>
              <a:t>   </a:t>
            </a:r>
            <a:r>
              <a:rPr lang="en-US" dirty="0" err="1"/>
              <a:t>result.inch</a:t>
            </a:r>
            <a:r>
              <a:rPr lang="en-US" dirty="0"/>
              <a:t> = d1.inch + d2.inch;</a:t>
            </a:r>
          </a:p>
          <a:p>
            <a:pPr marL="0" indent="0">
              <a:buNone/>
            </a:pPr>
            <a:endParaRPr lang="en-US" dirty="0"/>
          </a:p>
          <a:p>
            <a:pPr marL="0" indent="0">
              <a:buNone/>
            </a:pPr>
            <a:r>
              <a:rPr lang="en-US" dirty="0">
                <a:solidFill>
                  <a:srgbClr val="00B050"/>
                </a:solidFill>
              </a:rPr>
              <a:t>   // convert inches to feet if greater than 12</a:t>
            </a:r>
          </a:p>
          <a:p>
            <a:pPr marL="0" indent="0">
              <a:buNone/>
            </a:pPr>
            <a:r>
              <a:rPr lang="en-US" dirty="0"/>
              <a:t>   while (</a:t>
            </a:r>
            <a:r>
              <a:rPr lang="en-US" dirty="0" err="1"/>
              <a:t>result.inch</a:t>
            </a:r>
            <a:r>
              <a:rPr lang="en-US" dirty="0"/>
              <a:t> &gt;= 12.0) </a:t>
            </a:r>
          </a:p>
          <a:p>
            <a:pPr marL="0" indent="0">
              <a:buNone/>
            </a:pPr>
            <a:r>
              <a:rPr lang="en-US" dirty="0"/>
              <a:t>{</a:t>
            </a:r>
          </a:p>
          <a:p>
            <a:pPr marL="0" indent="0">
              <a:buNone/>
            </a:pPr>
            <a:r>
              <a:rPr lang="en-US" dirty="0"/>
              <a:t>      </a:t>
            </a:r>
            <a:r>
              <a:rPr lang="en-US" dirty="0" err="1"/>
              <a:t>result.inch</a:t>
            </a:r>
            <a:r>
              <a:rPr lang="en-US" dirty="0"/>
              <a:t> = </a:t>
            </a:r>
            <a:r>
              <a:rPr lang="en-US" dirty="0" err="1"/>
              <a:t>result.inch</a:t>
            </a:r>
            <a:r>
              <a:rPr lang="en-US" dirty="0"/>
              <a:t> - 12.0;</a:t>
            </a:r>
          </a:p>
          <a:p>
            <a:pPr marL="0" indent="0">
              <a:buNone/>
            </a:pPr>
            <a:r>
              <a:rPr lang="en-US" dirty="0"/>
              <a:t>      ++</a:t>
            </a:r>
            <a:r>
              <a:rPr lang="en-US" dirty="0" err="1"/>
              <a:t>result.feet</a:t>
            </a:r>
            <a:r>
              <a:rPr lang="en-US" dirty="0"/>
              <a:t>;</a:t>
            </a:r>
          </a:p>
          <a:p>
            <a:pPr marL="0" indent="0">
              <a:buNone/>
            </a:pPr>
            <a:r>
              <a:rPr lang="en-US" dirty="0"/>
              <a:t>   }</a:t>
            </a:r>
          </a:p>
          <a:p>
            <a:pPr marL="0" indent="0">
              <a:buNone/>
            </a:pPr>
            <a:r>
              <a:rPr lang="en-US" dirty="0"/>
              <a:t>   </a:t>
            </a:r>
            <a:r>
              <a:rPr lang="en-US" dirty="0" err="1"/>
              <a:t>printf</a:t>
            </a:r>
            <a:r>
              <a:rPr lang="en-US" dirty="0"/>
              <a:t>("\</a:t>
            </a:r>
            <a:r>
              <a:rPr lang="en-US" dirty="0" err="1"/>
              <a:t>nSum</a:t>
            </a:r>
            <a:r>
              <a:rPr lang="en-US" dirty="0"/>
              <a:t> of distances = %d\'-%.1f\"", </a:t>
            </a:r>
            <a:r>
              <a:rPr lang="en-US" dirty="0" err="1"/>
              <a:t>result.feet</a:t>
            </a:r>
            <a:r>
              <a:rPr lang="en-US" dirty="0"/>
              <a:t>, </a:t>
            </a:r>
            <a:r>
              <a:rPr lang="en-US" dirty="0" err="1"/>
              <a:t>result.inch</a:t>
            </a:r>
            <a:r>
              <a:rPr lang="en-US" dirty="0"/>
              <a:t>);</a:t>
            </a:r>
          </a:p>
          <a:p>
            <a:pPr marL="0" indent="0">
              <a:buNone/>
            </a:pPr>
            <a:r>
              <a:rPr lang="en-US" dirty="0"/>
              <a:t>   return 0;</a:t>
            </a:r>
          </a:p>
          <a:p>
            <a:pPr marL="0" indent="0">
              <a:buNone/>
            </a:pPr>
            <a:r>
              <a:rPr lang="en-US" dirty="0"/>
              <a:t>}</a:t>
            </a:r>
          </a:p>
        </p:txBody>
      </p:sp>
      <p:sp>
        <p:nvSpPr>
          <p:cNvPr id="2" name="Footer Placeholder 1">
            <a:extLst>
              <a:ext uri="{FF2B5EF4-FFF2-40B4-BE49-F238E27FC236}">
                <a16:creationId xmlns:a16="http://schemas.microsoft.com/office/drawing/2014/main" id="{DC03585D-8AF1-AE8A-AD96-CCA7FDD58AD4}"/>
              </a:ext>
            </a:extLst>
          </p:cNvPr>
          <p:cNvSpPr>
            <a:spLocks noGrp="1"/>
          </p:cNvSpPr>
          <p:nvPr>
            <p:ph type="ftr" sz="quarter" idx="11"/>
          </p:nvPr>
        </p:nvSpPr>
        <p:spPr/>
        <p:txBody>
          <a:bodyPr/>
          <a:lstStyle/>
          <a:p>
            <a:r>
              <a:rPr lang="en-US"/>
              <a:t>Mrs Saranya Babu, Asst. Professor, GAT</a:t>
            </a:r>
          </a:p>
        </p:txBody>
      </p:sp>
    </p:spTree>
    <p:extLst>
      <p:ext uri="{BB962C8B-B14F-4D97-AF65-F5344CB8AC3E}">
        <p14:creationId xmlns:p14="http://schemas.microsoft.com/office/powerpoint/2010/main" val="247722543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E7686E-E4B4-DE13-2980-6B561A1145ED}"/>
              </a:ext>
            </a:extLst>
          </p:cNvPr>
          <p:cNvSpPr>
            <a:spLocks noGrp="1"/>
          </p:cNvSpPr>
          <p:nvPr>
            <p:ph type="ctrTitle"/>
          </p:nvPr>
        </p:nvSpPr>
        <p:spPr/>
        <p:txBody>
          <a:bodyPr/>
          <a:lstStyle/>
          <a:p>
            <a:r>
              <a:rPr lang="en-US" dirty="0"/>
              <a:t>Files </a:t>
            </a:r>
          </a:p>
        </p:txBody>
      </p:sp>
      <p:sp>
        <p:nvSpPr>
          <p:cNvPr id="3" name="Subtitle 2">
            <a:extLst>
              <a:ext uri="{FF2B5EF4-FFF2-40B4-BE49-F238E27FC236}">
                <a16:creationId xmlns:a16="http://schemas.microsoft.com/office/drawing/2014/main" id="{102ED3FA-5200-9D9B-1E65-42F48C04F1C3}"/>
              </a:ext>
            </a:extLst>
          </p:cNvPr>
          <p:cNvSpPr>
            <a:spLocks noGrp="1"/>
          </p:cNvSpPr>
          <p:nvPr>
            <p:ph type="subTitle" idx="1"/>
          </p:nvPr>
        </p:nvSpPr>
        <p:spPr/>
        <p:txBody>
          <a:bodyPr/>
          <a:lstStyle/>
          <a:p>
            <a:endParaRPr lang="en-US"/>
          </a:p>
        </p:txBody>
      </p:sp>
      <p:sp>
        <p:nvSpPr>
          <p:cNvPr id="4" name="Footer Placeholder 3">
            <a:extLst>
              <a:ext uri="{FF2B5EF4-FFF2-40B4-BE49-F238E27FC236}">
                <a16:creationId xmlns:a16="http://schemas.microsoft.com/office/drawing/2014/main" id="{0FCB1CD5-A6CF-78A6-D5BF-B91F5985A0D8}"/>
              </a:ext>
            </a:extLst>
          </p:cNvPr>
          <p:cNvSpPr>
            <a:spLocks noGrp="1"/>
          </p:cNvSpPr>
          <p:nvPr>
            <p:ph type="ftr" sz="quarter" idx="11"/>
          </p:nvPr>
        </p:nvSpPr>
        <p:spPr/>
        <p:txBody>
          <a:bodyPr/>
          <a:lstStyle/>
          <a:p>
            <a:r>
              <a:rPr lang="en-US"/>
              <a:t>Mrs Saranya Babu, Asst. Professor, GAT</a:t>
            </a:r>
          </a:p>
        </p:txBody>
      </p:sp>
    </p:spTree>
    <p:extLst>
      <p:ext uri="{BB962C8B-B14F-4D97-AF65-F5344CB8AC3E}">
        <p14:creationId xmlns:p14="http://schemas.microsoft.com/office/powerpoint/2010/main" val="21318328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D52DB-4A5F-4CBD-F818-5215464D948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F8208B1-BB81-8C73-A55C-04B8CCBAAC64}"/>
              </a:ext>
            </a:extLst>
          </p:cNvPr>
          <p:cNvSpPr>
            <a:spLocks noGrp="1"/>
          </p:cNvSpPr>
          <p:nvPr>
            <p:ph idx="1"/>
          </p:nvPr>
        </p:nvSpPr>
        <p:spPr/>
        <p:txBody>
          <a:bodyPr/>
          <a:lstStyle/>
          <a:p>
            <a:pPr algn="just"/>
            <a:r>
              <a:rPr lang="en-US" dirty="0"/>
              <a:t> A file is a place on the disk where a group of related data is stored. Like most other languages, C supports a number of functions that have the ability to perform basic file operations, which include:</a:t>
            </a:r>
          </a:p>
          <a:p>
            <a:pPr algn="just"/>
            <a:r>
              <a:rPr lang="en-US" dirty="0"/>
              <a:t>naming a file,</a:t>
            </a:r>
          </a:p>
          <a:p>
            <a:pPr algn="just"/>
            <a:r>
              <a:rPr lang="en-US" dirty="0"/>
              <a:t>opening a file,</a:t>
            </a:r>
          </a:p>
          <a:p>
            <a:pPr algn="just"/>
            <a:r>
              <a:rPr lang="en-US" dirty="0"/>
              <a:t>reading data from a file,</a:t>
            </a:r>
          </a:p>
          <a:p>
            <a:pPr algn="just"/>
            <a:r>
              <a:rPr lang="en-US" dirty="0"/>
              <a:t> writing data to a file, and</a:t>
            </a:r>
          </a:p>
          <a:p>
            <a:pPr algn="just"/>
            <a:r>
              <a:rPr lang="en-US" dirty="0"/>
              <a:t>closing a file</a:t>
            </a:r>
          </a:p>
        </p:txBody>
      </p:sp>
      <p:sp>
        <p:nvSpPr>
          <p:cNvPr id="4" name="Footer Placeholder 3">
            <a:extLst>
              <a:ext uri="{FF2B5EF4-FFF2-40B4-BE49-F238E27FC236}">
                <a16:creationId xmlns:a16="http://schemas.microsoft.com/office/drawing/2014/main" id="{C7C94A8C-30AA-D4D7-0C91-61F945ED1E61}"/>
              </a:ext>
            </a:extLst>
          </p:cNvPr>
          <p:cNvSpPr>
            <a:spLocks noGrp="1"/>
          </p:cNvSpPr>
          <p:nvPr>
            <p:ph type="ftr" sz="quarter" idx="11"/>
          </p:nvPr>
        </p:nvSpPr>
        <p:spPr/>
        <p:txBody>
          <a:bodyPr/>
          <a:lstStyle/>
          <a:p>
            <a:r>
              <a:rPr lang="en-US"/>
              <a:t>Mrs Saranya Babu, Asst. Professor, GAT</a:t>
            </a:r>
          </a:p>
        </p:txBody>
      </p:sp>
    </p:spTree>
    <p:extLst>
      <p:ext uri="{BB962C8B-B14F-4D97-AF65-F5344CB8AC3E}">
        <p14:creationId xmlns:p14="http://schemas.microsoft.com/office/powerpoint/2010/main" val="98914829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2">
            <a:extLst>
              <a:ext uri="{FF2B5EF4-FFF2-40B4-BE49-F238E27FC236}">
                <a16:creationId xmlns:a16="http://schemas.microsoft.com/office/drawing/2014/main" id="{16827877-387E-C6D5-384E-2DB3330B9E62}"/>
              </a:ext>
            </a:extLst>
          </p:cNvPr>
          <p:cNvGraphicFramePr>
            <a:graphicFrameLocks noGrp="1"/>
          </p:cNvGraphicFramePr>
          <p:nvPr/>
        </p:nvGraphicFramePr>
        <p:xfrm>
          <a:off x="533222" y="912875"/>
          <a:ext cx="10267300" cy="5514525"/>
        </p:xfrm>
        <a:graphic>
          <a:graphicData uri="http://schemas.openxmlformats.org/drawingml/2006/table">
            <a:tbl>
              <a:tblPr firstRow="1" bandRow="1">
                <a:tableStyleId>{2D5ABB26-0587-4C30-8999-92F81FD0307C}</a:tableStyleId>
              </a:tblPr>
              <a:tblGrid>
                <a:gridCol w="3755956">
                  <a:extLst>
                    <a:ext uri="{9D8B030D-6E8A-4147-A177-3AD203B41FA5}">
                      <a16:colId xmlns:a16="http://schemas.microsoft.com/office/drawing/2014/main" val="20000"/>
                    </a:ext>
                  </a:extLst>
                </a:gridCol>
                <a:gridCol w="6511344">
                  <a:extLst>
                    <a:ext uri="{9D8B030D-6E8A-4147-A177-3AD203B41FA5}">
                      <a16:colId xmlns:a16="http://schemas.microsoft.com/office/drawing/2014/main" val="20001"/>
                    </a:ext>
                  </a:extLst>
                </a:gridCol>
              </a:tblGrid>
              <a:tr h="438785">
                <a:tc>
                  <a:txBody>
                    <a:bodyPr/>
                    <a:lstStyle/>
                    <a:p>
                      <a:pPr marL="1270" algn="ctr">
                        <a:lnSpc>
                          <a:spcPct val="100000"/>
                        </a:lnSpc>
                        <a:spcBef>
                          <a:spcPts val="315"/>
                        </a:spcBef>
                      </a:pPr>
                      <a:r>
                        <a:rPr sz="1800" b="1" dirty="0">
                          <a:solidFill>
                            <a:srgbClr val="FFFFFF"/>
                          </a:solidFill>
                          <a:latin typeface="Arial"/>
                          <a:cs typeface="Arial"/>
                        </a:rPr>
                        <a:t>Function</a:t>
                      </a:r>
                      <a:r>
                        <a:rPr sz="1800" b="1" spc="-60" dirty="0">
                          <a:solidFill>
                            <a:srgbClr val="FFFFFF"/>
                          </a:solidFill>
                          <a:latin typeface="Arial"/>
                          <a:cs typeface="Arial"/>
                        </a:rPr>
                        <a:t> </a:t>
                      </a:r>
                      <a:r>
                        <a:rPr sz="1800" b="1" spc="-5" dirty="0">
                          <a:solidFill>
                            <a:srgbClr val="FFFFFF"/>
                          </a:solidFill>
                          <a:latin typeface="Arial"/>
                          <a:cs typeface="Arial"/>
                        </a:rPr>
                        <a:t>Name</a:t>
                      </a:r>
                      <a:endParaRPr sz="1800" dirty="0">
                        <a:latin typeface="Arial"/>
                        <a:cs typeface="Arial"/>
                      </a:endParaRPr>
                    </a:p>
                  </a:txBody>
                  <a:tcPr marL="0" marR="0" marT="4000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71A276"/>
                    </a:solidFill>
                  </a:tcPr>
                </a:tc>
                <a:tc>
                  <a:txBody>
                    <a:bodyPr/>
                    <a:lstStyle/>
                    <a:p>
                      <a:pPr algn="ctr">
                        <a:lnSpc>
                          <a:spcPct val="100000"/>
                        </a:lnSpc>
                        <a:spcBef>
                          <a:spcPts val="315"/>
                        </a:spcBef>
                      </a:pPr>
                      <a:r>
                        <a:rPr sz="1800" b="1" spc="-5" dirty="0">
                          <a:solidFill>
                            <a:srgbClr val="FFFFFF"/>
                          </a:solidFill>
                          <a:latin typeface="Arial"/>
                          <a:cs typeface="Arial"/>
                        </a:rPr>
                        <a:t>Operation</a:t>
                      </a:r>
                      <a:endParaRPr sz="1800">
                        <a:latin typeface="Arial"/>
                        <a:cs typeface="Arial"/>
                      </a:endParaRPr>
                    </a:p>
                  </a:txBody>
                  <a:tcPr marL="0" marR="0" marT="4000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71A276"/>
                    </a:solidFill>
                  </a:tcPr>
                </a:tc>
                <a:extLst>
                  <a:ext uri="{0D108BD9-81ED-4DB2-BD59-A6C34878D82A}">
                    <a16:rowId xmlns:a16="http://schemas.microsoft.com/office/drawing/2014/main" val="10000"/>
                  </a:ext>
                </a:extLst>
              </a:tr>
              <a:tr h="71500">
                <a:tc>
                  <a:txBody>
                    <a:bodyPr/>
                    <a:lstStyle/>
                    <a:p>
                      <a:pPr>
                        <a:lnSpc>
                          <a:spcPct val="100000"/>
                        </a:lnSpc>
                      </a:pPr>
                      <a:endParaRPr sz="3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9525">
                      <a:solidFill>
                        <a:srgbClr val="71A276"/>
                      </a:solidFill>
                      <a:prstDash val="solid"/>
                    </a:lnB>
                    <a:solidFill>
                      <a:srgbClr val="D4DFD5"/>
                    </a:solidFill>
                  </a:tcPr>
                </a:tc>
                <a:tc>
                  <a:txBody>
                    <a:bodyPr/>
                    <a:lstStyle/>
                    <a:p>
                      <a:pPr>
                        <a:lnSpc>
                          <a:spcPct val="100000"/>
                        </a:lnSpc>
                      </a:pPr>
                      <a:endParaRPr sz="3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9525">
                      <a:solidFill>
                        <a:srgbClr val="71A276"/>
                      </a:solidFill>
                      <a:prstDash val="solid"/>
                    </a:lnB>
                    <a:solidFill>
                      <a:srgbClr val="D4DFD5"/>
                    </a:solidFill>
                  </a:tcPr>
                </a:tc>
                <a:extLst>
                  <a:ext uri="{0D108BD9-81ED-4DB2-BD59-A6C34878D82A}">
                    <a16:rowId xmlns:a16="http://schemas.microsoft.com/office/drawing/2014/main" val="10001"/>
                  </a:ext>
                </a:extLst>
              </a:tr>
              <a:tr h="616712">
                <a:tc>
                  <a:txBody>
                    <a:bodyPr/>
                    <a:lstStyle/>
                    <a:p>
                      <a:pPr marL="635" algn="ctr">
                        <a:lnSpc>
                          <a:spcPts val="1910"/>
                        </a:lnSpc>
                      </a:pPr>
                      <a:r>
                        <a:rPr sz="1800" spc="-5" dirty="0">
                          <a:latin typeface="Arial MT"/>
                          <a:cs typeface="Arial MT"/>
                        </a:rPr>
                        <a:t>fopen()</a:t>
                      </a:r>
                      <a:endParaRPr sz="1800">
                        <a:latin typeface="Arial MT"/>
                        <a:cs typeface="Arial MT"/>
                      </a:endParaRPr>
                    </a:p>
                  </a:txBody>
                  <a:tcPr marL="0" marR="0" marT="0" marB="0">
                    <a:lnL w="12700">
                      <a:solidFill>
                        <a:srgbClr val="FFFFFF"/>
                      </a:solidFill>
                      <a:prstDash val="solid"/>
                    </a:lnL>
                    <a:lnR w="12700">
                      <a:solidFill>
                        <a:srgbClr val="FFFFFF"/>
                      </a:solidFill>
                      <a:prstDash val="solid"/>
                    </a:lnR>
                    <a:lnT w="9525">
                      <a:solidFill>
                        <a:srgbClr val="71A276"/>
                      </a:solidFill>
                      <a:prstDash val="solid"/>
                    </a:lnT>
                    <a:lnB w="12700">
                      <a:solidFill>
                        <a:srgbClr val="FFFFFF"/>
                      </a:solidFill>
                      <a:prstDash val="solid"/>
                    </a:lnB>
                    <a:solidFill>
                      <a:srgbClr val="D4DFD5"/>
                    </a:solidFill>
                  </a:tcPr>
                </a:tc>
                <a:tc>
                  <a:txBody>
                    <a:bodyPr/>
                    <a:lstStyle/>
                    <a:p>
                      <a:pPr algn="ctr">
                        <a:lnSpc>
                          <a:spcPts val="1910"/>
                        </a:lnSpc>
                      </a:pPr>
                      <a:r>
                        <a:rPr sz="1800" spc="-5" dirty="0">
                          <a:latin typeface="Arial MT"/>
                          <a:cs typeface="Arial MT"/>
                        </a:rPr>
                        <a:t>Creates</a:t>
                      </a:r>
                      <a:r>
                        <a:rPr sz="1800" spc="10" dirty="0">
                          <a:latin typeface="Arial MT"/>
                          <a:cs typeface="Arial MT"/>
                        </a:rPr>
                        <a:t> </a:t>
                      </a:r>
                      <a:r>
                        <a:rPr sz="1800" spc="-5" dirty="0">
                          <a:latin typeface="Arial MT"/>
                          <a:cs typeface="Arial MT"/>
                        </a:rPr>
                        <a:t>a</a:t>
                      </a:r>
                      <a:r>
                        <a:rPr sz="1800" dirty="0">
                          <a:latin typeface="Arial MT"/>
                          <a:cs typeface="Arial MT"/>
                        </a:rPr>
                        <a:t> </a:t>
                      </a:r>
                      <a:r>
                        <a:rPr sz="1800" spc="-5" dirty="0">
                          <a:latin typeface="Arial MT"/>
                          <a:cs typeface="Arial MT"/>
                        </a:rPr>
                        <a:t>new</a:t>
                      </a:r>
                      <a:r>
                        <a:rPr sz="1800" spc="-10" dirty="0">
                          <a:latin typeface="Arial MT"/>
                          <a:cs typeface="Arial MT"/>
                        </a:rPr>
                        <a:t> </a:t>
                      </a:r>
                      <a:r>
                        <a:rPr sz="1800" spc="-5" dirty="0">
                          <a:latin typeface="Arial MT"/>
                          <a:cs typeface="Arial MT"/>
                        </a:rPr>
                        <a:t>file/Opens</a:t>
                      </a:r>
                      <a:r>
                        <a:rPr sz="1800" spc="5" dirty="0">
                          <a:latin typeface="Arial MT"/>
                          <a:cs typeface="Arial MT"/>
                        </a:rPr>
                        <a:t> </a:t>
                      </a:r>
                      <a:r>
                        <a:rPr sz="1800" spc="-5" dirty="0">
                          <a:latin typeface="Arial MT"/>
                          <a:cs typeface="Arial MT"/>
                        </a:rPr>
                        <a:t>an existing</a:t>
                      </a:r>
                      <a:r>
                        <a:rPr sz="1800" spc="20" dirty="0">
                          <a:latin typeface="Arial MT"/>
                          <a:cs typeface="Arial MT"/>
                        </a:rPr>
                        <a:t> </a:t>
                      </a:r>
                      <a:r>
                        <a:rPr sz="1800" spc="-5" dirty="0">
                          <a:latin typeface="Arial MT"/>
                          <a:cs typeface="Arial MT"/>
                        </a:rPr>
                        <a:t>file</a:t>
                      </a:r>
                      <a:r>
                        <a:rPr sz="1800" spc="5" dirty="0">
                          <a:latin typeface="Arial MT"/>
                          <a:cs typeface="Arial MT"/>
                        </a:rPr>
                        <a:t> </a:t>
                      </a:r>
                      <a:r>
                        <a:rPr sz="1800" dirty="0">
                          <a:latin typeface="Arial MT"/>
                          <a:cs typeface="Arial MT"/>
                        </a:rPr>
                        <a:t>for</a:t>
                      </a:r>
                      <a:r>
                        <a:rPr sz="1800" spc="-10" dirty="0">
                          <a:latin typeface="Arial MT"/>
                          <a:cs typeface="Arial MT"/>
                        </a:rPr>
                        <a:t> </a:t>
                      </a:r>
                      <a:r>
                        <a:rPr sz="1800" spc="-5" dirty="0">
                          <a:latin typeface="Arial MT"/>
                          <a:cs typeface="Arial MT"/>
                        </a:rPr>
                        <a:t>use.</a:t>
                      </a:r>
                      <a:endParaRPr sz="1800">
                        <a:latin typeface="Arial MT"/>
                        <a:cs typeface="Arial MT"/>
                      </a:endParaRPr>
                    </a:p>
                  </a:txBody>
                  <a:tcPr marL="0" marR="0" marT="0" marB="0">
                    <a:lnL w="12700">
                      <a:solidFill>
                        <a:srgbClr val="FFFFFF"/>
                      </a:solidFill>
                      <a:prstDash val="solid"/>
                    </a:lnL>
                    <a:lnR w="12700">
                      <a:solidFill>
                        <a:srgbClr val="FFFFFF"/>
                      </a:solidFill>
                      <a:prstDash val="solid"/>
                    </a:lnR>
                    <a:lnT w="9525">
                      <a:solidFill>
                        <a:srgbClr val="71A276"/>
                      </a:solidFill>
                      <a:prstDash val="solid"/>
                    </a:lnT>
                    <a:lnB w="12700">
                      <a:solidFill>
                        <a:srgbClr val="FFFFFF"/>
                      </a:solidFill>
                      <a:prstDash val="solid"/>
                    </a:lnB>
                    <a:solidFill>
                      <a:srgbClr val="D4DFD5"/>
                    </a:solidFill>
                  </a:tcPr>
                </a:tc>
                <a:extLst>
                  <a:ext uri="{0D108BD9-81ED-4DB2-BD59-A6C34878D82A}">
                    <a16:rowId xmlns:a16="http://schemas.microsoft.com/office/drawing/2014/main" val="10002"/>
                  </a:ext>
                </a:extLst>
              </a:tr>
              <a:tr h="438785">
                <a:tc>
                  <a:txBody>
                    <a:bodyPr/>
                    <a:lstStyle/>
                    <a:p>
                      <a:pPr algn="ctr">
                        <a:lnSpc>
                          <a:spcPct val="100000"/>
                        </a:lnSpc>
                        <a:spcBef>
                          <a:spcPts val="315"/>
                        </a:spcBef>
                      </a:pPr>
                      <a:r>
                        <a:rPr sz="1800" spc="-5" dirty="0">
                          <a:latin typeface="Arial MT"/>
                          <a:cs typeface="Arial MT"/>
                        </a:rPr>
                        <a:t>fclose()</a:t>
                      </a:r>
                      <a:endParaRPr sz="1800">
                        <a:latin typeface="Arial MT"/>
                        <a:cs typeface="Arial MT"/>
                      </a:endParaRPr>
                    </a:p>
                  </a:txBody>
                  <a:tcPr marL="0" marR="0" marT="4000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BEFEB"/>
                    </a:solidFill>
                  </a:tcPr>
                </a:tc>
                <a:tc>
                  <a:txBody>
                    <a:bodyPr/>
                    <a:lstStyle/>
                    <a:p>
                      <a:pPr algn="ctr">
                        <a:lnSpc>
                          <a:spcPct val="100000"/>
                        </a:lnSpc>
                        <a:spcBef>
                          <a:spcPts val="315"/>
                        </a:spcBef>
                      </a:pPr>
                      <a:r>
                        <a:rPr sz="1800" spc="-5" dirty="0">
                          <a:latin typeface="Arial MT"/>
                          <a:cs typeface="Arial MT"/>
                        </a:rPr>
                        <a:t>Closes</a:t>
                      </a:r>
                      <a:r>
                        <a:rPr sz="1800" spc="5" dirty="0">
                          <a:latin typeface="Arial MT"/>
                          <a:cs typeface="Arial MT"/>
                        </a:rPr>
                        <a:t> </a:t>
                      </a:r>
                      <a:r>
                        <a:rPr sz="1800" spc="-5" dirty="0">
                          <a:latin typeface="Arial MT"/>
                          <a:cs typeface="Arial MT"/>
                        </a:rPr>
                        <a:t>a</a:t>
                      </a:r>
                      <a:r>
                        <a:rPr sz="1800" dirty="0">
                          <a:latin typeface="Arial MT"/>
                          <a:cs typeface="Arial MT"/>
                        </a:rPr>
                        <a:t> </a:t>
                      </a:r>
                      <a:r>
                        <a:rPr sz="1800" spc="-5" dirty="0">
                          <a:latin typeface="Arial MT"/>
                          <a:cs typeface="Arial MT"/>
                        </a:rPr>
                        <a:t>file</a:t>
                      </a:r>
                      <a:r>
                        <a:rPr sz="1800" spc="-10" dirty="0">
                          <a:latin typeface="Arial MT"/>
                          <a:cs typeface="Arial MT"/>
                        </a:rPr>
                        <a:t> </a:t>
                      </a:r>
                      <a:r>
                        <a:rPr sz="1800" spc="-15" dirty="0">
                          <a:latin typeface="Arial MT"/>
                          <a:cs typeface="Arial MT"/>
                        </a:rPr>
                        <a:t>which</a:t>
                      </a:r>
                      <a:r>
                        <a:rPr sz="1800" spc="40" dirty="0">
                          <a:latin typeface="Arial MT"/>
                          <a:cs typeface="Arial MT"/>
                        </a:rPr>
                        <a:t> </a:t>
                      </a:r>
                      <a:r>
                        <a:rPr sz="1800" spc="-5" dirty="0">
                          <a:latin typeface="Arial MT"/>
                          <a:cs typeface="Arial MT"/>
                        </a:rPr>
                        <a:t>has</a:t>
                      </a:r>
                      <a:r>
                        <a:rPr sz="1800" spc="10" dirty="0">
                          <a:latin typeface="Arial MT"/>
                          <a:cs typeface="Arial MT"/>
                        </a:rPr>
                        <a:t> </a:t>
                      </a:r>
                      <a:r>
                        <a:rPr sz="1800" spc="-5" dirty="0">
                          <a:latin typeface="Arial MT"/>
                          <a:cs typeface="Arial MT"/>
                        </a:rPr>
                        <a:t>been</a:t>
                      </a:r>
                      <a:r>
                        <a:rPr sz="1800" spc="5" dirty="0">
                          <a:latin typeface="Arial MT"/>
                          <a:cs typeface="Arial MT"/>
                        </a:rPr>
                        <a:t> </a:t>
                      </a:r>
                      <a:r>
                        <a:rPr sz="1800" spc="-5" dirty="0">
                          <a:latin typeface="Arial MT"/>
                          <a:cs typeface="Arial MT"/>
                        </a:rPr>
                        <a:t>opened</a:t>
                      </a:r>
                      <a:r>
                        <a:rPr sz="1800" spc="5" dirty="0">
                          <a:latin typeface="Arial MT"/>
                          <a:cs typeface="Arial MT"/>
                        </a:rPr>
                        <a:t> </a:t>
                      </a:r>
                      <a:r>
                        <a:rPr sz="1800" dirty="0">
                          <a:latin typeface="Arial MT"/>
                          <a:cs typeface="Arial MT"/>
                        </a:rPr>
                        <a:t>for </a:t>
                      </a:r>
                      <a:r>
                        <a:rPr sz="1800" spc="-5" dirty="0">
                          <a:latin typeface="Arial MT"/>
                          <a:cs typeface="Arial MT"/>
                        </a:rPr>
                        <a:t>use.</a:t>
                      </a:r>
                      <a:endParaRPr sz="1800">
                        <a:latin typeface="Arial MT"/>
                        <a:cs typeface="Arial MT"/>
                      </a:endParaRPr>
                    </a:p>
                  </a:txBody>
                  <a:tcPr marL="0" marR="0" marT="4000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BEFEB"/>
                    </a:solidFill>
                  </a:tcPr>
                </a:tc>
                <a:extLst>
                  <a:ext uri="{0D108BD9-81ED-4DB2-BD59-A6C34878D82A}">
                    <a16:rowId xmlns:a16="http://schemas.microsoft.com/office/drawing/2014/main" val="10003"/>
                  </a:ext>
                </a:extLst>
              </a:tr>
              <a:tr h="438657">
                <a:tc>
                  <a:txBody>
                    <a:bodyPr/>
                    <a:lstStyle/>
                    <a:p>
                      <a:pPr algn="ctr">
                        <a:lnSpc>
                          <a:spcPct val="100000"/>
                        </a:lnSpc>
                        <a:spcBef>
                          <a:spcPts val="315"/>
                        </a:spcBef>
                      </a:pPr>
                      <a:r>
                        <a:rPr sz="1800" spc="-5" dirty="0">
                          <a:latin typeface="Arial MT"/>
                          <a:cs typeface="Arial MT"/>
                        </a:rPr>
                        <a:t>getc()</a:t>
                      </a:r>
                      <a:endParaRPr sz="1800">
                        <a:latin typeface="Arial MT"/>
                        <a:cs typeface="Arial MT"/>
                      </a:endParaRPr>
                    </a:p>
                  </a:txBody>
                  <a:tcPr marL="0" marR="0" marT="4000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4DFD5"/>
                    </a:solidFill>
                  </a:tcPr>
                </a:tc>
                <a:tc>
                  <a:txBody>
                    <a:bodyPr/>
                    <a:lstStyle/>
                    <a:p>
                      <a:pPr algn="ctr">
                        <a:lnSpc>
                          <a:spcPct val="100000"/>
                        </a:lnSpc>
                        <a:spcBef>
                          <a:spcPts val="315"/>
                        </a:spcBef>
                      </a:pPr>
                      <a:r>
                        <a:rPr sz="1800" spc="-5" dirty="0">
                          <a:latin typeface="Arial MT"/>
                          <a:cs typeface="Arial MT"/>
                        </a:rPr>
                        <a:t>Reads</a:t>
                      </a:r>
                      <a:r>
                        <a:rPr sz="1800" dirty="0">
                          <a:latin typeface="Arial MT"/>
                          <a:cs typeface="Arial MT"/>
                        </a:rPr>
                        <a:t> </a:t>
                      </a:r>
                      <a:r>
                        <a:rPr sz="1800" spc="-5" dirty="0">
                          <a:latin typeface="Arial MT"/>
                          <a:cs typeface="Arial MT"/>
                        </a:rPr>
                        <a:t>a</a:t>
                      </a:r>
                      <a:r>
                        <a:rPr sz="1800" spc="-10" dirty="0">
                          <a:latin typeface="Arial MT"/>
                          <a:cs typeface="Arial MT"/>
                        </a:rPr>
                        <a:t> </a:t>
                      </a:r>
                      <a:r>
                        <a:rPr sz="1800" spc="-5" dirty="0">
                          <a:latin typeface="Arial MT"/>
                          <a:cs typeface="Arial MT"/>
                        </a:rPr>
                        <a:t>character</a:t>
                      </a:r>
                      <a:r>
                        <a:rPr sz="1800" spc="5" dirty="0">
                          <a:latin typeface="Arial MT"/>
                          <a:cs typeface="Arial MT"/>
                        </a:rPr>
                        <a:t> </a:t>
                      </a:r>
                      <a:r>
                        <a:rPr sz="1800" dirty="0">
                          <a:latin typeface="Arial MT"/>
                          <a:cs typeface="Arial MT"/>
                        </a:rPr>
                        <a:t>from</a:t>
                      </a:r>
                      <a:r>
                        <a:rPr sz="1800" spc="-20" dirty="0">
                          <a:latin typeface="Arial MT"/>
                          <a:cs typeface="Arial MT"/>
                        </a:rPr>
                        <a:t> </a:t>
                      </a:r>
                      <a:r>
                        <a:rPr sz="1800" spc="-5" dirty="0">
                          <a:latin typeface="Arial MT"/>
                          <a:cs typeface="Arial MT"/>
                        </a:rPr>
                        <a:t>a file.</a:t>
                      </a:r>
                      <a:endParaRPr sz="1800">
                        <a:latin typeface="Arial MT"/>
                        <a:cs typeface="Arial MT"/>
                      </a:endParaRPr>
                    </a:p>
                  </a:txBody>
                  <a:tcPr marL="0" marR="0" marT="4000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4DFD5"/>
                    </a:solidFill>
                  </a:tcPr>
                </a:tc>
                <a:extLst>
                  <a:ext uri="{0D108BD9-81ED-4DB2-BD59-A6C34878D82A}">
                    <a16:rowId xmlns:a16="http://schemas.microsoft.com/office/drawing/2014/main" val="10004"/>
                  </a:ext>
                </a:extLst>
              </a:tr>
              <a:tr h="438785">
                <a:tc>
                  <a:txBody>
                    <a:bodyPr/>
                    <a:lstStyle/>
                    <a:p>
                      <a:pPr algn="ctr">
                        <a:lnSpc>
                          <a:spcPct val="100000"/>
                        </a:lnSpc>
                        <a:spcBef>
                          <a:spcPts val="315"/>
                        </a:spcBef>
                      </a:pPr>
                      <a:r>
                        <a:rPr sz="1800" spc="-5" dirty="0">
                          <a:latin typeface="Arial MT"/>
                          <a:cs typeface="Arial MT"/>
                        </a:rPr>
                        <a:t>putc()</a:t>
                      </a:r>
                      <a:endParaRPr sz="1800">
                        <a:latin typeface="Arial MT"/>
                        <a:cs typeface="Arial MT"/>
                      </a:endParaRPr>
                    </a:p>
                  </a:txBody>
                  <a:tcPr marL="0" marR="0" marT="4000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BEFEB"/>
                    </a:solidFill>
                  </a:tcPr>
                </a:tc>
                <a:tc>
                  <a:txBody>
                    <a:bodyPr/>
                    <a:lstStyle/>
                    <a:p>
                      <a:pPr marL="1270" algn="ctr">
                        <a:lnSpc>
                          <a:spcPct val="100000"/>
                        </a:lnSpc>
                        <a:spcBef>
                          <a:spcPts val="315"/>
                        </a:spcBef>
                      </a:pPr>
                      <a:r>
                        <a:rPr sz="1800" spc="-10" dirty="0">
                          <a:latin typeface="Arial MT"/>
                          <a:cs typeface="Arial MT"/>
                        </a:rPr>
                        <a:t>Writes</a:t>
                      </a:r>
                      <a:r>
                        <a:rPr sz="1800" spc="-5" dirty="0">
                          <a:latin typeface="Arial MT"/>
                          <a:cs typeface="Arial MT"/>
                        </a:rPr>
                        <a:t> a character</a:t>
                      </a:r>
                      <a:r>
                        <a:rPr sz="1800" spc="10" dirty="0">
                          <a:latin typeface="Arial MT"/>
                          <a:cs typeface="Arial MT"/>
                        </a:rPr>
                        <a:t> </a:t>
                      </a:r>
                      <a:r>
                        <a:rPr sz="1800" dirty="0">
                          <a:latin typeface="Arial MT"/>
                          <a:cs typeface="Arial MT"/>
                        </a:rPr>
                        <a:t>to</a:t>
                      </a:r>
                      <a:r>
                        <a:rPr sz="1800" spc="-15" dirty="0">
                          <a:latin typeface="Arial MT"/>
                          <a:cs typeface="Arial MT"/>
                        </a:rPr>
                        <a:t> </a:t>
                      </a:r>
                      <a:r>
                        <a:rPr sz="1800" spc="-5" dirty="0">
                          <a:latin typeface="Arial MT"/>
                          <a:cs typeface="Arial MT"/>
                        </a:rPr>
                        <a:t>a file.</a:t>
                      </a:r>
                      <a:endParaRPr sz="1800">
                        <a:latin typeface="Arial MT"/>
                        <a:cs typeface="Arial MT"/>
                      </a:endParaRPr>
                    </a:p>
                  </a:txBody>
                  <a:tcPr marL="0" marR="0" marT="4000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BEFEB"/>
                    </a:solidFill>
                  </a:tcPr>
                </a:tc>
                <a:extLst>
                  <a:ext uri="{0D108BD9-81ED-4DB2-BD59-A6C34878D82A}">
                    <a16:rowId xmlns:a16="http://schemas.microsoft.com/office/drawing/2014/main" val="10005"/>
                  </a:ext>
                </a:extLst>
              </a:tr>
              <a:tr h="438785">
                <a:tc>
                  <a:txBody>
                    <a:bodyPr/>
                    <a:lstStyle/>
                    <a:p>
                      <a:pPr algn="ctr">
                        <a:lnSpc>
                          <a:spcPct val="100000"/>
                        </a:lnSpc>
                        <a:spcBef>
                          <a:spcPts val="315"/>
                        </a:spcBef>
                      </a:pPr>
                      <a:r>
                        <a:rPr sz="1800" spc="-5" dirty="0">
                          <a:latin typeface="Arial MT"/>
                          <a:cs typeface="Arial MT"/>
                        </a:rPr>
                        <a:t>fprintf()</a:t>
                      </a:r>
                      <a:endParaRPr sz="1800">
                        <a:latin typeface="Arial MT"/>
                        <a:cs typeface="Arial MT"/>
                      </a:endParaRPr>
                    </a:p>
                  </a:txBody>
                  <a:tcPr marL="0" marR="0" marT="4000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4DFD5"/>
                    </a:solidFill>
                  </a:tcPr>
                </a:tc>
                <a:tc>
                  <a:txBody>
                    <a:bodyPr/>
                    <a:lstStyle/>
                    <a:p>
                      <a:pPr algn="ctr">
                        <a:lnSpc>
                          <a:spcPct val="100000"/>
                        </a:lnSpc>
                        <a:spcBef>
                          <a:spcPts val="315"/>
                        </a:spcBef>
                      </a:pPr>
                      <a:r>
                        <a:rPr sz="1800" spc="-10" dirty="0">
                          <a:latin typeface="Arial MT"/>
                          <a:cs typeface="Arial MT"/>
                        </a:rPr>
                        <a:t>Writes</a:t>
                      </a:r>
                      <a:r>
                        <a:rPr sz="1800" spc="-5" dirty="0">
                          <a:latin typeface="Arial MT"/>
                          <a:cs typeface="Arial MT"/>
                        </a:rPr>
                        <a:t> a set</a:t>
                      </a:r>
                      <a:r>
                        <a:rPr sz="1800" spc="5" dirty="0">
                          <a:latin typeface="Arial MT"/>
                          <a:cs typeface="Arial MT"/>
                        </a:rPr>
                        <a:t> </a:t>
                      </a:r>
                      <a:r>
                        <a:rPr sz="1800" dirty="0">
                          <a:latin typeface="Arial MT"/>
                          <a:cs typeface="Arial MT"/>
                        </a:rPr>
                        <a:t>of</a:t>
                      </a:r>
                      <a:r>
                        <a:rPr sz="1800" spc="-15" dirty="0">
                          <a:latin typeface="Arial MT"/>
                          <a:cs typeface="Arial MT"/>
                        </a:rPr>
                        <a:t> </a:t>
                      </a:r>
                      <a:r>
                        <a:rPr sz="1800" spc="-5" dirty="0">
                          <a:latin typeface="Arial MT"/>
                          <a:cs typeface="Arial MT"/>
                        </a:rPr>
                        <a:t>data</a:t>
                      </a:r>
                      <a:r>
                        <a:rPr sz="1800" spc="10" dirty="0">
                          <a:latin typeface="Arial MT"/>
                          <a:cs typeface="Arial MT"/>
                        </a:rPr>
                        <a:t> </a:t>
                      </a:r>
                      <a:r>
                        <a:rPr sz="1800" spc="-5" dirty="0">
                          <a:latin typeface="Arial MT"/>
                          <a:cs typeface="Arial MT"/>
                        </a:rPr>
                        <a:t>values</a:t>
                      </a:r>
                      <a:r>
                        <a:rPr sz="1800" spc="5" dirty="0">
                          <a:latin typeface="Arial MT"/>
                          <a:cs typeface="Arial MT"/>
                        </a:rPr>
                        <a:t> </a:t>
                      </a:r>
                      <a:r>
                        <a:rPr sz="1800" dirty="0">
                          <a:latin typeface="Arial MT"/>
                          <a:cs typeface="Arial MT"/>
                        </a:rPr>
                        <a:t>to</a:t>
                      </a:r>
                      <a:r>
                        <a:rPr sz="1800" spc="-15" dirty="0">
                          <a:latin typeface="Arial MT"/>
                          <a:cs typeface="Arial MT"/>
                        </a:rPr>
                        <a:t> </a:t>
                      </a:r>
                      <a:r>
                        <a:rPr sz="1800" spc="-5" dirty="0">
                          <a:latin typeface="Arial MT"/>
                          <a:cs typeface="Arial MT"/>
                        </a:rPr>
                        <a:t>a</a:t>
                      </a:r>
                      <a:r>
                        <a:rPr sz="1800" dirty="0">
                          <a:latin typeface="Arial MT"/>
                          <a:cs typeface="Arial MT"/>
                        </a:rPr>
                        <a:t> </a:t>
                      </a:r>
                      <a:r>
                        <a:rPr sz="1800" spc="-5" dirty="0">
                          <a:latin typeface="Arial MT"/>
                          <a:cs typeface="Arial MT"/>
                        </a:rPr>
                        <a:t>file.</a:t>
                      </a:r>
                      <a:endParaRPr sz="1800">
                        <a:latin typeface="Arial MT"/>
                        <a:cs typeface="Arial MT"/>
                      </a:endParaRPr>
                    </a:p>
                  </a:txBody>
                  <a:tcPr marL="0" marR="0" marT="4000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4DFD5"/>
                    </a:solidFill>
                  </a:tcPr>
                </a:tc>
                <a:extLst>
                  <a:ext uri="{0D108BD9-81ED-4DB2-BD59-A6C34878D82A}">
                    <a16:rowId xmlns:a16="http://schemas.microsoft.com/office/drawing/2014/main" val="10006"/>
                  </a:ext>
                </a:extLst>
              </a:tr>
              <a:tr h="438785">
                <a:tc>
                  <a:txBody>
                    <a:bodyPr/>
                    <a:lstStyle/>
                    <a:p>
                      <a:pPr marL="635" algn="ctr">
                        <a:lnSpc>
                          <a:spcPct val="100000"/>
                        </a:lnSpc>
                        <a:spcBef>
                          <a:spcPts val="315"/>
                        </a:spcBef>
                      </a:pPr>
                      <a:r>
                        <a:rPr sz="1800" spc="-5" dirty="0">
                          <a:latin typeface="Arial MT"/>
                          <a:cs typeface="Arial MT"/>
                        </a:rPr>
                        <a:t>fscanf()</a:t>
                      </a:r>
                      <a:endParaRPr sz="1800">
                        <a:latin typeface="Arial MT"/>
                        <a:cs typeface="Arial MT"/>
                      </a:endParaRPr>
                    </a:p>
                  </a:txBody>
                  <a:tcPr marL="0" marR="0" marT="4000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BEFEB"/>
                    </a:solidFill>
                  </a:tcPr>
                </a:tc>
                <a:tc>
                  <a:txBody>
                    <a:bodyPr/>
                    <a:lstStyle/>
                    <a:p>
                      <a:pPr algn="ctr">
                        <a:lnSpc>
                          <a:spcPct val="100000"/>
                        </a:lnSpc>
                        <a:spcBef>
                          <a:spcPts val="315"/>
                        </a:spcBef>
                      </a:pPr>
                      <a:r>
                        <a:rPr sz="1800" spc="-5" dirty="0">
                          <a:latin typeface="Arial MT"/>
                          <a:cs typeface="Arial MT"/>
                        </a:rPr>
                        <a:t>Reads</a:t>
                      </a:r>
                      <a:r>
                        <a:rPr sz="1800" dirty="0">
                          <a:latin typeface="Arial MT"/>
                          <a:cs typeface="Arial MT"/>
                        </a:rPr>
                        <a:t> </a:t>
                      </a:r>
                      <a:r>
                        <a:rPr sz="1800" spc="-5" dirty="0">
                          <a:latin typeface="Arial MT"/>
                          <a:cs typeface="Arial MT"/>
                        </a:rPr>
                        <a:t>a set</a:t>
                      </a:r>
                      <a:r>
                        <a:rPr sz="1800" dirty="0">
                          <a:latin typeface="Arial MT"/>
                          <a:cs typeface="Arial MT"/>
                        </a:rPr>
                        <a:t> of</a:t>
                      </a:r>
                      <a:r>
                        <a:rPr sz="1800" spc="-15" dirty="0">
                          <a:latin typeface="Arial MT"/>
                          <a:cs typeface="Arial MT"/>
                        </a:rPr>
                        <a:t> </a:t>
                      </a:r>
                      <a:r>
                        <a:rPr sz="1800" spc="-5" dirty="0">
                          <a:latin typeface="Arial MT"/>
                          <a:cs typeface="Arial MT"/>
                        </a:rPr>
                        <a:t>data</a:t>
                      </a:r>
                      <a:r>
                        <a:rPr sz="1800" spc="5" dirty="0">
                          <a:latin typeface="Arial MT"/>
                          <a:cs typeface="Arial MT"/>
                        </a:rPr>
                        <a:t> </a:t>
                      </a:r>
                      <a:r>
                        <a:rPr sz="1800" spc="-5" dirty="0">
                          <a:latin typeface="Arial MT"/>
                          <a:cs typeface="Arial MT"/>
                        </a:rPr>
                        <a:t>values</a:t>
                      </a:r>
                      <a:r>
                        <a:rPr sz="1800" spc="5" dirty="0">
                          <a:latin typeface="Arial MT"/>
                          <a:cs typeface="Arial MT"/>
                        </a:rPr>
                        <a:t> </a:t>
                      </a:r>
                      <a:r>
                        <a:rPr sz="1800" dirty="0">
                          <a:latin typeface="Arial MT"/>
                          <a:cs typeface="Arial MT"/>
                        </a:rPr>
                        <a:t>to</a:t>
                      </a:r>
                      <a:r>
                        <a:rPr sz="1800" spc="-15" dirty="0">
                          <a:latin typeface="Arial MT"/>
                          <a:cs typeface="Arial MT"/>
                        </a:rPr>
                        <a:t> </a:t>
                      </a:r>
                      <a:r>
                        <a:rPr sz="1800" spc="-5" dirty="0">
                          <a:latin typeface="Arial MT"/>
                          <a:cs typeface="Arial MT"/>
                        </a:rPr>
                        <a:t>a file.</a:t>
                      </a:r>
                      <a:endParaRPr sz="1800">
                        <a:latin typeface="Arial MT"/>
                        <a:cs typeface="Arial MT"/>
                      </a:endParaRPr>
                    </a:p>
                  </a:txBody>
                  <a:tcPr marL="0" marR="0" marT="4000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BEFEB"/>
                    </a:solidFill>
                  </a:tcPr>
                </a:tc>
                <a:extLst>
                  <a:ext uri="{0D108BD9-81ED-4DB2-BD59-A6C34878D82A}">
                    <a16:rowId xmlns:a16="http://schemas.microsoft.com/office/drawing/2014/main" val="10007"/>
                  </a:ext>
                </a:extLst>
              </a:tr>
              <a:tr h="438657">
                <a:tc>
                  <a:txBody>
                    <a:bodyPr/>
                    <a:lstStyle/>
                    <a:p>
                      <a:pPr algn="ctr">
                        <a:lnSpc>
                          <a:spcPct val="100000"/>
                        </a:lnSpc>
                        <a:spcBef>
                          <a:spcPts val="320"/>
                        </a:spcBef>
                      </a:pPr>
                      <a:r>
                        <a:rPr sz="1800" spc="-10" dirty="0">
                          <a:latin typeface="Arial MT"/>
                          <a:cs typeface="Arial MT"/>
                        </a:rPr>
                        <a:t>getw()</a:t>
                      </a:r>
                      <a:endParaRPr sz="1800">
                        <a:latin typeface="Arial MT"/>
                        <a:cs typeface="Arial MT"/>
                      </a:endParaRPr>
                    </a:p>
                  </a:txBody>
                  <a:tcPr marL="0" marR="0" marT="406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4DFD5"/>
                    </a:solidFill>
                  </a:tcPr>
                </a:tc>
                <a:tc>
                  <a:txBody>
                    <a:bodyPr/>
                    <a:lstStyle/>
                    <a:p>
                      <a:pPr marL="1270" algn="ctr">
                        <a:lnSpc>
                          <a:spcPct val="100000"/>
                        </a:lnSpc>
                        <a:spcBef>
                          <a:spcPts val="320"/>
                        </a:spcBef>
                      </a:pPr>
                      <a:r>
                        <a:rPr sz="1800" spc="-5" dirty="0">
                          <a:latin typeface="Arial MT"/>
                          <a:cs typeface="Arial MT"/>
                        </a:rPr>
                        <a:t>Reads an</a:t>
                      </a:r>
                      <a:r>
                        <a:rPr sz="1800" spc="-20" dirty="0">
                          <a:latin typeface="Arial MT"/>
                          <a:cs typeface="Arial MT"/>
                        </a:rPr>
                        <a:t> </a:t>
                      </a:r>
                      <a:r>
                        <a:rPr sz="1800" spc="-5" dirty="0">
                          <a:latin typeface="Arial MT"/>
                          <a:cs typeface="Arial MT"/>
                        </a:rPr>
                        <a:t>integer</a:t>
                      </a:r>
                      <a:r>
                        <a:rPr sz="1800" dirty="0">
                          <a:latin typeface="Arial MT"/>
                          <a:cs typeface="Arial MT"/>
                        </a:rPr>
                        <a:t> from</a:t>
                      </a:r>
                      <a:r>
                        <a:rPr sz="1800" spc="-10" dirty="0">
                          <a:latin typeface="Arial MT"/>
                          <a:cs typeface="Arial MT"/>
                        </a:rPr>
                        <a:t> </a:t>
                      </a:r>
                      <a:r>
                        <a:rPr sz="1800" spc="-5" dirty="0">
                          <a:latin typeface="Arial MT"/>
                          <a:cs typeface="Arial MT"/>
                        </a:rPr>
                        <a:t>file.</a:t>
                      </a:r>
                      <a:endParaRPr sz="1800">
                        <a:latin typeface="Arial MT"/>
                        <a:cs typeface="Arial MT"/>
                      </a:endParaRPr>
                    </a:p>
                  </a:txBody>
                  <a:tcPr marL="0" marR="0" marT="406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4DFD5"/>
                    </a:solidFill>
                  </a:tcPr>
                </a:tc>
                <a:extLst>
                  <a:ext uri="{0D108BD9-81ED-4DB2-BD59-A6C34878D82A}">
                    <a16:rowId xmlns:a16="http://schemas.microsoft.com/office/drawing/2014/main" val="10008"/>
                  </a:ext>
                </a:extLst>
              </a:tr>
              <a:tr h="438784">
                <a:tc>
                  <a:txBody>
                    <a:bodyPr/>
                    <a:lstStyle/>
                    <a:p>
                      <a:pPr algn="ctr">
                        <a:lnSpc>
                          <a:spcPct val="100000"/>
                        </a:lnSpc>
                        <a:spcBef>
                          <a:spcPts val="315"/>
                        </a:spcBef>
                      </a:pPr>
                      <a:r>
                        <a:rPr sz="1800" spc="-10" dirty="0">
                          <a:latin typeface="Arial MT"/>
                          <a:cs typeface="Arial MT"/>
                        </a:rPr>
                        <a:t>putw()</a:t>
                      </a:r>
                      <a:endParaRPr sz="1800">
                        <a:latin typeface="Arial MT"/>
                        <a:cs typeface="Arial MT"/>
                      </a:endParaRPr>
                    </a:p>
                  </a:txBody>
                  <a:tcPr marL="0" marR="0" marT="4000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BEFEB"/>
                    </a:solidFill>
                  </a:tcPr>
                </a:tc>
                <a:tc>
                  <a:txBody>
                    <a:bodyPr/>
                    <a:lstStyle/>
                    <a:p>
                      <a:pPr algn="ctr">
                        <a:lnSpc>
                          <a:spcPct val="100000"/>
                        </a:lnSpc>
                        <a:spcBef>
                          <a:spcPts val="315"/>
                        </a:spcBef>
                      </a:pPr>
                      <a:r>
                        <a:rPr sz="1800" spc="-10" dirty="0">
                          <a:latin typeface="Arial MT"/>
                          <a:cs typeface="Arial MT"/>
                        </a:rPr>
                        <a:t>Writes </a:t>
                      </a:r>
                      <a:r>
                        <a:rPr sz="1800" spc="-5" dirty="0">
                          <a:latin typeface="Arial MT"/>
                          <a:cs typeface="Arial MT"/>
                        </a:rPr>
                        <a:t>an</a:t>
                      </a:r>
                      <a:r>
                        <a:rPr sz="1800" spc="-20" dirty="0">
                          <a:latin typeface="Arial MT"/>
                          <a:cs typeface="Arial MT"/>
                        </a:rPr>
                        <a:t> </a:t>
                      </a:r>
                      <a:r>
                        <a:rPr sz="1800" spc="-5" dirty="0">
                          <a:latin typeface="Arial MT"/>
                          <a:cs typeface="Arial MT"/>
                        </a:rPr>
                        <a:t>integer</a:t>
                      </a:r>
                      <a:r>
                        <a:rPr sz="1800" spc="5" dirty="0">
                          <a:latin typeface="Arial MT"/>
                          <a:cs typeface="Arial MT"/>
                        </a:rPr>
                        <a:t> </a:t>
                      </a:r>
                      <a:r>
                        <a:rPr sz="1800" dirty="0">
                          <a:latin typeface="Arial MT"/>
                          <a:cs typeface="Arial MT"/>
                        </a:rPr>
                        <a:t>from</a:t>
                      </a:r>
                      <a:r>
                        <a:rPr sz="1800" spc="-5" dirty="0">
                          <a:latin typeface="Arial MT"/>
                          <a:cs typeface="Arial MT"/>
                        </a:rPr>
                        <a:t> file.</a:t>
                      </a:r>
                      <a:endParaRPr sz="1800">
                        <a:latin typeface="Arial MT"/>
                        <a:cs typeface="Arial MT"/>
                      </a:endParaRPr>
                    </a:p>
                  </a:txBody>
                  <a:tcPr marL="0" marR="0" marT="4000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BEFEB"/>
                    </a:solidFill>
                  </a:tcPr>
                </a:tc>
                <a:extLst>
                  <a:ext uri="{0D108BD9-81ED-4DB2-BD59-A6C34878D82A}">
                    <a16:rowId xmlns:a16="http://schemas.microsoft.com/office/drawing/2014/main" val="10009"/>
                  </a:ext>
                </a:extLst>
              </a:tr>
              <a:tr h="438785">
                <a:tc>
                  <a:txBody>
                    <a:bodyPr/>
                    <a:lstStyle/>
                    <a:p>
                      <a:pPr marL="635" algn="ctr">
                        <a:lnSpc>
                          <a:spcPct val="100000"/>
                        </a:lnSpc>
                        <a:spcBef>
                          <a:spcPts val="320"/>
                        </a:spcBef>
                      </a:pPr>
                      <a:r>
                        <a:rPr sz="1800" spc="-5" dirty="0">
                          <a:latin typeface="Arial MT"/>
                          <a:cs typeface="Arial MT"/>
                        </a:rPr>
                        <a:t>fseek()</a:t>
                      </a:r>
                      <a:endParaRPr sz="1800">
                        <a:latin typeface="Arial MT"/>
                        <a:cs typeface="Arial MT"/>
                      </a:endParaRPr>
                    </a:p>
                  </a:txBody>
                  <a:tcPr marL="0" marR="0" marT="406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4DFD5"/>
                    </a:solidFill>
                  </a:tcPr>
                </a:tc>
                <a:tc>
                  <a:txBody>
                    <a:bodyPr/>
                    <a:lstStyle/>
                    <a:p>
                      <a:pPr marL="1270" algn="ctr">
                        <a:lnSpc>
                          <a:spcPct val="100000"/>
                        </a:lnSpc>
                        <a:spcBef>
                          <a:spcPts val="320"/>
                        </a:spcBef>
                      </a:pPr>
                      <a:r>
                        <a:rPr sz="1800" spc="-5" dirty="0">
                          <a:latin typeface="Arial MT"/>
                          <a:cs typeface="Arial MT"/>
                        </a:rPr>
                        <a:t>Sets</a:t>
                      </a:r>
                      <a:r>
                        <a:rPr sz="1800" dirty="0">
                          <a:latin typeface="Arial MT"/>
                          <a:cs typeface="Arial MT"/>
                        </a:rPr>
                        <a:t> the</a:t>
                      </a:r>
                      <a:r>
                        <a:rPr sz="1800" spc="-10" dirty="0">
                          <a:latin typeface="Arial MT"/>
                          <a:cs typeface="Arial MT"/>
                        </a:rPr>
                        <a:t> </a:t>
                      </a:r>
                      <a:r>
                        <a:rPr sz="1800" spc="-5" dirty="0">
                          <a:latin typeface="Arial MT"/>
                          <a:cs typeface="Arial MT"/>
                        </a:rPr>
                        <a:t>position</a:t>
                      </a:r>
                      <a:r>
                        <a:rPr sz="1800" spc="5" dirty="0">
                          <a:latin typeface="Arial MT"/>
                          <a:cs typeface="Arial MT"/>
                        </a:rPr>
                        <a:t> </a:t>
                      </a:r>
                      <a:r>
                        <a:rPr sz="1800" dirty="0">
                          <a:latin typeface="Arial MT"/>
                          <a:cs typeface="Arial MT"/>
                        </a:rPr>
                        <a:t>to </a:t>
                      </a:r>
                      <a:r>
                        <a:rPr sz="1800" spc="-5" dirty="0">
                          <a:latin typeface="Arial MT"/>
                          <a:cs typeface="Arial MT"/>
                        </a:rPr>
                        <a:t>a</a:t>
                      </a:r>
                      <a:r>
                        <a:rPr sz="1800" dirty="0">
                          <a:latin typeface="Arial MT"/>
                          <a:cs typeface="Arial MT"/>
                        </a:rPr>
                        <a:t> </a:t>
                      </a:r>
                      <a:r>
                        <a:rPr sz="1800" spc="-5" dirty="0">
                          <a:latin typeface="Arial MT"/>
                          <a:cs typeface="Arial MT"/>
                        </a:rPr>
                        <a:t>desired</a:t>
                      </a:r>
                      <a:r>
                        <a:rPr sz="1800" dirty="0">
                          <a:latin typeface="Arial MT"/>
                          <a:cs typeface="Arial MT"/>
                        </a:rPr>
                        <a:t> </a:t>
                      </a:r>
                      <a:r>
                        <a:rPr sz="1800" spc="-5" dirty="0">
                          <a:latin typeface="Arial MT"/>
                          <a:cs typeface="Arial MT"/>
                        </a:rPr>
                        <a:t>a</a:t>
                      </a:r>
                      <a:r>
                        <a:rPr sz="1800" spc="5" dirty="0">
                          <a:latin typeface="Arial MT"/>
                          <a:cs typeface="Arial MT"/>
                        </a:rPr>
                        <a:t> </a:t>
                      </a:r>
                      <a:r>
                        <a:rPr sz="1800" spc="-5" dirty="0">
                          <a:latin typeface="Arial MT"/>
                          <a:cs typeface="Arial MT"/>
                        </a:rPr>
                        <a:t>point</a:t>
                      </a:r>
                      <a:r>
                        <a:rPr sz="1800" spc="15" dirty="0">
                          <a:latin typeface="Arial MT"/>
                          <a:cs typeface="Arial MT"/>
                        </a:rPr>
                        <a:t> </a:t>
                      </a:r>
                      <a:r>
                        <a:rPr sz="1800" spc="-5" dirty="0">
                          <a:latin typeface="Arial MT"/>
                          <a:cs typeface="Arial MT"/>
                        </a:rPr>
                        <a:t>in</a:t>
                      </a:r>
                      <a:r>
                        <a:rPr sz="1800" spc="-10" dirty="0">
                          <a:latin typeface="Arial MT"/>
                          <a:cs typeface="Arial MT"/>
                        </a:rPr>
                        <a:t> </a:t>
                      </a:r>
                      <a:r>
                        <a:rPr sz="1800" dirty="0">
                          <a:latin typeface="Arial MT"/>
                          <a:cs typeface="Arial MT"/>
                        </a:rPr>
                        <a:t>the</a:t>
                      </a:r>
                      <a:r>
                        <a:rPr sz="1800" spc="-10" dirty="0">
                          <a:latin typeface="Arial MT"/>
                          <a:cs typeface="Arial MT"/>
                        </a:rPr>
                        <a:t> </a:t>
                      </a:r>
                      <a:r>
                        <a:rPr sz="1800" spc="-5" dirty="0">
                          <a:latin typeface="Arial MT"/>
                          <a:cs typeface="Arial MT"/>
                        </a:rPr>
                        <a:t>file.</a:t>
                      </a:r>
                      <a:endParaRPr sz="1800">
                        <a:latin typeface="Arial MT"/>
                        <a:cs typeface="Arial MT"/>
                      </a:endParaRPr>
                    </a:p>
                  </a:txBody>
                  <a:tcPr marL="0" marR="0" marT="406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4DFD5"/>
                    </a:solidFill>
                  </a:tcPr>
                </a:tc>
                <a:extLst>
                  <a:ext uri="{0D108BD9-81ED-4DB2-BD59-A6C34878D82A}">
                    <a16:rowId xmlns:a16="http://schemas.microsoft.com/office/drawing/2014/main" val="10010"/>
                  </a:ext>
                </a:extLst>
              </a:tr>
              <a:tr h="438746">
                <a:tc>
                  <a:txBody>
                    <a:bodyPr/>
                    <a:lstStyle/>
                    <a:p>
                      <a:pPr algn="ctr">
                        <a:lnSpc>
                          <a:spcPct val="100000"/>
                        </a:lnSpc>
                        <a:spcBef>
                          <a:spcPts val="320"/>
                        </a:spcBef>
                      </a:pPr>
                      <a:r>
                        <a:rPr sz="1800" spc="-5" dirty="0">
                          <a:latin typeface="Arial MT"/>
                          <a:cs typeface="Arial MT"/>
                        </a:rPr>
                        <a:t>ftell()</a:t>
                      </a:r>
                      <a:endParaRPr sz="1800">
                        <a:latin typeface="Arial MT"/>
                        <a:cs typeface="Arial MT"/>
                      </a:endParaRPr>
                    </a:p>
                  </a:txBody>
                  <a:tcPr marL="0" marR="0" marT="406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BEFEB"/>
                    </a:solidFill>
                  </a:tcPr>
                </a:tc>
                <a:tc>
                  <a:txBody>
                    <a:bodyPr/>
                    <a:lstStyle/>
                    <a:p>
                      <a:pPr algn="ctr">
                        <a:lnSpc>
                          <a:spcPct val="100000"/>
                        </a:lnSpc>
                        <a:spcBef>
                          <a:spcPts val="320"/>
                        </a:spcBef>
                      </a:pPr>
                      <a:r>
                        <a:rPr sz="1800" spc="-5" dirty="0">
                          <a:latin typeface="Arial MT"/>
                          <a:cs typeface="Arial MT"/>
                        </a:rPr>
                        <a:t>Gives the</a:t>
                      </a:r>
                      <a:r>
                        <a:rPr sz="1800" spc="-10" dirty="0">
                          <a:latin typeface="Arial MT"/>
                          <a:cs typeface="Arial MT"/>
                        </a:rPr>
                        <a:t> </a:t>
                      </a:r>
                      <a:r>
                        <a:rPr sz="1800" dirty="0">
                          <a:latin typeface="Arial MT"/>
                          <a:cs typeface="Arial MT"/>
                        </a:rPr>
                        <a:t>correct</a:t>
                      </a:r>
                      <a:r>
                        <a:rPr sz="1800" spc="-5" dirty="0">
                          <a:latin typeface="Arial MT"/>
                          <a:cs typeface="Arial MT"/>
                        </a:rPr>
                        <a:t> position</a:t>
                      </a:r>
                      <a:r>
                        <a:rPr sz="1800" spc="5" dirty="0">
                          <a:latin typeface="Arial MT"/>
                          <a:cs typeface="Arial MT"/>
                        </a:rPr>
                        <a:t> </a:t>
                      </a:r>
                      <a:r>
                        <a:rPr sz="1800" spc="-5" dirty="0">
                          <a:latin typeface="Arial MT"/>
                          <a:cs typeface="Arial MT"/>
                        </a:rPr>
                        <a:t>in</a:t>
                      </a:r>
                      <a:r>
                        <a:rPr sz="1800" spc="5" dirty="0">
                          <a:latin typeface="Arial MT"/>
                          <a:cs typeface="Arial MT"/>
                        </a:rPr>
                        <a:t> </a:t>
                      </a:r>
                      <a:r>
                        <a:rPr sz="1800" dirty="0">
                          <a:latin typeface="Arial MT"/>
                          <a:cs typeface="Arial MT"/>
                        </a:rPr>
                        <a:t>the</a:t>
                      </a:r>
                      <a:r>
                        <a:rPr sz="1800" spc="-15" dirty="0">
                          <a:latin typeface="Arial MT"/>
                          <a:cs typeface="Arial MT"/>
                        </a:rPr>
                        <a:t> </a:t>
                      </a:r>
                      <a:r>
                        <a:rPr sz="1800" spc="-5" dirty="0">
                          <a:latin typeface="Arial MT"/>
                          <a:cs typeface="Arial MT"/>
                        </a:rPr>
                        <a:t>file.</a:t>
                      </a:r>
                      <a:endParaRPr sz="1800">
                        <a:latin typeface="Arial MT"/>
                        <a:cs typeface="Arial MT"/>
                      </a:endParaRPr>
                    </a:p>
                  </a:txBody>
                  <a:tcPr marL="0" marR="0" marT="406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BEFEB"/>
                    </a:solidFill>
                  </a:tcPr>
                </a:tc>
                <a:extLst>
                  <a:ext uri="{0D108BD9-81ED-4DB2-BD59-A6C34878D82A}">
                    <a16:rowId xmlns:a16="http://schemas.microsoft.com/office/drawing/2014/main" val="10011"/>
                  </a:ext>
                </a:extLst>
              </a:tr>
              <a:tr h="438759">
                <a:tc>
                  <a:txBody>
                    <a:bodyPr/>
                    <a:lstStyle/>
                    <a:p>
                      <a:pPr algn="ctr">
                        <a:lnSpc>
                          <a:spcPct val="100000"/>
                        </a:lnSpc>
                        <a:spcBef>
                          <a:spcPts val="320"/>
                        </a:spcBef>
                      </a:pPr>
                      <a:r>
                        <a:rPr sz="1800" spc="-10" dirty="0">
                          <a:latin typeface="Arial MT"/>
                          <a:cs typeface="Arial MT"/>
                        </a:rPr>
                        <a:t>rewind()</a:t>
                      </a:r>
                      <a:endParaRPr sz="1800">
                        <a:latin typeface="Arial MT"/>
                        <a:cs typeface="Arial MT"/>
                      </a:endParaRPr>
                    </a:p>
                  </a:txBody>
                  <a:tcPr marL="0" marR="0" marT="406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4DFD5"/>
                    </a:solidFill>
                  </a:tcPr>
                </a:tc>
                <a:tc>
                  <a:txBody>
                    <a:bodyPr/>
                    <a:lstStyle/>
                    <a:p>
                      <a:pPr marL="635" algn="ctr">
                        <a:lnSpc>
                          <a:spcPct val="100000"/>
                        </a:lnSpc>
                        <a:spcBef>
                          <a:spcPts val="320"/>
                        </a:spcBef>
                      </a:pPr>
                      <a:r>
                        <a:rPr sz="1800" spc="-5" dirty="0">
                          <a:latin typeface="Arial MT"/>
                          <a:cs typeface="Arial MT"/>
                        </a:rPr>
                        <a:t>Sets</a:t>
                      </a:r>
                      <a:r>
                        <a:rPr sz="1800" dirty="0">
                          <a:latin typeface="Arial MT"/>
                          <a:cs typeface="Arial MT"/>
                        </a:rPr>
                        <a:t> the</a:t>
                      </a:r>
                      <a:r>
                        <a:rPr sz="1800" spc="-10" dirty="0">
                          <a:latin typeface="Arial MT"/>
                          <a:cs typeface="Arial MT"/>
                        </a:rPr>
                        <a:t> </a:t>
                      </a:r>
                      <a:r>
                        <a:rPr sz="1800" spc="-5" dirty="0">
                          <a:latin typeface="Arial MT"/>
                          <a:cs typeface="Arial MT"/>
                        </a:rPr>
                        <a:t>position</a:t>
                      </a:r>
                      <a:r>
                        <a:rPr sz="1800" spc="5" dirty="0">
                          <a:latin typeface="Arial MT"/>
                          <a:cs typeface="Arial MT"/>
                        </a:rPr>
                        <a:t> </a:t>
                      </a:r>
                      <a:r>
                        <a:rPr sz="1800" dirty="0">
                          <a:latin typeface="Arial MT"/>
                          <a:cs typeface="Arial MT"/>
                        </a:rPr>
                        <a:t>to </a:t>
                      </a:r>
                      <a:r>
                        <a:rPr sz="1800" spc="-5" dirty="0">
                          <a:latin typeface="Arial MT"/>
                          <a:cs typeface="Arial MT"/>
                        </a:rPr>
                        <a:t>the</a:t>
                      </a:r>
                      <a:r>
                        <a:rPr sz="1800" spc="-15" dirty="0">
                          <a:latin typeface="Arial MT"/>
                          <a:cs typeface="Arial MT"/>
                        </a:rPr>
                        <a:t> </a:t>
                      </a:r>
                      <a:r>
                        <a:rPr sz="1800" spc="-5" dirty="0">
                          <a:latin typeface="Arial MT"/>
                          <a:cs typeface="Arial MT"/>
                        </a:rPr>
                        <a:t>beginning</a:t>
                      </a:r>
                      <a:r>
                        <a:rPr sz="1800" spc="20" dirty="0">
                          <a:latin typeface="Arial MT"/>
                          <a:cs typeface="Arial MT"/>
                        </a:rPr>
                        <a:t> </a:t>
                      </a:r>
                      <a:r>
                        <a:rPr sz="1800" dirty="0">
                          <a:latin typeface="Arial MT"/>
                          <a:cs typeface="Arial MT"/>
                        </a:rPr>
                        <a:t>of</a:t>
                      </a:r>
                      <a:r>
                        <a:rPr sz="1800" spc="-5" dirty="0">
                          <a:latin typeface="Arial MT"/>
                          <a:cs typeface="Arial MT"/>
                        </a:rPr>
                        <a:t> the</a:t>
                      </a:r>
                      <a:r>
                        <a:rPr sz="1800" spc="-10" dirty="0">
                          <a:latin typeface="Arial MT"/>
                          <a:cs typeface="Arial MT"/>
                        </a:rPr>
                        <a:t> </a:t>
                      </a:r>
                      <a:r>
                        <a:rPr sz="1800" spc="-5" dirty="0">
                          <a:latin typeface="Arial MT"/>
                          <a:cs typeface="Arial MT"/>
                        </a:rPr>
                        <a:t>file.</a:t>
                      </a:r>
                      <a:endParaRPr sz="1800" dirty="0">
                        <a:latin typeface="Arial MT"/>
                        <a:cs typeface="Arial MT"/>
                      </a:endParaRPr>
                    </a:p>
                  </a:txBody>
                  <a:tcPr marL="0" marR="0" marT="406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4DFD5"/>
                    </a:solidFill>
                  </a:tcPr>
                </a:tc>
                <a:extLst>
                  <a:ext uri="{0D108BD9-81ED-4DB2-BD59-A6C34878D82A}">
                    <a16:rowId xmlns:a16="http://schemas.microsoft.com/office/drawing/2014/main" val="10012"/>
                  </a:ext>
                </a:extLst>
              </a:tr>
            </a:tbl>
          </a:graphicData>
        </a:graphic>
      </p:graphicFrame>
      <p:pic>
        <p:nvPicPr>
          <p:cNvPr id="6" name="object 3">
            <a:extLst>
              <a:ext uri="{FF2B5EF4-FFF2-40B4-BE49-F238E27FC236}">
                <a16:creationId xmlns:a16="http://schemas.microsoft.com/office/drawing/2014/main" id="{FF6E0465-43EF-089A-9F44-9BB1637B4C15}"/>
              </a:ext>
            </a:extLst>
          </p:cNvPr>
          <p:cNvPicPr/>
          <p:nvPr/>
        </p:nvPicPr>
        <p:blipFill>
          <a:blip r:embed="rId2" cstate="print"/>
          <a:stretch>
            <a:fillRect/>
          </a:stretch>
        </p:blipFill>
        <p:spPr>
          <a:xfrm>
            <a:off x="643127" y="303275"/>
            <a:ext cx="5396484" cy="531876"/>
          </a:xfrm>
          <a:prstGeom prst="rect">
            <a:avLst/>
          </a:prstGeom>
        </p:spPr>
      </p:pic>
      <p:sp>
        <p:nvSpPr>
          <p:cNvPr id="2" name="Footer Placeholder 1">
            <a:extLst>
              <a:ext uri="{FF2B5EF4-FFF2-40B4-BE49-F238E27FC236}">
                <a16:creationId xmlns:a16="http://schemas.microsoft.com/office/drawing/2014/main" id="{373A0F9C-E0B6-CB39-1191-9AE953CEBAAE}"/>
              </a:ext>
            </a:extLst>
          </p:cNvPr>
          <p:cNvSpPr>
            <a:spLocks noGrp="1"/>
          </p:cNvSpPr>
          <p:nvPr>
            <p:ph type="ftr" sz="quarter" idx="11"/>
          </p:nvPr>
        </p:nvSpPr>
        <p:spPr/>
        <p:txBody>
          <a:bodyPr/>
          <a:lstStyle/>
          <a:p>
            <a:r>
              <a:rPr lang="en-US"/>
              <a:t>Mrs Saranya Babu, Asst. Professor, GAT</a:t>
            </a:r>
          </a:p>
        </p:txBody>
      </p:sp>
    </p:spTree>
    <p:extLst>
      <p:ext uri="{BB962C8B-B14F-4D97-AF65-F5344CB8AC3E}">
        <p14:creationId xmlns:p14="http://schemas.microsoft.com/office/powerpoint/2010/main" val="349943866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D12181-8D46-EF56-772E-4A4A5D3B3115}"/>
              </a:ext>
            </a:extLst>
          </p:cNvPr>
          <p:cNvSpPr>
            <a:spLocks noGrp="1"/>
          </p:cNvSpPr>
          <p:nvPr>
            <p:ph type="title"/>
          </p:nvPr>
        </p:nvSpPr>
        <p:spPr/>
        <p:txBody>
          <a:bodyPr/>
          <a:lstStyle/>
          <a:p>
            <a:r>
              <a:rPr lang="en-US" dirty="0"/>
              <a:t>DEFINING AND OPENING A FILE</a:t>
            </a:r>
          </a:p>
        </p:txBody>
      </p:sp>
      <p:sp>
        <p:nvSpPr>
          <p:cNvPr id="3" name="Content Placeholder 2">
            <a:extLst>
              <a:ext uri="{FF2B5EF4-FFF2-40B4-BE49-F238E27FC236}">
                <a16:creationId xmlns:a16="http://schemas.microsoft.com/office/drawing/2014/main" id="{ED3A7AA5-B17F-DAE7-8767-7DE555C0ABC6}"/>
              </a:ext>
            </a:extLst>
          </p:cNvPr>
          <p:cNvSpPr>
            <a:spLocks noGrp="1"/>
          </p:cNvSpPr>
          <p:nvPr>
            <p:ph idx="1"/>
          </p:nvPr>
        </p:nvSpPr>
        <p:spPr>
          <a:xfrm>
            <a:off x="838200" y="1484243"/>
            <a:ext cx="10515600" cy="4692720"/>
          </a:xfrm>
        </p:spPr>
        <p:txBody>
          <a:bodyPr>
            <a:normAutofit/>
          </a:bodyPr>
          <a:lstStyle/>
          <a:p>
            <a:pPr algn="just"/>
            <a:r>
              <a:rPr lang="en-US" dirty="0"/>
              <a:t>If we want to store data in a file in the secondary memory, we must specify certain things about the file, to the operating system. They include the following: </a:t>
            </a:r>
          </a:p>
          <a:p>
            <a:pPr lvl="1" algn="just"/>
            <a:r>
              <a:rPr lang="en-US" dirty="0"/>
              <a:t>Filename </a:t>
            </a:r>
          </a:p>
          <a:p>
            <a:pPr lvl="1" algn="just"/>
            <a:r>
              <a:rPr lang="en-US" dirty="0"/>
              <a:t>Data structure </a:t>
            </a:r>
          </a:p>
          <a:p>
            <a:pPr lvl="1" algn="just"/>
            <a:r>
              <a:rPr lang="en-US" dirty="0"/>
              <a:t>Purpose</a:t>
            </a:r>
          </a:p>
          <a:p>
            <a:pPr algn="just"/>
            <a:r>
              <a:rPr lang="en-US" dirty="0"/>
              <a:t>Filename is a string of characters that make up a valid filename for the operating system. It may contain two parts, a primary name and an optional period with the extension</a:t>
            </a:r>
          </a:p>
          <a:p>
            <a:pPr algn="just"/>
            <a:r>
              <a:rPr lang="en-US" dirty="0"/>
              <a:t>Data structure of a file is defined as FILE in the library of standard I/O function definitions</a:t>
            </a:r>
          </a:p>
        </p:txBody>
      </p:sp>
      <p:sp>
        <p:nvSpPr>
          <p:cNvPr id="4" name="Footer Placeholder 3">
            <a:extLst>
              <a:ext uri="{FF2B5EF4-FFF2-40B4-BE49-F238E27FC236}">
                <a16:creationId xmlns:a16="http://schemas.microsoft.com/office/drawing/2014/main" id="{0AC524FC-C0B4-DC72-714E-1B4BADB3EE15}"/>
              </a:ext>
            </a:extLst>
          </p:cNvPr>
          <p:cNvSpPr>
            <a:spLocks noGrp="1"/>
          </p:cNvSpPr>
          <p:nvPr>
            <p:ph type="ftr" sz="quarter" idx="11"/>
          </p:nvPr>
        </p:nvSpPr>
        <p:spPr/>
        <p:txBody>
          <a:bodyPr/>
          <a:lstStyle/>
          <a:p>
            <a:r>
              <a:rPr lang="en-US"/>
              <a:t>Mrs Saranya Babu, Asst. Professor, GAT</a:t>
            </a:r>
          </a:p>
        </p:txBody>
      </p:sp>
    </p:spTree>
    <p:extLst>
      <p:ext uri="{BB962C8B-B14F-4D97-AF65-F5344CB8AC3E}">
        <p14:creationId xmlns:p14="http://schemas.microsoft.com/office/powerpoint/2010/main" val="116065572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148B748-59C8-38D7-7A7B-758E3F4BE601}"/>
              </a:ext>
            </a:extLst>
          </p:cNvPr>
          <p:cNvSpPr>
            <a:spLocks noGrp="1"/>
          </p:cNvSpPr>
          <p:nvPr>
            <p:ph idx="1"/>
          </p:nvPr>
        </p:nvSpPr>
        <p:spPr>
          <a:xfrm>
            <a:off x="838200" y="424070"/>
            <a:ext cx="10515600" cy="5752893"/>
          </a:xfrm>
        </p:spPr>
        <p:txBody>
          <a:bodyPr>
            <a:normAutofit fontScale="85000" lnSpcReduction="20000"/>
          </a:bodyPr>
          <a:lstStyle/>
          <a:p>
            <a:r>
              <a:rPr lang="en-US" dirty="0"/>
              <a:t> general format for declaring and opening a file:</a:t>
            </a:r>
          </a:p>
          <a:p>
            <a:pPr marL="0" indent="0">
              <a:buNone/>
            </a:pPr>
            <a:r>
              <a:rPr lang="en-US" dirty="0">
                <a:solidFill>
                  <a:srgbClr val="FF0000"/>
                </a:solidFill>
              </a:rPr>
              <a:t>	FILE *</a:t>
            </a:r>
            <a:r>
              <a:rPr lang="en-US" dirty="0" err="1">
                <a:solidFill>
                  <a:srgbClr val="FF0000"/>
                </a:solidFill>
              </a:rPr>
              <a:t>fp</a:t>
            </a:r>
            <a:r>
              <a:rPr lang="en-US" dirty="0">
                <a:solidFill>
                  <a:srgbClr val="FF0000"/>
                </a:solidFill>
              </a:rPr>
              <a:t>;</a:t>
            </a:r>
          </a:p>
          <a:p>
            <a:pPr marL="0" indent="0">
              <a:buNone/>
            </a:pPr>
            <a:r>
              <a:rPr lang="en-US" dirty="0">
                <a:solidFill>
                  <a:srgbClr val="FF0000"/>
                </a:solidFill>
              </a:rPr>
              <a:t>	</a:t>
            </a:r>
            <a:r>
              <a:rPr lang="en-US" dirty="0" err="1">
                <a:solidFill>
                  <a:srgbClr val="FF0000"/>
                </a:solidFill>
              </a:rPr>
              <a:t>fp</a:t>
            </a:r>
            <a:r>
              <a:rPr lang="en-US" dirty="0">
                <a:solidFill>
                  <a:srgbClr val="FF0000"/>
                </a:solidFill>
              </a:rPr>
              <a:t> = </a:t>
            </a:r>
            <a:r>
              <a:rPr lang="en-US" dirty="0" err="1">
                <a:solidFill>
                  <a:srgbClr val="FF0000"/>
                </a:solidFill>
              </a:rPr>
              <a:t>fopen</a:t>
            </a:r>
            <a:r>
              <a:rPr lang="en-US" dirty="0">
                <a:solidFill>
                  <a:srgbClr val="FF0000"/>
                </a:solidFill>
              </a:rPr>
              <a:t>(“filename”, “mode”);</a:t>
            </a:r>
          </a:p>
          <a:p>
            <a:r>
              <a:rPr lang="en-US" sz="2800" dirty="0"/>
              <a:t>The</a:t>
            </a:r>
            <a:r>
              <a:rPr lang="en-US" sz="2800" spc="-10" dirty="0"/>
              <a:t> </a:t>
            </a:r>
            <a:r>
              <a:rPr lang="en-US" sz="2800" spc="-5" dirty="0"/>
              <a:t>first</a:t>
            </a:r>
            <a:r>
              <a:rPr lang="en-US" sz="2800" spc="5" dirty="0"/>
              <a:t> </a:t>
            </a:r>
            <a:r>
              <a:rPr lang="en-US" sz="2800" spc="-5" dirty="0"/>
              <a:t>statement</a:t>
            </a:r>
            <a:r>
              <a:rPr lang="en-US" sz="2800" spc="-20" dirty="0"/>
              <a:t> </a:t>
            </a:r>
            <a:r>
              <a:rPr lang="en-US" sz="2800" dirty="0"/>
              <a:t>declares</a:t>
            </a:r>
            <a:r>
              <a:rPr lang="en-US" sz="2800" spc="-35" dirty="0"/>
              <a:t> </a:t>
            </a:r>
            <a:r>
              <a:rPr lang="en-US" sz="2800" dirty="0"/>
              <a:t>the</a:t>
            </a:r>
            <a:r>
              <a:rPr lang="en-US" sz="2800" spc="-5" dirty="0"/>
              <a:t> </a:t>
            </a:r>
            <a:r>
              <a:rPr lang="en-US" sz="2800" dirty="0"/>
              <a:t>variable</a:t>
            </a:r>
            <a:r>
              <a:rPr lang="en-US" sz="2800" spc="-40" dirty="0"/>
              <a:t> </a:t>
            </a:r>
            <a:r>
              <a:rPr lang="en-US" sz="2800" b="1" dirty="0" err="1">
                <a:latin typeface="Times New Roman"/>
                <a:cs typeface="Times New Roman"/>
              </a:rPr>
              <a:t>fp</a:t>
            </a:r>
            <a:r>
              <a:rPr lang="en-US" sz="2800" b="1" spc="-5" dirty="0">
                <a:latin typeface="Times New Roman"/>
                <a:cs typeface="Times New Roman"/>
              </a:rPr>
              <a:t> </a:t>
            </a:r>
            <a:r>
              <a:rPr lang="en-US" sz="2800" dirty="0"/>
              <a:t>as</a:t>
            </a:r>
            <a:r>
              <a:rPr lang="en-US" sz="2800" spc="-5" dirty="0"/>
              <a:t> </a:t>
            </a:r>
            <a:r>
              <a:rPr lang="en-US" sz="2800" dirty="0"/>
              <a:t>a “pointer</a:t>
            </a:r>
            <a:r>
              <a:rPr lang="en-US" sz="2800" spc="-30" dirty="0"/>
              <a:t> </a:t>
            </a:r>
            <a:r>
              <a:rPr lang="en-US" sz="2800" dirty="0"/>
              <a:t>to</a:t>
            </a:r>
            <a:r>
              <a:rPr lang="en-US" sz="2800" spc="-10" dirty="0"/>
              <a:t> </a:t>
            </a:r>
            <a:r>
              <a:rPr lang="en-US" sz="2800" dirty="0"/>
              <a:t>the data</a:t>
            </a:r>
            <a:r>
              <a:rPr lang="en-US" sz="2800" spc="-45" dirty="0"/>
              <a:t> </a:t>
            </a:r>
            <a:r>
              <a:rPr lang="en-US" sz="2800" dirty="0"/>
              <a:t>type</a:t>
            </a:r>
            <a:r>
              <a:rPr lang="en-US" sz="2800" spc="-35" dirty="0"/>
              <a:t> </a:t>
            </a:r>
            <a:r>
              <a:rPr lang="en-US" sz="2800" b="1" spc="-5" dirty="0">
                <a:latin typeface="Times New Roman"/>
                <a:cs typeface="Times New Roman"/>
              </a:rPr>
              <a:t>FILE</a:t>
            </a:r>
            <a:r>
              <a:rPr lang="en-US" sz="2800" spc="-5" dirty="0"/>
              <a:t>”.</a:t>
            </a:r>
          </a:p>
          <a:p>
            <a:r>
              <a:rPr lang="en-US" sz="2800" dirty="0">
                <a:latin typeface="Times New Roman"/>
                <a:cs typeface="Times New Roman"/>
              </a:rPr>
              <a:t>The</a:t>
            </a:r>
            <a:r>
              <a:rPr lang="en-US" sz="2800" spc="-5" dirty="0">
                <a:latin typeface="Times New Roman"/>
                <a:cs typeface="Times New Roman"/>
              </a:rPr>
              <a:t> second</a:t>
            </a:r>
            <a:r>
              <a:rPr lang="en-US" sz="2800" dirty="0">
                <a:latin typeface="Times New Roman"/>
                <a:cs typeface="Times New Roman"/>
              </a:rPr>
              <a:t> </a:t>
            </a:r>
            <a:r>
              <a:rPr lang="en-US" sz="2800" spc="-5" dirty="0">
                <a:latin typeface="Times New Roman"/>
                <a:cs typeface="Times New Roman"/>
              </a:rPr>
              <a:t>statement</a:t>
            </a:r>
            <a:r>
              <a:rPr lang="en-US" sz="2800" spc="-30" dirty="0">
                <a:latin typeface="Times New Roman"/>
                <a:cs typeface="Times New Roman"/>
              </a:rPr>
              <a:t> </a:t>
            </a:r>
            <a:r>
              <a:rPr lang="en-US" sz="2800" dirty="0">
                <a:latin typeface="Times New Roman"/>
                <a:cs typeface="Times New Roman"/>
              </a:rPr>
              <a:t>opens the </a:t>
            </a:r>
            <a:r>
              <a:rPr lang="en-US" sz="2800" spc="-5" dirty="0">
                <a:latin typeface="Times New Roman"/>
                <a:cs typeface="Times New Roman"/>
              </a:rPr>
              <a:t>file</a:t>
            </a:r>
            <a:r>
              <a:rPr lang="en-US" sz="2800" spc="-40" dirty="0">
                <a:latin typeface="Times New Roman"/>
                <a:cs typeface="Times New Roman"/>
              </a:rPr>
              <a:t> </a:t>
            </a:r>
            <a:r>
              <a:rPr lang="en-US" sz="2800" i="1" dirty="0">
                <a:latin typeface="Times New Roman"/>
                <a:cs typeface="Times New Roman"/>
              </a:rPr>
              <a:t>filename</a:t>
            </a:r>
            <a:r>
              <a:rPr lang="en-US" sz="2800" i="1" spc="-20" dirty="0">
                <a:latin typeface="Times New Roman"/>
                <a:cs typeface="Times New Roman"/>
              </a:rPr>
              <a:t> </a:t>
            </a:r>
            <a:r>
              <a:rPr lang="en-US" sz="2800" dirty="0">
                <a:latin typeface="Times New Roman"/>
                <a:cs typeface="Times New Roman"/>
              </a:rPr>
              <a:t>and</a:t>
            </a:r>
            <a:r>
              <a:rPr lang="en-US" sz="2800" spc="-10" dirty="0">
                <a:latin typeface="Times New Roman"/>
                <a:cs typeface="Times New Roman"/>
              </a:rPr>
              <a:t> </a:t>
            </a:r>
            <a:r>
              <a:rPr lang="en-US" sz="2800" dirty="0">
                <a:latin typeface="Times New Roman"/>
                <a:cs typeface="Times New Roman"/>
              </a:rPr>
              <a:t>assigns</a:t>
            </a:r>
            <a:r>
              <a:rPr lang="en-US" sz="2800" spc="-10" dirty="0">
                <a:latin typeface="Times New Roman"/>
                <a:cs typeface="Times New Roman"/>
              </a:rPr>
              <a:t> </a:t>
            </a:r>
            <a:r>
              <a:rPr lang="en-US" sz="2800" dirty="0">
                <a:latin typeface="Times New Roman"/>
                <a:cs typeface="Times New Roman"/>
              </a:rPr>
              <a:t>an </a:t>
            </a:r>
            <a:r>
              <a:rPr lang="en-US" sz="2800" spc="-585" dirty="0">
                <a:latin typeface="Times New Roman"/>
                <a:cs typeface="Times New Roman"/>
              </a:rPr>
              <a:t> </a:t>
            </a:r>
            <a:r>
              <a:rPr lang="en-US" sz="2800" dirty="0">
                <a:latin typeface="Times New Roman"/>
                <a:cs typeface="Times New Roman"/>
              </a:rPr>
              <a:t>identifier to the </a:t>
            </a:r>
            <a:r>
              <a:rPr lang="en-US" sz="2800" b="1" spc="-5" dirty="0">
                <a:latin typeface="Times New Roman"/>
                <a:cs typeface="Times New Roman"/>
              </a:rPr>
              <a:t>FILE </a:t>
            </a:r>
            <a:r>
              <a:rPr lang="en-US" sz="2800" dirty="0">
                <a:latin typeface="Times New Roman"/>
                <a:cs typeface="Times New Roman"/>
              </a:rPr>
              <a:t>type pointer </a:t>
            </a:r>
            <a:r>
              <a:rPr lang="en-US" sz="2800" b="1" dirty="0">
                <a:latin typeface="Times New Roman"/>
                <a:cs typeface="Times New Roman"/>
              </a:rPr>
              <a:t>fp. </a:t>
            </a:r>
            <a:r>
              <a:rPr lang="en-US" sz="2800" dirty="0">
                <a:latin typeface="Times New Roman"/>
                <a:cs typeface="Times New Roman"/>
              </a:rPr>
              <a:t>It also </a:t>
            </a:r>
            <a:r>
              <a:rPr lang="en-US" sz="2800" spc="-5" dirty="0">
                <a:latin typeface="Times New Roman"/>
                <a:cs typeface="Times New Roman"/>
              </a:rPr>
              <a:t>specifies </a:t>
            </a:r>
            <a:r>
              <a:rPr lang="en-US" sz="2800" dirty="0">
                <a:latin typeface="Times New Roman"/>
                <a:cs typeface="Times New Roman"/>
              </a:rPr>
              <a:t>the </a:t>
            </a:r>
            <a:r>
              <a:rPr lang="en-US" sz="2800" spc="5" dirty="0">
                <a:latin typeface="Times New Roman"/>
                <a:cs typeface="Times New Roman"/>
              </a:rPr>
              <a:t> </a:t>
            </a:r>
            <a:r>
              <a:rPr lang="en-US" sz="2800" dirty="0">
                <a:latin typeface="Times New Roman"/>
                <a:cs typeface="Times New Roman"/>
              </a:rPr>
              <a:t>purpose</a:t>
            </a:r>
            <a:r>
              <a:rPr lang="en-US" sz="2800" spc="-15" dirty="0">
                <a:latin typeface="Times New Roman"/>
                <a:cs typeface="Times New Roman"/>
              </a:rPr>
              <a:t> </a:t>
            </a:r>
            <a:r>
              <a:rPr lang="en-US" sz="2800" dirty="0">
                <a:latin typeface="Times New Roman"/>
                <a:cs typeface="Times New Roman"/>
              </a:rPr>
              <a:t>of</a:t>
            </a:r>
            <a:r>
              <a:rPr lang="en-US" sz="2800" spc="-5" dirty="0">
                <a:latin typeface="Times New Roman"/>
                <a:cs typeface="Times New Roman"/>
              </a:rPr>
              <a:t> </a:t>
            </a:r>
            <a:r>
              <a:rPr lang="en-US" sz="2800" dirty="0">
                <a:latin typeface="Times New Roman"/>
                <a:cs typeface="Times New Roman"/>
              </a:rPr>
              <a:t>opening</a:t>
            </a:r>
            <a:r>
              <a:rPr lang="en-US" sz="2800" spc="-15" dirty="0">
                <a:latin typeface="Times New Roman"/>
                <a:cs typeface="Times New Roman"/>
              </a:rPr>
              <a:t> </a:t>
            </a:r>
            <a:r>
              <a:rPr lang="en-US" sz="2800" dirty="0">
                <a:latin typeface="Times New Roman"/>
                <a:cs typeface="Times New Roman"/>
              </a:rPr>
              <a:t>this</a:t>
            </a:r>
            <a:r>
              <a:rPr lang="en-US" sz="2800" spc="-25" dirty="0">
                <a:latin typeface="Times New Roman"/>
                <a:cs typeface="Times New Roman"/>
              </a:rPr>
              <a:t> </a:t>
            </a:r>
            <a:r>
              <a:rPr lang="en-US" sz="2800" dirty="0">
                <a:latin typeface="Times New Roman"/>
                <a:cs typeface="Times New Roman"/>
              </a:rPr>
              <a:t>file.</a:t>
            </a:r>
            <a:r>
              <a:rPr lang="en-US" sz="2800" spc="-60" dirty="0">
                <a:latin typeface="Times New Roman"/>
                <a:cs typeface="Times New Roman"/>
              </a:rPr>
              <a:t> </a:t>
            </a:r>
            <a:r>
              <a:rPr lang="en-US" sz="2800" dirty="0">
                <a:latin typeface="Times New Roman"/>
                <a:cs typeface="Times New Roman"/>
              </a:rPr>
              <a:t>The</a:t>
            </a:r>
            <a:r>
              <a:rPr lang="en-US" sz="2800" spc="-20" dirty="0">
                <a:latin typeface="Times New Roman"/>
                <a:cs typeface="Times New Roman"/>
              </a:rPr>
              <a:t> </a:t>
            </a:r>
            <a:r>
              <a:rPr lang="en-US" sz="2800" i="1" dirty="0">
                <a:latin typeface="Times New Roman"/>
                <a:cs typeface="Times New Roman"/>
              </a:rPr>
              <a:t>mode</a:t>
            </a:r>
            <a:r>
              <a:rPr lang="en-US" sz="2800" i="1" spc="-5" dirty="0">
                <a:latin typeface="Times New Roman"/>
                <a:cs typeface="Times New Roman"/>
              </a:rPr>
              <a:t> </a:t>
            </a:r>
            <a:r>
              <a:rPr lang="en-US" sz="2800" dirty="0">
                <a:latin typeface="Times New Roman"/>
                <a:cs typeface="Times New Roman"/>
              </a:rPr>
              <a:t>does</a:t>
            </a:r>
            <a:r>
              <a:rPr lang="en-US" sz="2800" spc="-5" dirty="0">
                <a:latin typeface="Times New Roman"/>
                <a:cs typeface="Times New Roman"/>
              </a:rPr>
              <a:t> </a:t>
            </a:r>
            <a:r>
              <a:rPr lang="en-US" sz="2800" dirty="0">
                <a:latin typeface="Times New Roman"/>
                <a:cs typeface="Times New Roman"/>
              </a:rPr>
              <a:t>this</a:t>
            </a:r>
            <a:r>
              <a:rPr lang="en-US" sz="2800" spc="-20" dirty="0">
                <a:latin typeface="Times New Roman"/>
                <a:cs typeface="Times New Roman"/>
              </a:rPr>
              <a:t> </a:t>
            </a:r>
            <a:r>
              <a:rPr lang="en-US" sz="2800" dirty="0">
                <a:latin typeface="Times New Roman"/>
                <a:cs typeface="Times New Roman"/>
              </a:rPr>
              <a:t>job.</a:t>
            </a:r>
          </a:p>
          <a:p>
            <a:pPr marL="0" indent="0">
              <a:buNone/>
            </a:pPr>
            <a:endParaRPr lang="en-US" dirty="0">
              <a:solidFill>
                <a:srgbClr val="FF0000"/>
              </a:solidFill>
            </a:endParaRPr>
          </a:p>
          <a:p>
            <a:r>
              <a:rPr lang="en-US" dirty="0"/>
              <a:t>Modes</a:t>
            </a:r>
          </a:p>
          <a:p>
            <a:pPr lvl="1"/>
            <a:r>
              <a:rPr lang="en-US" dirty="0"/>
              <a:t>r        open the file for reading only.</a:t>
            </a:r>
          </a:p>
          <a:p>
            <a:pPr lvl="1"/>
            <a:r>
              <a:rPr lang="en-US" dirty="0"/>
              <a:t>w       open the file for writing only.</a:t>
            </a:r>
          </a:p>
          <a:p>
            <a:pPr lvl="1"/>
            <a:r>
              <a:rPr lang="en-US" dirty="0"/>
              <a:t>a        open the file for appending (or adding) data to it.</a:t>
            </a:r>
          </a:p>
          <a:p>
            <a:pPr marL="457200" lvl="1" indent="0">
              <a:buNone/>
            </a:pPr>
            <a:endParaRPr lang="en-US" dirty="0"/>
          </a:p>
          <a:p>
            <a:pPr marL="457200" lvl="1" indent="0">
              <a:buNone/>
            </a:pPr>
            <a:r>
              <a:rPr lang="en-US" dirty="0"/>
              <a:t>Many recent compilers include additional modes of operation. They include:</a:t>
            </a:r>
          </a:p>
          <a:p>
            <a:pPr lvl="1"/>
            <a:r>
              <a:rPr lang="en-US" dirty="0"/>
              <a:t>r+      The existing file is opened to the beginning for both reading and writing.</a:t>
            </a:r>
          </a:p>
          <a:p>
            <a:pPr lvl="1"/>
            <a:r>
              <a:rPr lang="en-US" dirty="0"/>
              <a:t>w+     Same as w except both for reading and writing.</a:t>
            </a:r>
          </a:p>
          <a:p>
            <a:pPr lvl="1"/>
            <a:r>
              <a:rPr lang="en-US" dirty="0"/>
              <a:t>a+      Same as a except both for reading and writing.</a:t>
            </a:r>
          </a:p>
        </p:txBody>
      </p:sp>
      <p:sp>
        <p:nvSpPr>
          <p:cNvPr id="2" name="object 5">
            <a:extLst>
              <a:ext uri="{FF2B5EF4-FFF2-40B4-BE49-F238E27FC236}">
                <a16:creationId xmlns:a16="http://schemas.microsoft.com/office/drawing/2014/main" id="{9C0E1492-9F33-238D-362E-C062A32D8CF8}"/>
              </a:ext>
            </a:extLst>
          </p:cNvPr>
          <p:cNvSpPr txBox="1"/>
          <p:nvPr/>
        </p:nvSpPr>
        <p:spPr>
          <a:xfrm>
            <a:off x="5946815" y="2700351"/>
            <a:ext cx="5595829" cy="1200329"/>
          </a:xfrm>
          <a:prstGeom prst="rect">
            <a:avLst/>
          </a:prstGeom>
          <a:solidFill>
            <a:srgbClr val="71A276"/>
          </a:solidFill>
          <a:ln w="38100">
            <a:solidFill>
              <a:srgbClr val="527754"/>
            </a:solidFill>
          </a:ln>
        </p:spPr>
        <p:txBody>
          <a:bodyPr vert="horz" wrap="square" lIns="0" tIns="83820" rIns="0" bIns="0" rtlCol="0">
            <a:spAutoFit/>
          </a:bodyPr>
          <a:lstStyle/>
          <a:p>
            <a:pPr marL="90170">
              <a:lnSpc>
                <a:spcPct val="100000"/>
              </a:lnSpc>
              <a:spcBef>
                <a:spcPts val="660"/>
              </a:spcBef>
            </a:pPr>
            <a:r>
              <a:rPr sz="1800" dirty="0">
                <a:solidFill>
                  <a:srgbClr val="FFFFFF"/>
                </a:solidFill>
                <a:latin typeface="Arial MT"/>
                <a:cs typeface="Arial MT"/>
              </a:rPr>
              <a:t>FILE</a:t>
            </a:r>
            <a:r>
              <a:rPr sz="1800" spc="-40" dirty="0">
                <a:solidFill>
                  <a:srgbClr val="FFFFFF"/>
                </a:solidFill>
                <a:latin typeface="Arial MT"/>
                <a:cs typeface="Arial MT"/>
              </a:rPr>
              <a:t> </a:t>
            </a:r>
            <a:r>
              <a:rPr sz="1800" spc="-5" dirty="0">
                <a:solidFill>
                  <a:srgbClr val="FFFFFF"/>
                </a:solidFill>
                <a:latin typeface="Arial MT"/>
                <a:cs typeface="Arial MT"/>
              </a:rPr>
              <a:t>*p1,</a:t>
            </a:r>
            <a:r>
              <a:rPr sz="1800" spc="-15" dirty="0">
                <a:solidFill>
                  <a:srgbClr val="FFFFFF"/>
                </a:solidFill>
                <a:latin typeface="Arial MT"/>
                <a:cs typeface="Arial MT"/>
              </a:rPr>
              <a:t> </a:t>
            </a:r>
            <a:r>
              <a:rPr sz="1800" spc="-5" dirty="0">
                <a:solidFill>
                  <a:srgbClr val="FFFFFF"/>
                </a:solidFill>
                <a:latin typeface="Arial MT"/>
                <a:cs typeface="Arial MT"/>
              </a:rPr>
              <a:t>*p2;</a:t>
            </a:r>
            <a:endParaRPr sz="1800" dirty="0">
              <a:latin typeface="Arial MT"/>
              <a:cs typeface="Arial MT"/>
            </a:endParaRPr>
          </a:p>
          <a:p>
            <a:pPr>
              <a:lnSpc>
                <a:spcPct val="100000"/>
              </a:lnSpc>
              <a:spcBef>
                <a:spcPts val="30"/>
              </a:spcBef>
            </a:pPr>
            <a:endParaRPr sz="1850" dirty="0">
              <a:latin typeface="Arial MT"/>
              <a:cs typeface="Arial MT"/>
            </a:endParaRPr>
          </a:p>
          <a:p>
            <a:pPr marL="90170">
              <a:lnSpc>
                <a:spcPct val="100000"/>
              </a:lnSpc>
            </a:pPr>
            <a:r>
              <a:rPr sz="1800" spc="-5" dirty="0">
                <a:solidFill>
                  <a:srgbClr val="FFFFFF"/>
                </a:solidFill>
                <a:latin typeface="Arial MT"/>
                <a:cs typeface="Arial MT"/>
              </a:rPr>
              <a:t>p1</a:t>
            </a:r>
            <a:r>
              <a:rPr sz="1800" spc="-15" dirty="0">
                <a:solidFill>
                  <a:srgbClr val="FFFFFF"/>
                </a:solidFill>
                <a:latin typeface="Arial MT"/>
                <a:cs typeface="Arial MT"/>
              </a:rPr>
              <a:t> </a:t>
            </a:r>
            <a:r>
              <a:rPr sz="1800" dirty="0">
                <a:solidFill>
                  <a:srgbClr val="FFFFFF"/>
                </a:solidFill>
                <a:latin typeface="Arial MT"/>
                <a:cs typeface="Arial MT"/>
              </a:rPr>
              <a:t>=</a:t>
            </a:r>
            <a:r>
              <a:rPr sz="1800" spc="-20" dirty="0">
                <a:solidFill>
                  <a:srgbClr val="FFFFFF"/>
                </a:solidFill>
                <a:latin typeface="Arial MT"/>
                <a:cs typeface="Arial MT"/>
              </a:rPr>
              <a:t> </a:t>
            </a:r>
            <a:r>
              <a:rPr sz="1800" spc="-5" dirty="0">
                <a:solidFill>
                  <a:srgbClr val="FFFFFF"/>
                </a:solidFill>
                <a:latin typeface="Arial MT"/>
                <a:cs typeface="Arial MT"/>
              </a:rPr>
              <a:t>fopen(“CPU”</a:t>
            </a:r>
            <a:r>
              <a:rPr sz="1800" spc="10" dirty="0">
                <a:solidFill>
                  <a:srgbClr val="FFFFFF"/>
                </a:solidFill>
                <a:latin typeface="Arial MT"/>
                <a:cs typeface="Arial MT"/>
              </a:rPr>
              <a:t> </a:t>
            </a:r>
            <a:r>
              <a:rPr sz="1800" dirty="0">
                <a:solidFill>
                  <a:srgbClr val="FFFFFF"/>
                </a:solidFill>
                <a:latin typeface="Arial MT"/>
                <a:cs typeface="Arial MT"/>
              </a:rPr>
              <a:t>,</a:t>
            </a:r>
            <a:r>
              <a:rPr sz="1800" spc="-10" dirty="0">
                <a:solidFill>
                  <a:srgbClr val="FFFFFF"/>
                </a:solidFill>
                <a:latin typeface="Arial MT"/>
                <a:cs typeface="Arial MT"/>
              </a:rPr>
              <a:t> </a:t>
            </a:r>
            <a:r>
              <a:rPr sz="1800" dirty="0">
                <a:solidFill>
                  <a:srgbClr val="FFFFFF"/>
                </a:solidFill>
                <a:latin typeface="Arial MT"/>
                <a:cs typeface="Arial MT"/>
              </a:rPr>
              <a:t>“r”);</a:t>
            </a:r>
            <a:endParaRPr sz="1800" dirty="0">
              <a:latin typeface="Arial MT"/>
              <a:cs typeface="Arial MT"/>
            </a:endParaRPr>
          </a:p>
          <a:p>
            <a:pPr marL="90170">
              <a:lnSpc>
                <a:spcPct val="100000"/>
              </a:lnSpc>
            </a:pPr>
            <a:r>
              <a:rPr sz="1800" spc="-5" dirty="0">
                <a:solidFill>
                  <a:srgbClr val="FFFFFF"/>
                </a:solidFill>
                <a:latin typeface="Arial MT"/>
                <a:cs typeface="Arial MT"/>
              </a:rPr>
              <a:t>p2</a:t>
            </a:r>
            <a:r>
              <a:rPr sz="1800" spc="-25" dirty="0">
                <a:solidFill>
                  <a:srgbClr val="FFFFFF"/>
                </a:solidFill>
                <a:latin typeface="Arial MT"/>
                <a:cs typeface="Arial MT"/>
              </a:rPr>
              <a:t> </a:t>
            </a:r>
            <a:r>
              <a:rPr sz="1800" dirty="0">
                <a:solidFill>
                  <a:srgbClr val="FFFFFF"/>
                </a:solidFill>
                <a:latin typeface="Arial MT"/>
                <a:cs typeface="Arial MT"/>
              </a:rPr>
              <a:t>=</a:t>
            </a:r>
            <a:r>
              <a:rPr sz="1800" spc="-15" dirty="0">
                <a:solidFill>
                  <a:srgbClr val="FFFFFF"/>
                </a:solidFill>
                <a:latin typeface="Arial MT"/>
                <a:cs typeface="Arial MT"/>
              </a:rPr>
              <a:t> </a:t>
            </a:r>
            <a:r>
              <a:rPr sz="1800" spc="-5" dirty="0">
                <a:solidFill>
                  <a:srgbClr val="FFFFFF"/>
                </a:solidFill>
                <a:latin typeface="Arial MT"/>
                <a:cs typeface="Arial MT"/>
              </a:rPr>
              <a:t>fopen(“Data”</a:t>
            </a:r>
            <a:r>
              <a:rPr sz="1800" spc="15" dirty="0">
                <a:solidFill>
                  <a:srgbClr val="FFFFFF"/>
                </a:solidFill>
                <a:latin typeface="Arial MT"/>
                <a:cs typeface="Arial MT"/>
              </a:rPr>
              <a:t> </a:t>
            </a:r>
            <a:r>
              <a:rPr sz="1800" dirty="0">
                <a:solidFill>
                  <a:srgbClr val="FFFFFF"/>
                </a:solidFill>
                <a:latin typeface="Arial MT"/>
                <a:cs typeface="Arial MT"/>
              </a:rPr>
              <a:t>,</a:t>
            </a:r>
            <a:r>
              <a:rPr sz="1800" spc="-10" dirty="0">
                <a:solidFill>
                  <a:srgbClr val="FFFFFF"/>
                </a:solidFill>
                <a:latin typeface="Arial MT"/>
                <a:cs typeface="Arial MT"/>
              </a:rPr>
              <a:t> “w”);</a:t>
            </a:r>
            <a:endParaRPr sz="1800" dirty="0">
              <a:latin typeface="Arial MT"/>
              <a:cs typeface="Arial MT"/>
            </a:endParaRPr>
          </a:p>
        </p:txBody>
      </p:sp>
      <p:sp>
        <p:nvSpPr>
          <p:cNvPr id="4" name="Footer Placeholder 3">
            <a:extLst>
              <a:ext uri="{FF2B5EF4-FFF2-40B4-BE49-F238E27FC236}">
                <a16:creationId xmlns:a16="http://schemas.microsoft.com/office/drawing/2014/main" id="{527A2C43-E193-57BE-94CE-B7A9D00E4FA2}"/>
              </a:ext>
            </a:extLst>
          </p:cNvPr>
          <p:cNvSpPr>
            <a:spLocks noGrp="1"/>
          </p:cNvSpPr>
          <p:nvPr>
            <p:ph type="ftr" sz="quarter" idx="11"/>
          </p:nvPr>
        </p:nvSpPr>
        <p:spPr/>
        <p:txBody>
          <a:bodyPr/>
          <a:lstStyle/>
          <a:p>
            <a:r>
              <a:rPr lang="en-US"/>
              <a:t>Mrs Saranya Babu, Asst. Professor, GAT</a:t>
            </a:r>
          </a:p>
        </p:txBody>
      </p:sp>
    </p:spTree>
    <p:extLst>
      <p:ext uri="{BB962C8B-B14F-4D97-AF65-F5344CB8AC3E}">
        <p14:creationId xmlns:p14="http://schemas.microsoft.com/office/powerpoint/2010/main" val="388246921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20F178-3EFD-F7A8-84DC-F24617B06517}"/>
              </a:ext>
            </a:extLst>
          </p:cNvPr>
          <p:cNvSpPr>
            <a:spLocks noGrp="1"/>
          </p:cNvSpPr>
          <p:nvPr>
            <p:ph type="title"/>
          </p:nvPr>
        </p:nvSpPr>
        <p:spPr/>
        <p:txBody>
          <a:bodyPr/>
          <a:lstStyle/>
          <a:p>
            <a:r>
              <a:rPr lang="en-US" dirty="0"/>
              <a:t>CLOSING A FILE</a:t>
            </a:r>
          </a:p>
        </p:txBody>
      </p:sp>
      <p:sp>
        <p:nvSpPr>
          <p:cNvPr id="3" name="Content Placeholder 2">
            <a:extLst>
              <a:ext uri="{FF2B5EF4-FFF2-40B4-BE49-F238E27FC236}">
                <a16:creationId xmlns:a16="http://schemas.microsoft.com/office/drawing/2014/main" id="{68E0AD4B-06F5-5860-E468-8510ECA5FBC5}"/>
              </a:ext>
            </a:extLst>
          </p:cNvPr>
          <p:cNvSpPr>
            <a:spLocks noGrp="1"/>
          </p:cNvSpPr>
          <p:nvPr>
            <p:ph idx="1"/>
          </p:nvPr>
        </p:nvSpPr>
        <p:spPr/>
        <p:txBody>
          <a:bodyPr>
            <a:normAutofit fontScale="77500" lnSpcReduction="20000"/>
          </a:bodyPr>
          <a:lstStyle/>
          <a:p>
            <a:pPr algn="just"/>
            <a:r>
              <a:rPr lang="en-US" dirty="0"/>
              <a:t>A file must be closed as soon as all operations on it have been completed. This ensures that all outstanding information associated with the file is flushed out from the buffers and all links to the file are broken</a:t>
            </a:r>
          </a:p>
          <a:p>
            <a:pPr marL="0" indent="0">
              <a:buNone/>
            </a:pPr>
            <a:r>
              <a:rPr lang="en-US" dirty="0"/>
              <a:t>		</a:t>
            </a:r>
          </a:p>
          <a:p>
            <a:pPr marL="0" indent="0">
              <a:buNone/>
            </a:pPr>
            <a:r>
              <a:rPr lang="en-US" dirty="0"/>
              <a:t>		</a:t>
            </a:r>
            <a:r>
              <a:rPr lang="en-US" b="1" dirty="0" err="1">
                <a:solidFill>
                  <a:srgbClr val="FF0000"/>
                </a:solidFill>
              </a:rPr>
              <a:t>fclose</a:t>
            </a:r>
            <a:r>
              <a:rPr lang="en-US" b="1" dirty="0">
                <a:solidFill>
                  <a:srgbClr val="FF0000"/>
                </a:solidFill>
              </a:rPr>
              <a:t>(</a:t>
            </a:r>
            <a:r>
              <a:rPr lang="en-US" b="1" dirty="0" err="1">
                <a:solidFill>
                  <a:srgbClr val="FF0000"/>
                </a:solidFill>
              </a:rPr>
              <a:t>file_pointer</a:t>
            </a:r>
            <a:r>
              <a:rPr lang="en-US" b="1" dirty="0">
                <a:solidFill>
                  <a:srgbClr val="FF0000"/>
                </a:solidFill>
              </a:rPr>
              <a:t>);</a:t>
            </a:r>
          </a:p>
          <a:p>
            <a:pPr marL="0" indent="0">
              <a:buNone/>
            </a:pPr>
            <a:r>
              <a:rPr lang="en-US" sz="2600" dirty="0"/>
              <a:t>EXAMPLE:-</a:t>
            </a:r>
          </a:p>
          <a:p>
            <a:pPr marL="0" indent="0">
              <a:buNone/>
            </a:pPr>
            <a:r>
              <a:rPr lang="en-US" sz="2600" dirty="0"/>
              <a:t>FILE *p1, *p2;</a:t>
            </a:r>
          </a:p>
          <a:p>
            <a:pPr marL="0" indent="0">
              <a:buNone/>
            </a:pPr>
            <a:r>
              <a:rPr lang="en-US" sz="2600" dirty="0"/>
              <a:t>p1 = </a:t>
            </a:r>
            <a:r>
              <a:rPr lang="en-US" sz="2600" dirty="0" err="1"/>
              <a:t>fopen</a:t>
            </a:r>
            <a:r>
              <a:rPr lang="en-US" sz="2600" dirty="0"/>
              <a:t>(“INPUT”, “w”);</a:t>
            </a:r>
          </a:p>
          <a:p>
            <a:pPr marL="0" indent="0">
              <a:buNone/>
            </a:pPr>
            <a:r>
              <a:rPr lang="en-US" sz="2600" dirty="0"/>
              <a:t>p2 = </a:t>
            </a:r>
            <a:r>
              <a:rPr lang="en-US" sz="2600" dirty="0" err="1"/>
              <a:t>fopen</a:t>
            </a:r>
            <a:r>
              <a:rPr lang="en-US" sz="2600" dirty="0"/>
              <a:t>(“OUTPUT”, “r”);</a:t>
            </a:r>
          </a:p>
          <a:p>
            <a:pPr marL="0" indent="0">
              <a:buNone/>
            </a:pPr>
            <a:r>
              <a:rPr lang="en-US" sz="2600" dirty="0"/>
              <a:t>…….</a:t>
            </a:r>
          </a:p>
          <a:p>
            <a:pPr marL="0" indent="0">
              <a:buNone/>
            </a:pPr>
            <a:r>
              <a:rPr lang="en-US" sz="2600" dirty="0"/>
              <a:t>…….</a:t>
            </a:r>
          </a:p>
          <a:p>
            <a:pPr marL="0" indent="0">
              <a:buNone/>
            </a:pPr>
            <a:r>
              <a:rPr lang="en-US" sz="2600" dirty="0" err="1"/>
              <a:t>fclose</a:t>
            </a:r>
            <a:r>
              <a:rPr lang="en-US" sz="2600" dirty="0"/>
              <a:t>(p1); </a:t>
            </a:r>
          </a:p>
          <a:p>
            <a:pPr marL="0" indent="0">
              <a:buNone/>
            </a:pPr>
            <a:r>
              <a:rPr lang="en-US" sz="2600" dirty="0" err="1"/>
              <a:t>fclose</a:t>
            </a:r>
            <a:r>
              <a:rPr lang="en-US" sz="2600" dirty="0"/>
              <a:t>(p2);</a:t>
            </a:r>
            <a:endParaRPr lang="en-US" dirty="0"/>
          </a:p>
        </p:txBody>
      </p:sp>
      <p:sp>
        <p:nvSpPr>
          <p:cNvPr id="4" name="Footer Placeholder 3">
            <a:extLst>
              <a:ext uri="{FF2B5EF4-FFF2-40B4-BE49-F238E27FC236}">
                <a16:creationId xmlns:a16="http://schemas.microsoft.com/office/drawing/2014/main" id="{9330DE84-BC53-A3D9-DE48-26E369EB408B}"/>
              </a:ext>
            </a:extLst>
          </p:cNvPr>
          <p:cNvSpPr>
            <a:spLocks noGrp="1"/>
          </p:cNvSpPr>
          <p:nvPr>
            <p:ph type="ftr" sz="quarter" idx="11"/>
          </p:nvPr>
        </p:nvSpPr>
        <p:spPr/>
        <p:txBody>
          <a:bodyPr/>
          <a:lstStyle/>
          <a:p>
            <a:r>
              <a:rPr lang="en-US"/>
              <a:t>Mrs Saranya Babu, Asst. Professor, GAT</a:t>
            </a:r>
          </a:p>
        </p:txBody>
      </p:sp>
    </p:spTree>
    <p:extLst>
      <p:ext uri="{BB962C8B-B14F-4D97-AF65-F5344CB8AC3E}">
        <p14:creationId xmlns:p14="http://schemas.microsoft.com/office/powerpoint/2010/main" val="312961439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0336EA-87D3-8112-D15D-6C59201DCCA9}"/>
              </a:ext>
            </a:extLst>
          </p:cNvPr>
          <p:cNvSpPr>
            <a:spLocks noGrp="1"/>
          </p:cNvSpPr>
          <p:nvPr>
            <p:ph type="title"/>
          </p:nvPr>
        </p:nvSpPr>
        <p:spPr/>
        <p:txBody>
          <a:bodyPr/>
          <a:lstStyle/>
          <a:p>
            <a:r>
              <a:rPr lang="en-US" dirty="0"/>
              <a:t>INPUT/OUTPUT OPERATIONS ON FILES</a:t>
            </a:r>
          </a:p>
        </p:txBody>
      </p:sp>
      <p:sp>
        <p:nvSpPr>
          <p:cNvPr id="3" name="Content Placeholder 2">
            <a:extLst>
              <a:ext uri="{FF2B5EF4-FFF2-40B4-BE49-F238E27FC236}">
                <a16:creationId xmlns:a16="http://schemas.microsoft.com/office/drawing/2014/main" id="{E1A5E1C4-0367-6837-BD4F-E4FBD7A0B966}"/>
              </a:ext>
            </a:extLst>
          </p:cNvPr>
          <p:cNvSpPr>
            <a:spLocks noGrp="1"/>
          </p:cNvSpPr>
          <p:nvPr>
            <p:ph idx="1"/>
          </p:nvPr>
        </p:nvSpPr>
        <p:spPr/>
        <p:txBody>
          <a:bodyPr>
            <a:normAutofit fontScale="92500" lnSpcReduction="10000"/>
          </a:bodyPr>
          <a:lstStyle/>
          <a:p>
            <a:pPr marL="0" indent="0">
              <a:buNone/>
            </a:pPr>
            <a:r>
              <a:rPr lang="en-US" b="1" dirty="0"/>
              <a:t>The </a:t>
            </a:r>
            <a:r>
              <a:rPr lang="en-US" b="1" dirty="0" err="1"/>
              <a:t>getc</a:t>
            </a:r>
            <a:r>
              <a:rPr lang="en-US" b="1" dirty="0"/>
              <a:t> and </a:t>
            </a:r>
            <a:r>
              <a:rPr lang="en-US" b="1" dirty="0" err="1"/>
              <a:t>putc</a:t>
            </a:r>
            <a:r>
              <a:rPr lang="en-US" b="1" dirty="0"/>
              <a:t> Functions</a:t>
            </a:r>
          </a:p>
          <a:p>
            <a:r>
              <a:rPr lang="en-US" dirty="0"/>
              <a:t> Assume that a file is opened with mode w and fi le pointer fp1. Then, the statement</a:t>
            </a:r>
          </a:p>
          <a:p>
            <a:pPr marL="0" indent="0">
              <a:buNone/>
            </a:pPr>
            <a:r>
              <a:rPr lang="en-US" dirty="0"/>
              <a:t>		  </a:t>
            </a:r>
            <a:r>
              <a:rPr lang="en-US" dirty="0" err="1">
                <a:solidFill>
                  <a:srgbClr val="FF0000"/>
                </a:solidFill>
              </a:rPr>
              <a:t>putc</a:t>
            </a:r>
            <a:r>
              <a:rPr lang="en-US" dirty="0">
                <a:solidFill>
                  <a:srgbClr val="FF0000"/>
                </a:solidFill>
              </a:rPr>
              <a:t>(c, fp1);</a:t>
            </a:r>
          </a:p>
          <a:p>
            <a:r>
              <a:rPr lang="en-US" dirty="0"/>
              <a:t>writes the character contained in the character variable c to the file associated with FILE pointer fp1. </a:t>
            </a:r>
          </a:p>
          <a:p>
            <a:r>
              <a:rPr lang="en-US" dirty="0"/>
              <a:t>Similarly, </a:t>
            </a:r>
            <a:r>
              <a:rPr lang="en-US" dirty="0" err="1"/>
              <a:t>getc</a:t>
            </a:r>
            <a:r>
              <a:rPr lang="en-US" dirty="0"/>
              <a:t> is used to read a character from a fi le that has been opened in read mode. For example, the statement</a:t>
            </a:r>
          </a:p>
          <a:p>
            <a:pPr marL="0" indent="0">
              <a:buNone/>
            </a:pPr>
            <a:r>
              <a:rPr lang="en-US" dirty="0"/>
              <a:t>		</a:t>
            </a:r>
            <a:r>
              <a:rPr lang="en-US" dirty="0">
                <a:solidFill>
                  <a:srgbClr val="FF0000"/>
                </a:solidFill>
              </a:rPr>
              <a:t>c = </a:t>
            </a:r>
            <a:r>
              <a:rPr lang="en-US" dirty="0" err="1">
                <a:solidFill>
                  <a:srgbClr val="FF0000"/>
                </a:solidFill>
              </a:rPr>
              <a:t>getc</a:t>
            </a:r>
            <a:r>
              <a:rPr lang="en-US" dirty="0">
                <a:solidFill>
                  <a:srgbClr val="FF0000"/>
                </a:solidFill>
              </a:rPr>
              <a:t>(fp2);</a:t>
            </a:r>
          </a:p>
          <a:p>
            <a:r>
              <a:rPr lang="en-US" dirty="0"/>
              <a:t>would read a character from the fi le whose fi le pointer is fp2.</a:t>
            </a:r>
          </a:p>
        </p:txBody>
      </p:sp>
      <p:sp>
        <p:nvSpPr>
          <p:cNvPr id="4" name="Footer Placeholder 3">
            <a:extLst>
              <a:ext uri="{FF2B5EF4-FFF2-40B4-BE49-F238E27FC236}">
                <a16:creationId xmlns:a16="http://schemas.microsoft.com/office/drawing/2014/main" id="{538868BA-434A-9E29-E3D6-F62FBB8975D7}"/>
              </a:ext>
            </a:extLst>
          </p:cNvPr>
          <p:cNvSpPr>
            <a:spLocks noGrp="1"/>
          </p:cNvSpPr>
          <p:nvPr>
            <p:ph type="ftr" sz="quarter" idx="11"/>
          </p:nvPr>
        </p:nvSpPr>
        <p:spPr/>
        <p:txBody>
          <a:bodyPr/>
          <a:lstStyle/>
          <a:p>
            <a:r>
              <a:rPr lang="en-US"/>
              <a:t>Mrs Saranya Babu, Asst. Professor, GAT</a:t>
            </a:r>
          </a:p>
        </p:txBody>
      </p:sp>
    </p:spTree>
    <p:extLst>
      <p:ext uri="{BB962C8B-B14F-4D97-AF65-F5344CB8AC3E}">
        <p14:creationId xmlns:p14="http://schemas.microsoft.com/office/powerpoint/2010/main" val="66220204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49742F-B709-FB59-48F2-D09D6172D5C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5EED1F4-4811-3D4F-6DBF-8008C9837E9A}"/>
              </a:ext>
            </a:extLst>
          </p:cNvPr>
          <p:cNvSpPr>
            <a:spLocks noGrp="1"/>
          </p:cNvSpPr>
          <p:nvPr>
            <p:ph idx="1"/>
          </p:nvPr>
        </p:nvSpPr>
        <p:spPr/>
        <p:txBody>
          <a:bodyPr/>
          <a:lstStyle/>
          <a:p>
            <a:pPr marL="0" indent="0">
              <a:buNone/>
            </a:pPr>
            <a:r>
              <a:rPr lang="en-US" b="1" dirty="0"/>
              <a:t>The </a:t>
            </a:r>
            <a:r>
              <a:rPr lang="en-US" b="1" dirty="0" err="1"/>
              <a:t>getw</a:t>
            </a:r>
            <a:r>
              <a:rPr lang="en-US" b="1" dirty="0"/>
              <a:t> and </a:t>
            </a:r>
            <a:r>
              <a:rPr lang="en-US" b="1" dirty="0" err="1"/>
              <a:t>putw</a:t>
            </a:r>
            <a:r>
              <a:rPr lang="en-US" b="1" dirty="0"/>
              <a:t> Functions</a:t>
            </a:r>
          </a:p>
          <a:p>
            <a:pPr algn="just"/>
            <a:r>
              <a:rPr lang="en-US" dirty="0"/>
              <a:t>The </a:t>
            </a:r>
            <a:r>
              <a:rPr lang="en-US" dirty="0" err="1"/>
              <a:t>getw</a:t>
            </a:r>
            <a:r>
              <a:rPr lang="en-US" dirty="0"/>
              <a:t> and </a:t>
            </a:r>
            <a:r>
              <a:rPr lang="en-US" dirty="0" err="1"/>
              <a:t>putw</a:t>
            </a:r>
            <a:r>
              <a:rPr lang="en-US" dirty="0"/>
              <a:t> are integer-oriented functions. They are used to read and write integer values. These functions would be useful when we deal with only integer data. </a:t>
            </a:r>
          </a:p>
          <a:p>
            <a:r>
              <a:rPr lang="en-US" dirty="0"/>
              <a:t>The general forms of </a:t>
            </a:r>
            <a:r>
              <a:rPr lang="en-US" dirty="0" err="1"/>
              <a:t>getw</a:t>
            </a:r>
            <a:r>
              <a:rPr lang="en-US" dirty="0"/>
              <a:t> and </a:t>
            </a:r>
            <a:r>
              <a:rPr lang="en-US" dirty="0" err="1"/>
              <a:t>putw</a:t>
            </a:r>
            <a:r>
              <a:rPr lang="en-US" dirty="0"/>
              <a:t> are as follows:</a:t>
            </a:r>
          </a:p>
          <a:p>
            <a:pPr marL="0" indent="0">
              <a:buNone/>
            </a:pPr>
            <a:r>
              <a:rPr lang="en-US" dirty="0"/>
              <a:t>	</a:t>
            </a:r>
            <a:r>
              <a:rPr lang="en-US" dirty="0" err="1">
                <a:solidFill>
                  <a:srgbClr val="FF0000"/>
                </a:solidFill>
              </a:rPr>
              <a:t>putw</a:t>
            </a:r>
            <a:r>
              <a:rPr lang="en-US" dirty="0">
                <a:solidFill>
                  <a:srgbClr val="FF0000"/>
                </a:solidFill>
              </a:rPr>
              <a:t>(integer, </a:t>
            </a:r>
            <a:r>
              <a:rPr lang="en-US" dirty="0" err="1">
                <a:solidFill>
                  <a:srgbClr val="FF0000"/>
                </a:solidFill>
              </a:rPr>
              <a:t>fp</a:t>
            </a:r>
            <a:r>
              <a:rPr lang="en-US" dirty="0">
                <a:solidFill>
                  <a:srgbClr val="FF0000"/>
                </a:solidFill>
              </a:rPr>
              <a:t>);</a:t>
            </a:r>
          </a:p>
          <a:p>
            <a:pPr marL="0" indent="0">
              <a:buNone/>
            </a:pPr>
            <a:r>
              <a:rPr lang="en-US" dirty="0">
                <a:solidFill>
                  <a:srgbClr val="FF0000"/>
                </a:solidFill>
              </a:rPr>
              <a:t>	</a:t>
            </a:r>
            <a:r>
              <a:rPr lang="en-US" dirty="0" err="1">
                <a:solidFill>
                  <a:srgbClr val="FF0000"/>
                </a:solidFill>
              </a:rPr>
              <a:t>getw</a:t>
            </a:r>
            <a:r>
              <a:rPr lang="en-US" dirty="0">
                <a:solidFill>
                  <a:srgbClr val="FF0000"/>
                </a:solidFill>
              </a:rPr>
              <a:t>( </a:t>
            </a:r>
            <a:r>
              <a:rPr lang="en-US" dirty="0" err="1">
                <a:solidFill>
                  <a:srgbClr val="FF0000"/>
                </a:solidFill>
              </a:rPr>
              <a:t>fp</a:t>
            </a:r>
            <a:r>
              <a:rPr lang="en-US" dirty="0">
                <a:solidFill>
                  <a:srgbClr val="FF0000"/>
                </a:solidFill>
              </a:rPr>
              <a:t>);</a:t>
            </a:r>
          </a:p>
        </p:txBody>
      </p:sp>
      <p:sp>
        <p:nvSpPr>
          <p:cNvPr id="4" name="Footer Placeholder 3">
            <a:extLst>
              <a:ext uri="{FF2B5EF4-FFF2-40B4-BE49-F238E27FC236}">
                <a16:creationId xmlns:a16="http://schemas.microsoft.com/office/drawing/2014/main" id="{430C83B9-70E4-D994-4BF1-BB0F34F5D778}"/>
              </a:ext>
            </a:extLst>
          </p:cNvPr>
          <p:cNvSpPr>
            <a:spLocks noGrp="1"/>
          </p:cNvSpPr>
          <p:nvPr>
            <p:ph type="ftr" sz="quarter" idx="11"/>
          </p:nvPr>
        </p:nvSpPr>
        <p:spPr/>
        <p:txBody>
          <a:bodyPr/>
          <a:lstStyle/>
          <a:p>
            <a:r>
              <a:rPr lang="en-US"/>
              <a:t>Mrs Saranya Babu, Asst. Professor, GAT</a:t>
            </a:r>
          </a:p>
        </p:txBody>
      </p:sp>
    </p:spTree>
    <p:extLst>
      <p:ext uri="{BB962C8B-B14F-4D97-AF65-F5344CB8AC3E}">
        <p14:creationId xmlns:p14="http://schemas.microsoft.com/office/powerpoint/2010/main" val="101110626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B0BD8E-A9BC-8C3F-402E-BC4D2EA2E6B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3798E3C-A820-94BA-788D-5278F0393A4C}"/>
              </a:ext>
            </a:extLst>
          </p:cNvPr>
          <p:cNvSpPr>
            <a:spLocks noGrp="1"/>
          </p:cNvSpPr>
          <p:nvPr>
            <p:ph idx="1"/>
          </p:nvPr>
        </p:nvSpPr>
        <p:spPr/>
        <p:txBody>
          <a:bodyPr>
            <a:normAutofit fontScale="92500" lnSpcReduction="10000"/>
          </a:bodyPr>
          <a:lstStyle/>
          <a:p>
            <a:pPr marL="0" indent="0">
              <a:buNone/>
            </a:pPr>
            <a:r>
              <a:rPr lang="en-US" b="1" dirty="0"/>
              <a:t>The </a:t>
            </a:r>
            <a:r>
              <a:rPr lang="en-US" b="1" dirty="0" err="1"/>
              <a:t>fprintf</a:t>
            </a:r>
            <a:r>
              <a:rPr lang="en-US" b="1" dirty="0"/>
              <a:t> and </a:t>
            </a:r>
            <a:r>
              <a:rPr lang="en-US" b="1" dirty="0" err="1"/>
              <a:t>fscanf</a:t>
            </a:r>
            <a:r>
              <a:rPr lang="en-US" b="1" dirty="0"/>
              <a:t> Functions</a:t>
            </a:r>
          </a:p>
          <a:p>
            <a:r>
              <a:rPr lang="en-US" dirty="0"/>
              <a:t>The first argument of these functions is a file pointer which specifies the file to be used. The general form of </a:t>
            </a:r>
            <a:r>
              <a:rPr lang="en-US" dirty="0" err="1"/>
              <a:t>fprintf</a:t>
            </a:r>
            <a:r>
              <a:rPr lang="en-US" dirty="0"/>
              <a:t> is</a:t>
            </a:r>
          </a:p>
          <a:p>
            <a:pPr marL="0" indent="0">
              <a:buNone/>
            </a:pPr>
            <a:r>
              <a:rPr lang="en-US" dirty="0"/>
              <a:t>		</a:t>
            </a:r>
            <a:r>
              <a:rPr lang="en-US" dirty="0" err="1">
                <a:solidFill>
                  <a:srgbClr val="FF0000"/>
                </a:solidFill>
              </a:rPr>
              <a:t>fprintf</a:t>
            </a:r>
            <a:r>
              <a:rPr lang="en-US" dirty="0">
                <a:solidFill>
                  <a:srgbClr val="FF0000"/>
                </a:solidFill>
              </a:rPr>
              <a:t>(</a:t>
            </a:r>
            <a:r>
              <a:rPr lang="en-US" dirty="0" err="1">
                <a:solidFill>
                  <a:srgbClr val="FF0000"/>
                </a:solidFill>
              </a:rPr>
              <a:t>fp</a:t>
            </a:r>
            <a:r>
              <a:rPr lang="en-US" dirty="0">
                <a:solidFill>
                  <a:srgbClr val="FF0000"/>
                </a:solidFill>
              </a:rPr>
              <a:t>, “control string”, list);</a:t>
            </a:r>
          </a:p>
          <a:p>
            <a:r>
              <a:rPr lang="en-US" dirty="0"/>
              <a:t>where </a:t>
            </a:r>
            <a:r>
              <a:rPr lang="en-US" dirty="0" err="1"/>
              <a:t>fp</a:t>
            </a:r>
            <a:r>
              <a:rPr lang="en-US" dirty="0"/>
              <a:t> is a file pointer associated with a file that has been opened for writing. </a:t>
            </a:r>
          </a:p>
          <a:p>
            <a:r>
              <a:rPr lang="en-US" dirty="0"/>
              <a:t>The control string contains output specifications for the items in the list. </a:t>
            </a:r>
          </a:p>
          <a:p>
            <a:r>
              <a:rPr lang="en-US" dirty="0"/>
              <a:t>The list may include variables, constants and strings. </a:t>
            </a:r>
          </a:p>
          <a:p>
            <a:r>
              <a:rPr lang="en-US" dirty="0"/>
              <a:t>Example:</a:t>
            </a:r>
          </a:p>
          <a:p>
            <a:pPr marL="0" indent="0">
              <a:buNone/>
            </a:pPr>
            <a:r>
              <a:rPr lang="en-US" dirty="0"/>
              <a:t>		</a:t>
            </a:r>
            <a:r>
              <a:rPr lang="en-US" dirty="0" err="1"/>
              <a:t>fprintf</a:t>
            </a:r>
            <a:r>
              <a:rPr lang="en-US" dirty="0"/>
              <a:t>(f1, “%s %d %f”, name, age, 7.5);</a:t>
            </a:r>
          </a:p>
        </p:txBody>
      </p:sp>
      <p:sp>
        <p:nvSpPr>
          <p:cNvPr id="4" name="Footer Placeholder 3">
            <a:extLst>
              <a:ext uri="{FF2B5EF4-FFF2-40B4-BE49-F238E27FC236}">
                <a16:creationId xmlns:a16="http://schemas.microsoft.com/office/drawing/2014/main" id="{A99D7C0F-63CE-7C59-A2DF-BD9FF636D14B}"/>
              </a:ext>
            </a:extLst>
          </p:cNvPr>
          <p:cNvSpPr>
            <a:spLocks noGrp="1"/>
          </p:cNvSpPr>
          <p:nvPr>
            <p:ph type="ftr" sz="quarter" idx="11"/>
          </p:nvPr>
        </p:nvSpPr>
        <p:spPr/>
        <p:txBody>
          <a:bodyPr/>
          <a:lstStyle/>
          <a:p>
            <a:r>
              <a:rPr lang="en-US"/>
              <a:t>Mrs Saranya Babu, Asst. Professor, GAT</a:t>
            </a:r>
          </a:p>
        </p:txBody>
      </p:sp>
    </p:spTree>
    <p:extLst>
      <p:ext uri="{BB962C8B-B14F-4D97-AF65-F5344CB8AC3E}">
        <p14:creationId xmlns:p14="http://schemas.microsoft.com/office/powerpoint/2010/main" val="160122076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D9C93-9780-FFF8-EBD4-2E4CBA6AC6D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C08925B-7402-71BD-E696-252EF2D170A5}"/>
              </a:ext>
            </a:extLst>
          </p:cNvPr>
          <p:cNvSpPr>
            <a:spLocks noGrp="1"/>
          </p:cNvSpPr>
          <p:nvPr>
            <p:ph idx="1"/>
          </p:nvPr>
        </p:nvSpPr>
        <p:spPr/>
        <p:txBody>
          <a:bodyPr/>
          <a:lstStyle/>
          <a:p>
            <a:r>
              <a:rPr lang="en-US" dirty="0"/>
              <a:t>The general format of </a:t>
            </a:r>
            <a:r>
              <a:rPr lang="en-US" dirty="0" err="1"/>
              <a:t>fscanf</a:t>
            </a:r>
            <a:r>
              <a:rPr lang="en-US" dirty="0"/>
              <a:t> is</a:t>
            </a:r>
          </a:p>
          <a:p>
            <a:pPr marL="0" indent="0">
              <a:buNone/>
            </a:pPr>
            <a:r>
              <a:rPr lang="en-US" dirty="0"/>
              <a:t>	</a:t>
            </a:r>
            <a:r>
              <a:rPr lang="en-US" dirty="0">
                <a:solidFill>
                  <a:srgbClr val="FF0000"/>
                </a:solidFill>
              </a:rPr>
              <a:t>  </a:t>
            </a:r>
            <a:r>
              <a:rPr lang="en-US" dirty="0" err="1">
                <a:solidFill>
                  <a:srgbClr val="FF0000"/>
                </a:solidFill>
              </a:rPr>
              <a:t>fscanf</a:t>
            </a:r>
            <a:r>
              <a:rPr lang="en-US" dirty="0">
                <a:solidFill>
                  <a:srgbClr val="FF0000"/>
                </a:solidFill>
              </a:rPr>
              <a:t>(</a:t>
            </a:r>
            <a:r>
              <a:rPr lang="en-US" dirty="0" err="1">
                <a:solidFill>
                  <a:srgbClr val="FF0000"/>
                </a:solidFill>
              </a:rPr>
              <a:t>fp</a:t>
            </a:r>
            <a:r>
              <a:rPr lang="en-US" dirty="0">
                <a:solidFill>
                  <a:srgbClr val="FF0000"/>
                </a:solidFill>
              </a:rPr>
              <a:t>, “control string”, list);</a:t>
            </a:r>
          </a:p>
          <a:p>
            <a:r>
              <a:rPr lang="en-US" dirty="0"/>
              <a:t>This statement would cause the reading of the items in the list from the file specified by </a:t>
            </a:r>
            <a:r>
              <a:rPr lang="en-US" dirty="0" err="1"/>
              <a:t>fp</a:t>
            </a:r>
            <a:r>
              <a:rPr lang="en-US" dirty="0"/>
              <a:t>, according to the specifications contained in the control string. Example:</a:t>
            </a:r>
          </a:p>
          <a:p>
            <a:pPr marL="0" indent="0">
              <a:buNone/>
            </a:pPr>
            <a:r>
              <a:rPr lang="en-US" dirty="0"/>
              <a:t>	</a:t>
            </a:r>
            <a:r>
              <a:rPr lang="en-US" dirty="0" err="1"/>
              <a:t>fscanf</a:t>
            </a:r>
            <a:r>
              <a:rPr lang="en-US" dirty="0"/>
              <a:t>(f2, “%s %d”, item, &amp;quantity);</a:t>
            </a:r>
          </a:p>
        </p:txBody>
      </p:sp>
      <p:sp>
        <p:nvSpPr>
          <p:cNvPr id="4" name="Footer Placeholder 3">
            <a:extLst>
              <a:ext uri="{FF2B5EF4-FFF2-40B4-BE49-F238E27FC236}">
                <a16:creationId xmlns:a16="http://schemas.microsoft.com/office/drawing/2014/main" id="{CCBC3F8E-4777-00E3-0176-330D310693FC}"/>
              </a:ext>
            </a:extLst>
          </p:cNvPr>
          <p:cNvSpPr>
            <a:spLocks noGrp="1"/>
          </p:cNvSpPr>
          <p:nvPr>
            <p:ph type="ftr" sz="quarter" idx="11"/>
          </p:nvPr>
        </p:nvSpPr>
        <p:spPr/>
        <p:txBody>
          <a:bodyPr/>
          <a:lstStyle/>
          <a:p>
            <a:r>
              <a:rPr lang="en-US"/>
              <a:t>Mrs Saranya Babu, Asst. Professor, GAT</a:t>
            </a:r>
          </a:p>
        </p:txBody>
      </p:sp>
    </p:spTree>
    <p:extLst>
      <p:ext uri="{BB962C8B-B14F-4D97-AF65-F5344CB8AC3E}">
        <p14:creationId xmlns:p14="http://schemas.microsoft.com/office/powerpoint/2010/main" val="288778578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758881-9DB7-2B53-C1ED-3558ABBFC04E}"/>
              </a:ext>
            </a:extLst>
          </p:cNvPr>
          <p:cNvSpPr>
            <a:spLocks noGrp="1"/>
          </p:cNvSpPr>
          <p:nvPr>
            <p:ph type="title"/>
          </p:nvPr>
        </p:nvSpPr>
        <p:spPr/>
        <p:txBody>
          <a:bodyPr/>
          <a:lstStyle/>
          <a:p>
            <a:r>
              <a:rPr lang="en-US" dirty="0"/>
              <a:t>ERROR HANDLING DURING I/O OPERATIONS</a:t>
            </a:r>
          </a:p>
        </p:txBody>
      </p:sp>
      <p:sp>
        <p:nvSpPr>
          <p:cNvPr id="3" name="Content Placeholder 2">
            <a:extLst>
              <a:ext uri="{FF2B5EF4-FFF2-40B4-BE49-F238E27FC236}">
                <a16:creationId xmlns:a16="http://schemas.microsoft.com/office/drawing/2014/main" id="{A61422ED-989E-CBF2-4E21-BA4A69D4CA14}"/>
              </a:ext>
            </a:extLst>
          </p:cNvPr>
          <p:cNvSpPr>
            <a:spLocks noGrp="1"/>
          </p:cNvSpPr>
          <p:nvPr>
            <p:ph idx="1"/>
          </p:nvPr>
        </p:nvSpPr>
        <p:spPr/>
        <p:txBody>
          <a:bodyPr>
            <a:normAutofit/>
          </a:bodyPr>
          <a:lstStyle/>
          <a:p>
            <a:r>
              <a:rPr lang="en-US" dirty="0"/>
              <a:t>It is possible that an error may occur during I/O operations on a fi le. Typical error situations include the following:</a:t>
            </a:r>
          </a:p>
          <a:p>
            <a:pPr marL="0" indent="0">
              <a:buNone/>
            </a:pPr>
            <a:r>
              <a:rPr lang="en-US" dirty="0"/>
              <a:t> 1. Trying to read beyond the end-of-file mark.</a:t>
            </a:r>
          </a:p>
          <a:p>
            <a:pPr marL="0" indent="0">
              <a:buNone/>
            </a:pPr>
            <a:r>
              <a:rPr lang="en-US" dirty="0"/>
              <a:t> 2. Device overflow.</a:t>
            </a:r>
          </a:p>
          <a:p>
            <a:pPr marL="0" indent="0">
              <a:buNone/>
            </a:pPr>
            <a:r>
              <a:rPr lang="en-US" dirty="0"/>
              <a:t> 3. Trying to use a fi le that has not been opened.</a:t>
            </a:r>
          </a:p>
          <a:p>
            <a:pPr marL="0" indent="0">
              <a:buNone/>
            </a:pPr>
            <a:r>
              <a:rPr lang="en-US" dirty="0"/>
              <a:t> 4. Trying to perform an operation on a fi le, when the fi le is opened for another type of operation.</a:t>
            </a:r>
          </a:p>
          <a:p>
            <a:pPr marL="0" indent="0">
              <a:buNone/>
            </a:pPr>
            <a:r>
              <a:rPr lang="en-US" dirty="0"/>
              <a:t> 5. Opening a fi le with an invalid filename.</a:t>
            </a:r>
          </a:p>
          <a:p>
            <a:pPr marL="0" indent="0">
              <a:buNone/>
            </a:pPr>
            <a:r>
              <a:rPr lang="en-US" dirty="0"/>
              <a:t> 6. Attempting to write to a write-protected file</a:t>
            </a:r>
          </a:p>
        </p:txBody>
      </p:sp>
      <p:sp>
        <p:nvSpPr>
          <p:cNvPr id="4" name="Footer Placeholder 3">
            <a:extLst>
              <a:ext uri="{FF2B5EF4-FFF2-40B4-BE49-F238E27FC236}">
                <a16:creationId xmlns:a16="http://schemas.microsoft.com/office/drawing/2014/main" id="{ECD3E89A-D4B4-0CFB-E33E-75BF36ECB4C0}"/>
              </a:ext>
            </a:extLst>
          </p:cNvPr>
          <p:cNvSpPr>
            <a:spLocks noGrp="1"/>
          </p:cNvSpPr>
          <p:nvPr>
            <p:ph type="ftr" sz="quarter" idx="11"/>
          </p:nvPr>
        </p:nvSpPr>
        <p:spPr/>
        <p:txBody>
          <a:bodyPr/>
          <a:lstStyle/>
          <a:p>
            <a:r>
              <a:rPr lang="en-US"/>
              <a:t>Mrs Saranya Babu, Asst. Professor, GAT</a:t>
            </a:r>
          </a:p>
        </p:txBody>
      </p:sp>
    </p:spTree>
    <p:extLst>
      <p:ext uri="{BB962C8B-B14F-4D97-AF65-F5344CB8AC3E}">
        <p14:creationId xmlns:p14="http://schemas.microsoft.com/office/powerpoint/2010/main" val="29202983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60B608-C6E1-90E3-3BA5-0E994CB696C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B566BB9-5D48-869E-F837-34B0A2FBBEBF}"/>
              </a:ext>
            </a:extLst>
          </p:cNvPr>
          <p:cNvSpPr>
            <a:spLocks noGrp="1"/>
          </p:cNvSpPr>
          <p:nvPr>
            <p:ph idx="1"/>
          </p:nvPr>
        </p:nvSpPr>
        <p:spPr/>
        <p:txBody>
          <a:bodyPr>
            <a:normAutofit lnSpcReduction="10000"/>
          </a:bodyPr>
          <a:lstStyle/>
          <a:p>
            <a:r>
              <a:rPr lang="en-US" dirty="0"/>
              <a:t>we have two status-inquiry library functions; </a:t>
            </a:r>
            <a:r>
              <a:rPr lang="en-US" dirty="0" err="1">
                <a:solidFill>
                  <a:srgbClr val="FF0000"/>
                </a:solidFill>
              </a:rPr>
              <a:t>feof</a:t>
            </a:r>
            <a:r>
              <a:rPr lang="en-US" dirty="0">
                <a:solidFill>
                  <a:srgbClr val="FF0000"/>
                </a:solidFill>
              </a:rPr>
              <a:t> and </a:t>
            </a:r>
            <a:r>
              <a:rPr lang="en-US" dirty="0" err="1">
                <a:solidFill>
                  <a:srgbClr val="FF0000"/>
                </a:solidFill>
              </a:rPr>
              <a:t>ferror</a:t>
            </a:r>
            <a:r>
              <a:rPr lang="en-US" dirty="0">
                <a:solidFill>
                  <a:srgbClr val="FF0000"/>
                </a:solidFill>
              </a:rPr>
              <a:t> </a:t>
            </a:r>
            <a:r>
              <a:rPr lang="en-US" dirty="0"/>
              <a:t>that can help us detect I/O  errors in the fi les.</a:t>
            </a:r>
          </a:p>
          <a:p>
            <a:r>
              <a:rPr lang="en-US" dirty="0"/>
              <a:t>The </a:t>
            </a:r>
            <a:r>
              <a:rPr lang="en-US" b="1" dirty="0" err="1">
                <a:solidFill>
                  <a:srgbClr val="FF0000"/>
                </a:solidFill>
              </a:rPr>
              <a:t>feof</a:t>
            </a:r>
            <a:r>
              <a:rPr lang="en-US" dirty="0"/>
              <a:t> function can be used to test for an end of file condition. It takes a FILE pointer as its only argument and returns a nonzero integer value if all of the data from the specified file has been read, and returns zero otherwise</a:t>
            </a:r>
          </a:p>
          <a:p>
            <a:pPr marL="0" indent="0">
              <a:buNone/>
            </a:pPr>
            <a:r>
              <a:rPr lang="en-US" dirty="0"/>
              <a:t>	if(</a:t>
            </a:r>
            <a:r>
              <a:rPr lang="en-US" dirty="0" err="1"/>
              <a:t>feof</a:t>
            </a:r>
            <a:r>
              <a:rPr lang="en-US" dirty="0"/>
              <a:t>(</a:t>
            </a:r>
            <a:r>
              <a:rPr lang="en-US" dirty="0" err="1"/>
              <a:t>fp</a:t>
            </a:r>
            <a:r>
              <a:rPr lang="en-US" dirty="0"/>
              <a:t>))</a:t>
            </a:r>
          </a:p>
          <a:p>
            <a:pPr marL="0" indent="0">
              <a:buNone/>
            </a:pPr>
            <a:r>
              <a:rPr lang="en-US" dirty="0"/>
              <a:t> 	</a:t>
            </a:r>
            <a:r>
              <a:rPr lang="en-US" dirty="0" err="1"/>
              <a:t>printf</a:t>
            </a:r>
            <a:r>
              <a:rPr lang="en-US" dirty="0"/>
              <a:t>(“End of data.\n”);</a:t>
            </a:r>
          </a:p>
          <a:p>
            <a:r>
              <a:rPr lang="en-US" dirty="0"/>
              <a:t>would display the message “End of data.” on reaching the end of file condition.</a:t>
            </a:r>
          </a:p>
        </p:txBody>
      </p:sp>
      <p:sp>
        <p:nvSpPr>
          <p:cNvPr id="4" name="Footer Placeholder 3">
            <a:extLst>
              <a:ext uri="{FF2B5EF4-FFF2-40B4-BE49-F238E27FC236}">
                <a16:creationId xmlns:a16="http://schemas.microsoft.com/office/drawing/2014/main" id="{6FE0165F-17DA-B3F7-3CBC-790ECCCEA5CE}"/>
              </a:ext>
            </a:extLst>
          </p:cNvPr>
          <p:cNvSpPr>
            <a:spLocks noGrp="1"/>
          </p:cNvSpPr>
          <p:nvPr>
            <p:ph type="ftr" sz="quarter" idx="11"/>
          </p:nvPr>
        </p:nvSpPr>
        <p:spPr/>
        <p:txBody>
          <a:bodyPr/>
          <a:lstStyle/>
          <a:p>
            <a:r>
              <a:rPr lang="en-US"/>
              <a:t>Mrs Saranya Babu, Asst. Professor, GAT</a:t>
            </a:r>
          </a:p>
        </p:txBody>
      </p:sp>
    </p:spTree>
    <p:extLst>
      <p:ext uri="{BB962C8B-B14F-4D97-AF65-F5344CB8AC3E}">
        <p14:creationId xmlns:p14="http://schemas.microsoft.com/office/powerpoint/2010/main" val="174883986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F3B87-6443-6CF7-F50E-FDD246B3186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CF59C7C-6E68-FD69-62E9-8A9FC826A504}"/>
              </a:ext>
            </a:extLst>
          </p:cNvPr>
          <p:cNvSpPr>
            <a:spLocks noGrp="1"/>
          </p:cNvSpPr>
          <p:nvPr>
            <p:ph idx="1"/>
          </p:nvPr>
        </p:nvSpPr>
        <p:spPr/>
        <p:txBody>
          <a:bodyPr/>
          <a:lstStyle/>
          <a:p>
            <a:pPr algn="just"/>
            <a:r>
              <a:rPr lang="en-US" dirty="0"/>
              <a:t>The </a:t>
            </a:r>
            <a:r>
              <a:rPr lang="en-US" b="1" dirty="0" err="1">
                <a:solidFill>
                  <a:srgbClr val="FF0000"/>
                </a:solidFill>
              </a:rPr>
              <a:t>ferror</a:t>
            </a:r>
            <a:r>
              <a:rPr lang="en-US" dirty="0"/>
              <a:t> function reports the status of the file indicated. It also takes a FILE pointer as its argument and returns a nonzero integer if an error has been detected up to that point, during processing. It returns zero otherwise. The statement</a:t>
            </a:r>
          </a:p>
          <a:p>
            <a:pPr marL="0" indent="0" algn="just">
              <a:buNone/>
            </a:pPr>
            <a:r>
              <a:rPr lang="en-US" dirty="0"/>
              <a:t>	 if(</a:t>
            </a:r>
            <a:r>
              <a:rPr lang="en-US" dirty="0" err="1"/>
              <a:t>ferror</a:t>
            </a:r>
            <a:r>
              <a:rPr lang="en-US" dirty="0"/>
              <a:t>(</a:t>
            </a:r>
            <a:r>
              <a:rPr lang="en-US" dirty="0" err="1"/>
              <a:t>fp</a:t>
            </a:r>
            <a:r>
              <a:rPr lang="en-US" dirty="0"/>
              <a:t>) != 0)</a:t>
            </a:r>
          </a:p>
          <a:p>
            <a:pPr marL="0" indent="0" algn="just">
              <a:buNone/>
            </a:pPr>
            <a:r>
              <a:rPr lang="en-US" dirty="0"/>
              <a:t> 	</a:t>
            </a:r>
            <a:r>
              <a:rPr lang="en-US" dirty="0" err="1"/>
              <a:t>printf</a:t>
            </a:r>
            <a:r>
              <a:rPr lang="en-US" dirty="0"/>
              <a:t>(“An error has occurred.\n”);</a:t>
            </a:r>
          </a:p>
          <a:p>
            <a:pPr algn="just"/>
            <a:r>
              <a:rPr lang="en-US" dirty="0"/>
              <a:t>would print the error message, if the reading is not successful.</a:t>
            </a:r>
          </a:p>
        </p:txBody>
      </p:sp>
      <p:sp>
        <p:nvSpPr>
          <p:cNvPr id="4" name="Footer Placeholder 3">
            <a:extLst>
              <a:ext uri="{FF2B5EF4-FFF2-40B4-BE49-F238E27FC236}">
                <a16:creationId xmlns:a16="http://schemas.microsoft.com/office/drawing/2014/main" id="{80D203E6-C38C-3607-1B5B-A5015A184756}"/>
              </a:ext>
            </a:extLst>
          </p:cNvPr>
          <p:cNvSpPr>
            <a:spLocks noGrp="1"/>
          </p:cNvSpPr>
          <p:nvPr>
            <p:ph type="ftr" sz="quarter" idx="11"/>
          </p:nvPr>
        </p:nvSpPr>
        <p:spPr/>
        <p:txBody>
          <a:bodyPr/>
          <a:lstStyle/>
          <a:p>
            <a:r>
              <a:rPr lang="en-US"/>
              <a:t>Mrs Saranya Babu, Asst. Professor, GAT</a:t>
            </a:r>
          </a:p>
        </p:txBody>
      </p:sp>
    </p:spTree>
    <p:extLst>
      <p:ext uri="{BB962C8B-B14F-4D97-AF65-F5344CB8AC3E}">
        <p14:creationId xmlns:p14="http://schemas.microsoft.com/office/powerpoint/2010/main" val="367782543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5F0192-A12F-659E-8A4B-2F3C23D2AEB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4B163EF-8D8F-C0B2-C99D-EE935D26A21F}"/>
              </a:ext>
            </a:extLst>
          </p:cNvPr>
          <p:cNvSpPr>
            <a:spLocks noGrp="1"/>
          </p:cNvSpPr>
          <p:nvPr>
            <p:ph idx="1"/>
          </p:nvPr>
        </p:nvSpPr>
        <p:spPr/>
        <p:txBody>
          <a:bodyPr/>
          <a:lstStyle/>
          <a:p>
            <a:pPr algn="just"/>
            <a:r>
              <a:rPr lang="en-US" dirty="0"/>
              <a:t>If the file cannot be opened for some reason, then the function returns a NULL pointer. This facility can be used to test whether a file has been opened or not. Example:</a:t>
            </a:r>
          </a:p>
          <a:p>
            <a:pPr marL="0" indent="0" algn="just">
              <a:buNone/>
            </a:pPr>
            <a:r>
              <a:rPr lang="en-US" dirty="0"/>
              <a:t>	</a:t>
            </a:r>
            <a:r>
              <a:rPr lang="en-US" dirty="0">
                <a:solidFill>
                  <a:srgbClr val="FF0000"/>
                </a:solidFill>
              </a:rPr>
              <a:t> if(</a:t>
            </a:r>
            <a:r>
              <a:rPr lang="en-US" dirty="0" err="1">
                <a:solidFill>
                  <a:srgbClr val="FF0000"/>
                </a:solidFill>
              </a:rPr>
              <a:t>fp</a:t>
            </a:r>
            <a:r>
              <a:rPr lang="en-US" dirty="0">
                <a:solidFill>
                  <a:srgbClr val="FF0000"/>
                </a:solidFill>
              </a:rPr>
              <a:t> == NULL)</a:t>
            </a:r>
          </a:p>
          <a:p>
            <a:pPr marL="0" indent="0" algn="just">
              <a:buNone/>
            </a:pPr>
            <a:r>
              <a:rPr lang="en-US" dirty="0">
                <a:solidFill>
                  <a:srgbClr val="FF0000"/>
                </a:solidFill>
              </a:rPr>
              <a:t> 	</a:t>
            </a:r>
            <a:r>
              <a:rPr lang="en-US" dirty="0" err="1">
                <a:solidFill>
                  <a:srgbClr val="FF0000"/>
                </a:solidFill>
              </a:rPr>
              <a:t>printf</a:t>
            </a:r>
            <a:r>
              <a:rPr lang="en-US" dirty="0">
                <a:solidFill>
                  <a:srgbClr val="FF0000"/>
                </a:solidFill>
              </a:rPr>
              <a:t>(“File could not be opened.\n”);</a:t>
            </a:r>
          </a:p>
        </p:txBody>
      </p:sp>
      <p:sp>
        <p:nvSpPr>
          <p:cNvPr id="4" name="Footer Placeholder 3">
            <a:extLst>
              <a:ext uri="{FF2B5EF4-FFF2-40B4-BE49-F238E27FC236}">
                <a16:creationId xmlns:a16="http://schemas.microsoft.com/office/drawing/2014/main" id="{5CFB7C78-6EC0-7F02-3E84-C56460F42371}"/>
              </a:ext>
            </a:extLst>
          </p:cNvPr>
          <p:cNvSpPr>
            <a:spLocks noGrp="1"/>
          </p:cNvSpPr>
          <p:nvPr>
            <p:ph type="ftr" sz="quarter" idx="11"/>
          </p:nvPr>
        </p:nvSpPr>
        <p:spPr/>
        <p:txBody>
          <a:bodyPr/>
          <a:lstStyle/>
          <a:p>
            <a:r>
              <a:rPr lang="en-US"/>
              <a:t>Mrs Saranya Babu, Asst. Professor, GAT</a:t>
            </a:r>
          </a:p>
        </p:txBody>
      </p:sp>
    </p:spTree>
    <p:extLst>
      <p:ext uri="{BB962C8B-B14F-4D97-AF65-F5344CB8AC3E}">
        <p14:creationId xmlns:p14="http://schemas.microsoft.com/office/powerpoint/2010/main" val="379192437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F174A-11E3-3723-1AFC-BE84545D2FDB}"/>
              </a:ext>
            </a:extLst>
          </p:cNvPr>
          <p:cNvSpPr>
            <a:spLocks noGrp="1"/>
          </p:cNvSpPr>
          <p:nvPr>
            <p:ph type="title"/>
          </p:nvPr>
        </p:nvSpPr>
        <p:spPr>
          <a:xfrm>
            <a:off x="838200" y="365125"/>
            <a:ext cx="10515600" cy="668545"/>
          </a:xfrm>
        </p:spPr>
        <p:txBody>
          <a:bodyPr>
            <a:normAutofit fontScale="90000"/>
          </a:bodyPr>
          <a:lstStyle/>
          <a:p>
            <a:br>
              <a:rPr lang="en-US" sz="3600" b="1" i="0" dirty="0">
                <a:solidFill>
                  <a:srgbClr val="3A3A3A"/>
                </a:solidFill>
                <a:effectLst/>
                <a:latin typeface="Open Sans" panose="020B0604020202020204" pitchFamily="34" charset="0"/>
              </a:rPr>
            </a:br>
            <a:r>
              <a:rPr lang="en-US" dirty="0"/>
              <a:t>Write a C program to count the number of lines, words and characters in a given text file</a:t>
            </a:r>
            <a:br>
              <a:rPr lang="en-US" b="1" i="0" dirty="0">
                <a:solidFill>
                  <a:srgbClr val="3A3A3A"/>
                </a:solidFill>
                <a:effectLst/>
                <a:latin typeface="Open Sans" panose="020B0604020202020204" pitchFamily="34" charset="0"/>
              </a:rPr>
            </a:br>
            <a:endParaRPr lang="en-US" dirty="0"/>
          </a:p>
        </p:txBody>
      </p:sp>
      <p:sp>
        <p:nvSpPr>
          <p:cNvPr id="3" name="Content Placeholder 2">
            <a:extLst>
              <a:ext uri="{FF2B5EF4-FFF2-40B4-BE49-F238E27FC236}">
                <a16:creationId xmlns:a16="http://schemas.microsoft.com/office/drawing/2014/main" id="{23CDDFBF-1C18-CD5E-5BFB-85A05AEE476D}"/>
              </a:ext>
            </a:extLst>
          </p:cNvPr>
          <p:cNvSpPr>
            <a:spLocks noGrp="1"/>
          </p:cNvSpPr>
          <p:nvPr>
            <p:ph idx="1"/>
          </p:nvPr>
        </p:nvSpPr>
        <p:spPr>
          <a:xfrm>
            <a:off x="838200" y="1139686"/>
            <a:ext cx="10515600" cy="5592417"/>
          </a:xfrm>
        </p:spPr>
        <p:txBody>
          <a:bodyPr>
            <a:normAutofit fontScale="62500" lnSpcReduction="20000"/>
          </a:bodyPr>
          <a:lstStyle/>
          <a:p>
            <a:pPr marL="0" indent="0">
              <a:buNone/>
            </a:pPr>
            <a:r>
              <a:rPr lang="en-US" dirty="0"/>
              <a:t>#include &lt;</a:t>
            </a:r>
            <a:r>
              <a:rPr lang="en-US" dirty="0" err="1"/>
              <a:t>stdio.h</a:t>
            </a:r>
            <a:r>
              <a:rPr lang="en-US" dirty="0"/>
              <a:t>&gt;</a:t>
            </a:r>
          </a:p>
          <a:p>
            <a:pPr marL="0" indent="0">
              <a:buNone/>
            </a:pPr>
            <a:r>
              <a:rPr lang="en-US" dirty="0"/>
              <a:t>#include &lt;</a:t>
            </a:r>
            <a:r>
              <a:rPr lang="en-US" dirty="0" err="1"/>
              <a:t>stdlib.h</a:t>
            </a:r>
            <a:r>
              <a:rPr lang="en-US" dirty="0"/>
              <a:t>&gt;</a:t>
            </a:r>
          </a:p>
          <a:p>
            <a:pPr marL="0" indent="0">
              <a:buNone/>
            </a:pPr>
            <a:r>
              <a:rPr lang="en-US" dirty="0"/>
              <a:t>int main()</a:t>
            </a:r>
          </a:p>
          <a:p>
            <a:pPr marL="0" indent="0">
              <a:buNone/>
            </a:pPr>
            <a:r>
              <a:rPr lang="en-US" dirty="0"/>
              <a:t>{</a:t>
            </a:r>
          </a:p>
          <a:p>
            <a:pPr marL="0" indent="0">
              <a:buNone/>
            </a:pPr>
            <a:r>
              <a:rPr lang="en-US" dirty="0"/>
              <a:t> FILE * file;</a:t>
            </a:r>
          </a:p>
          <a:p>
            <a:pPr marL="0" indent="0">
              <a:buNone/>
            </a:pPr>
            <a:r>
              <a:rPr lang="en-US" dirty="0"/>
              <a:t> char path[100];</a:t>
            </a:r>
          </a:p>
          <a:p>
            <a:pPr marL="0" indent="0">
              <a:buNone/>
            </a:pPr>
            <a:r>
              <a:rPr lang="en-US" dirty="0"/>
              <a:t> char </a:t>
            </a:r>
            <a:r>
              <a:rPr lang="en-US" dirty="0" err="1"/>
              <a:t>ch</a:t>
            </a:r>
            <a:r>
              <a:rPr lang="en-US" dirty="0"/>
              <a:t>;</a:t>
            </a:r>
          </a:p>
          <a:p>
            <a:pPr marL="0" indent="0">
              <a:buNone/>
            </a:pPr>
            <a:r>
              <a:rPr lang="en-US" dirty="0"/>
              <a:t> int characters, words, lines;</a:t>
            </a:r>
          </a:p>
          <a:p>
            <a:pPr marL="0" indent="0">
              <a:buNone/>
            </a:pPr>
            <a:r>
              <a:rPr lang="en-US" dirty="0" err="1"/>
              <a:t>printf</a:t>
            </a:r>
            <a:r>
              <a:rPr lang="en-US" dirty="0"/>
              <a:t>("Enter source file path: ");</a:t>
            </a:r>
          </a:p>
          <a:p>
            <a:pPr marL="0" indent="0">
              <a:buNone/>
            </a:pPr>
            <a:r>
              <a:rPr lang="en-US" dirty="0"/>
              <a:t> </a:t>
            </a:r>
            <a:r>
              <a:rPr lang="en-US" dirty="0" err="1"/>
              <a:t>scanf</a:t>
            </a:r>
            <a:r>
              <a:rPr lang="en-US" dirty="0"/>
              <a:t>("%s", path);</a:t>
            </a:r>
          </a:p>
          <a:p>
            <a:pPr marL="0" indent="0">
              <a:buNone/>
            </a:pPr>
            <a:r>
              <a:rPr lang="en-US" dirty="0"/>
              <a:t>file = </a:t>
            </a:r>
            <a:r>
              <a:rPr lang="en-US" dirty="0" err="1"/>
              <a:t>fopen</a:t>
            </a:r>
            <a:r>
              <a:rPr lang="en-US" dirty="0"/>
              <a:t>(path, "r");</a:t>
            </a:r>
          </a:p>
          <a:p>
            <a:pPr marL="0" indent="0">
              <a:buNone/>
            </a:pPr>
            <a:r>
              <a:rPr lang="en-US" dirty="0"/>
              <a:t>if (file == NULL)</a:t>
            </a:r>
          </a:p>
          <a:p>
            <a:pPr marL="0" indent="0">
              <a:buNone/>
            </a:pPr>
            <a:r>
              <a:rPr lang="en-US" dirty="0"/>
              <a:t> {</a:t>
            </a:r>
          </a:p>
          <a:p>
            <a:pPr marL="0" indent="0">
              <a:buNone/>
            </a:pPr>
            <a:r>
              <a:rPr lang="en-US" dirty="0"/>
              <a:t> </a:t>
            </a:r>
            <a:r>
              <a:rPr lang="en-US" dirty="0" err="1"/>
              <a:t>printf</a:t>
            </a:r>
            <a:r>
              <a:rPr lang="en-US" dirty="0"/>
              <a:t>("\</a:t>
            </a:r>
            <a:r>
              <a:rPr lang="en-US" dirty="0" err="1"/>
              <a:t>nUnable</a:t>
            </a:r>
            <a:r>
              <a:rPr lang="en-US" dirty="0"/>
              <a:t> to open file.\n");</a:t>
            </a:r>
          </a:p>
          <a:p>
            <a:pPr marL="0" indent="0">
              <a:buNone/>
            </a:pPr>
            <a:r>
              <a:rPr lang="en-US" dirty="0"/>
              <a:t> </a:t>
            </a:r>
            <a:r>
              <a:rPr lang="en-US" dirty="0" err="1"/>
              <a:t>printf</a:t>
            </a:r>
            <a:r>
              <a:rPr lang="en-US" dirty="0"/>
              <a:t>("Please check if file exists and you have read privilege.\n");</a:t>
            </a:r>
          </a:p>
          <a:p>
            <a:pPr marL="0" indent="0">
              <a:buNone/>
            </a:pPr>
            <a:r>
              <a:rPr lang="en-US" dirty="0"/>
              <a:t> exit(EXIT_FAILURE);</a:t>
            </a:r>
          </a:p>
          <a:p>
            <a:pPr marL="0" indent="0">
              <a:buNone/>
            </a:pPr>
            <a:r>
              <a:rPr lang="en-US" dirty="0"/>
              <a:t> }</a:t>
            </a:r>
          </a:p>
          <a:p>
            <a:pPr marL="0" indent="0">
              <a:buNone/>
            </a:pPr>
            <a:endParaRPr lang="en-US" dirty="0"/>
          </a:p>
        </p:txBody>
      </p:sp>
      <p:sp>
        <p:nvSpPr>
          <p:cNvPr id="4" name="Footer Placeholder 3">
            <a:extLst>
              <a:ext uri="{FF2B5EF4-FFF2-40B4-BE49-F238E27FC236}">
                <a16:creationId xmlns:a16="http://schemas.microsoft.com/office/drawing/2014/main" id="{0423006D-F374-C9AB-AEDF-401E6984878D}"/>
              </a:ext>
            </a:extLst>
          </p:cNvPr>
          <p:cNvSpPr>
            <a:spLocks noGrp="1"/>
          </p:cNvSpPr>
          <p:nvPr>
            <p:ph type="ftr" sz="quarter" idx="11"/>
          </p:nvPr>
        </p:nvSpPr>
        <p:spPr/>
        <p:txBody>
          <a:bodyPr/>
          <a:lstStyle/>
          <a:p>
            <a:r>
              <a:rPr lang="en-US"/>
              <a:t>Mrs Saranya Babu, Asst. Professor, GAT</a:t>
            </a:r>
          </a:p>
        </p:txBody>
      </p:sp>
    </p:spTree>
    <p:extLst>
      <p:ext uri="{BB962C8B-B14F-4D97-AF65-F5344CB8AC3E}">
        <p14:creationId xmlns:p14="http://schemas.microsoft.com/office/powerpoint/2010/main" val="180057522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EA94AE-D2C7-87EF-E150-C2F9C924266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E79D558-FAD6-50E6-3B39-37F7C34ACFC2}"/>
              </a:ext>
            </a:extLst>
          </p:cNvPr>
          <p:cNvSpPr>
            <a:spLocks noGrp="1"/>
          </p:cNvSpPr>
          <p:nvPr>
            <p:ph idx="1"/>
          </p:nvPr>
        </p:nvSpPr>
        <p:spPr/>
        <p:txBody>
          <a:bodyPr>
            <a:normAutofit fontScale="77500" lnSpcReduction="20000"/>
          </a:bodyPr>
          <a:lstStyle/>
          <a:p>
            <a:pPr marL="0" indent="0">
              <a:buNone/>
            </a:pPr>
            <a:r>
              <a:rPr lang="en-US" dirty="0"/>
              <a:t>characters = words = lines = 0;</a:t>
            </a:r>
          </a:p>
          <a:p>
            <a:pPr marL="0" indent="0">
              <a:buNone/>
            </a:pPr>
            <a:r>
              <a:rPr lang="en-US" dirty="0"/>
              <a:t> </a:t>
            </a:r>
          </a:p>
          <a:p>
            <a:pPr marL="0" indent="0">
              <a:buNone/>
            </a:pPr>
            <a:r>
              <a:rPr lang="en-US" dirty="0"/>
              <a:t>while ((</a:t>
            </a:r>
            <a:r>
              <a:rPr lang="en-US" dirty="0" err="1"/>
              <a:t>ch</a:t>
            </a:r>
            <a:r>
              <a:rPr lang="en-US" dirty="0"/>
              <a:t> = </a:t>
            </a:r>
            <a:r>
              <a:rPr lang="en-US" dirty="0" err="1"/>
              <a:t>fgetc</a:t>
            </a:r>
            <a:r>
              <a:rPr lang="en-US" dirty="0"/>
              <a:t>(file)) != EOF)</a:t>
            </a:r>
          </a:p>
          <a:p>
            <a:pPr marL="0" indent="0">
              <a:buNone/>
            </a:pPr>
            <a:r>
              <a:rPr lang="en-US" dirty="0"/>
              <a:t> {</a:t>
            </a:r>
          </a:p>
          <a:p>
            <a:pPr marL="0" indent="0">
              <a:buNone/>
            </a:pPr>
            <a:r>
              <a:rPr lang="en-US" dirty="0"/>
              <a:t>	 characters++;</a:t>
            </a:r>
          </a:p>
          <a:p>
            <a:pPr marL="0" indent="0">
              <a:buNone/>
            </a:pPr>
            <a:r>
              <a:rPr lang="en-US" dirty="0"/>
              <a:t>	</a:t>
            </a:r>
          </a:p>
          <a:p>
            <a:pPr marL="0" indent="0">
              <a:buNone/>
            </a:pPr>
            <a:r>
              <a:rPr lang="en-US" dirty="0"/>
              <a:t>	if (</a:t>
            </a:r>
            <a:r>
              <a:rPr lang="en-US" dirty="0" err="1"/>
              <a:t>ch</a:t>
            </a:r>
            <a:r>
              <a:rPr lang="en-US" dirty="0"/>
              <a:t> == '\n' || </a:t>
            </a:r>
            <a:r>
              <a:rPr lang="en-US" dirty="0" err="1"/>
              <a:t>ch</a:t>
            </a:r>
            <a:r>
              <a:rPr lang="en-US" dirty="0"/>
              <a:t> == '\0’)</a:t>
            </a:r>
          </a:p>
          <a:p>
            <a:pPr marL="0" indent="0">
              <a:buNone/>
            </a:pPr>
            <a:r>
              <a:rPr lang="en-US" dirty="0"/>
              <a:t>	 lines++;</a:t>
            </a:r>
          </a:p>
          <a:p>
            <a:pPr marL="0" indent="0">
              <a:buNone/>
            </a:pPr>
            <a:endParaRPr lang="en-US" dirty="0"/>
          </a:p>
          <a:p>
            <a:pPr marL="0" indent="0">
              <a:buNone/>
            </a:pPr>
            <a:r>
              <a:rPr lang="en-US" dirty="0"/>
              <a:t>	if (</a:t>
            </a:r>
            <a:r>
              <a:rPr lang="en-US" dirty="0" err="1"/>
              <a:t>ch</a:t>
            </a:r>
            <a:r>
              <a:rPr lang="en-US" dirty="0"/>
              <a:t> == ' ' || </a:t>
            </a:r>
            <a:r>
              <a:rPr lang="en-US" dirty="0" err="1"/>
              <a:t>ch</a:t>
            </a:r>
            <a:r>
              <a:rPr lang="en-US" dirty="0"/>
              <a:t> == '\t' || </a:t>
            </a:r>
            <a:r>
              <a:rPr lang="en-US" dirty="0" err="1"/>
              <a:t>ch</a:t>
            </a:r>
            <a:r>
              <a:rPr lang="en-US" dirty="0"/>
              <a:t> == '\n' || </a:t>
            </a:r>
            <a:r>
              <a:rPr lang="en-US" dirty="0" err="1"/>
              <a:t>ch</a:t>
            </a:r>
            <a:r>
              <a:rPr lang="en-US" dirty="0"/>
              <a:t> == '\0’)</a:t>
            </a:r>
          </a:p>
          <a:p>
            <a:pPr marL="0" indent="0">
              <a:buNone/>
            </a:pPr>
            <a:r>
              <a:rPr lang="en-US" dirty="0"/>
              <a:t>	 words++;</a:t>
            </a:r>
          </a:p>
          <a:p>
            <a:pPr marL="0" indent="0">
              <a:buNone/>
            </a:pPr>
            <a:r>
              <a:rPr lang="en-US" dirty="0"/>
              <a:t> }</a:t>
            </a:r>
          </a:p>
        </p:txBody>
      </p:sp>
      <p:sp>
        <p:nvSpPr>
          <p:cNvPr id="4" name="Footer Placeholder 3">
            <a:extLst>
              <a:ext uri="{FF2B5EF4-FFF2-40B4-BE49-F238E27FC236}">
                <a16:creationId xmlns:a16="http://schemas.microsoft.com/office/drawing/2014/main" id="{45C5CEAB-F444-684E-3D06-21CB1A1C8C75}"/>
              </a:ext>
            </a:extLst>
          </p:cNvPr>
          <p:cNvSpPr>
            <a:spLocks noGrp="1"/>
          </p:cNvSpPr>
          <p:nvPr>
            <p:ph type="ftr" sz="quarter" idx="11"/>
          </p:nvPr>
        </p:nvSpPr>
        <p:spPr/>
        <p:txBody>
          <a:bodyPr/>
          <a:lstStyle/>
          <a:p>
            <a:r>
              <a:rPr lang="en-US"/>
              <a:t>Mrs Saranya Babu, Asst. Professor, GAT</a:t>
            </a:r>
          </a:p>
        </p:txBody>
      </p:sp>
    </p:spTree>
    <p:extLst>
      <p:ext uri="{BB962C8B-B14F-4D97-AF65-F5344CB8AC3E}">
        <p14:creationId xmlns:p14="http://schemas.microsoft.com/office/powerpoint/2010/main" val="42170772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8A7346-0335-15E9-0E13-4364946DB81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4FE3592-2B5E-0186-B24A-A39D26E6E435}"/>
              </a:ext>
            </a:extLst>
          </p:cNvPr>
          <p:cNvSpPr>
            <a:spLocks noGrp="1"/>
          </p:cNvSpPr>
          <p:nvPr>
            <p:ph idx="1"/>
          </p:nvPr>
        </p:nvSpPr>
        <p:spPr/>
        <p:txBody>
          <a:bodyPr/>
          <a:lstStyle/>
          <a:p>
            <a:pPr marL="0" indent="0">
              <a:buNone/>
            </a:pPr>
            <a:r>
              <a:rPr lang="en-US" dirty="0"/>
              <a:t> </a:t>
            </a:r>
            <a:r>
              <a:rPr lang="en-US" dirty="0" err="1"/>
              <a:t>printf</a:t>
            </a:r>
            <a:r>
              <a:rPr lang="en-US" dirty="0"/>
              <a:t>("\n");</a:t>
            </a:r>
          </a:p>
          <a:p>
            <a:pPr marL="0" indent="0">
              <a:buNone/>
            </a:pPr>
            <a:r>
              <a:rPr lang="en-US" dirty="0"/>
              <a:t> </a:t>
            </a:r>
            <a:r>
              <a:rPr lang="en-US" dirty="0" err="1"/>
              <a:t>printf</a:t>
            </a:r>
            <a:r>
              <a:rPr lang="en-US" dirty="0"/>
              <a:t>("Total characters = %d\n", characters);</a:t>
            </a:r>
          </a:p>
          <a:p>
            <a:pPr marL="0" indent="0">
              <a:buNone/>
            </a:pPr>
            <a:r>
              <a:rPr lang="en-US" dirty="0"/>
              <a:t> </a:t>
            </a:r>
            <a:r>
              <a:rPr lang="en-US" dirty="0" err="1"/>
              <a:t>printf</a:t>
            </a:r>
            <a:r>
              <a:rPr lang="en-US" dirty="0"/>
              <a:t>("Total words = %d\n", words);</a:t>
            </a:r>
          </a:p>
          <a:p>
            <a:pPr marL="0" indent="0">
              <a:buNone/>
            </a:pPr>
            <a:r>
              <a:rPr lang="en-US" dirty="0"/>
              <a:t> </a:t>
            </a:r>
            <a:r>
              <a:rPr lang="en-US" dirty="0" err="1"/>
              <a:t>printf</a:t>
            </a:r>
            <a:r>
              <a:rPr lang="en-US" dirty="0"/>
              <a:t>("Total lines = %d\n", lines);</a:t>
            </a:r>
          </a:p>
          <a:p>
            <a:pPr marL="0" indent="0">
              <a:buNone/>
            </a:pPr>
            <a:r>
              <a:rPr lang="en-US" dirty="0" err="1"/>
              <a:t>fclose</a:t>
            </a:r>
            <a:r>
              <a:rPr lang="en-US" dirty="0"/>
              <a:t>(file); </a:t>
            </a:r>
          </a:p>
          <a:p>
            <a:pPr marL="0" indent="0">
              <a:buNone/>
            </a:pPr>
            <a:r>
              <a:rPr lang="en-US" dirty="0"/>
              <a:t>return 0; </a:t>
            </a:r>
          </a:p>
          <a:p>
            <a:pPr marL="0" indent="0">
              <a:buNone/>
            </a:pPr>
            <a:r>
              <a:rPr lang="en-US" dirty="0"/>
              <a:t>} </a:t>
            </a:r>
          </a:p>
        </p:txBody>
      </p:sp>
      <p:sp>
        <p:nvSpPr>
          <p:cNvPr id="4" name="Footer Placeholder 3">
            <a:extLst>
              <a:ext uri="{FF2B5EF4-FFF2-40B4-BE49-F238E27FC236}">
                <a16:creationId xmlns:a16="http://schemas.microsoft.com/office/drawing/2014/main" id="{708F2E1E-AA41-E653-E8E0-DA1B4E136083}"/>
              </a:ext>
            </a:extLst>
          </p:cNvPr>
          <p:cNvSpPr>
            <a:spLocks noGrp="1"/>
          </p:cNvSpPr>
          <p:nvPr>
            <p:ph type="ftr" sz="quarter" idx="11"/>
          </p:nvPr>
        </p:nvSpPr>
        <p:spPr/>
        <p:txBody>
          <a:bodyPr/>
          <a:lstStyle/>
          <a:p>
            <a:r>
              <a:rPr lang="en-US"/>
              <a:t>Mrs Saranya Babu, Asst. Professor, GAT</a:t>
            </a:r>
          </a:p>
        </p:txBody>
      </p:sp>
    </p:spTree>
    <p:extLst>
      <p:ext uri="{BB962C8B-B14F-4D97-AF65-F5344CB8AC3E}">
        <p14:creationId xmlns:p14="http://schemas.microsoft.com/office/powerpoint/2010/main" val="111543154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EF9975-9B3A-918E-C3F3-27188BCE4A23}"/>
              </a:ext>
            </a:extLst>
          </p:cNvPr>
          <p:cNvSpPr>
            <a:spLocks noGrp="1"/>
          </p:cNvSpPr>
          <p:nvPr>
            <p:ph type="title"/>
          </p:nvPr>
        </p:nvSpPr>
        <p:spPr/>
        <p:txBody>
          <a:bodyPr/>
          <a:lstStyle/>
          <a:p>
            <a:r>
              <a:rPr lang="en-US" dirty="0"/>
              <a:t>Example programs</a:t>
            </a:r>
          </a:p>
        </p:txBody>
      </p:sp>
      <p:sp>
        <p:nvSpPr>
          <p:cNvPr id="3" name="Content Placeholder 2">
            <a:extLst>
              <a:ext uri="{FF2B5EF4-FFF2-40B4-BE49-F238E27FC236}">
                <a16:creationId xmlns:a16="http://schemas.microsoft.com/office/drawing/2014/main" id="{ABA43F0C-CC60-5304-0F79-D6BB79D58433}"/>
              </a:ext>
            </a:extLst>
          </p:cNvPr>
          <p:cNvSpPr>
            <a:spLocks noGrp="1"/>
          </p:cNvSpPr>
          <p:nvPr>
            <p:ph idx="1"/>
          </p:nvPr>
        </p:nvSpPr>
        <p:spPr/>
        <p:txBody>
          <a:bodyPr/>
          <a:lstStyle/>
          <a:p>
            <a:r>
              <a:rPr lang="en-US" dirty="0"/>
              <a:t>Define a structure named date containing three integer members day, month, and year. Create two structure variables and initialize them with suitable values and print them in the format dd/mm/</a:t>
            </a:r>
            <a:r>
              <a:rPr lang="en-US" dirty="0" err="1"/>
              <a:t>yyyy</a:t>
            </a:r>
            <a:r>
              <a:rPr lang="en-US" dirty="0"/>
              <a:t>.</a:t>
            </a:r>
          </a:p>
          <a:p>
            <a:endParaRPr lang="en-US" dirty="0"/>
          </a:p>
        </p:txBody>
      </p:sp>
      <p:sp>
        <p:nvSpPr>
          <p:cNvPr id="4" name="Footer Placeholder 3">
            <a:extLst>
              <a:ext uri="{FF2B5EF4-FFF2-40B4-BE49-F238E27FC236}">
                <a16:creationId xmlns:a16="http://schemas.microsoft.com/office/drawing/2014/main" id="{D41A4E59-A4ED-6097-884B-48B1CF2DA1E7}"/>
              </a:ext>
            </a:extLst>
          </p:cNvPr>
          <p:cNvSpPr>
            <a:spLocks noGrp="1"/>
          </p:cNvSpPr>
          <p:nvPr>
            <p:ph type="ftr" sz="quarter" idx="11"/>
          </p:nvPr>
        </p:nvSpPr>
        <p:spPr/>
        <p:txBody>
          <a:bodyPr/>
          <a:lstStyle/>
          <a:p>
            <a:r>
              <a:rPr lang="en-US"/>
              <a:t>Mrs Saranya Babu, Asst. Professor, GAT</a:t>
            </a:r>
          </a:p>
        </p:txBody>
      </p:sp>
    </p:spTree>
    <p:extLst>
      <p:ext uri="{BB962C8B-B14F-4D97-AF65-F5344CB8AC3E}">
        <p14:creationId xmlns:p14="http://schemas.microsoft.com/office/powerpoint/2010/main" val="89923353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8DA951E-2299-A814-9BC1-B472A8D5339C}"/>
              </a:ext>
            </a:extLst>
          </p:cNvPr>
          <p:cNvSpPr>
            <a:spLocks noGrp="1"/>
          </p:cNvSpPr>
          <p:nvPr>
            <p:ph idx="1"/>
          </p:nvPr>
        </p:nvSpPr>
        <p:spPr>
          <a:xfrm>
            <a:off x="838200" y="344556"/>
            <a:ext cx="10515600" cy="6513443"/>
          </a:xfrm>
        </p:spPr>
        <p:txBody>
          <a:bodyPr>
            <a:normAutofit/>
          </a:bodyPr>
          <a:lstStyle/>
          <a:p>
            <a:pPr marL="0" marR="182880" indent="0">
              <a:lnSpc>
                <a:spcPct val="115000"/>
              </a:lnSpc>
              <a:spcAft>
                <a:spcPts val="1000"/>
              </a:spcAft>
              <a:buNone/>
              <a:tabLst>
                <a:tab pos="6181725" algn="l"/>
              </a:tabLst>
            </a:pPr>
            <a:r>
              <a:rPr lang="en-US" sz="1800" b="1" dirty="0">
                <a:effectLst/>
                <a:latin typeface="Times New Roman" panose="02020603050405020304" pitchFamily="18" charset="0"/>
                <a:ea typeface="Calibri" panose="020F0502020204030204" pitchFamily="34" charset="0"/>
                <a:cs typeface="Georgia" panose="02040502050405020303" pitchFamily="18" charset="0"/>
              </a:rPr>
              <a:t>Program to find sum of all the elements of an array using pointers.  </a:t>
            </a:r>
          </a:p>
          <a:p>
            <a:pPr marL="0" marR="182880" indent="0">
              <a:lnSpc>
                <a:spcPct val="115000"/>
              </a:lnSpc>
              <a:spcAft>
                <a:spcPts val="1000"/>
              </a:spcAft>
              <a:buNone/>
              <a:tabLst>
                <a:tab pos="6181725" algn="l"/>
              </a:tabLst>
            </a:pPr>
            <a:r>
              <a:rPr lang="en-US" sz="2800" dirty="0">
                <a:effectLst/>
                <a:latin typeface="Times New Roman" panose="02020603050405020304" pitchFamily="18" charset="0"/>
                <a:ea typeface="Calibri" panose="020F0502020204030204" pitchFamily="34" charset="0"/>
                <a:cs typeface="Georgia" panose="02040502050405020303" pitchFamily="18" charset="0"/>
              </a:rPr>
              <a:t>#include&lt;stdio.h&gt;</a:t>
            </a:r>
            <a:endParaRPr lang="en-US" sz="2800" dirty="0">
              <a:effectLst/>
              <a:latin typeface="Georgia" panose="02040502050405020303" pitchFamily="18" charset="0"/>
              <a:ea typeface="Georgia" panose="02040502050405020303" pitchFamily="18" charset="0"/>
              <a:cs typeface="Georgia" panose="02040502050405020303" pitchFamily="18" charset="0"/>
            </a:endParaRPr>
          </a:p>
          <a:p>
            <a:pPr marL="0" marR="182880" indent="0">
              <a:lnSpc>
                <a:spcPct val="115000"/>
              </a:lnSpc>
              <a:buNone/>
              <a:tabLst>
                <a:tab pos="6181725" algn="l"/>
              </a:tabLst>
            </a:pPr>
            <a:r>
              <a:rPr lang="en-US" sz="2800" dirty="0">
                <a:effectLst/>
                <a:latin typeface="Times New Roman" panose="02020603050405020304" pitchFamily="18" charset="0"/>
                <a:ea typeface="Calibri" panose="020F0502020204030204" pitchFamily="34" charset="0"/>
                <a:cs typeface="Georgia" panose="02040502050405020303" pitchFamily="18" charset="0"/>
              </a:rPr>
              <a:t> main()  </a:t>
            </a:r>
            <a:endParaRPr lang="en-US" sz="2800" dirty="0">
              <a:effectLst/>
              <a:latin typeface="Georgia" panose="02040502050405020303" pitchFamily="18" charset="0"/>
              <a:ea typeface="Georgia" panose="02040502050405020303" pitchFamily="18" charset="0"/>
              <a:cs typeface="Georgia" panose="02040502050405020303" pitchFamily="18" charset="0"/>
            </a:endParaRPr>
          </a:p>
          <a:p>
            <a:pPr marL="0" marR="182880" indent="0">
              <a:lnSpc>
                <a:spcPct val="115000"/>
              </a:lnSpc>
              <a:buNone/>
              <a:tabLst>
                <a:tab pos="6181725" algn="l"/>
              </a:tabLst>
            </a:pPr>
            <a:r>
              <a:rPr lang="en-US" sz="2800" dirty="0">
                <a:effectLst/>
                <a:latin typeface="Times New Roman" panose="02020603050405020304" pitchFamily="18" charset="0"/>
                <a:ea typeface="Calibri" panose="020F0502020204030204" pitchFamily="34" charset="0"/>
                <a:cs typeface="Georgia" panose="02040502050405020303" pitchFamily="18" charset="0"/>
              </a:rPr>
              <a:t>{ </a:t>
            </a:r>
            <a:endParaRPr lang="en-US" sz="2800" dirty="0">
              <a:effectLst/>
              <a:latin typeface="Georgia" panose="02040502050405020303" pitchFamily="18" charset="0"/>
              <a:ea typeface="Georgia" panose="02040502050405020303" pitchFamily="18" charset="0"/>
              <a:cs typeface="Georgia" panose="02040502050405020303" pitchFamily="18" charset="0"/>
            </a:endParaRPr>
          </a:p>
          <a:p>
            <a:pPr marL="0" marR="182880" indent="0">
              <a:lnSpc>
                <a:spcPct val="115000"/>
              </a:lnSpc>
              <a:buNone/>
              <a:tabLst>
                <a:tab pos="6181725" algn="l"/>
              </a:tabLst>
            </a:pPr>
            <a:r>
              <a:rPr lang="en-US" sz="2800" dirty="0">
                <a:effectLst/>
                <a:latin typeface="Times New Roman" panose="02020603050405020304" pitchFamily="18" charset="0"/>
                <a:ea typeface="Calibri" panose="020F0502020204030204" pitchFamily="34" charset="0"/>
                <a:cs typeface="Georgia" panose="02040502050405020303" pitchFamily="18" charset="0"/>
              </a:rPr>
              <a:t>int </a:t>
            </a:r>
            <a:r>
              <a:rPr lang="en-US" sz="2800" dirty="0" err="1">
                <a:effectLst/>
                <a:latin typeface="Times New Roman" panose="02020603050405020304" pitchFamily="18" charset="0"/>
                <a:ea typeface="Calibri" panose="020F0502020204030204" pitchFamily="34" charset="0"/>
                <a:cs typeface="Georgia" panose="02040502050405020303" pitchFamily="18" charset="0"/>
              </a:rPr>
              <a:t>i</a:t>
            </a:r>
            <a:r>
              <a:rPr lang="en-US" sz="2800" dirty="0">
                <a:effectLst/>
                <a:latin typeface="Times New Roman" panose="02020603050405020304" pitchFamily="18" charset="0"/>
                <a:ea typeface="Calibri" panose="020F0502020204030204" pitchFamily="34" charset="0"/>
                <a:cs typeface="Georgia" panose="02040502050405020303" pitchFamily="18" charset="0"/>
              </a:rPr>
              <a:t>, a[10], n, sum=0,*p;       </a:t>
            </a:r>
            <a:endParaRPr lang="en-US" sz="2800" dirty="0">
              <a:effectLst/>
              <a:latin typeface="Georgia" panose="02040502050405020303" pitchFamily="18" charset="0"/>
              <a:ea typeface="Georgia" panose="02040502050405020303" pitchFamily="18" charset="0"/>
              <a:cs typeface="Georgia" panose="02040502050405020303" pitchFamily="18" charset="0"/>
            </a:endParaRPr>
          </a:p>
          <a:p>
            <a:pPr marL="0" marR="182880" indent="0">
              <a:lnSpc>
                <a:spcPct val="115000"/>
              </a:lnSpc>
              <a:buNone/>
              <a:tabLst>
                <a:tab pos="6181725" algn="l"/>
              </a:tabLst>
            </a:pPr>
            <a:r>
              <a:rPr lang="en-US" sz="2800" dirty="0" err="1">
                <a:effectLst/>
                <a:latin typeface="Times New Roman" panose="02020603050405020304" pitchFamily="18" charset="0"/>
                <a:ea typeface="Calibri" panose="020F0502020204030204" pitchFamily="34" charset="0"/>
                <a:cs typeface="Georgia" panose="02040502050405020303" pitchFamily="18" charset="0"/>
              </a:rPr>
              <a:t>printf</a:t>
            </a:r>
            <a:r>
              <a:rPr lang="en-US" sz="2800" dirty="0">
                <a:effectLst/>
                <a:latin typeface="Times New Roman" panose="02020603050405020304" pitchFamily="18" charset="0"/>
                <a:ea typeface="Calibri" panose="020F0502020204030204" pitchFamily="34" charset="0"/>
                <a:cs typeface="Georgia" panose="02040502050405020303" pitchFamily="18" charset="0"/>
              </a:rPr>
              <a:t>(“enter the size of the array \n”);</a:t>
            </a:r>
            <a:endParaRPr lang="en-US" sz="2800" dirty="0">
              <a:effectLst/>
              <a:latin typeface="Georgia" panose="02040502050405020303" pitchFamily="18" charset="0"/>
              <a:ea typeface="Georgia" panose="02040502050405020303" pitchFamily="18" charset="0"/>
              <a:cs typeface="Georgia" panose="02040502050405020303" pitchFamily="18" charset="0"/>
            </a:endParaRPr>
          </a:p>
          <a:p>
            <a:pPr marL="0" marR="182880" indent="0">
              <a:lnSpc>
                <a:spcPct val="115000"/>
              </a:lnSpc>
              <a:buNone/>
              <a:tabLst>
                <a:tab pos="6181725" algn="l"/>
              </a:tabLst>
            </a:pPr>
            <a:r>
              <a:rPr lang="en-US" sz="2800" dirty="0" err="1">
                <a:effectLst/>
                <a:latin typeface="Times New Roman" panose="02020603050405020304" pitchFamily="18" charset="0"/>
                <a:ea typeface="Calibri" panose="020F0502020204030204" pitchFamily="34" charset="0"/>
                <a:cs typeface="Georgia" panose="02040502050405020303" pitchFamily="18" charset="0"/>
              </a:rPr>
              <a:t>scanf</a:t>
            </a:r>
            <a:r>
              <a:rPr lang="en-US" sz="2800" dirty="0">
                <a:effectLst/>
                <a:latin typeface="Times New Roman" panose="02020603050405020304" pitchFamily="18" charset="0"/>
                <a:ea typeface="Calibri" panose="020F0502020204030204" pitchFamily="34" charset="0"/>
                <a:cs typeface="Georgia" panose="02040502050405020303" pitchFamily="18" charset="0"/>
              </a:rPr>
              <a:t>(“%d”, &amp;n);</a:t>
            </a:r>
            <a:endParaRPr lang="en-US" sz="2800" dirty="0">
              <a:effectLst/>
              <a:latin typeface="Georgia" panose="02040502050405020303" pitchFamily="18" charset="0"/>
              <a:ea typeface="Georgia" panose="02040502050405020303" pitchFamily="18" charset="0"/>
              <a:cs typeface="Georgia" panose="02040502050405020303" pitchFamily="18" charset="0"/>
            </a:endParaRPr>
          </a:p>
          <a:p>
            <a:pPr marL="0" marR="182880" indent="0">
              <a:lnSpc>
                <a:spcPct val="115000"/>
              </a:lnSpc>
              <a:buNone/>
              <a:tabLst>
                <a:tab pos="6181725" algn="l"/>
              </a:tabLst>
            </a:pPr>
            <a:r>
              <a:rPr lang="en-US" sz="2800" dirty="0" err="1">
                <a:effectLst/>
                <a:latin typeface="Times New Roman" panose="02020603050405020304" pitchFamily="18" charset="0"/>
                <a:ea typeface="Calibri" panose="020F0502020204030204" pitchFamily="34" charset="0"/>
                <a:cs typeface="Georgia" panose="02040502050405020303" pitchFamily="18" charset="0"/>
              </a:rPr>
              <a:t>printf</a:t>
            </a:r>
            <a:r>
              <a:rPr lang="en-US" sz="2800" dirty="0">
                <a:effectLst/>
                <a:latin typeface="Times New Roman" panose="02020603050405020304" pitchFamily="18" charset="0"/>
                <a:ea typeface="Calibri" panose="020F0502020204030204" pitchFamily="34" charset="0"/>
                <a:cs typeface="Georgia" panose="02040502050405020303" pitchFamily="18" charset="0"/>
              </a:rPr>
              <a:t>("Enter the elements into the array: ");                            </a:t>
            </a:r>
            <a:endParaRPr lang="en-US" sz="2800" dirty="0">
              <a:effectLst/>
              <a:latin typeface="Georgia" panose="02040502050405020303" pitchFamily="18" charset="0"/>
              <a:ea typeface="Georgia" panose="02040502050405020303" pitchFamily="18" charset="0"/>
              <a:cs typeface="Georgia" panose="02040502050405020303" pitchFamily="18" charset="0"/>
            </a:endParaRPr>
          </a:p>
          <a:p>
            <a:pPr marL="0" marR="182880" indent="0">
              <a:lnSpc>
                <a:spcPct val="115000"/>
              </a:lnSpc>
              <a:buNone/>
              <a:tabLst>
                <a:tab pos="6181725" algn="l"/>
              </a:tabLst>
            </a:pPr>
            <a:r>
              <a:rPr lang="en-US" sz="2800" dirty="0">
                <a:effectLst/>
                <a:latin typeface="Times New Roman" panose="02020603050405020304" pitchFamily="18" charset="0"/>
                <a:ea typeface="Calibri" panose="020F0502020204030204" pitchFamily="34" charset="0"/>
                <a:cs typeface="Georgia" panose="02040502050405020303" pitchFamily="18" charset="0"/>
              </a:rPr>
              <a:t>for(</a:t>
            </a:r>
            <a:r>
              <a:rPr lang="en-US" sz="2800" dirty="0" err="1">
                <a:effectLst/>
                <a:latin typeface="Times New Roman" panose="02020603050405020304" pitchFamily="18" charset="0"/>
                <a:ea typeface="Calibri" panose="020F0502020204030204" pitchFamily="34" charset="0"/>
                <a:cs typeface="Georgia" panose="02040502050405020303" pitchFamily="18" charset="0"/>
              </a:rPr>
              <a:t>i</a:t>
            </a:r>
            <a:r>
              <a:rPr lang="en-US" sz="2800" dirty="0">
                <a:effectLst/>
                <a:latin typeface="Times New Roman" panose="02020603050405020304" pitchFamily="18" charset="0"/>
                <a:ea typeface="Calibri" panose="020F0502020204030204" pitchFamily="34" charset="0"/>
                <a:cs typeface="Georgia" panose="02040502050405020303" pitchFamily="18" charset="0"/>
              </a:rPr>
              <a:t>=0;i&lt;</a:t>
            </a:r>
            <a:r>
              <a:rPr lang="en-US" sz="2800" dirty="0" err="1">
                <a:effectLst/>
                <a:latin typeface="Times New Roman" panose="02020603050405020304" pitchFamily="18" charset="0"/>
                <a:ea typeface="Calibri" panose="020F0502020204030204" pitchFamily="34" charset="0"/>
                <a:cs typeface="Georgia" panose="02040502050405020303" pitchFamily="18" charset="0"/>
              </a:rPr>
              <a:t>n;i</a:t>
            </a:r>
            <a:r>
              <a:rPr lang="en-US" sz="2800" dirty="0">
                <a:effectLst/>
                <a:latin typeface="Times New Roman" panose="02020603050405020304" pitchFamily="18" charset="0"/>
                <a:ea typeface="Calibri" panose="020F0502020204030204" pitchFamily="34" charset="0"/>
                <a:cs typeface="Georgia" panose="02040502050405020303" pitchFamily="18" charset="0"/>
              </a:rPr>
              <a:t>++)                             </a:t>
            </a:r>
            <a:endParaRPr lang="en-US" sz="2800" dirty="0">
              <a:effectLst/>
              <a:latin typeface="Georgia" panose="02040502050405020303" pitchFamily="18" charset="0"/>
              <a:ea typeface="Georgia" panose="02040502050405020303" pitchFamily="18" charset="0"/>
              <a:cs typeface="Georgia" panose="02040502050405020303" pitchFamily="18" charset="0"/>
            </a:endParaRPr>
          </a:p>
          <a:p>
            <a:pPr marL="0" marR="182880" indent="0">
              <a:lnSpc>
                <a:spcPct val="115000"/>
              </a:lnSpc>
              <a:buNone/>
              <a:tabLst>
                <a:tab pos="6181725" algn="l"/>
              </a:tabLst>
            </a:pPr>
            <a:r>
              <a:rPr lang="en-US" sz="2800" dirty="0" err="1">
                <a:effectLst/>
                <a:latin typeface="Times New Roman" panose="02020603050405020304" pitchFamily="18" charset="0"/>
                <a:ea typeface="Calibri" panose="020F0502020204030204" pitchFamily="34" charset="0"/>
                <a:cs typeface="Georgia" panose="02040502050405020303" pitchFamily="18" charset="0"/>
              </a:rPr>
              <a:t>scanf</a:t>
            </a:r>
            <a:r>
              <a:rPr lang="en-US" sz="2800" dirty="0">
                <a:effectLst/>
                <a:latin typeface="Times New Roman" panose="02020603050405020304" pitchFamily="18" charset="0"/>
                <a:ea typeface="Calibri" panose="020F0502020204030204" pitchFamily="34" charset="0"/>
                <a:cs typeface="Georgia" panose="02040502050405020303" pitchFamily="18" charset="0"/>
              </a:rPr>
              <a:t>("%d ",&amp;a[</a:t>
            </a:r>
            <a:r>
              <a:rPr lang="en-US" sz="2800" dirty="0" err="1">
                <a:effectLst/>
                <a:latin typeface="Times New Roman" panose="02020603050405020304" pitchFamily="18" charset="0"/>
                <a:ea typeface="Calibri" panose="020F0502020204030204" pitchFamily="34" charset="0"/>
                <a:cs typeface="Georgia" panose="02040502050405020303" pitchFamily="18" charset="0"/>
              </a:rPr>
              <a:t>i</a:t>
            </a:r>
            <a:r>
              <a:rPr lang="en-US" sz="2800" dirty="0">
                <a:effectLst/>
                <a:latin typeface="Times New Roman" panose="02020603050405020304" pitchFamily="18" charset="0"/>
                <a:ea typeface="Calibri" panose="020F0502020204030204" pitchFamily="34" charset="0"/>
                <a:cs typeface="Georgia" panose="02040502050405020303" pitchFamily="18" charset="0"/>
              </a:rPr>
              <a:t>]);   </a:t>
            </a:r>
            <a:endParaRPr lang="en-US" sz="2800" dirty="0">
              <a:effectLst/>
              <a:latin typeface="Georgia" panose="02040502050405020303" pitchFamily="18" charset="0"/>
              <a:ea typeface="Georgia" panose="02040502050405020303" pitchFamily="18" charset="0"/>
              <a:cs typeface="Georgia" panose="02040502050405020303" pitchFamily="18" charset="0"/>
            </a:endParaRPr>
          </a:p>
          <a:p>
            <a:endParaRPr lang="en-US" dirty="0"/>
          </a:p>
        </p:txBody>
      </p:sp>
      <p:sp>
        <p:nvSpPr>
          <p:cNvPr id="2" name="Footer Placeholder 1">
            <a:extLst>
              <a:ext uri="{FF2B5EF4-FFF2-40B4-BE49-F238E27FC236}">
                <a16:creationId xmlns:a16="http://schemas.microsoft.com/office/drawing/2014/main" id="{39177546-9DB0-8E99-E15F-09AEBB934A90}"/>
              </a:ext>
            </a:extLst>
          </p:cNvPr>
          <p:cNvSpPr>
            <a:spLocks noGrp="1"/>
          </p:cNvSpPr>
          <p:nvPr>
            <p:ph type="ftr" sz="quarter" idx="11"/>
          </p:nvPr>
        </p:nvSpPr>
        <p:spPr/>
        <p:txBody>
          <a:bodyPr/>
          <a:lstStyle/>
          <a:p>
            <a:r>
              <a:rPr lang="en-US"/>
              <a:t>Mrs Saranya Babu, Asst. Professor, GAT</a:t>
            </a:r>
          </a:p>
        </p:txBody>
      </p:sp>
    </p:spTree>
    <p:extLst>
      <p:ext uri="{BB962C8B-B14F-4D97-AF65-F5344CB8AC3E}">
        <p14:creationId xmlns:p14="http://schemas.microsoft.com/office/powerpoint/2010/main" val="241375464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E84AE17-4F07-C1A7-3CBE-36BA9F0A33A1}"/>
              </a:ext>
            </a:extLst>
          </p:cNvPr>
          <p:cNvSpPr>
            <a:spLocks noGrp="1"/>
          </p:cNvSpPr>
          <p:nvPr>
            <p:ph idx="1"/>
          </p:nvPr>
        </p:nvSpPr>
        <p:spPr>
          <a:xfrm>
            <a:off x="838200" y="1060174"/>
            <a:ext cx="10515600" cy="5116789"/>
          </a:xfrm>
        </p:spPr>
        <p:txBody>
          <a:bodyPr>
            <a:normAutofit fontScale="92500" lnSpcReduction="10000"/>
          </a:bodyPr>
          <a:lstStyle/>
          <a:p>
            <a:pPr marL="0" marR="182880" indent="0">
              <a:lnSpc>
                <a:spcPct val="115000"/>
              </a:lnSpc>
              <a:buNone/>
              <a:tabLst>
                <a:tab pos="6181725" algn="l"/>
              </a:tabLst>
            </a:pPr>
            <a:r>
              <a:rPr lang="en-US" sz="2800" b="1" dirty="0">
                <a:effectLst/>
                <a:latin typeface="Times New Roman" panose="02020603050405020304" pitchFamily="18" charset="0"/>
                <a:ea typeface="Calibri" panose="020F0502020204030204" pitchFamily="34" charset="0"/>
                <a:cs typeface="Georgia" panose="02040502050405020303" pitchFamily="18" charset="0"/>
              </a:rPr>
              <a:t>p=a; </a:t>
            </a:r>
            <a:endParaRPr lang="en-US" sz="2800" dirty="0">
              <a:effectLst/>
              <a:latin typeface="Georgia" panose="02040502050405020303" pitchFamily="18" charset="0"/>
              <a:ea typeface="Georgia" panose="02040502050405020303" pitchFamily="18" charset="0"/>
              <a:cs typeface="Georgia" panose="02040502050405020303" pitchFamily="18" charset="0"/>
            </a:endParaRPr>
          </a:p>
          <a:p>
            <a:pPr marL="0" marR="182880" indent="0">
              <a:lnSpc>
                <a:spcPct val="115000"/>
              </a:lnSpc>
              <a:buNone/>
              <a:tabLst>
                <a:tab pos="6181725" algn="l"/>
              </a:tabLst>
            </a:pPr>
            <a:r>
              <a:rPr lang="en-US" sz="2800" dirty="0">
                <a:effectLst/>
                <a:latin typeface="Times New Roman" panose="02020603050405020304" pitchFamily="18" charset="0"/>
                <a:ea typeface="Calibri" panose="020F0502020204030204" pitchFamily="34" charset="0"/>
                <a:cs typeface="Georgia" panose="02040502050405020303" pitchFamily="18" charset="0"/>
              </a:rPr>
              <a:t>for(</a:t>
            </a:r>
            <a:r>
              <a:rPr lang="en-US" sz="2800" dirty="0" err="1">
                <a:effectLst/>
                <a:latin typeface="Times New Roman" panose="02020603050405020304" pitchFamily="18" charset="0"/>
                <a:ea typeface="Calibri" panose="020F0502020204030204" pitchFamily="34" charset="0"/>
                <a:cs typeface="Georgia" panose="02040502050405020303" pitchFamily="18" charset="0"/>
              </a:rPr>
              <a:t>i</a:t>
            </a:r>
            <a:r>
              <a:rPr lang="en-US" sz="2800" dirty="0">
                <a:effectLst/>
                <a:latin typeface="Times New Roman" panose="02020603050405020304" pitchFamily="18" charset="0"/>
                <a:ea typeface="Calibri" panose="020F0502020204030204" pitchFamily="34" charset="0"/>
                <a:cs typeface="Georgia" panose="02040502050405020303" pitchFamily="18" charset="0"/>
              </a:rPr>
              <a:t>=0;i&lt;</a:t>
            </a:r>
            <a:r>
              <a:rPr lang="en-US" sz="2800" dirty="0" err="1">
                <a:effectLst/>
                <a:latin typeface="Times New Roman" panose="02020603050405020304" pitchFamily="18" charset="0"/>
                <a:ea typeface="Calibri" panose="020F0502020204030204" pitchFamily="34" charset="0"/>
                <a:cs typeface="Georgia" panose="02040502050405020303" pitchFamily="18" charset="0"/>
              </a:rPr>
              <a:t>n;i</a:t>
            </a:r>
            <a:r>
              <a:rPr lang="en-US" sz="2800" dirty="0">
                <a:effectLst/>
                <a:latin typeface="Times New Roman" panose="02020603050405020304" pitchFamily="18" charset="0"/>
                <a:ea typeface="Calibri" panose="020F0502020204030204" pitchFamily="34" charset="0"/>
                <a:cs typeface="Georgia" panose="02040502050405020303" pitchFamily="18" charset="0"/>
              </a:rPr>
              <a:t>++) </a:t>
            </a:r>
            <a:endParaRPr lang="en-US" sz="2800" dirty="0">
              <a:effectLst/>
              <a:latin typeface="Georgia" panose="02040502050405020303" pitchFamily="18" charset="0"/>
              <a:ea typeface="Georgia" panose="02040502050405020303" pitchFamily="18" charset="0"/>
              <a:cs typeface="Georgia" panose="02040502050405020303" pitchFamily="18" charset="0"/>
            </a:endParaRPr>
          </a:p>
          <a:p>
            <a:pPr marL="0" marR="182880" indent="0">
              <a:lnSpc>
                <a:spcPct val="115000"/>
              </a:lnSpc>
              <a:buNone/>
              <a:tabLst>
                <a:tab pos="6181725" algn="l"/>
              </a:tabLst>
            </a:pPr>
            <a:r>
              <a:rPr lang="en-US" sz="2800" dirty="0">
                <a:effectLst/>
                <a:latin typeface="Times New Roman" panose="02020603050405020304" pitchFamily="18" charset="0"/>
                <a:ea typeface="Calibri" panose="020F0502020204030204" pitchFamily="34" charset="0"/>
                <a:cs typeface="Georgia" panose="02040502050405020303" pitchFamily="18" charset="0"/>
              </a:rPr>
              <a:t>    {</a:t>
            </a:r>
            <a:endParaRPr lang="en-US" sz="2800" dirty="0">
              <a:effectLst/>
              <a:latin typeface="Georgia" panose="02040502050405020303" pitchFamily="18" charset="0"/>
              <a:ea typeface="Georgia" panose="02040502050405020303" pitchFamily="18" charset="0"/>
              <a:cs typeface="Georgia" panose="02040502050405020303" pitchFamily="18" charset="0"/>
            </a:endParaRPr>
          </a:p>
          <a:p>
            <a:pPr marL="0" marR="182880" indent="0">
              <a:lnSpc>
                <a:spcPct val="115000"/>
              </a:lnSpc>
              <a:buNone/>
              <a:tabLst>
                <a:tab pos="6181725" algn="l"/>
              </a:tabLst>
            </a:pPr>
            <a:r>
              <a:rPr lang="en-US" sz="2800" dirty="0">
                <a:effectLst/>
                <a:latin typeface="Times New Roman" panose="02020603050405020304" pitchFamily="18" charset="0"/>
                <a:ea typeface="Calibri" panose="020F0502020204030204" pitchFamily="34" charset="0"/>
                <a:cs typeface="Georgia" panose="02040502050405020303" pitchFamily="18" charset="0"/>
              </a:rPr>
              <a:t>           sum=sum+*p;</a:t>
            </a:r>
            <a:endParaRPr lang="en-US" sz="2800" dirty="0">
              <a:effectLst/>
              <a:latin typeface="Georgia" panose="02040502050405020303" pitchFamily="18" charset="0"/>
              <a:ea typeface="Georgia" panose="02040502050405020303" pitchFamily="18" charset="0"/>
              <a:cs typeface="Georgia" panose="02040502050405020303" pitchFamily="18" charset="0"/>
            </a:endParaRPr>
          </a:p>
          <a:p>
            <a:pPr marL="0" marR="182880" indent="0">
              <a:lnSpc>
                <a:spcPct val="115000"/>
              </a:lnSpc>
              <a:buNone/>
              <a:tabLst>
                <a:tab pos="6181725" algn="l"/>
              </a:tabLst>
            </a:pPr>
            <a:r>
              <a:rPr lang="en-US" sz="2800" dirty="0">
                <a:effectLst/>
                <a:latin typeface="Times New Roman" panose="02020603050405020304" pitchFamily="18" charset="0"/>
                <a:ea typeface="Calibri" panose="020F0502020204030204" pitchFamily="34" charset="0"/>
                <a:cs typeface="Georgia" panose="02040502050405020303" pitchFamily="18" charset="0"/>
              </a:rPr>
              <a:t>           p++;</a:t>
            </a:r>
            <a:endParaRPr lang="en-US" sz="2800" dirty="0">
              <a:effectLst/>
              <a:latin typeface="Georgia" panose="02040502050405020303" pitchFamily="18" charset="0"/>
              <a:ea typeface="Georgia" panose="02040502050405020303" pitchFamily="18" charset="0"/>
              <a:cs typeface="Georgia" panose="02040502050405020303" pitchFamily="18" charset="0"/>
            </a:endParaRPr>
          </a:p>
          <a:p>
            <a:pPr marL="0" marR="182880" indent="0">
              <a:lnSpc>
                <a:spcPct val="115000"/>
              </a:lnSpc>
              <a:buNone/>
              <a:tabLst>
                <a:tab pos="6181725" algn="l"/>
              </a:tabLst>
            </a:pPr>
            <a:r>
              <a:rPr lang="en-US" sz="2800" dirty="0">
                <a:effectLst/>
                <a:latin typeface="Times New Roman" panose="02020603050405020304" pitchFamily="18" charset="0"/>
                <a:ea typeface="Calibri" panose="020F0502020204030204" pitchFamily="34" charset="0"/>
                <a:cs typeface="Georgia" panose="02040502050405020303" pitchFamily="18" charset="0"/>
              </a:rPr>
              <a:t>    }</a:t>
            </a:r>
            <a:endParaRPr lang="en-US" sz="2800" dirty="0">
              <a:effectLst/>
              <a:latin typeface="Georgia" panose="02040502050405020303" pitchFamily="18" charset="0"/>
              <a:ea typeface="Georgia" panose="02040502050405020303" pitchFamily="18" charset="0"/>
              <a:cs typeface="Georgia" panose="02040502050405020303" pitchFamily="18" charset="0"/>
            </a:endParaRPr>
          </a:p>
          <a:p>
            <a:pPr marL="0" marR="182880" indent="0">
              <a:lnSpc>
                <a:spcPct val="115000"/>
              </a:lnSpc>
              <a:buNone/>
              <a:tabLst>
                <a:tab pos="6181725" algn="l"/>
              </a:tabLst>
            </a:pPr>
            <a:r>
              <a:rPr lang="en-US" sz="2800" dirty="0" err="1">
                <a:effectLst/>
                <a:latin typeface="Times New Roman" panose="02020603050405020304" pitchFamily="18" charset="0"/>
                <a:ea typeface="Calibri" panose="020F0502020204030204" pitchFamily="34" charset="0"/>
                <a:cs typeface="Georgia" panose="02040502050405020303" pitchFamily="18" charset="0"/>
              </a:rPr>
              <a:t>printf</a:t>
            </a:r>
            <a:r>
              <a:rPr lang="en-US" sz="2800" dirty="0">
                <a:effectLst/>
                <a:latin typeface="Times New Roman" panose="02020603050405020304" pitchFamily="18" charset="0"/>
                <a:ea typeface="Calibri" panose="020F0502020204030204" pitchFamily="34" charset="0"/>
                <a:cs typeface="Georgia" panose="02040502050405020303" pitchFamily="18" charset="0"/>
              </a:rPr>
              <a:t>("Sum = %d ",sum);  </a:t>
            </a:r>
            <a:endParaRPr lang="en-US" sz="2800" dirty="0">
              <a:effectLst/>
              <a:latin typeface="Georgia" panose="02040502050405020303" pitchFamily="18" charset="0"/>
              <a:ea typeface="Georgia" panose="02040502050405020303" pitchFamily="18" charset="0"/>
              <a:cs typeface="Georgia" panose="02040502050405020303" pitchFamily="18" charset="0"/>
            </a:endParaRPr>
          </a:p>
          <a:p>
            <a:pPr marL="0" marR="182880" indent="0">
              <a:lnSpc>
                <a:spcPct val="115000"/>
              </a:lnSpc>
              <a:buNone/>
              <a:tabLst>
                <a:tab pos="6181725" algn="l"/>
              </a:tabLst>
            </a:pPr>
            <a:r>
              <a:rPr lang="en-US" sz="2800" dirty="0">
                <a:effectLst/>
                <a:latin typeface="Times New Roman" panose="02020603050405020304" pitchFamily="18" charset="0"/>
                <a:ea typeface="Calibri" panose="020F0502020204030204" pitchFamily="34" charset="0"/>
                <a:cs typeface="Georgia" panose="02040502050405020303" pitchFamily="18" charset="0"/>
              </a:rPr>
              <a:t>}  </a:t>
            </a:r>
            <a:endParaRPr lang="en-US" sz="2800" dirty="0">
              <a:effectLst/>
              <a:latin typeface="Georgia" panose="02040502050405020303" pitchFamily="18" charset="0"/>
              <a:ea typeface="Georgia" panose="02040502050405020303" pitchFamily="18" charset="0"/>
              <a:cs typeface="Georgia" panose="02040502050405020303" pitchFamily="18" charset="0"/>
            </a:endParaRPr>
          </a:p>
          <a:p>
            <a:pPr marL="0" marR="182880" indent="0">
              <a:lnSpc>
                <a:spcPct val="115000"/>
              </a:lnSpc>
              <a:buNone/>
              <a:tabLst>
                <a:tab pos="6181725" algn="l"/>
              </a:tabLst>
            </a:pPr>
            <a:r>
              <a:rPr lang="en-US" sz="2800" dirty="0">
                <a:effectLst/>
                <a:latin typeface="Times New Roman" panose="02020603050405020304" pitchFamily="18" charset="0"/>
                <a:ea typeface="Calibri" panose="020F0502020204030204" pitchFamily="34" charset="0"/>
                <a:cs typeface="Georgia" panose="02040502050405020303" pitchFamily="18" charset="0"/>
              </a:rPr>
              <a:t> </a:t>
            </a:r>
            <a:endParaRPr lang="en-US" sz="2800" dirty="0">
              <a:effectLst/>
              <a:latin typeface="Georgia" panose="02040502050405020303" pitchFamily="18" charset="0"/>
              <a:ea typeface="Georgia" panose="02040502050405020303" pitchFamily="18" charset="0"/>
              <a:cs typeface="Georgia" panose="02040502050405020303" pitchFamily="18" charset="0"/>
            </a:endParaRPr>
          </a:p>
          <a:p>
            <a:endParaRPr lang="en-US" dirty="0"/>
          </a:p>
        </p:txBody>
      </p:sp>
      <p:sp>
        <p:nvSpPr>
          <p:cNvPr id="2" name="Footer Placeholder 1">
            <a:extLst>
              <a:ext uri="{FF2B5EF4-FFF2-40B4-BE49-F238E27FC236}">
                <a16:creationId xmlns:a16="http://schemas.microsoft.com/office/drawing/2014/main" id="{085C22D6-D5E3-EC9F-B45C-6F11EDF89124}"/>
              </a:ext>
            </a:extLst>
          </p:cNvPr>
          <p:cNvSpPr>
            <a:spLocks noGrp="1"/>
          </p:cNvSpPr>
          <p:nvPr>
            <p:ph type="ftr" sz="quarter" idx="11"/>
          </p:nvPr>
        </p:nvSpPr>
        <p:spPr/>
        <p:txBody>
          <a:bodyPr/>
          <a:lstStyle/>
          <a:p>
            <a:r>
              <a:rPr lang="en-US"/>
              <a:t>Mrs Saranya Babu, Asst. Professor, GAT</a:t>
            </a:r>
          </a:p>
        </p:txBody>
      </p:sp>
    </p:spTree>
    <p:extLst>
      <p:ext uri="{BB962C8B-B14F-4D97-AF65-F5344CB8AC3E}">
        <p14:creationId xmlns:p14="http://schemas.microsoft.com/office/powerpoint/2010/main" val="354525115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EE58C-9791-5680-2766-04EE0FBB5B4D}"/>
              </a:ext>
            </a:extLst>
          </p:cNvPr>
          <p:cNvSpPr>
            <a:spLocks noGrp="1"/>
          </p:cNvSpPr>
          <p:nvPr>
            <p:ph type="title"/>
          </p:nvPr>
        </p:nvSpPr>
        <p:spPr/>
        <p:txBody>
          <a:bodyPr/>
          <a:lstStyle/>
          <a:p>
            <a:r>
              <a:rPr lang="en-US" dirty="0"/>
              <a:t>Solve </a:t>
            </a:r>
          </a:p>
        </p:txBody>
      </p:sp>
      <p:sp>
        <p:nvSpPr>
          <p:cNvPr id="3" name="Content Placeholder 2">
            <a:extLst>
              <a:ext uri="{FF2B5EF4-FFF2-40B4-BE49-F238E27FC236}">
                <a16:creationId xmlns:a16="http://schemas.microsoft.com/office/drawing/2014/main" id="{E11FEC40-C684-6B1B-A1F7-4D2F6D47B7EE}"/>
              </a:ext>
            </a:extLst>
          </p:cNvPr>
          <p:cNvSpPr>
            <a:spLocks noGrp="1"/>
          </p:cNvSpPr>
          <p:nvPr>
            <p:ph idx="1"/>
          </p:nvPr>
        </p:nvSpPr>
        <p:spPr/>
        <p:txBody>
          <a:bodyPr/>
          <a:lstStyle/>
          <a:p>
            <a:pPr marL="0" indent="0">
              <a:buNone/>
            </a:pPr>
            <a:r>
              <a:rPr lang="en-US" dirty="0"/>
              <a:t>int x = 10, y = 10;</a:t>
            </a:r>
          </a:p>
          <a:p>
            <a:pPr marL="0" indent="0">
              <a:buNone/>
            </a:pPr>
            <a:r>
              <a:rPr lang="en-US" dirty="0"/>
              <a:t>int *p1 = &amp;x, *p2 = &amp;y;</a:t>
            </a:r>
          </a:p>
          <a:p>
            <a:pPr marL="0" indent="0">
              <a:buNone/>
            </a:pPr>
            <a:r>
              <a:rPr lang="en-US" dirty="0"/>
              <a:t>What is the value of each of the following expressions? </a:t>
            </a:r>
          </a:p>
          <a:p>
            <a:r>
              <a:rPr lang="en-US" dirty="0"/>
              <a:t>(*p1) ++ ;</a:t>
            </a:r>
          </a:p>
          <a:p>
            <a:r>
              <a:rPr lang="en-US" dirty="0"/>
              <a:t> – – (*p2) ;</a:t>
            </a:r>
          </a:p>
          <a:p>
            <a:r>
              <a:rPr lang="en-US" dirty="0"/>
              <a:t> *p1 + (*p2) – – ;</a:t>
            </a:r>
          </a:p>
          <a:p>
            <a:r>
              <a:rPr lang="en-US" dirty="0"/>
              <a:t> + + (*p2) – *p1 ;</a:t>
            </a:r>
          </a:p>
          <a:p>
            <a:endParaRPr lang="en-US" dirty="0"/>
          </a:p>
        </p:txBody>
      </p:sp>
      <p:sp>
        <p:nvSpPr>
          <p:cNvPr id="4" name="Footer Placeholder 3">
            <a:extLst>
              <a:ext uri="{FF2B5EF4-FFF2-40B4-BE49-F238E27FC236}">
                <a16:creationId xmlns:a16="http://schemas.microsoft.com/office/drawing/2014/main" id="{F7520206-E735-612E-68D7-77DCE70D40EF}"/>
              </a:ext>
            </a:extLst>
          </p:cNvPr>
          <p:cNvSpPr>
            <a:spLocks noGrp="1"/>
          </p:cNvSpPr>
          <p:nvPr>
            <p:ph type="ftr" sz="quarter" idx="11"/>
          </p:nvPr>
        </p:nvSpPr>
        <p:spPr/>
        <p:txBody>
          <a:bodyPr/>
          <a:lstStyle/>
          <a:p>
            <a:r>
              <a:rPr lang="en-US"/>
              <a:t>Mrs Saranya Babu, Asst. Professor, GAT</a:t>
            </a:r>
          </a:p>
        </p:txBody>
      </p:sp>
    </p:spTree>
    <p:extLst>
      <p:ext uri="{BB962C8B-B14F-4D97-AF65-F5344CB8AC3E}">
        <p14:creationId xmlns:p14="http://schemas.microsoft.com/office/powerpoint/2010/main" val="26304341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78</TotalTime>
  <Words>4602</Words>
  <Application>Microsoft Office PowerPoint</Application>
  <PresentationFormat>Widescreen</PresentationFormat>
  <Paragraphs>601</Paragraphs>
  <Slides>55</Slides>
  <Notes>0</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55</vt:i4>
      </vt:variant>
    </vt:vector>
  </HeadingPairs>
  <TitlesOfParts>
    <vt:vector size="65" baseType="lpstr">
      <vt:lpstr>Arial</vt:lpstr>
      <vt:lpstr>Arial MT</vt:lpstr>
      <vt:lpstr>Calibri</vt:lpstr>
      <vt:lpstr>Calibri Light</vt:lpstr>
      <vt:lpstr>Georgia</vt:lpstr>
      <vt:lpstr>Open Sans</vt:lpstr>
      <vt:lpstr>Times New Roman</vt:lpstr>
      <vt:lpstr>Wingdings</vt:lpstr>
      <vt:lpstr>Office Theme</vt:lpstr>
      <vt:lpstr>Document</vt:lpstr>
      <vt:lpstr>PowerPoint Presentation</vt:lpstr>
      <vt:lpstr>C    Data Types:</vt:lpstr>
      <vt:lpstr>PowerPoint Presentation</vt:lpstr>
      <vt:lpstr>PowerPoint Presentation</vt:lpstr>
      <vt:lpstr>PowerPoint Presentation</vt:lpstr>
      <vt:lpstr>PowerPoint Presentation</vt:lpstr>
      <vt:lpstr>PowerPoint Presentation</vt:lpstr>
      <vt:lpstr>PowerPoint Presentation</vt:lpstr>
      <vt:lpstr>Accessing Members of Structures </vt:lpstr>
      <vt:lpstr>PowerPoint Presentation</vt:lpstr>
      <vt:lpstr>Displaying the various members of Structures</vt:lpstr>
      <vt:lpstr>PowerPoint Presentation</vt:lpstr>
      <vt:lpstr>PowerPoint Presentation</vt:lpstr>
      <vt:lpstr>Array inside structure</vt:lpstr>
      <vt:lpstr>PowerPoint Presentation</vt:lpstr>
      <vt:lpstr>Array of Structures</vt:lpstr>
      <vt:lpstr>C program to read and print n employee details</vt:lpstr>
      <vt:lpstr>PowerPoint Presentation</vt:lpstr>
      <vt:lpstr>Output </vt:lpstr>
      <vt:lpstr>Rules for Initializing Structures</vt:lpstr>
      <vt:lpstr>Write a C program to maintain a record of n students details using an array of structures with four fields-Roll number, name, marks and grade. Calculate the grade according to the following conditions. Marks grade &gt;=80 A ,&gt;=60 B,&gt;=50 C,&gt;=40 D.</vt:lpstr>
      <vt:lpstr>PowerPoint Presentation</vt:lpstr>
      <vt:lpstr>PowerPoint Presentation</vt:lpstr>
      <vt:lpstr>Write a program to read employee number, name, salary and print the details if salary is greater then Rs.5000. </vt:lpstr>
      <vt:lpstr>PowerPoint Presentation</vt:lpstr>
      <vt:lpstr>Output </vt:lpstr>
      <vt:lpstr>Structures using typedef</vt:lpstr>
      <vt:lpstr>PowerPoint Presentation</vt:lpstr>
      <vt:lpstr>Example program using typedef in structures: </vt:lpstr>
      <vt:lpstr>Difference between Arrays and Structures</vt:lpstr>
      <vt:lpstr>Write a C program to compare two student structures with data members name and marks and print if students are  same or different</vt:lpstr>
      <vt:lpstr>PowerPoint Presentation</vt:lpstr>
      <vt:lpstr>Program to add two distances in the inch-feet system using structures</vt:lpstr>
      <vt:lpstr>PowerPoint Presentation</vt:lpstr>
      <vt:lpstr>Files </vt:lpstr>
      <vt:lpstr>PowerPoint Presentation</vt:lpstr>
      <vt:lpstr>PowerPoint Presentation</vt:lpstr>
      <vt:lpstr>DEFINING AND OPENING A FILE</vt:lpstr>
      <vt:lpstr>PowerPoint Presentation</vt:lpstr>
      <vt:lpstr>CLOSING A FILE</vt:lpstr>
      <vt:lpstr>INPUT/OUTPUT OPERATIONS ON FILES</vt:lpstr>
      <vt:lpstr>PowerPoint Presentation</vt:lpstr>
      <vt:lpstr>PowerPoint Presentation</vt:lpstr>
      <vt:lpstr>PowerPoint Presentation</vt:lpstr>
      <vt:lpstr>ERROR HANDLING DURING I/O OPERATIONS</vt:lpstr>
      <vt:lpstr>PowerPoint Presentation</vt:lpstr>
      <vt:lpstr>PowerPoint Presentation</vt:lpstr>
      <vt:lpstr>PowerPoint Presentation</vt:lpstr>
      <vt:lpstr> Write a C program to count the number of lines, words and characters in a given text file </vt:lpstr>
      <vt:lpstr>PowerPoint Presentation</vt:lpstr>
      <vt:lpstr>PowerPoint Presentation</vt:lpstr>
      <vt:lpstr>Example programs</vt:lpstr>
      <vt:lpstr>PowerPoint Presentation</vt:lpstr>
      <vt:lpstr>PowerPoint Presentation</vt:lpstr>
      <vt:lpstr>Solve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Priya Nandihal</dc:creator>
  <cp:lastModifiedBy>Dr. Priya Nandihal</cp:lastModifiedBy>
  <cp:revision>7</cp:revision>
  <dcterms:created xsi:type="dcterms:W3CDTF">2023-03-15T07:10:20Z</dcterms:created>
  <dcterms:modified xsi:type="dcterms:W3CDTF">2023-03-23T10:46:51Z</dcterms:modified>
</cp:coreProperties>
</file>