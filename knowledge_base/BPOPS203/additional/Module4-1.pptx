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72" r:id="rId6"/>
    <p:sldId id="273" r:id="rId7"/>
    <p:sldId id="274" r:id="rId8"/>
    <p:sldId id="259" r:id="rId9"/>
    <p:sldId id="260" r:id="rId10"/>
    <p:sldId id="261" r:id="rId11"/>
    <p:sldId id="262" r:id="rId12"/>
    <p:sldId id="263" r:id="rId13"/>
    <p:sldId id="264" r:id="rId14"/>
    <p:sldId id="275" r:id="rId15"/>
    <p:sldId id="276" r:id="rId16"/>
    <p:sldId id="277" r:id="rId17"/>
    <p:sldId id="265" r:id="rId18"/>
    <p:sldId id="266" r:id="rId19"/>
    <p:sldId id="267" r:id="rId20"/>
    <p:sldId id="278" r:id="rId21"/>
    <p:sldId id="279" r:id="rId22"/>
    <p:sldId id="270" r:id="rId23"/>
    <p:sldId id="280" r:id="rId24"/>
    <p:sldId id="286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4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6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4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3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6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6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1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9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B094E-0EA3-4AA6-BD8F-E6F25F478A7C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ADE52-9BC6-4B69-AE96-3B0C50A1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8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92803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8547" y="2520213"/>
            <a:ext cx="9144000" cy="1655762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INTRODUCTION TO POINTERS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86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229" y="76955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User-defined Functions Return Values and their Types, Category of Functions, Recursion, Example Programs.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Introduction, Declaring Pointer Variables, Initialization of Pointer variables, accessing a Variable through its Pointer, Pointer Expressions, Pointer Increments and Scale Factor, Example Programs. 	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30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as series of instructions or group of statements with one specific purpose.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program segment that carries out some specific, well defined task.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self contained block of code that performs a particular task.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66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0462"/>
            <a:ext cx="10515600" cy="505650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function can be classified into two categories, namely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)library functions and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(ii) user-defined function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531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Functions /Pre Defined Functions /Standard Functions/Built In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are defined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of C compiler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used frequently in the C program.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are written by designers of c compiler. </a:t>
            </a:r>
            <a:endParaRPr lang="en-I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supports many built in functions like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manipulation 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5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)-computes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(x)-computes square root of x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()- used to print the data on the screen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()-used to read the data from keyboard.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25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Functions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functions written by the programmer /user to do the specific tasks are called user defined function(UDF’s).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construct their own functions to perform some specific task.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functions created by the user is termed as User defined functions.</a:t>
            </a:r>
          </a:p>
          <a:p>
            <a:pPr lvl="0"/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2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30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User-Defined Function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856"/>
            <a:ext cx="10855817" cy="499210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language, main function indicates where the program has to begin its execution. While it is possible to code any program utilizing only main function but it leads to a lot of problem.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problem is that the program may become too large and complex and as a result the task of debugging, testing, and maintaining becomes difficult.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program is divided into functional parts, then each part may be independently coded and later combined into single unit. These subprograms called ‘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are much easier to understand, debug and test.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813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5155"/>
            <a:ext cx="10515600" cy="566180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times when certain type of operation or calculation is repeated at many points throughout a program. So in such situation, we may repeat the program statements wherever they are needed.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approach is to design a function that can be called and used whenever required. This saves both time and space.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338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User-Defined 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elements of user-defined function.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21565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4096"/>
            <a:ext cx="12192000" cy="577771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independent program module that is specially 				        written to implement the requirement of the function.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Function Declaration: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that calls the function is referred to as 				          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program or calling function. 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calling 					program should declare any function that is to be 						used later in the program. This is known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					declaration or function prototype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Call: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use this function we need to invoke it at a required           		        place in the program. This is known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13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624" y="-175597"/>
            <a:ext cx="10515600" cy="10732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3212"/>
            <a:ext cx="10515600" cy="5093751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Module written to achieve a specific task is called as function definition.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definition, also known as function implementation shall include the following elements.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 name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Function type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List of parameters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Local variable declarations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Function statements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 return statement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902299" y="3146402"/>
            <a:ext cx="170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63662" y="3689310"/>
            <a:ext cx="1738648" cy="12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902299" y="4317634"/>
            <a:ext cx="1712890" cy="12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602310" y="3146402"/>
            <a:ext cx="12879" cy="1184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flipH="1">
            <a:off x="5872765" y="3107964"/>
            <a:ext cx="367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Header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5226138" y="4818120"/>
            <a:ext cx="1259447" cy="12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26139" y="5318606"/>
            <a:ext cx="12750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6139" y="5842685"/>
            <a:ext cx="1259447" cy="12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85585" y="4762581"/>
            <a:ext cx="0" cy="1080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93227" y="4759635"/>
            <a:ext cx="1815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Body</a:t>
            </a:r>
          </a:p>
        </p:txBody>
      </p:sp>
    </p:spTree>
    <p:extLst>
      <p:ext uri="{BB962C8B-B14F-4D97-AF65-F5344CB8AC3E}">
        <p14:creationId xmlns:p14="http://schemas.microsoft.com/office/powerpoint/2010/main" val="122786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423032"/>
              </p:ext>
            </p:extLst>
          </p:nvPr>
        </p:nvGraphicFramePr>
        <p:xfrm>
          <a:off x="661182" y="801856"/>
          <a:ext cx="9819249" cy="5134710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4666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630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Definition Syntax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Definition Example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67">
                <a:tc>
                  <a:txBody>
                    <a:bodyPr/>
                    <a:lstStyle/>
                    <a:p>
                      <a:pPr marL="76200" marR="0">
                        <a:lnSpc>
                          <a:spcPts val="13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 function name(parameters)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lnSpc>
                          <a:spcPts val="13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add()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608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28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declaration part;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sum,a,b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608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executable part;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(“enter a and b\n”);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828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statement;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scanf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(“%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d%d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”,&amp;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a,&amp;b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08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sum=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3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(“sum is %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d”,sum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1828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flipH="1">
            <a:off x="5176911" y="801858"/>
            <a:ext cx="14068" cy="5148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72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 Header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370659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datatype function_name(parameters)</a:t>
            </a:r>
          </a:p>
          <a:p>
            <a:pPr marL="0" lv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ts val="1000"/>
              </a:spcBef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type can be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float,char,double,void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ts val="1000"/>
              </a:spcBef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data type of the value that the function is expected to return to calling function.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ts val="1000"/>
              </a:spcBef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the function.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a valid identifier.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ts val="1000"/>
              </a:spcBef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parameters are list of variables enclosed within parenthesis. The list of variables should be separated by comma.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4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add(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</a:t>
            </a: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example the return type of the function is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</a:p>
          <a:p>
            <a:pPr marL="228600" lvl="1" algn="just">
              <a:spcBef>
                <a:spcPts val="1000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function is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just">
              <a:spcBef>
                <a:spcPts val="1000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parameters are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'a' and 'b'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type integer.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297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223"/>
          </a:xfrm>
        </p:spPr>
        <p:txBody>
          <a:bodyPr>
            <a:normAutofit fontScale="90000"/>
          </a:bodyPr>
          <a:lstStyle/>
          <a:p>
            <a:pPr lvl="0"/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Function body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456" y="1041009"/>
            <a:ext cx="10515600" cy="559894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body consists of the set of instructions enclosed between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and } 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body consists of following three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part: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used in function body.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executable part: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of Statements or instructions to do specific activity.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keyword, it is used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control back to calling function.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function is not returning value then statement is: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return;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function is returning value then statement is: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value;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1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379" y="460464"/>
            <a:ext cx="10971727" cy="5734274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Header: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header consists of three parts: The function type(also known as return type, the function name and the formal parameter list. Note that a semicolon is not used at the end of the function header.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and Type: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type specifies the type of value that the function is expected to return to the program calling the function. If the return type is not explicitly specified, c will assume that it is an integer type. If the function is not returning anything, then we need to specify the return type as void. Remember,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is one of the fundamental data types in 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14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Parameter List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5777"/>
            <a:ext cx="10515600" cy="4351338"/>
          </a:xfrm>
        </p:spPr>
        <p:txBody>
          <a:bodyPr/>
          <a:lstStyle/>
          <a:p>
            <a:pPr lvl="0"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defined in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header of function definition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variables should be separately declared and each declaration must be separated by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formal parameters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the data from actual parameters.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6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8" y="524859"/>
            <a:ext cx="10515600" cy="52448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quadratic(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Remember, there is no semicolon after the closing parenthesis. Declaration of parameter variables cannot be combined.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illegal.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54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Parameters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that are used when a function is invoked)in function call) are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actual parameters, the data can be transferred from calling function to the called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them.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 must match in number and type of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999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899606"/>
              </p:ext>
            </p:extLst>
          </p:nvPr>
        </p:nvGraphicFramePr>
        <p:xfrm>
          <a:off x="838200" y="41275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0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Parameter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658">
                <a:tc>
                  <a:txBody>
                    <a:bodyPr/>
                    <a:lstStyle/>
                    <a:p>
                      <a:pPr marL="6350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Georgia" panose="02040502050405020303" pitchFamily="18" charset="0"/>
                          <a:cs typeface="Times New Roman" panose="02020603050405020304" pitchFamily="18" charset="0"/>
                        </a:rPr>
                        <a:t>Actual parameters</a:t>
                      </a: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Georgia" panose="02040502050405020303" pitchFamily="18" charset="0"/>
                          <a:cs typeface="Times New Roman" panose="02020603050405020304" pitchFamily="18" charset="0"/>
                        </a:rPr>
                        <a:t> are called as argument list</a:t>
                      </a:r>
                    </a:p>
                    <a:p>
                      <a:pPr marL="6350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Ex: add(</a:t>
                      </a:r>
                      <a:r>
                        <a:rPr lang="en-US" sz="20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m,n</a:t>
                      </a: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parameters are also called dummy parameters.</a:t>
                      </a:r>
                    </a:p>
                    <a:p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a,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 marR="0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variables used in function call are called as actual parameter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variables defined in function header are called as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formal parameters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actual parameters used in calling  function when a function is called or invoked</a:t>
                      </a:r>
                    </a:p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Ex: add(</a:t>
                      </a:r>
                      <a:r>
                        <a:rPr lang="en-US" sz="20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m,n</a:t>
                      </a: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Here, m and n are called actual parameters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parameters are used in the function header of a called function. 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int add(int a, int b)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{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--------------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}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Here, a and b are formal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parameters send data to the formal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parameters receives the data from actual parameters.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255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Categories of the functions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2" indent="-457200" algn="just">
              <a:spcBef>
                <a:spcPts val="1000"/>
              </a:spcBef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no parameters and no return values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-457200" algn="just">
              <a:spcBef>
                <a:spcPts val="1000"/>
              </a:spcBef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no parameters and return values</a:t>
            </a:r>
          </a:p>
          <a:p>
            <a:pPr marL="457200" lvl="2" indent="-457200" algn="just">
              <a:spcBef>
                <a:spcPts val="1000"/>
              </a:spcBef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 and no return values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-457200" algn="just">
              <a:spcBef>
                <a:spcPts val="1000"/>
              </a:spcBef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 and return values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31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IN" b="1" dirty="0"/>
              <a:t>Function with no parameters and no return values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category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transferred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function to called function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hence called function cannot receive any values.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example, no arguments are passed to user defined function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add( 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no parameter are defined in function header.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control is transferred from calling function to called function a ,and b values are read, they are added, the result is printed on monitor.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return statement is executed ,control is transferred from called function/add to calling function/main.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322864"/>
              </p:ext>
            </p:extLst>
          </p:nvPr>
        </p:nvGraphicFramePr>
        <p:xfrm>
          <a:off x="1429555" y="656821"/>
          <a:ext cx="9015211" cy="53125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275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Calling function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function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0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263">
                <a:tc>
                  <a:txBody>
                    <a:bodyPr/>
                    <a:lstStyle/>
                    <a:p>
                      <a:pPr marL="76200" marR="0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/*program to find sum of two numbers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236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function*/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36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#include&lt;stdio.h&gt;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add ( 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89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add( 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01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main( 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sum;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236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printf(“enter a and b values\n”);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236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 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scanf(“%d%d”,&amp;a,&amp;b);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153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sum=a+b;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98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printf(“\n The sum is %d”, sum);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2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540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2691685" y="2266682"/>
            <a:ext cx="3219718" cy="1545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691685" y="3928056"/>
            <a:ext cx="3683358" cy="978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46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 and no return values (void function with parameter)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category,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data transfer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calling function to the called function using parameters.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there is no data transfer from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called function to the calling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actual parameters m and n are copied into formal parameters a and 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and b are added and result stored in sum is displayed on the screen in called function itself.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1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576573"/>
              </p:ext>
            </p:extLst>
          </p:nvPr>
        </p:nvGraphicFramePr>
        <p:xfrm>
          <a:off x="1416675" y="631064"/>
          <a:ext cx="9517487" cy="58546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16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111">
                <a:tc>
                  <a:txBody>
                    <a:bodyPr/>
                    <a:lstStyle/>
                    <a:p>
                      <a:pPr marL="76200" marR="0" algn="just">
                        <a:lnSpc>
                          <a:spcPts val="13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Calling function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 algn="just">
                        <a:lnSpc>
                          <a:spcPts val="13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function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4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50">
                <a:tc>
                  <a:txBody>
                    <a:bodyPr/>
                    <a:lstStyle/>
                    <a:p>
                      <a:pPr marL="76200" marR="0" algn="just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/*program to find sum of two numbers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function*/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#include&lt;stdio.h&gt;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add(int m, int n);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994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main()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add(int a, int b)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24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m,n;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965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sum;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3994"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printf(“enter values for m and n:”);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965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= a+b;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scanf(“%d %d”,&amp;m,&amp;n);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965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printf(“sum is:%d”,sum);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073"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add(m,n);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9906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return;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9124">
                <a:tc>
                  <a:txBody>
                    <a:bodyPr/>
                    <a:lstStyle/>
                    <a:p>
                      <a:pPr marL="762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52070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663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3052293" y="2975020"/>
            <a:ext cx="4005330" cy="20091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871989" y="4984124"/>
            <a:ext cx="45462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36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with no parameters and with return values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category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data transfer from the calling function to the called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there is data transfer from called function to the calling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arguments are passed to the function add( ). So, no parameters are defined in the function header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function returns a value, the calling function receives one value from the called function and assigns to variable result.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value is printed in calling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9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292554"/>
              </p:ext>
            </p:extLst>
          </p:nvPr>
        </p:nvGraphicFramePr>
        <p:xfrm>
          <a:off x="1227830" y="188320"/>
          <a:ext cx="10011090" cy="6527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Calling</a:t>
                      </a:r>
                      <a:r>
                        <a:rPr lang="en-US" sz="2400" b="1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Function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Called Function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4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/*program to find sum of two numbers using function*/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16"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stdio.h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2921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 ) /* function header */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87"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add();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2921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7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775"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main()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775">
                <a:tc rowSpan="2"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493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a,b,sum;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775">
                <a:tc rowSpan="2">
                  <a:txBody>
                    <a:bodyPr/>
                    <a:lstStyle/>
                    <a:p>
                      <a:pPr marL="901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result;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493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(“enter values for a and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775">
                <a:tc rowSpan="2">
                  <a:txBody>
                    <a:bodyPr/>
                    <a:lstStyle/>
                    <a:p>
                      <a:pPr marL="901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result=add( );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493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b:”);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775">
                <a:tc rowSpan="2">
                  <a:txBody>
                    <a:bodyPr/>
                    <a:lstStyle/>
                    <a:p>
                      <a:pPr marL="901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printf(“sum is:%d”,result);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493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scanf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(“%d %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d”,&amp;a,&amp;b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951"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366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sum=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879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7366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sum;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90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2921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V="1">
            <a:off x="3348507" y="1996225"/>
            <a:ext cx="2884868" cy="1970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4262907" y="4378817"/>
            <a:ext cx="2356834" cy="515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5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 and with return values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algn="just">
              <a:lnSpc>
                <a:spcPct val="12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category, there is data transfer between the calling function and called function.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Actual parameters values are passed, the formal parameters in called function can receive the values from the calling function.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add function returns a value, the calling function receives a value from the called function.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actual parameters m and n are copied into formal parameters a and b.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is computed and returned back to calling function which is assigned to variable result.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8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290853"/>
              </p:ext>
            </p:extLst>
          </p:nvPr>
        </p:nvGraphicFramePr>
        <p:xfrm>
          <a:off x="1714729" y="352726"/>
          <a:ext cx="9659287" cy="6213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434">
                <a:tc>
                  <a:txBody>
                    <a:bodyPr/>
                    <a:lstStyle/>
                    <a:p>
                      <a:pPr marL="76200" marR="0">
                        <a:lnSpc>
                          <a:spcPts val="13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Calling function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lnSpc>
                          <a:spcPts val="13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function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878">
                <a:tc>
                  <a:txBody>
                    <a:bodyPr/>
                    <a:lstStyle/>
                    <a:p>
                      <a:pPr marL="76200" marR="0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/*program to find sum of two numbers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76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function*/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#include&lt;stdio.h&gt;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add();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add(int a, int b) /* function header */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5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091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main()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73">
                <a:tc rowSpan="2"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1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result,m,n;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5207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sum;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68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151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printf(“enter values for m and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5080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sum= a+b;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68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454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n:”);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rowSpan="2">
                  <a:txBody>
                    <a:bodyPr/>
                    <a:lstStyle/>
                    <a:p>
                      <a:pPr marL="5080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sum;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52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232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scanf(“%d %d”,&amp;m,&amp;n);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0181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result=add(m,n);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9779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printf(“sum is:%d”,result);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27915">
                <a:tc>
                  <a:txBody>
                    <a:bodyPr/>
                    <a:lstStyle/>
                    <a:p>
                      <a:pPr marL="5334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83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parameters to functions or Types of argument passing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different ways of passing parameters to the function are: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IN" b="1" dirty="0"/>
              <a:t>Pass by value or Call by value</a:t>
            </a:r>
            <a:r>
              <a:rPr lang="en-IN" baseline="30000" dirty="0"/>
              <a:t> 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Pass by address or Call by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7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call by value, the values of actual parameters are copied into formal parameters.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formal parameters contain only a copy of the actual parameters.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even if the values of the formal parameters changes in the called function, the values of the actual parameters are not changed.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call by value can be explained by considering the following program.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19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3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6220" y="1133341"/>
            <a:ext cx="42242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#include&lt;</a:t>
            </a:r>
            <a:r>
              <a:rPr lang="en-IN" b="1" dirty="0" err="1"/>
              <a:t>stdio.h</a:t>
            </a:r>
            <a:r>
              <a:rPr lang="en-IN" b="1" dirty="0"/>
              <a:t>&gt;</a:t>
            </a:r>
          </a:p>
          <a:p>
            <a:r>
              <a:rPr lang="en-IN" b="1" dirty="0"/>
              <a:t> void swap(int a, int b);</a:t>
            </a:r>
          </a:p>
          <a:p>
            <a:r>
              <a:rPr lang="en-IN" b="1" dirty="0"/>
              <a:t> void main()</a:t>
            </a:r>
            <a:endParaRPr lang="en-US" dirty="0"/>
          </a:p>
          <a:p>
            <a:r>
              <a:rPr lang="en-IN" b="1" dirty="0"/>
              <a:t>{</a:t>
            </a:r>
            <a:endParaRPr lang="en-US" dirty="0"/>
          </a:p>
          <a:p>
            <a:r>
              <a:rPr lang="en-IN" b="1" dirty="0"/>
              <a:t>int  m, n;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 ("enter values for a and b:"); </a:t>
            </a:r>
            <a:r>
              <a:rPr lang="en-IN" b="1" dirty="0" err="1"/>
              <a:t>scanf</a:t>
            </a:r>
            <a:r>
              <a:rPr lang="en-IN" b="1" dirty="0"/>
              <a:t>("%d %d", &amp;m, &amp;n);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 ("the values before swapping are m=%d n=%d \</a:t>
            </a:r>
            <a:r>
              <a:rPr lang="en-IN" b="1" dirty="0" err="1"/>
              <a:t>n",m</a:t>
            </a:r>
            <a:r>
              <a:rPr lang="en-IN" b="1" dirty="0"/>
              <a:t>, n);</a:t>
            </a:r>
          </a:p>
          <a:p>
            <a:r>
              <a:rPr lang="en-IN" b="1" dirty="0"/>
              <a:t> swap(</a:t>
            </a:r>
            <a:r>
              <a:rPr lang="en-IN" b="1" dirty="0" err="1"/>
              <a:t>m,n</a:t>
            </a:r>
            <a:r>
              <a:rPr lang="en-IN" b="1" dirty="0"/>
              <a:t>);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("the values after swapping are m=%d n=%d \n",</a:t>
            </a:r>
            <a:r>
              <a:rPr lang="en-IN" b="1" dirty="0" err="1"/>
              <a:t>m,n</a:t>
            </a:r>
            <a:r>
              <a:rPr lang="en-IN" b="1" dirty="0"/>
              <a:t>);</a:t>
            </a:r>
            <a:endParaRPr lang="en-US" dirty="0"/>
          </a:p>
          <a:p>
            <a:r>
              <a:rPr lang="en-IN" baseline="30000" dirty="0"/>
              <a:t> </a:t>
            </a:r>
            <a:endParaRPr lang="en-US" dirty="0"/>
          </a:p>
          <a:p>
            <a:r>
              <a:rPr lang="en-IN" b="1" dirty="0"/>
              <a:t>}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1133341"/>
            <a:ext cx="42242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void swap(</a:t>
            </a:r>
            <a:r>
              <a:rPr lang="en-IN" b="1" dirty="0" err="1"/>
              <a:t>int</a:t>
            </a:r>
            <a:r>
              <a:rPr lang="en-IN" b="1" dirty="0"/>
              <a:t> a, </a:t>
            </a:r>
            <a:r>
              <a:rPr lang="en-IN" b="1" dirty="0" err="1"/>
              <a:t>int</a:t>
            </a:r>
            <a:r>
              <a:rPr lang="en-IN" b="1" dirty="0"/>
              <a:t> b)</a:t>
            </a:r>
            <a:endParaRPr lang="en-US" dirty="0"/>
          </a:p>
          <a:p>
            <a:r>
              <a:rPr lang="en-IN" baseline="30000" dirty="0"/>
              <a:t> </a:t>
            </a:r>
            <a:endParaRPr lang="en-US" dirty="0"/>
          </a:p>
          <a:p>
            <a:r>
              <a:rPr lang="en-IN" b="1" dirty="0"/>
              <a:t>{</a:t>
            </a:r>
            <a:endParaRPr lang="en-US" dirty="0"/>
          </a:p>
          <a:p>
            <a:r>
              <a:rPr lang="en-IN" baseline="30000" dirty="0"/>
              <a:t> </a:t>
            </a:r>
            <a:endParaRPr lang="en-US" dirty="0"/>
          </a:p>
          <a:p>
            <a:r>
              <a:rPr lang="en-IN" b="1" dirty="0" err="1"/>
              <a:t>int</a:t>
            </a:r>
            <a:r>
              <a:rPr lang="en-IN" b="1" dirty="0"/>
              <a:t> temp; </a:t>
            </a:r>
          </a:p>
          <a:p>
            <a:r>
              <a:rPr lang="en-IN" b="1" dirty="0"/>
              <a:t>temp=a;</a:t>
            </a:r>
          </a:p>
          <a:p>
            <a:r>
              <a:rPr lang="en-IN" b="1" dirty="0"/>
              <a:t> a=b; </a:t>
            </a:r>
          </a:p>
          <a:p>
            <a:r>
              <a:rPr lang="en-IN" b="1" dirty="0"/>
              <a:t>b=temp;</a:t>
            </a:r>
            <a:endParaRPr lang="en-US" dirty="0"/>
          </a:p>
          <a:p>
            <a:r>
              <a:rPr lang="en-IN" baseline="30000" dirty="0"/>
              <a:t> </a:t>
            </a:r>
            <a:endParaRPr lang="en-US" dirty="0"/>
          </a:p>
          <a:p>
            <a:r>
              <a:rPr lang="en-IN" b="1" dirty="0"/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020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9397"/>
            <a:ext cx="10515600" cy="5687566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starts from function main( ) and we will read the values for variables m and n, assume we are reading 10 and 20 respectively.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print the values before swapping it will print 10 and 20.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swap( ) is called with actual parameters m=10 and n=20.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function header of function swap( ), the formal parameters a and b receive the values 10 and 20.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function swap( ), the values of a and b are exchanged.</a:t>
            </a: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the values of actual parameters m and n in function main( ) have not been exchanged.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is not reflected back to calling function.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41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Call by Address/ Call by Reference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Call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function is called, the addresses of actual parameters are sent.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called function, the formal parameters should be declared as pointers with the same type as the actual parameters.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addresses of actual parameters are copied into formal parameters.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these addresses the values of the actual parameters can be changed.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way of changing the actual parameters indirectly using the addresses of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parameters is known as pass by address.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3493" y="927280"/>
            <a:ext cx="58030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#include&lt;</a:t>
            </a:r>
            <a:r>
              <a:rPr lang="en-IN" b="1" dirty="0" err="1"/>
              <a:t>stdio.h</a:t>
            </a:r>
            <a:r>
              <a:rPr lang="en-IN" b="1" dirty="0"/>
              <a:t>&gt;</a:t>
            </a:r>
            <a:endParaRPr lang="en-US" dirty="0"/>
          </a:p>
          <a:p>
            <a:r>
              <a:rPr lang="en-IN" b="1" dirty="0"/>
              <a:t>void swap(</a:t>
            </a:r>
            <a:r>
              <a:rPr lang="en-IN" b="1" dirty="0" err="1"/>
              <a:t>int</a:t>
            </a:r>
            <a:r>
              <a:rPr lang="en-IN" b="1" dirty="0"/>
              <a:t> *,</a:t>
            </a:r>
            <a:r>
              <a:rPr lang="en-IN" b="1" dirty="0" err="1"/>
              <a:t>int</a:t>
            </a:r>
            <a:r>
              <a:rPr lang="en-IN" b="1" dirty="0"/>
              <a:t> *);</a:t>
            </a:r>
            <a:endParaRPr lang="en-US" dirty="0"/>
          </a:p>
          <a:p>
            <a:r>
              <a:rPr lang="en-IN" b="1" dirty="0"/>
              <a:t>void main()</a:t>
            </a:r>
            <a:endParaRPr lang="en-US" dirty="0"/>
          </a:p>
          <a:p>
            <a:r>
              <a:rPr lang="en-IN" b="1" dirty="0"/>
              <a:t>{</a:t>
            </a:r>
            <a:endParaRPr lang="en-US" dirty="0"/>
          </a:p>
          <a:p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m,n</a:t>
            </a:r>
            <a:r>
              <a:rPr lang="en-IN" b="1" dirty="0"/>
              <a:t>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("enter values for a and b:");</a:t>
            </a:r>
            <a:endParaRPr lang="en-US" dirty="0"/>
          </a:p>
          <a:p>
            <a:r>
              <a:rPr lang="en-IN" b="1" dirty="0" err="1"/>
              <a:t>scanf</a:t>
            </a:r>
            <a:r>
              <a:rPr lang="en-IN" b="1" dirty="0"/>
              <a:t>("%d %</a:t>
            </a:r>
            <a:r>
              <a:rPr lang="en-IN" b="1" dirty="0" err="1"/>
              <a:t>d",&amp;m,&amp;n</a:t>
            </a:r>
            <a:r>
              <a:rPr lang="en-IN" b="1" dirty="0"/>
              <a:t>);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("the values before swapping are m=%d n=%d \n",</a:t>
            </a:r>
            <a:r>
              <a:rPr lang="en-IN" b="1" dirty="0" err="1"/>
              <a:t>m,n</a:t>
            </a:r>
            <a:r>
              <a:rPr lang="en-IN" b="1" dirty="0"/>
              <a:t>);</a:t>
            </a:r>
          </a:p>
          <a:p>
            <a:r>
              <a:rPr lang="en-IN" b="1" dirty="0"/>
              <a:t> swap(&amp;</a:t>
            </a:r>
            <a:r>
              <a:rPr lang="en-IN" b="1" dirty="0" err="1"/>
              <a:t>m,&amp;n</a:t>
            </a:r>
            <a:r>
              <a:rPr lang="en-IN" b="1" dirty="0"/>
              <a:t>);</a:t>
            </a:r>
            <a:endParaRPr lang="en-US" dirty="0"/>
          </a:p>
          <a:p>
            <a:r>
              <a:rPr lang="en-IN" b="1" dirty="0" err="1"/>
              <a:t>printf</a:t>
            </a:r>
            <a:r>
              <a:rPr lang="en-IN" b="1" dirty="0"/>
              <a:t>("the values after swapping are m=%d n=%d \n",</a:t>
            </a:r>
            <a:r>
              <a:rPr lang="en-IN" b="1" dirty="0" err="1"/>
              <a:t>m,n</a:t>
            </a:r>
            <a:r>
              <a:rPr lang="en-IN" b="1" dirty="0"/>
              <a:t>);</a:t>
            </a:r>
            <a:endParaRPr lang="en-US" dirty="0"/>
          </a:p>
          <a:p>
            <a:r>
              <a:rPr lang="en-IN" dirty="0"/>
              <a:t> </a:t>
            </a:r>
            <a:endParaRPr lang="en-US" dirty="0"/>
          </a:p>
          <a:p>
            <a:r>
              <a:rPr lang="en-IN" b="1" dirty="0"/>
              <a:t>}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99290" y="927281"/>
            <a:ext cx="432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void swap(</a:t>
            </a:r>
            <a:r>
              <a:rPr lang="en-IN" b="1" dirty="0" err="1"/>
              <a:t>int</a:t>
            </a:r>
            <a:r>
              <a:rPr lang="en-IN" b="1" dirty="0"/>
              <a:t> *a, </a:t>
            </a:r>
            <a:r>
              <a:rPr lang="en-IN" b="1" dirty="0" err="1"/>
              <a:t>int</a:t>
            </a:r>
            <a:r>
              <a:rPr lang="en-IN" b="1" dirty="0"/>
              <a:t> *b)</a:t>
            </a:r>
            <a:endParaRPr lang="en-US" dirty="0"/>
          </a:p>
          <a:p>
            <a:r>
              <a:rPr lang="en-IN" b="1" dirty="0"/>
              <a:t>{</a:t>
            </a:r>
            <a:endParaRPr lang="en-US" dirty="0"/>
          </a:p>
          <a:p>
            <a:r>
              <a:rPr lang="en-IN" b="1" dirty="0" err="1"/>
              <a:t>int</a:t>
            </a:r>
            <a:r>
              <a:rPr lang="en-IN" b="1" dirty="0"/>
              <a:t> temp;</a:t>
            </a:r>
            <a:endParaRPr lang="en-US" dirty="0"/>
          </a:p>
          <a:p>
            <a:r>
              <a:rPr lang="en-IN" b="1" dirty="0"/>
              <a:t>temp=*a;</a:t>
            </a:r>
            <a:endParaRPr lang="en-US" dirty="0"/>
          </a:p>
          <a:p>
            <a:r>
              <a:rPr lang="en-IN" b="1" dirty="0"/>
              <a:t>*a=*b;</a:t>
            </a:r>
            <a:endParaRPr lang="en-US" dirty="0"/>
          </a:p>
          <a:p>
            <a:r>
              <a:rPr lang="en-IN" b="1" dirty="0"/>
              <a:t>*b=temp;</a:t>
            </a:r>
            <a:endParaRPr lang="en-US" dirty="0"/>
          </a:p>
          <a:p>
            <a:r>
              <a:rPr lang="en-IN" b="1" dirty="0"/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0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944"/>
          </a:xfrm>
        </p:spPr>
        <p:txBody>
          <a:bodyPr>
            <a:normAutofit fontScale="90000"/>
          </a:bodyPr>
          <a:lstStyle/>
          <a:p>
            <a:pPr>
              <a:lnSpc>
                <a:spcPts val="154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IN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3100" b="1" dirty="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Differences between Call by Value and Call by reference</a:t>
            </a:r>
            <a:r>
              <a:rPr lang="en-IN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CC3CD4-0DAB-970D-5628-EF9923417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745207"/>
              </p:ext>
            </p:extLst>
          </p:nvPr>
        </p:nvGraphicFramePr>
        <p:xfrm>
          <a:off x="838200" y="772990"/>
          <a:ext cx="9675845" cy="7503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941">
                  <a:extLst>
                    <a:ext uri="{9D8B030D-6E8A-4147-A177-3AD203B41FA5}">
                      <a16:colId xmlns:a16="http://schemas.microsoft.com/office/drawing/2014/main" val="3915791199"/>
                    </a:ext>
                  </a:extLst>
                </a:gridCol>
                <a:gridCol w="5134904">
                  <a:extLst>
                    <a:ext uri="{9D8B030D-6E8A-4147-A177-3AD203B41FA5}">
                      <a16:colId xmlns:a16="http://schemas.microsoft.com/office/drawing/2014/main" val="4157452165"/>
                    </a:ext>
                  </a:extLst>
                </a:gridCol>
              </a:tblGrid>
              <a:tr h="466426">
                <a:tc>
                  <a:txBody>
                    <a:bodyPr/>
                    <a:lstStyle/>
                    <a:p>
                      <a:pPr marL="1066800" algn="just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 by Value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168400" algn="just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 by Address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13114994"/>
                  </a:ext>
                </a:extLst>
              </a:tr>
              <a:tr h="327328"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7156834"/>
                  </a:ext>
                </a:extLst>
              </a:tr>
              <a:tr h="306706">
                <a:tc>
                  <a:txBody>
                    <a:bodyPr/>
                    <a:lstStyle/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 function is called the values of variables are passed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6200" algn="just">
                        <a:lnSpc>
                          <a:spcPts val="1325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>
                        <a:lnSpc>
                          <a:spcPct val="100000"/>
                        </a:lnSpc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 function is called the addresses of</a:t>
                      </a:r>
                    </a:p>
                    <a:p>
                      <a:pPr marL="635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are passed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algn="just">
                        <a:lnSpc>
                          <a:spcPts val="1325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3744529"/>
                  </a:ext>
                </a:extLst>
              </a:tr>
              <a:tr h="372679">
                <a:tc>
                  <a:txBody>
                    <a:bodyPr/>
                    <a:lstStyle/>
                    <a:p>
                      <a:pPr marL="762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54345136"/>
                  </a:ext>
                </a:extLst>
              </a:tr>
              <a:tr h="384251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23860777"/>
                  </a:ext>
                </a:extLst>
              </a:tr>
              <a:tr h="306706">
                <a:tc>
                  <a:txBody>
                    <a:bodyPr/>
                    <a:lstStyle/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type of formal parameters should</a:t>
                      </a: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 same as type of actual parameters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6200" algn="just">
                        <a:lnSpc>
                          <a:spcPct val="100000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 type of formal  parameters should  same  as  type  of  actual  parameters,   but they have to be declared as pointers.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algn="just">
                        <a:lnSpc>
                          <a:spcPct val="100000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66691090"/>
                  </a:ext>
                </a:extLst>
              </a:tr>
              <a:tr h="372679">
                <a:tc>
                  <a:txBody>
                    <a:bodyPr/>
                    <a:lstStyle/>
                    <a:p>
                      <a:pPr marL="76200" algn="just">
                        <a:lnSpc>
                          <a:spcPct val="100000"/>
                        </a:lnSpc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  parameters   contains    the</a:t>
                      </a: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 of actual parameters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62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>
                        <a:lnSpc>
                          <a:spcPct val="100000"/>
                        </a:lnSpc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parameters contain the addresses</a:t>
                      </a:r>
                    </a:p>
                    <a:p>
                      <a:pPr marL="635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actual parameters.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35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0984841"/>
                  </a:ext>
                </a:extLst>
              </a:tr>
              <a:tr h="374993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In call by value, we cannot alter the values of actual variables through function calls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 call by reference we can alter the values of variables through function calls.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4790625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 marL="76200" algn="just">
                        <a:lnSpc>
                          <a:spcPct val="10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Values of variables are passed by the simple technique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>
                        <a:lnSpc>
                          <a:spcPct val="100000"/>
                        </a:lnSpc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 variables are necessary to define to store the address values of variables.</a:t>
                      </a:r>
                    </a:p>
                    <a:p>
                      <a:pPr marL="63500" algn="just">
                        <a:lnSpc>
                          <a:spcPts val="1340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4502023"/>
                  </a:ext>
                </a:extLst>
              </a:tr>
              <a:tr h="309022">
                <a:tc>
                  <a:txBody>
                    <a:bodyPr/>
                    <a:lstStyle/>
                    <a:p>
                      <a:pPr marL="762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>
                        <a:lnSpc>
                          <a:spcPts val="1340"/>
                        </a:lnSpc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00498533"/>
                  </a:ext>
                </a:extLst>
              </a:tr>
              <a:tr h="372679">
                <a:tc>
                  <a:txBody>
                    <a:bodyPr/>
                    <a:lstStyle/>
                    <a:p>
                      <a:pPr marL="762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63500" algn="just"/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40951710"/>
                  </a:ext>
                </a:extLst>
              </a:tr>
              <a:tr h="637718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20088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386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1D81-CE68-442D-E6F3-88A1E6C9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Recursion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E9D8-31A6-776D-41B0-78643EFF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Recursion is the process which comes into existence when a function calls a copy of itself to work on a smaller problem.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Any function which calls itself is called recursive function, and such function calls are called recursive calls.</a:t>
            </a:r>
            <a:endParaRPr lang="en-IN" sz="2400" dirty="0">
              <a:effectLst/>
              <a:latin typeface="Times New Roman" panose="02020603050405020304" pitchFamily="18" charset="0"/>
              <a:ea typeface="Georgia" panose="02040502050405020303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Recursion is a method of solving the problem where the solution to a problem depends on solutions to smaller instances of the same problem.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Recursive function is a function that calls itself during the execution.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Recursion cannot be applied to all the problem, but it is more useful for the tasks that can be defined in terms of similar subtasks. 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recursion may be applied to sorting, searching, and traversal problems.</a:t>
            </a:r>
          </a:p>
          <a:p>
            <a:r>
              <a:rPr lang="en-US" sz="1200" dirty="0"/>
              <a:t/>
            </a:r>
            <a:br>
              <a:rPr lang="en-US" sz="1200" dirty="0"/>
            </a:b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901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7761-BE01-DAE9-1CCF-DAC00F8A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Arial" panose="020B0604020202020204" pitchFamily="34" charset="0"/>
              </a:rPr>
              <a:t>Consider Example for finding </a:t>
            </a:r>
            <a:r>
              <a:rPr lang="en-IN" sz="1800" dirty="0" err="1">
                <a:effectLst/>
                <a:latin typeface="Georgia" panose="02040502050405020303" pitchFamily="18" charset="0"/>
                <a:ea typeface="Georgia" panose="02040502050405020303" pitchFamily="18" charset="0"/>
                <a:cs typeface="Arial" panose="020B0604020202020204" pitchFamily="34" charset="0"/>
              </a:rPr>
              <a:t>factrorial</a:t>
            </a:r>
            <a:r>
              <a:rPr lang="en-IN" sz="18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Arial" panose="020B0604020202020204" pitchFamily="34" charset="0"/>
              </a:rPr>
              <a:t> of 5 Factorial(5)=n*fact(n-1)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1B0E49-D061-9F91-1B78-19A1C6B5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166" y="1690688"/>
            <a:ext cx="5716491" cy="384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392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596D-FFF9-FD12-7463-604C2C7D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>
              <a:lnSpc>
                <a:spcPct val="98000"/>
              </a:lnSpc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Example 2.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/******* Fibonacci series of a given number using Recursion ******/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B30A4-934D-4007-8907-6F8CB2A0B2B3}"/>
              </a:ext>
            </a:extLst>
          </p:cNvPr>
          <p:cNvSpPr txBox="1"/>
          <p:nvPr/>
        </p:nvSpPr>
        <p:spPr>
          <a:xfrm>
            <a:off x="130628" y="1524584"/>
            <a:ext cx="509451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/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18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fibonacci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);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18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void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main ()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6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49400"/>
            <a:r>
              <a:rPr lang="en-IN" sz="18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n,f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49400"/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("Enter the value of n?");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49400"/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("%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d",&amp;n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);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49400"/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 =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fibonacci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(n);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49400"/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("%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d",f</a:t>
            </a:r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);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1800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}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469D4-AC7A-AF6E-DEF9-C01441869D7F}"/>
              </a:ext>
            </a:extLst>
          </p:cNvPr>
          <p:cNvSpPr txBox="1"/>
          <p:nvPr/>
        </p:nvSpPr>
        <p:spPr>
          <a:xfrm>
            <a:off x="4973215" y="1203649"/>
            <a:ext cx="6718041" cy="524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int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fibonacci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int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n)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3716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if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(n==0)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return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0;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else if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(n == 1)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272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return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1;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else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7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60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27200" algn="just"/>
            <a:r>
              <a:rPr lang="en-IN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return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fibonacci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(n-1)+</a:t>
            </a:r>
            <a:r>
              <a:rPr lang="en-IN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fibonacci</a:t>
            </a:r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(n-2);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494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55"/>
              </a:lnSpc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371600" algn="just"/>
            <a:r>
              <a:rPr lang="en-I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06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38A71-C898-B7AF-7CC0-D2A06414392B}"/>
              </a:ext>
            </a:extLst>
          </p:cNvPr>
          <p:cNvSpPr txBox="1"/>
          <p:nvPr/>
        </p:nvSpPr>
        <p:spPr>
          <a:xfrm>
            <a:off x="0" y="1703483"/>
            <a:ext cx="7696200" cy="417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 fact(int n);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85"/>
              </a:lnSpc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void main( )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{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num,result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("enter number:");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scanf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("%d",&amp;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num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result=fact(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num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("The factorial of a number is: %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d",result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);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}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80"/>
              </a:lnSpc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004B1-1EC1-D11F-43A4-3C6764C9BC9B}"/>
              </a:ext>
            </a:extLst>
          </p:cNvPr>
          <p:cNvSpPr txBox="1"/>
          <p:nvPr/>
        </p:nvSpPr>
        <p:spPr>
          <a:xfrm>
            <a:off x="7559040" y="2077348"/>
            <a:ext cx="4632960" cy="2703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0"/>
              </a:lnSpc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 fact(int n)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{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if(n==0)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875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return 1;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else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36700"/>
            <a:r>
              <a:rPr lang="en-IN" sz="2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return (n*fact(n-1));</a:t>
            </a:r>
          </a:p>
          <a:p>
            <a:pPr marL="1536700"/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D28A0-C56C-C572-132E-9E833CF7FB05}"/>
              </a:ext>
            </a:extLst>
          </p:cNvPr>
          <p:cNvSpPr txBox="1"/>
          <p:nvPr/>
        </p:nvSpPr>
        <p:spPr>
          <a:xfrm>
            <a:off x="812800" y="680720"/>
            <a:ext cx="7914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 to find factorial of a given number using recursion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313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D72-699D-F1AF-1C9A-67319358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863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Recursion and iteration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76542F0-ACD4-A16C-131E-589FDF59C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76176"/>
              </p:ext>
            </p:extLst>
          </p:nvPr>
        </p:nvGraphicFramePr>
        <p:xfrm>
          <a:off x="1676400" y="993986"/>
          <a:ext cx="8839200" cy="531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4065885145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3452543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Recursion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23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Recursion is a process of calling a function itself within its own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In iteration, there is a repeated execution of set of instructions. In iteration, loops are used to execute the set of instructions repetitively until the condition is false.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27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There is a termination condition is specified.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The format of iteration includes initialization condition and increment/decrement of a variable.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1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 The termination condition is defined within the recursive function.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Here, the termination condition is defined in the definition of the loop.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7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It is always applied to functions.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 It is applied to loops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6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It uses  more memory as compared to iteration.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 It uses less memory as compared to recursion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503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If the recursive function does not meet to a termination condition, it leads to a infinite recursion. There is a chance of system crash in infinite recursion.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 Iteration will be infinite, if the control condition of the iteration statement never becomes false. On infinite loop, it repeatedly used CPU cycles.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6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8527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E9D3-D8D9-0D53-A55B-91D859E7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39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 to calculate Binomial Coefficient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E2134-6DD3-296A-4D6F-7C75CF3519B4}"/>
              </a:ext>
            </a:extLst>
          </p:cNvPr>
          <p:cNvSpPr txBox="1"/>
          <p:nvPr/>
        </p:nvSpPr>
        <p:spPr>
          <a:xfrm>
            <a:off x="838200" y="1310640"/>
            <a:ext cx="59893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  <a:p>
            <a:r>
              <a:rPr lang="en-US" dirty="0"/>
              <a:t>float fact(int n);</a:t>
            </a:r>
          </a:p>
          <a:p>
            <a:r>
              <a:rPr lang="en-US" dirty="0"/>
              <a:t>Void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Int </a:t>
            </a:r>
            <a:r>
              <a:rPr lang="en-US" dirty="0" err="1"/>
              <a:t>n,r</a:t>
            </a:r>
            <a:r>
              <a:rPr lang="en-US" dirty="0"/>
              <a:t>;</a:t>
            </a:r>
          </a:p>
          <a:p>
            <a:r>
              <a:rPr lang="en-US" dirty="0"/>
              <a:t>float result;</a:t>
            </a:r>
          </a:p>
          <a:p>
            <a:r>
              <a:rPr lang="en-US" dirty="0" err="1"/>
              <a:t>printf</a:t>
            </a:r>
            <a:r>
              <a:rPr lang="en-US" dirty="0"/>
              <a:t>(“enter the value of n and r (0&lt;=r&lt;=n)\n”);</a:t>
            </a:r>
          </a:p>
          <a:p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d%d</a:t>
            </a:r>
            <a:r>
              <a:rPr lang="en-US" dirty="0"/>
              <a:t>”, &amp;</a:t>
            </a:r>
            <a:r>
              <a:rPr lang="en-US" dirty="0" err="1"/>
              <a:t>n,&amp;r</a:t>
            </a:r>
            <a:r>
              <a:rPr lang="en-US" dirty="0"/>
              <a:t>);</a:t>
            </a:r>
          </a:p>
          <a:p>
            <a:r>
              <a:rPr lang="en-US" dirty="0"/>
              <a:t>If(n&lt;0||r&lt;0||n&lt;r)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</a:t>
            </a:r>
            <a:r>
              <a:rPr lang="en-US"/>
              <a:t>rintf</a:t>
            </a:r>
            <a:r>
              <a:rPr lang="en-US" dirty="0"/>
              <a:t>(“invalid input\n”);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else{</a:t>
            </a:r>
          </a:p>
          <a:p>
            <a:r>
              <a:rPr lang="en-US" dirty="0"/>
              <a:t>result=fact(n)/(fact(r)*fact(n-r));</a:t>
            </a:r>
          </a:p>
          <a:p>
            <a:r>
              <a:rPr lang="en-US" dirty="0" err="1"/>
              <a:t>printf</a:t>
            </a:r>
            <a:r>
              <a:rPr lang="en-US" dirty="0"/>
              <a:t>(“c(%</a:t>
            </a:r>
            <a:r>
              <a:rPr lang="en-US" dirty="0" err="1"/>
              <a:t>d,%d</a:t>
            </a:r>
            <a:r>
              <a:rPr lang="en-US" dirty="0"/>
              <a:t>)=%.2f”,n, r, result);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DE997-9658-FD96-C99E-8E0270E47685}"/>
              </a:ext>
            </a:extLst>
          </p:cNvPr>
          <p:cNvSpPr txBox="1"/>
          <p:nvPr/>
        </p:nvSpPr>
        <p:spPr>
          <a:xfrm>
            <a:off x="6883400" y="1310640"/>
            <a:ext cx="447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 fact(int 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If(n==0)</a:t>
            </a:r>
          </a:p>
          <a:p>
            <a:r>
              <a:rPr lang="en-US" dirty="0"/>
              <a:t>return(1);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return(n*fact(n-1));</a:t>
            </a:r>
          </a:p>
          <a:p>
            <a:r>
              <a:rPr lang="en-US" dirty="0"/>
              <a:t>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106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2940</Words>
  <Application>Microsoft Office PowerPoint</Application>
  <PresentationFormat>Widescreen</PresentationFormat>
  <Paragraphs>521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Georgia</vt:lpstr>
      <vt:lpstr>Times New Roman</vt:lpstr>
      <vt:lpstr>Verdana</vt:lpstr>
      <vt:lpstr>Office Theme</vt:lpstr>
      <vt:lpstr>Module 4</vt:lpstr>
      <vt:lpstr>PowerPoint Presentation</vt:lpstr>
      <vt:lpstr>FUNCTIONS </vt:lpstr>
      <vt:lpstr>Types of functions</vt:lpstr>
      <vt:lpstr>Library Functions /Pre Defined Functions /Standard Functions/Built In Functions</vt:lpstr>
      <vt:lpstr>PowerPoint Presentation</vt:lpstr>
      <vt:lpstr>User Defined Functions</vt:lpstr>
      <vt:lpstr>Need for User-Defined Function </vt:lpstr>
      <vt:lpstr>PowerPoint Presentation</vt:lpstr>
      <vt:lpstr>Elements of User-Defined Function.</vt:lpstr>
      <vt:lpstr>PowerPoint Presentation</vt:lpstr>
      <vt:lpstr>Function Definition</vt:lpstr>
      <vt:lpstr>PowerPoint Presentation</vt:lpstr>
      <vt:lpstr>1. Function Header</vt:lpstr>
      <vt:lpstr>Example:</vt:lpstr>
      <vt:lpstr>2. Function body </vt:lpstr>
      <vt:lpstr>PowerPoint Presentation</vt:lpstr>
      <vt:lpstr>Formal Parameter List</vt:lpstr>
      <vt:lpstr>PowerPoint Presentation</vt:lpstr>
      <vt:lpstr>Actual Parameters</vt:lpstr>
      <vt:lpstr>PowerPoint Presentation</vt:lpstr>
      <vt:lpstr>Categories of the functions</vt:lpstr>
      <vt:lpstr>Function with no parameters and no return values </vt:lpstr>
      <vt:lpstr>PowerPoint Presentation</vt:lpstr>
      <vt:lpstr>Function with parameters and no return values (void function with parameter) </vt:lpstr>
      <vt:lpstr>PowerPoint Presentation</vt:lpstr>
      <vt:lpstr>3. Function with no parameters and with return values </vt:lpstr>
      <vt:lpstr>PowerPoint Presentation</vt:lpstr>
      <vt:lpstr>4. Function with parameters and with return values</vt:lpstr>
      <vt:lpstr>PowerPoint Presentation</vt:lpstr>
      <vt:lpstr>Passing parameters to functions or Types of argument passing</vt:lpstr>
      <vt:lpstr>Call by value:</vt:lpstr>
      <vt:lpstr>Example: </vt:lpstr>
      <vt:lpstr>PowerPoint Presentation</vt:lpstr>
      <vt:lpstr>Call by Address/ Call by Reference </vt:lpstr>
      <vt:lpstr>Example</vt:lpstr>
      <vt:lpstr>  Differences between Call by Value and Call by reference </vt:lpstr>
      <vt:lpstr>Recursion</vt:lpstr>
      <vt:lpstr>Consider Example for finding factrorial of 5 Factorial(5)=n*fact(n-1) </vt:lpstr>
      <vt:lpstr>Example 2. /******* Fibonacci series of a given number using Recursion ******/ </vt:lpstr>
      <vt:lpstr>PowerPoint Presentation</vt:lpstr>
      <vt:lpstr>Difference between Recursion and iteration</vt:lpstr>
      <vt:lpstr>C program to calculate Binomial Coefficient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Faculty</dc:creator>
  <cp:lastModifiedBy>Faculty</cp:lastModifiedBy>
  <cp:revision>32</cp:revision>
  <dcterms:created xsi:type="dcterms:W3CDTF">2023-02-22T09:53:32Z</dcterms:created>
  <dcterms:modified xsi:type="dcterms:W3CDTF">2023-08-04T05:33:01Z</dcterms:modified>
</cp:coreProperties>
</file>