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7" r:id="rId28"/>
    <p:sldId id="316" r:id="rId29"/>
    <p:sldId id="256" r:id="rId30"/>
    <p:sldId id="257" r:id="rId31"/>
    <p:sldId id="258" r:id="rId32"/>
    <p:sldId id="259" r:id="rId33"/>
    <p:sldId id="260" r:id="rId34"/>
    <p:sldId id="261" r:id="rId35"/>
    <p:sldId id="262" r:id="rId36"/>
    <p:sldId id="263" r:id="rId37"/>
    <p:sldId id="264" r:id="rId38"/>
    <p:sldId id="265" r:id="rId39"/>
    <p:sldId id="266" r:id="rId40"/>
    <p:sldId id="267" r:id="rId41"/>
    <p:sldId id="268" r:id="rId42"/>
    <p:sldId id="269" r:id="rId43"/>
    <p:sldId id="270" r:id="rId44"/>
    <p:sldId id="271" r:id="rId45"/>
    <p:sldId id="272" r:id="rId46"/>
    <p:sldId id="273" r:id="rId47"/>
    <p:sldId id="274" r:id="rId48"/>
    <p:sldId id="275" r:id="rId49"/>
    <p:sldId id="276" r:id="rId50"/>
    <p:sldId id="277" r:id="rId51"/>
    <p:sldId id="278" r:id="rId52"/>
    <p:sldId id="279" r:id="rId53"/>
    <p:sldId id="280" r:id="rId54"/>
    <p:sldId id="281" r:id="rId55"/>
    <p:sldId id="282" r:id="rId56"/>
    <p:sldId id="283" r:id="rId57"/>
    <p:sldId id="284" r:id="rId58"/>
    <p:sldId id="285" r:id="rId59"/>
    <p:sldId id="286" r:id="rId60"/>
    <p:sldId id="287" r:id="rId61"/>
    <p:sldId id="288" r:id="rId62"/>
    <p:sldId id="289" r:id="rId63"/>
    <p:sldId id="318" r:id="rId64"/>
    <p:sldId id="319" r:id="rId65"/>
    <p:sldId id="320" r:id="rId66"/>
    <p:sldId id="321" r:id="rId67"/>
    <p:sldId id="327" r:id="rId68"/>
    <p:sldId id="322" r:id="rId69"/>
    <p:sldId id="328" r:id="rId70"/>
    <p:sldId id="324" r:id="rId71"/>
    <p:sldId id="325"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4434" autoAdjust="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49354AA-4293-4831-B7E5-96B95302D31B}"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4034776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9354AA-4293-4831-B7E5-96B95302D31B}"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392027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9354AA-4293-4831-B7E5-96B95302D31B}"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208415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49354AA-4293-4831-B7E5-96B95302D31B}"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3264438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49354AA-4293-4831-B7E5-96B95302D31B}" type="datetimeFigureOut">
              <a:rPr lang="en-US" smtClean="0"/>
              <a:t>2/16/2023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498687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49354AA-4293-4831-B7E5-96B95302D31B}" type="datetimeFigureOut">
              <a:rPr lang="en-US" smtClean="0"/>
              <a:t>2/16/2023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337197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9354AA-4293-4831-B7E5-96B95302D31B}" type="datetimeFigureOut">
              <a:rPr lang="en-US" smtClean="0"/>
              <a:t>2/16/2023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4098421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9354AA-4293-4831-B7E5-96B95302D31B}"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43071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9354AA-4293-4831-B7E5-96B95302D31B}"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2628774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9354AA-4293-4831-B7E5-96B95302D31B}"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1657771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9354AA-4293-4831-B7E5-96B95302D31B}"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112A5-4357-48BD-894F-FE891CD0436D}" type="slidenum">
              <a:rPr lang="en-US" smtClean="0"/>
              <a:t>‹#›</a:t>
            </a:fld>
            <a:endParaRPr lang="en-US"/>
          </a:p>
        </p:txBody>
      </p:sp>
    </p:spTree>
    <p:extLst>
      <p:ext uri="{BB962C8B-B14F-4D97-AF65-F5344CB8AC3E}">
        <p14:creationId xmlns:p14="http://schemas.microsoft.com/office/powerpoint/2010/main" val="3122995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9354AA-4293-4831-B7E5-96B95302D31B}" type="datetimeFigureOut">
              <a:rPr lang="en-US" smtClean="0"/>
              <a:t>2/16/2023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B112A5-4357-48BD-894F-FE891CD0436D}" type="slidenum">
              <a:rPr lang="en-US" smtClean="0"/>
              <a:t>‹#›</a:t>
            </a:fld>
            <a:endParaRPr lang="en-US"/>
          </a:p>
        </p:txBody>
      </p:sp>
    </p:spTree>
    <p:extLst>
      <p:ext uri="{BB962C8B-B14F-4D97-AF65-F5344CB8AC3E}">
        <p14:creationId xmlns:p14="http://schemas.microsoft.com/office/powerpoint/2010/main" val="1551584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696"/>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838200" y="1225123"/>
            <a:ext cx="10515600" cy="5257563"/>
          </a:xfrm>
        </p:spPr>
        <p:txBody>
          <a:bodyPr>
            <a:normAutofit fontScale="92500" lnSpcReduction="20000"/>
          </a:bodyPr>
          <a:lstStyle/>
          <a:p>
            <a:r>
              <a:rPr lang="en-US" b="1" dirty="0"/>
              <a:t>Arrays</a:t>
            </a:r>
            <a:r>
              <a:rPr lang="en-US" dirty="0"/>
              <a:t>: Array is a sequential collection of similar data items.</a:t>
            </a:r>
          </a:p>
          <a:p>
            <a:r>
              <a:rPr lang="en-US" b="1" dirty="0"/>
              <a:t>Definition of array</a:t>
            </a:r>
            <a:r>
              <a:rPr lang="en-US" dirty="0"/>
              <a:t>: An array is a collection or group of elements of same data type.</a:t>
            </a:r>
          </a:p>
          <a:p>
            <a:r>
              <a:rPr lang="en-US" dirty="0"/>
              <a:t>Pictorial representation of an array of 5 integers</a:t>
            </a:r>
          </a:p>
          <a:p>
            <a:endParaRPr lang="en-US" dirty="0"/>
          </a:p>
          <a:p>
            <a:endParaRPr lang="en-US" dirty="0"/>
          </a:p>
          <a:p>
            <a:endParaRPr lang="en-US" dirty="0"/>
          </a:p>
          <a:p>
            <a:endParaRPr lang="en-US" dirty="0"/>
          </a:p>
          <a:p>
            <a:pPr lvl="2"/>
            <a:r>
              <a:rPr lang="en-US" dirty="0"/>
              <a:t>An array is a collection of similar data items.</a:t>
            </a:r>
            <a:endParaRPr lang="en-US" sz="1800" dirty="0"/>
          </a:p>
          <a:p>
            <a:pPr lvl="2"/>
            <a:r>
              <a:rPr lang="en-US" dirty="0"/>
              <a:t>All the elements of the array share a common name .</a:t>
            </a:r>
            <a:endParaRPr lang="en-US" sz="1800" dirty="0"/>
          </a:p>
          <a:p>
            <a:pPr lvl="2"/>
            <a:r>
              <a:rPr lang="en-US" dirty="0"/>
              <a:t>Each element in the array can be accessed by the subscript(or index) and array name.</a:t>
            </a:r>
            <a:endParaRPr lang="en-US" sz="1800" dirty="0"/>
          </a:p>
          <a:p>
            <a:pPr marL="914400" lvl="2" indent="0">
              <a:buNone/>
            </a:pPr>
            <a:r>
              <a:rPr lang="en-US" b="1" dirty="0"/>
              <a:t>The arrays are classified as:</a:t>
            </a:r>
            <a:endParaRPr lang="en-US" sz="1800" b="1" dirty="0"/>
          </a:p>
          <a:p>
            <a:pPr lvl="0"/>
            <a:r>
              <a:rPr lang="en-US" b="1" dirty="0"/>
              <a:t>Single/One dimensional array</a:t>
            </a:r>
          </a:p>
          <a:p>
            <a:pPr lvl="0"/>
            <a:r>
              <a:rPr lang="en-US" b="1" dirty="0"/>
              <a:t>Multidimensional/Two dimensional array.</a:t>
            </a:r>
            <a:endParaRPr lang="en-US" sz="2400" dirty="0"/>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61860591"/>
              </p:ext>
            </p:extLst>
          </p:nvPr>
        </p:nvGraphicFramePr>
        <p:xfrm>
          <a:off x="3545683" y="3398293"/>
          <a:ext cx="2950652" cy="423080"/>
        </p:xfrm>
        <a:graphic>
          <a:graphicData uri="http://schemas.openxmlformats.org/drawingml/2006/table">
            <a:tbl>
              <a:tblPr firstRow="1" firstCol="1" lastRow="1" lastCol="1" bandRow="1" bandCol="1">
                <a:tableStyleId>{5C22544A-7EE6-4342-B048-85BDC9FD1C3A}</a:tableStyleId>
              </a:tblPr>
              <a:tblGrid>
                <a:gridCol w="692296">
                  <a:extLst>
                    <a:ext uri="{9D8B030D-6E8A-4147-A177-3AD203B41FA5}">
                      <a16:colId xmlns:a16="http://schemas.microsoft.com/office/drawing/2014/main" val="20000"/>
                    </a:ext>
                  </a:extLst>
                </a:gridCol>
                <a:gridCol w="602761">
                  <a:extLst>
                    <a:ext uri="{9D8B030D-6E8A-4147-A177-3AD203B41FA5}">
                      <a16:colId xmlns:a16="http://schemas.microsoft.com/office/drawing/2014/main" val="20001"/>
                    </a:ext>
                  </a:extLst>
                </a:gridCol>
                <a:gridCol w="600363">
                  <a:extLst>
                    <a:ext uri="{9D8B030D-6E8A-4147-A177-3AD203B41FA5}">
                      <a16:colId xmlns:a16="http://schemas.microsoft.com/office/drawing/2014/main" val="20002"/>
                    </a:ext>
                  </a:extLst>
                </a:gridCol>
                <a:gridCol w="527616">
                  <a:extLst>
                    <a:ext uri="{9D8B030D-6E8A-4147-A177-3AD203B41FA5}">
                      <a16:colId xmlns:a16="http://schemas.microsoft.com/office/drawing/2014/main" val="20003"/>
                    </a:ext>
                  </a:extLst>
                </a:gridCol>
                <a:gridCol w="527616">
                  <a:extLst>
                    <a:ext uri="{9D8B030D-6E8A-4147-A177-3AD203B41FA5}">
                      <a16:colId xmlns:a16="http://schemas.microsoft.com/office/drawing/2014/main" val="20004"/>
                    </a:ext>
                  </a:extLst>
                </a:gridCol>
              </a:tblGrid>
              <a:tr h="423080">
                <a:tc>
                  <a:txBody>
                    <a:bodyPr/>
                    <a:lstStyle/>
                    <a:p>
                      <a:pPr marL="71120" marR="0">
                        <a:lnSpc>
                          <a:spcPts val="1375"/>
                        </a:lnSpc>
                        <a:spcBef>
                          <a:spcPts val="0"/>
                        </a:spcBef>
                        <a:spcAft>
                          <a:spcPts val="0"/>
                        </a:spcAft>
                      </a:pPr>
                      <a:r>
                        <a:rPr lang="en-US" sz="1200" dirty="0">
                          <a:effectLst/>
                        </a:rPr>
                        <a:t>10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755" marR="0">
                        <a:lnSpc>
                          <a:spcPts val="1375"/>
                        </a:lnSpc>
                        <a:spcBef>
                          <a:spcPts val="0"/>
                        </a:spcBef>
                        <a:spcAft>
                          <a:spcPts val="0"/>
                        </a:spcAft>
                      </a:pPr>
                      <a:r>
                        <a:rPr lang="en-US" sz="1200">
                          <a:effectLst/>
                        </a:rPr>
                        <a:t>20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755" marR="0">
                        <a:lnSpc>
                          <a:spcPts val="1375"/>
                        </a:lnSpc>
                        <a:spcBef>
                          <a:spcPts val="0"/>
                        </a:spcBef>
                        <a:spcAft>
                          <a:spcPts val="0"/>
                        </a:spcAft>
                      </a:pPr>
                      <a:r>
                        <a:rPr lang="en-US" sz="1200" dirty="0">
                          <a:effectLst/>
                        </a:rPr>
                        <a:t>30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660" marR="0">
                        <a:lnSpc>
                          <a:spcPts val="1375"/>
                        </a:lnSpc>
                        <a:spcBef>
                          <a:spcPts val="0"/>
                        </a:spcBef>
                        <a:spcAft>
                          <a:spcPts val="0"/>
                        </a:spcAft>
                      </a:pPr>
                      <a:r>
                        <a:rPr lang="en-US" sz="1200" dirty="0">
                          <a:effectLst/>
                        </a:rPr>
                        <a:t>40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660" marR="0">
                        <a:lnSpc>
                          <a:spcPts val="1375"/>
                        </a:lnSpc>
                        <a:spcBef>
                          <a:spcPts val="0"/>
                        </a:spcBef>
                        <a:spcAft>
                          <a:spcPts val="0"/>
                        </a:spcAft>
                      </a:pPr>
                      <a:r>
                        <a:rPr lang="en-US" sz="1200" dirty="0">
                          <a:effectLst/>
                        </a:rPr>
                        <a:t>50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309002969"/>
              </p:ext>
            </p:extLst>
          </p:nvPr>
        </p:nvGraphicFramePr>
        <p:xfrm>
          <a:off x="3562064" y="3815874"/>
          <a:ext cx="2947920" cy="370840"/>
        </p:xfrm>
        <a:graphic>
          <a:graphicData uri="http://schemas.openxmlformats.org/drawingml/2006/table">
            <a:tbl>
              <a:tblPr firstRow="1" bandRow="1">
                <a:tableStyleId>{5C22544A-7EE6-4342-B048-85BDC9FD1C3A}</a:tableStyleId>
              </a:tblPr>
              <a:tblGrid>
                <a:gridCol w="736980">
                  <a:extLst>
                    <a:ext uri="{9D8B030D-6E8A-4147-A177-3AD203B41FA5}">
                      <a16:colId xmlns:a16="http://schemas.microsoft.com/office/drawing/2014/main" val="20000"/>
                    </a:ext>
                  </a:extLst>
                </a:gridCol>
                <a:gridCol w="709685">
                  <a:extLst>
                    <a:ext uri="{9D8B030D-6E8A-4147-A177-3AD203B41FA5}">
                      <a16:colId xmlns:a16="http://schemas.microsoft.com/office/drawing/2014/main" val="20001"/>
                    </a:ext>
                  </a:extLst>
                </a:gridCol>
                <a:gridCol w="764275">
                  <a:extLst>
                    <a:ext uri="{9D8B030D-6E8A-4147-A177-3AD203B41FA5}">
                      <a16:colId xmlns:a16="http://schemas.microsoft.com/office/drawing/2014/main" val="20002"/>
                    </a:ext>
                  </a:extLst>
                </a:gridCol>
                <a:gridCol w="736980">
                  <a:extLst>
                    <a:ext uri="{9D8B030D-6E8A-4147-A177-3AD203B41FA5}">
                      <a16:colId xmlns:a16="http://schemas.microsoft.com/office/drawing/2014/main" val="20003"/>
                    </a:ext>
                  </a:extLst>
                </a:gridCol>
              </a:tblGrid>
              <a:tr h="370840">
                <a:tc>
                  <a:txBody>
                    <a:bodyPr/>
                    <a:lstStyle/>
                    <a:p>
                      <a:r>
                        <a:rPr lang="en-US" dirty="0">
                          <a:solidFill>
                            <a:schemeClr val="tx1"/>
                          </a:solidFill>
                        </a:rPr>
                        <a:t>A[0]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A[1]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A[2]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A[3]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993280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l" rtl="0">
              <a:lnSpc>
                <a:spcPct val="90000"/>
              </a:lnSpc>
              <a:spcBef>
                <a:spcPct val="0"/>
              </a:spcBef>
            </a:pPr>
            <a:r>
              <a:rPr lang="en-US" sz="3200" u="heavy" dirty="0">
                <a:latin typeface="Times New Roman" panose="02020603050405020304" pitchFamily="18" charset="0"/>
                <a:cs typeface="Times New Roman" panose="02020603050405020304" pitchFamily="18" charset="0"/>
              </a:rPr>
              <a:t>Single/One Dimensional Array</a:t>
            </a:r>
            <a:br>
              <a:rPr lang="en-US" sz="1600" dirty="0"/>
            </a:br>
            <a:endParaRPr lang="en-US" dirty="0"/>
          </a:p>
        </p:txBody>
      </p:sp>
      <p:sp>
        <p:nvSpPr>
          <p:cNvPr id="3" name="Content Placeholder 2"/>
          <p:cNvSpPr>
            <a:spLocks noGrp="1"/>
          </p:cNvSpPr>
          <p:nvPr>
            <p:ph idx="1"/>
          </p:nvPr>
        </p:nvSpPr>
        <p:spPr>
          <a:xfrm>
            <a:off x="838200" y="1307010"/>
            <a:ext cx="11185478" cy="5339450"/>
          </a:xfrm>
        </p:spPr>
        <p:txBody>
          <a:bodyPr>
            <a:normAutofit/>
          </a:bodyPr>
          <a:lstStyle/>
          <a:p>
            <a:pPr marL="228600" lvl="3" algn="just">
              <a:spcBef>
                <a:spcPts val="1000"/>
              </a:spcBef>
            </a:pPr>
            <a:r>
              <a:rPr lang="en-US" sz="2400" dirty="0">
                <a:latin typeface="Times New Roman" panose="02020603050405020304" pitchFamily="18" charset="0"/>
                <a:cs typeface="Times New Roman" panose="02020603050405020304" pitchFamily="18" charset="0"/>
              </a:rPr>
              <a:t>A single dimensional array is a linear list of related data items of same data type.</a:t>
            </a:r>
          </a:p>
          <a:p>
            <a:pPr marL="228600" lvl="3" algn="just">
              <a:spcBef>
                <a:spcPts val="1000"/>
              </a:spcBef>
            </a:pPr>
            <a:r>
              <a:rPr lang="en-US" sz="2400" dirty="0">
                <a:latin typeface="Times New Roman" panose="02020603050405020304" pitchFamily="18" charset="0"/>
                <a:cs typeface="Times New Roman" panose="02020603050405020304" pitchFamily="18" charset="0"/>
              </a:rPr>
              <a:t>Elements are stored in one row or one column and having one subscript is called single dimensional array.</a:t>
            </a:r>
          </a:p>
          <a:p>
            <a:pPr algn="just"/>
            <a:r>
              <a:rPr lang="en-US" sz="2400" dirty="0">
                <a:latin typeface="Times New Roman" panose="02020603050405020304" pitchFamily="18" charset="0"/>
                <a:cs typeface="Times New Roman" panose="02020603050405020304" pitchFamily="18" charset="0"/>
              </a:rPr>
              <a:t>In memory, all the data items are stored in contiguous memory locations.</a:t>
            </a:r>
            <a:endParaRPr lang="en-US" sz="2400" u="heavy"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Declaration of one-dimensional array (Single dimensional array)</a:t>
            </a:r>
            <a:r>
              <a:rPr lang="en-US" sz="2400" b="1" u="heavy" dirty="0">
                <a:latin typeface="Times New Roman" panose="02020603050405020304" pitchFamily="18" charset="0"/>
                <a:cs typeface="Times New Roman" panose="02020603050405020304" pitchFamily="18" charset="0"/>
              </a:rPr>
              <a:t> </a:t>
            </a:r>
          </a:p>
          <a:p>
            <a:pPr marL="0" indent="0" algn="just">
              <a:buNone/>
            </a:pPr>
            <a:r>
              <a:rPr lang="en-US" sz="2400" b="1" u="heavy" dirty="0">
                <a:latin typeface="Times New Roman" panose="02020603050405020304" pitchFamily="18" charset="0"/>
                <a:cs typeface="Times New Roman" panose="02020603050405020304" pitchFamily="18" charset="0"/>
              </a:rPr>
              <a:t>Syntax:</a:t>
            </a:r>
          </a:p>
          <a:p>
            <a:pPr marL="0" indent="0" algn="just">
              <a:buNone/>
            </a:pPr>
            <a:endParaRPr lang="en-US" sz="2400" b="1" u="heavy" dirty="0">
              <a:latin typeface="Times New Roman" panose="02020603050405020304" pitchFamily="18" charset="0"/>
              <a:cs typeface="Times New Roman" panose="02020603050405020304" pitchFamily="18" charset="0"/>
            </a:endParaRPr>
          </a:p>
          <a:p>
            <a:pPr marL="0" indent="0" algn="just">
              <a:buNone/>
            </a:pPr>
            <a:endParaRPr lang="en-US" sz="2400" u="heavy" dirty="0">
              <a:latin typeface="Times New Roman" panose="02020603050405020304" pitchFamily="18" charset="0"/>
              <a:cs typeface="Times New Roman" panose="02020603050405020304" pitchFamily="18" charset="0"/>
            </a:endParaRPr>
          </a:p>
          <a:p>
            <a:pPr lvl="3"/>
            <a:r>
              <a:rPr lang="en-US" sz="2400" b="1" dirty="0">
                <a:latin typeface="Times New Roman" panose="02020603050405020304" pitchFamily="18" charset="0"/>
                <a:cs typeface="Times New Roman" panose="02020603050405020304" pitchFamily="18" charset="0"/>
              </a:rPr>
              <a:t>data type </a:t>
            </a:r>
            <a:r>
              <a:rPr lang="en-US" sz="2400" dirty="0">
                <a:latin typeface="Times New Roman" panose="02020603050405020304" pitchFamily="18" charset="0"/>
                <a:cs typeface="Times New Roman" panose="02020603050405020304" pitchFamily="18" charset="0"/>
              </a:rPr>
              <a:t>can be int,float,char,double.</a:t>
            </a:r>
          </a:p>
          <a:p>
            <a:pPr lvl="3"/>
            <a:r>
              <a:rPr lang="en-US" sz="2400" b="1" dirty="0">
                <a:latin typeface="Times New Roman" panose="02020603050405020304" pitchFamily="18" charset="0"/>
                <a:cs typeface="Times New Roman" panose="02020603050405020304" pitchFamily="18" charset="0"/>
              </a:rPr>
              <a:t>array_name </a:t>
            </a:r>
            <a:r>
              <a:rPr lang="en-US" sz="2400" dirty="0">
                <a:latin typeface="Times New Roman" panose="02020603050405020304" pitchFamily="18" charset="0"/>
                <a:cs typeface="Times New Roman" panose="02020603050405020304" pitchFamily="18" charset="0"/>
              </a:rPr>
              <a:t>is the name of the array and it should be a valid identifier.</a:t>
            </a:r>
          </a:p>
          <a:p>
            <a:pPr lvl="3"/>
            <a:r>
              <a:rPr lang="en-US" sz="2400" b="1" dirty="0">
                <a:latin typeface="Times New Roman" panose="02020603050405020304" pitchFamily="18" charset="0"/>
                <a:cs typeface="Times New Roman" panose="02020603050405020304" pitchFamily="18" charset="0"/>
              </a:rPr>
              <a:t>Size </a:t>
            </a:r>
            <a:r>
              <a:rPr lang="en-US" sz="2400" dirty="0">
                <a:latin typeface="Times New Roman" panose="02020603050405020304" pitchFamily="18" charset="0"/>
                <a:cs typeface="Times New Roman" panose="02020603050405020304" pitchFamily="18" charset="0"/>
              </a:rPr>
              <a:t>is the total number of elements in array.</a:t>
            </a:r>
          </a:p>
          <a:p>
            <a:pPr lvl="3"/>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u="heavy"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629469" y="3976735"/>
            <a:ext cx="3698543" cy="67710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data type array_name[size];</a:t>
            </a: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29279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7672"/>
            <a:ext cx="10953466" cy="5699291"/>
          </a:xfrm>
        </p:spPr>
        <p:txBody>
          <a:bodyPr/>
          <a:lstStyle/>
          <a:p>
            <a:r>
              <a:rPr lang="en-US" dirty="0">
                <a:latin typeface="Times New Roman" panose="02020603050405020304" pitchFamily="18" charset="0"/>
                <a:cs typeface="Times New Roman" panose="02020603050405020304" pitchFamily="18" charset="0"/>
              </a:rPr>
              <a:t>For example</a:t>
            </a:r>
            <a:r>
              <a:rPr lang="en-US" b="1"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 a[5];</a:t>
            </a:r>
          </a:p>
          <a:p>
            <a:r>
              <a:rPr lang="en-US" dirty="0">
                <a:latin typeface="Times New Roman" panose="02020603050405020304" pitchFamily="18" charset="0"/>
                <a:cs typeface="Times New Roman" panose="02020603050405020304" pitchFamily="18" charset="0"/>
              </a:rPr>
              <a:t>The above statement allocates 5*2=10 Bytes of memory for the array </a:t>
            </a:r>
            <a:r>
              <a:rPr lang="en-US" b="1" dirty="0">
                <a:latin typeface="Times New Roman" panose="02020603050405020304" pitchFamily="18" charset="0"/>
                <a:cs typeface="Times New Roman" panose="02020603050405020304" pitchFamily="18" charset="0"/>
              </a:rPr>
              <a:t>a.</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float b[5];</a:t>
            </a:r>
          </a:p>
          <a:p>
            <a:pPr algn="just"/>
            <a:r>
              <a:rPr lang="en-US" dirty="0">
                <a:latin typeface="Times New Roman" panose="02020603050405020304" pitchFamily="18" charset="0"/>
                <a:cs typeface="Times New Roman" panose="02020603050405020304" pitchFamily="18" charset="0"/>
              </a:rPr>
              <a:t>The above statement allocates 5*4=20 Bytes of memory for the array b. Each element in the array is identified using integer number called as i</a:t>
            </a:r>
            <a:r>
              <a:rPr lang="en-US" b="1" dirty="0">
                <a:latin typeface="Times New Roman" panose="02020603050405020304" pitchFamily="18" charset="0"/>
                <a:cs typeface="Times New Roman" panose="02020603050405020304" pitchFamily="18" charset="0"/>
              </a:rPr>
              <a:t>ndex.</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n is the size of array, the array index starts from </a:t>
            </a:r>
            <a:r>
              <a:rPr lang="en-US" b="1" dirty="0">
                <a:latin typeface="Times New Roman" panose="02020603050405020304" pitchFamily="18" charset="0"/>
                <a:cs typeface="Times New Roman" panose="02020603050405020304" pitchFamily="18" charset="0"/>
              </a:rPr>
              <a:t>0 </a:t>
            </a:r>
            <a:r>
              <a:rPr lang="en-US" dirty="0">
                <a:latin typeface="Times New Roman" panose="02020603050405020304" pitchFamily="18" charset="0"/>
                <a:cs typeface="Times New Roman" panose="02020603050405020304" pitchFamily="18" charset="0"/>
              </a:rPr>
              <a:t>and ends at </a:t>
            </a:r>
            <a:r>
              <a:rPr lang="en-US" b="1" dirty="0">
                <a:latin typeface="Times New Roman" panose="02020603050405020304" pitchFamily="18" charset="0"/>
                <a:cs typeface="Times New Roman" panose="02020603050405020304" pitchFamily="18" charset="0"/>
              </a:rPr>
              <a:t>n-1.</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char name[100]; - name is array of 100 character values.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381215574"/>
              </p:ext>
            </p:extLst>
          </p:nvPr>
        </p:nvGraphicFramePr>
        <p:xfrm>
          <a:off x="4377287" y="2371779"/>
          <a:ext cx="2705900" cy="303182"/>
        </p:xfrm>
        <a:graphic>
          <a:graphicData uri="http://schemas.openxmlformats.org/drawingml/2006/table">
            <a:tbl>
              <a:tblPr firstRow="1" firstCol="1" lastRow="1" lastCol="1" bandRow="1" bandCol="1">
                <a:tableStyleId>{5C22544A-7EE6-4342-B048-85BDC9FD1C3A}</a:tableStyleId>
              </a:tblPr>
              <a:tblGrid>
                <a:gridCol w="634132">
                  <a:extLst>
                    <a:ext uri="{9D8B030D-6E8A-4147-A177-3AD203B41FA5}">
                      <a16:colId xmlns:a16="http://schemas.microsoft.com/office/drawing/2014/main" val="20000"/>
                    </a:ext>
                  </a:extLst>
                </a:gridCol>
                <a:gridCol w="552308">
                  <a:extLst>
                    <a:ext uri="{9D8B030D-6E8A-4147-A177-3AD203B41FA5}">
                      <a16:colId xmlns:a16="http://schemas.microsoft.com/office/drawing/2014/main" val="20001"/>
                    </a:ext>
                  </a:extLst>
                </a:gridCol>
                <a:gridCol w="552308">
                  <a:extLst>
                    <a:ext uri="{9D8B030D-6E8A-4147-A177-3AD203B41FA5}">
                      <a16:colId xmlns:a16="http://schemas.microsoft.com/office/drawing/2014/main" val="20002"/>
                    </a:ext>
                  </a:extLst>
                </a:gridCol>
                <a:gridCol w="483576">
                  <a:extLst>
                    <a:ext uri="{9D8B030D-6E8A-4147-A177-3AD203B41FA5}">
                      <a16:colId xmlns:a16="http://schemas.microsoft.com/office/drawing/2014/main" val="20003"/>
                    </a:ext>
                  </a:extLst>
                </a:gridCol>
                <a:gridCol w="483576">
                  <a:extLst>
                    <a:ext uri="{9D8B030D-6E8A-4147-A177-3AD203B41FA5}">
                      <a16:colId xmlns:a16="http://schemas.microsoft.com/office/drawing/2014/main" val="20004"/>
                    </a:ext>
                  </a:extLst>
                </a:gridCol>
              </a:tblGrid>
              <a:tr h="303182">
                <a:tc>
                  <a:txBody>
                    <a:bodyPr/>
                    <a:lstStyle/>
                    <a:p>
                      <a:pPr marL="0" marR="0">
                        <a:spcBef>
                          <a:spcPts val="0"/>
                        </a:spcBef>
                        <a:spcAft>
                          <a:spcPts val="0"/>
                        </a:spcAft>
                      </a:pPr>
                      <a:r>
                        <a:rPr lang="en-US" sz="11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spcBef>
                          <a:spcPts val="0"/>
                        </a:spcBef>
                        <a:spcAft>
                          <a:spcPts val="0"/>
                        </a:spcAft>
                      </a:pPr>
                      <a:r>
                        <a:rPr lang="en-US" sz="11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spcBef>
                          <a:spcPts val="0"/>
                        </a:spcBef>
                        <a:spcAft>
                          <a:spcPts val="0"/>
                        </a:spcAft>
                      </a:pPr>
                      <a:r>
                        <a:rPr lang="en-US" sz="11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spcBef>
                          <a:spcPts val="0"/>
                        </a:spcBef>
                        <a:spcAft>
                          <a:spcPts val="0"/>
                        </a:spcAft>
                      </a:pPr>
                      <a:r>
                        <a:rPr lang="en-US" sz="11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spcBef>
                          <a:spcPts val="0"/>
                        </a:spcBef>
                        <a:spcAft>
                          <a:spcPts val="0"/>
                        </a:spcAft>
                      </a:pPr>
                      <a:r>
                        <a:rPr lang="en-US" sz="11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366861306"/>
              </p:ext>
            </p:extLst>
          </p:nvPr>
        </p:nvGraphicFramePr>
        <p:xfrm>
          <a:off x="4353638" y="2766829"/>
          <a:ext cx="2784140" cy="303917"/>
        </p:xfrm>
        <a:graphic>
          <a:graphicData uri="http://schemas.openxmlformats.org/drawingml/2006/table">
            <a:tbl>
              <a:tblPr firstRow="1" bandRow="1">
                <a:tableStyleId>{5C22544A-7EE6-4342-B048-85BDC9FD1C3A}</a:tableStyleId>
              </a:tblPr>
              <a:tblGrid>
                <a:gridCol w="641443">
                  <a:extLst>
                    <a:ext uri="{9D8B030D-6E8A-4147-A177-3AD203B41FA5}">
                      <a16:colId xmlns:a16="http://schemas.microsoft.com/office/drawing/2014/main" val="20000"/>
                    </a:ext>
                  </a:extLst>
                </a:gridCol>
                <a:gridCol w="472213">
                  <a:extLst>
                    <a:ext uri="{9D8B030D-6E8A-4147-A177-3AD203B41FA5}">
                      <a16:colId xmlns:a16="http://schemas.microsoft.com/office/drawing/2014/main" val="20001"/>
                    </a:ext>
                  </a:extLst>
                </a:gridCol>
                <a:gridCol w="556828">
                  <a:extLst>
                    <a:ext uri="{9D8B030D-6E8A-4147-A177-3AD203B41FA5}">
                      <a16:colId xmlns:a16="http://schemas.microsoft.com/office/drawing/2014/main" val="20002"/>
                    </a:ext>
                  </a:extLst>
                </a:gridCol>
                <a:gridCol w="556828">
                  <a:extLst>
                    <a:ext uri="{9D8B030D-6E8A-4147-A177-3AD203B41FA5}">
                      <a16:colId xmlns:a16="http://schemas.microsoft.com/office/drawing/2014/main" val="20003"/>
                    </a:ext>
                  </a:extLst>
                </a:gridCol>
                <a:gridCol w="556828">
                  <a:extLst>
                    <a:ext uri="{9D8B030D-6E8A-4147-A177-3AD203B41FA5}">
                      <a16:colId xmlns:a16="http://schemas.microsoft.com/office/drawing/2014/main" val="20004"/>
                    </a:ext>
                  </a:extLst>
                </a:gridCol>
              </a:tblGrid>
              <a:tr h="303917">
                <a:tc>
                  <a:txBody>
                    <a:bodyPr/>
                    <a:lstStyle/>
                    <a:p>
                      <a:r>
                        <a:rPr lang="en-US" sz="1200" dirty="0">
                          <a:solidFill>
                            <a:schemeClr val="tx1"/>
                          </a:solidFill>
                        </a:rPr>
                        <a:t>A[0]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solidFill>
                            <a:schemeClr val="tx1"/>
                          </a:solidFill>
                        </a:rPr>
                        <a:t>A[1]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solidFill>
                            <a:schemeClr val="tx1"/>
                          </a:solidFill>
                        </a:rPr>
                        <a:t>A[2]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solidFill>
                            <a:schemeClr val="tx1"/>
                          </a:solidFill>
                        </a:rPr>
                        <a:t>A[3]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solidFill>
                            <a:schemeClr val="tx1"/>
                          </a:solidFill>
                        </a:rPr>
                        <a:t>A[4]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78361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132" y="460660"/>
            <a:ext cx="10515600" cy="794935"/>
          </a:xfrm>
        </p:spPr>
        <p:txBody>
          <a:bodyPr>
            <a:normAutofit fontScale="90000"/>
          </a:bodyPr>
          <a:lstStyle/>
          <a:p>
            <a:r>
              <a:rPr lang="en-US" b="1" u="heavy" dirty="0"/>
              <a:t>Storing Values in Arrays</a:t>
            </a:r>
            <a:br>
              <a:rPr lang="en-US" dirty="0"/>
            </a:br>
            <a:endParaRPr lang="en-US" dirty="0"/>
          </a:p>
        </p:txBody>
      </p:sp>
      <p:sp>
        <p:nvSpPr>
          <p:cNvPr id="3" name="Content Placeholder 2"/>
          <p:cNvSpPr>
            <a:spLocks noGrp="1"/>
          </p:cNvSpPr>
          <p:nvPr>
            <p:ph idx="1"/>
          </p:nvPr>
        </p:nvSpPr>
        <p:spPr>
          <a:xfrm>
            <a:off x="797256" y="1375248"/>
            <a:ext cx="10515600" cy="4452345"/>
          </a:xfrm>
        </p:spPr>
        <p:txBody>
          <a:bodyPr/>
          <a:lstStyle/>
          <a:p>
            <a:pPr marL="228600" lvl="4">
              <a:spcBef>
                <a:spcPts val="1000"/>
              </a:spcBef>
            </a:pPr>
            <a:r>
              <a:rPr lang="en-US" sz="2800" dirty="0">
                <a:latin typeface="Times New Roman" panose="02020603050405020304" pitchFamily="18" charset="0"/>
                <a:cs typeface="Times New Roman" panose="02020603050405020304" pitchFamily="18" charset="0"/>
              </a:rPr>
              <a:t>Declaration of arrays only allocates memory space for array. But array elements are not initialized and hence values has to be stored.</a:t>
            </a:r>
          </a:p>
          <a:p>
            <a:pPr marL="228600" lvl="4">
              <a:spcBef>
                <a:spcPts val="1000"/>
              </a:spcBef>
            </a:pPr>
            <a:r>
              <a:rPr lang="en-US" sz="2800" dirty="0">
                <a:latin typeface="Times New Roman" panose="02020603050405020304" pitchFamily="18" charset="0"/>
                <a:cs typeface="Times New Roman" panose="02020603050405020304" pitchFamily="18" charset="0"/>
              </a:rPr>
              <a:t>Therefore to store the values in array, there are 3 methods</a:t>
            </a:r>
          </a:p>
          <a:p>
            <a:pPr marL="0" lvl="0" indent="0">
              <a:buNone/>
            </a:pPr>
            <a:r>
              <a:rPr lang="en-US" dirty="0">
                <a:latin typeface="Times New Roman" panose="02020603050405020304" pitchFamily="18" charset="0"/>
                <a:cs typeface="Times New Roman" panose="02020603050405020304" pitchFamily="18" charset="0"/>
              </a:rPr>
              <a:t>	1. Initialization</a:t>
            </a:r>
          </a:p>
          <a:p>
            <a:pPr marL="0" lvl="0" indent="0">
              <a:buNone/>
            </a:pPr>
            <a:r>
              <a:rPr lang="en-US" dirty="0">
                <a:latin typeface="Times New Roman" panose="02020603050405020304" pitchFamily="18" charset="0"/>
                <a:cs typeface="Times New Roman" panose="02020603050405020304" pitchFamily="18" charset="0"/>
              </a:rPr>
              <a:t>	2. Assigning Values</a:t>
            </a:r>
          </a:p>
          <a:p>
            <a:pPr marL="0" lvl="0" indent="0">
              <a:buNone/>
            </a:pPr>
            <a:r>
              <a:rPr lang="en-US" dirty="0">
                <a:latin typeface="Times New Roman" panose="02020603050405020304" pitchFamily="18" charset="0"/>
                <a:cs typeface="Times New Roman" panose="02020603050405020304" pitchFamily="18" charset="0"/>
              </a:rPr>
              <a:t>	3. Input values from keyboard through </a:t>
            </a:r>
            <a:r>
              <a:rPr lang="en-US" b="1" dirty="0" err="1">
                <a:latin typeface="Times New Roman" panose="02020603050405020304" pitchFamily="18" charset="0"/>
                <a:cs typeface="Times New Roman" panose="02020603050405020304" pitchFamily="18" charset="0"/>
              </a:rPr>
              <a:t>scanf</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47945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r>
              <a:rPr lang="en-US" sz="3200" b="1" u="heavy" dirty="0"/>
              <a:t>Initialization of one-dimensional array</a:t>
            </a:r>
            <a:endParaRPr lang="en-US" sz="3200" b="1" dirty="0"/>
          </a:p>
        </p:txBody>
      </p:sp>
      <p:sp>
        <p:nvSpPr>
          <p:cNvPr id="3" name="Content Placeholder 2"/>
          <p:cNvSpPr>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Assigning the required values to an array elements before processing is called initialization.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a:t>
            </a:r>
          </a:p>
          <a:p>
            <a:pPr lvl="1"/>
            <a:r>
              <a:rPr lang="en-US" dirty="0" err="1">
                <a:latin typeface="Times New Roman" panose="02020603050405020304" pitchFamily="18" charset="0"/>
                <a:cs typeface="Times New Roman" panose="02020603050405020304" pitchFamily="18" charset="0"/>
              </a:rPr>
              <a:t>datatype</a:t>
            </a:r>
            <a:r>
              <a:rPr lang="en-US" dirty="0">
                <a:latin typeface="Times New Roman" panose="02020603050405020304" pitchFamily="18" charset="0"/>
                <a:cs typeface="Times New Roman" panose="02020603050405020304" pitchFamily="18" charset="0"/>
              </a:rPr>
              <a:t> can be </a:t>
            </a:r>
            <a:r>
              <a:rPr lang="en-US" dirty="0" err="1">
                <a:latin typeface="Times New Roman" panose="02020603050405020304" pitchFamily="18" charset="0"/>
                <a:cs typeface="Times New Roman" panose="02020603050405020304" pitchFamily="18" charset="0"/>
              </a:rPr>
              <a:t>char,int,float,double</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array name is the valid identifier</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size is the number of elements in array</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v1,v2,v3…	</a:t>
            </a:r>
            <a:r>
              <a:rPr lang="en-US" dirty="0" err="1">
                <a:latin typeface="Times New Roman" panose="02020603050405020304" pitchFamily="18" charset="0"/>
                <a:cs typeface="Times New Roman" panose="02020603050405020304" pitchFamily="18" charset="0"/>
              </a:rPr>
              <a:t>vn</a:t>
            </a:r>
            <a:r>
              <a:rPr lang="en-US" dirty="0">
                <a:latin typeface="Times New Roman" panose="02020603050405020304" pitchFamily="18" charset="0"/>
                <a:cs typeface="Times New Roman" panose="02020603050405020304" pitchFamily="18" charset="0"/>
              </a:rPr>
              <a:t> are values to be assigned.</a:t>
            </a:r>
            <a:endParaRPr lang="en-US" sz="2000" dirty="0">
              <a:latin typeface="Times New Roman" panose="02020603050405020304" pitchFamily="18" charset="0"/>
              <a:cs typeface="Times New Roman" panose="02020603050405020304" pitchFamily="18" charset="0"/>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62979274"/>
              </p:ext>
            </p:extLst>
          </p:nvPr>
        </p:nvGraphicFramePr>
        <p:xfrm>
          <a:off x="1608920" y="3067081"/>
          <a:ext cx="8128000" cy="7315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000"/>
                    </a:ext>
                  </a:extLst>
                </a:gridCol>
              </a:tblGrid>
              <a:tr h="4403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tx1"/>
                          </a:solidFill>
                          <a:effectLst/>
                          <a:latin typeface="+mn-lt"/>
                          <a:ea typeface="+mn-ea"/>
                          <a:cs typeface="+mn-cs"/>
                        </a:rPr>
                        <a:t>data type array_name[expression]={v1,v2,v3…,</a:t>
                      </a:r>
                      <a:r>
                        <a:rPr lang="en-US" sz="2400" b="1" kern="1200" dirty="0" err="1">
                          <a:solidFill>
                            <a:schemeClr val="tx1"/>
                          </a:solidFill>
                          <a:effectLst/>
                          <a:latin typeface="+mn-lt"/>
                          <a:ea typeface="+mn-ea"/>
                          <a:cs typeface="+mn-cs"/>
                        </a:rPr>
                        <a:t>vn</a:t>
                      </a:r>
                      <a:r>
                        <a:rPr lang="en-US" sz="2400" b="1" kern="1200" dirty="0">
                          <a:solidFill>
                            <a:schemeClr val="tx1"/>
                          </a:solidFill>
                          <a:effectLst/>
                          <a:latin typeface="+mn-lt"/>
                          <a:ea typeface="+mn-ea"/>
                          <a:cs typeface="+mn-cs"/>
                        </a:rPr>
                        <a:t>};</a:t>
                      </a:r>
                    </a:p>
                    <a:p>
                      <a:endParaRPr lang="en-US" dirty="0"/>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30400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4149"/>
            <a:ext cx="10515600" cy="5562814"/>
          </a:xfrm>
        </p:spPr>
        <p:txBody>
          <a:bodyPr/>
          <a:lstStyle/>
          <a:p>
            <a:endParaRPr lang="en-US" dirty="0"/>
          </a:p>
          <a:p>
            <a:r>
              <a:rPr lang="en-US" dirty="0"/>
              <a:t>One dimensional arrays can be initialized in 2 ways</a:t>
            </a:r>
          </a:p>
          <a:p>
            <a:endParaRPr lang="en-US" dirty="0"/>
          </a:p>
          <a:p>
            <a:pPr marL="0" indent="0">
              <a:buNone/>
            </a:pPr>
            <a:r>
              <a:rPr lang="en-US" dirty="0"/>
              <a:t> 1)At compile time</a:t>
            </a:r>
          </a:p>
          <a:p>
            <a:pPr marL="0" indent="0">
              <a:buNone/>
            </a:pPr>
            <a:r>
              <a:rPr lang="en-US" dirty="0"/>
              <a:t>2)At run time</a:t>
            </a:r>
          </a:p>
          <a:p>
            <a:endParaRPr lang="en-US" dirty="0"/>
          </a:p>
        </p:txBody>
      </p:sp>
    </p:spTree>
    <p:extLst>
      <p:ext uri="{BB962C8B-B14F-4D97-AF65-F5344CB8AC3E}">
        <p14:creationId xmlns:p14="http://schemas.microsoft.com/office/powerpoint/2010/main" val="1042883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7672"/>
            <a:ext cx="10515600" cy="6032310"/>
          </a:xfrm>
        </p:spPr>
        <p:txBody>
          <a:bodyPr/>
          <a:lstStyle/>
          <a:p>
            <a:pPr marL="0" lvl="0" indent="0">
              <a:buNone/>
            </a:pPr>
            <a:r>
              <a:rPr lang="en-US" dirty="0"/>
              <a:t>1.</a:t>
            </a:r>
            <a:r>
              <a:rPr lang="en-US" b="1" dirty="0"/>
              <a:t> Compile Time initialization</a:t>
            </a:r>
          </a:p>
          <a:p>
            <a:pPr marL="0" indent="0">
              <a:buNone/>
            </a:pPr>
            <a:r>
              <a:rPr lang="en-US" dirty="0"/>
              <a:t>	Giving values to array at the time of array declaration itself is called compile time initialization. Values are separated by commas.</a:t>
            </a:r>
          </a:p>
          <a:p>
            <a:pPr marL="0" indent="0">
              <a:buNone/>
            </a:pPr>
            <a:r>
              <a:rPr lang="en-US" dirty="0"/>
              <a:t>Syntax: </a:t>
            </a:r>
            <a:r>
              <a:rPr lang="en-US" b="1" dirty="0" err="1"/>
              <a:t>datatype</a:t>
            </a:r>
            <a:r>
              <a:rPr lang="en-US" b="1" dirty="0"/>
              <a:t> </a:t>
            </a:r>
            <a:r>
              <a:rPr lang="en-US" b="1" dirty="0" err="1"/>
              <a:t>arrayname</a:t>
            </a:r>
            <a:r>
              <a:rPr lang="en-US" b="1" dirty="0"/>
              <a:t>[size]={v1,v2…</a:t>
            </a:r>
            <a:r>
              <a:rPr lang="en-US" b="1" dirty="0" err="1"/>
              <a:t>vn</a:t>
            </a:r>
            <a:r>
              <a:rPr lang="en-US" b="1" dirty="0"/>
              <a:t>};</a:t>
            </a:r>
          </a:p>
          <a:p>
            <a:pPr marL="0" indent="0">
              <a:buNone/>
            </a:pPr>
            <a:r>
              <a:rPr lang="en-US" dirty="0"/>
              <a:t>Example: int a[3]={10,20,30}; </a:t>
            </a:r>
          </a:p>
          <a:p>
            <a:pPr marL="0" indent="0">
              <a:buNone/>
            </a:pPr>
            <a:r>
              <a:rPr lang="en-US" dirty="0"/>
              <a:t>	      float b[2]={1.1,2.2}; </a:t>
            </a:r>
            <a:endParaRPr lang="en-US" b="1" dirty="0"/>
          </a:p>
          <a:p>
            <a:pPr marL="0" indent="0">
              <a:buNone/>
            </a:pPr>
            <a:r>
              <a:rPr lang="en-US" dirty="0"/>
              <a:t>Example:</a:t>
            </a:r>
          </a:p>
          <a:p>
            <a:pPr marL="0" indent="0">
              <a:buNone/>
            </a:pPr>
            <a:r>
              <a:rPr lang="en-US" dirty="0"/>
              <a:t>int a[5]={2,4,34,3,4}; </a:t>
            </a:r>
          </a:p>
          <a:p>
            <a:pPr marL="0" indent="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53292471"/>
              </p:ext>
            </p:extLst>
          </p:nvPr>
        </p:nvGraphicFramePr>
        <p:xfrm>
          <a:off x="3831377" y="4597919"/>
          <a:ext cx="2951560" cy="301627"/>
        </p:xfrm>
        <a:graphic>
          <a:graphicData uri="http://schemas.openxmlformats.org/drawingml/2006/table">
            <a:tbl>
              <a:tblPr firstRow="1" firstCol="1" lastRow="1" lastCol="1" bandRow="1" bandCol="1">
                <a:tableStyleId>{5C22544A-7EE6-4342-B048-85BDC9FD1C3A}</a:tableStyleId>
              </a:tblPr>
              <a:tblGrid>
                <a:gridCol w="691702">
                  <a:extLst>
                    <a:ext uri="{9D8B030D-6E8A-4147-A177-3AD203B41FA5}">
                      <a16:colId xmlns:a16="http://schemas.microsoft.com/office/drawing/2014/main" val="20000"/>
                    </a:ext>
                  </a:extLst>
                </a:gridCol>
                <a:gridCol w="602450">
                  <a:extLst>
                    <a:ext uri="{9D8B030D-6E8A-4147-A177-3AD203B41FA5}">
                      <a16:colId xmlns:a16="http://schemas.microsoft.com/office/drawing/2014/main" val="20001"/>
                    </a:ext>
                  </a:extLst>
                </a:gridCol>
                <a:gridCol w="602450">
                  <a:extLst>
                    <a:ext uri="{9D8B030D-6E8A-4147-A177-3AD203B41FA5}">
                      <a16:colId xmlns:a16="http://schemas.microsoft.com/office/drawing/2014/main" val="20002"/>
                    </a:ext>
                  </a:extLst>
                </a:gridCol>
                <a:gridCol w="527479">
                  <a:extLst>
                    <a:ext uri="{9D8B030D-6E8A-4147-A177-3AD203B41FA5}">
                      <a16:colId xmlns:a16="http://schemas.microsoft.com/office/drawing/2014/main" val="20003"/>
                    </a:ext>
                  </a:extLst>
                </a:gridCol>
                <a:gridCol w="527479">
                  <a:extLst>
                    <a:ext uri="{9D8B030D-6E8A-4147-A177-3AD203B41FA5}">
                      <a16:colId xmlns:a16="http://schemas.microsoft.com/office/drawing/2014/main" val="20004"/>
                    </a:ext>
                  </a:extLst>
                </a:gridCol>
              </a:tblGrid>
              <a:tr h="301627">
                <a:tc>
                  <a:txBody>
                    <a:bodyPr/>
                    <a:lstStyle/>
                    <a:p>
                      <a:pPr marL="71120" marR="0">
                        <a:lnSpc>
                          <a:spcPts val="1350"/>
                        </a:lnSpc>
                        <a:spcBef>
                          <a:spcPts val="0"/>
                        </a:spcBef>
                        <a:spcAft>
                          <a:spcPts val="0"/>
                        </a:spcAft>
                      </a:pPr>
                      <a:r>
                        <a:rPr lang="en-US" sz="1200" dirty="0">
                          <a:solidFill>
                            <a:schemeClr val="tx1"/>
                          </a:solidFill>
                          <a:effectLst/>
                        </a:rPr>
                        <a:t>2</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1120" marR="0">
                        <a:lnSpc>
                          <a:spcPts val="1350"/>
                        </a:lnSpc>
                        <a:spcBef>
                          <a:spcPts val="0"/>
                        </a:spcBef>
                        <a:spcAft>
                          <a:spcPts val="0"/>
                        </a:spcAft>
                      </a:pPr>
                      <a:r>
                        <a:rPr lang="en-US" sz="1200" dirty="0">
                          <a:solidFill>
                            <a:schemeClr val="tx1"/>
                          </a:solidFill>
                          <a:effectLst/>
                        </a:rPr>
                        <a:t>4</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1120" marR="0">
                        <a:lnSpc>
                          <a:spcPts val="1350"/>
                        </a:lnSpc>
                        <a:spcBef>
                          <a:spcPts val="0"/>
                        </a:spcBef>
                        <a:spcAft>
                          <a:spcPts val="0"/>
                        </a:spcAft>
                      </a:pPr>
                      <a:r>
                        <a:rPr lang="en-US" sz="1200" dirty="0">
                          <a:solidFill>
                            <a:schemeClr val="tx1"/>
                          </a:solidFill>
                          <a:effectLst/>
                        </a:rPr>
                        <a:t>34</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9215" marR="0">
                        <a:lnSpc>
                          <a:spcPts val="1350"/>
                        </a:lnSpc>
                        <a:spcBef>
                          <a:spcPts val="0"/>
                        </a:spcBef>
                        <a:spcAft>
                          <a:spcPts val="0"/>
                        </a:spcAft>
                      </a:pPr>
                      <a:r>
                        <a:rPr lang="en-US" sz="1200" dirty="0">
                          <a:solidFill>
                            <a:schemeClr val="tx1"/>
                          </a:solidFill>
                          <a:effectLst/>
                        </a:rPr>
                        <a:t>3</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8580" marR="0">
                        <a:lnSpc>
                          <a:spcPts val="1350"/>
                        </a:lnSpc>
                        <a:spcBef>
                          <a:spcPts val="0"/>
                        </a:spcBef>
                        <a:spcAft>
                          <a:spcPts val="0"/>
                        </a:spcAft>
                      </a:pPr>
                      <a:r>
                        <a:rPr lang="en-US" sz="1200" dirty="0">
                          <a:solidFill>
                            <a:schemeClr val="tx1"/>
                          </a:solidFill>
                          <a:effectLst/>
                        </a:rPr>
                        <a:t>4</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94313218"/>
              </p:ext>
            </p:extLst>
          </p:nvPr>
        </p:nvGraphicFramePr>
        <p:xfrm>
          <a:off x="3889610" y="5049672"/>
          <a:ext cx="2893327" cy="397730"/>
        </p:xfrm>
        <a:graphic>
          <a:graphicData uri="http://schemas.openxmlformats.org/drawingml/2006/table">
            <a:tbl>
              <a:tblPr firstRow="1" bandRow="1">
                <a:tableStyleId>{5C22544A-7EE6-4342-B048-85BDC9FD1C3A}</a:tableStyleId>
              </a:tblPr>
              <a:tblGrid>
                <a:gridCol w="581395">
                  <a:extLst>
                    <a:ext uri="{9D8B030D-6E8A-4147-A177-3AD203B41FA5}">
                      <a16:colId xmlns:a16="http://schemas.microsoft.com/office/drawing/2014/main" val="20000"/>
                    </a:ext>
                  </a:extLst>
                </a:gridCol>
                <a:gridCol w="581395">
                  <a:extLst>
                    <a:ext uri="{9D8B030D-6E8A-4147-A177-3AD203B41FA5}">
                      <a16:colId xmlns:a16="http://schemas.microsoft.com/office/drawing/2014/main" val="20001"/>
                    </a:ext>
                  </a:extLst>
                </a:gridCol>
                <a:gridCol w="581395">
                  <a:extLst>
                    <a:ext uri="{9D8B030D-6E8A-4147-A177-3AD203B41FA5}">
                      <a16:colId xmlns:a16="http://schemas.microsoft.com/office/drawing/2014/main" val="20002"/>
                    </a:ext>
                  </a:extLst>
                </a:gridCol>
                <a:gridCol w="581395">
                  <a:extLst>
                    <a:ext uri="{9D8B030D-6E8A-4147-A177-3AD203B41FA5}">
                      <a16:colId xmlns:a16="http://schemas.microsoft.com/office/drawing/2014/main" val="20003"/>
                    </a:ext>
                  </a:extLst>
                </a:gridCol>
                <a:gridCol w="567747">
                  <a:extLst>
                    <a:ext uri="{9D8B030D-6E8A-4147-A177-3AD203B41FA5}">
                      <a16:colId xmlns:a16="http://schemas.microsoft.com/office/drawing/2014/main" val="20004"/>
                    </a:ext>
                  </a:extLst>
                </a:gridCol>
              </a:tblGrid>
              <a:tr h="397730">
                <a:tc>
                  <a:txBody>
                    <a:bodyPr/>
                    <a:lstStyle/>
                    <a:p>
                      <a:r>
                        <a:rPr lang="en-US" sz="1200" dirty="0">
                          <a:solidFill>
                            <a:schemeClr val="tx1"/>
                          </a:solidFill>
                        </a:rPr>
                        <a:t>A[0]</a:t>
                      </a:r>
                    </a:p>
                  </a:txBody>
                  <a:tcPr>
                    <a:solidFill>
                      <a:schemeClr val="bg1"/>
                    </a:solidFill>
                  </a:tcPr>
                </a:tc>
                <a:tc>
                  <a:txBody>
                    <a:bodyPr/>
                    <a:lstStyle/>
                    <a:p>
                      <a:r>
                        <a:rPr lang="en-US" sz="1200" dirty="0">
                          <a:solidFill>
                            <a:schemeClr val="tx1"/>
                          </a:solidFill>
                        </a:rPr>
                        <a:t>A[1]</a:t>
                      </a:r>
                    </a:p>
                  </a:txBody>
                  <a:tcPr>
                    <a:solidFill>
                      <a:schemeClr val="bg1"/>
                    </a:solidFill>
                  </a:tcPr>
                </a:tc>
                <a:tc>
                  <a:txBody>
                    <a:bodyPr/>
                    <a:lstStyle/>
                    <a:p>
                      <a:r>
                        <a:rPr lang="en-US" sz="1200" dirty="0">
                          <a:solidFill>
                            <a:schemeClr val="tx1"/>
                          </a:solidFill>
                        </a:rPr>
                        <a:t>A[2]</a:t>
                      </a:r>
                    </a:p>
                  </a:txBody>
                  <a:tcPr>
                    <a:solidFill>
                      <a:schemeClr val="bg1"/>
                    </a:solidFill>
                  </a:tcPr>
                </a:tc>
                <a:tc>
                  <a:txBody>
                    <a:bodyPr/>
                    <a:lstStyle/>
                    <a:p>
                      <a:r>
                        <a:rPr lang="en-US" sz="1200" dirty="0">
                          <a:solidFill>
                            <a:schemeClr val="tx1"/>
                          </a:solidFill>
                        </a:rPr>
                        <a:t>A[3]</a:t>
                      </a:r>
                    </a:p>
                  </a:txBody>
                  <a:tcPr>
                    <a:solidFill>
                      <a:schemeClr val="bg1"/>
                    </a:solidFill>
                  </a:tcPr>
                </a:tc>
                <a:tc>
                  <a:txBody>
                    <a:bodyPr/>
                    <a:lstStyle/>
                    <a:p>
                      <a:r>
                        <a:rPr lang="en-US" sz="1200" dirty="0">
                          <a:solidFill>
                            <a:schemeClr val="tx1"/>
                          </a:solidFill>
                        </a:rPr>
                        <a:t>A[4]</a:t>
                      </a: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20723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132" y="597327"/>
            <a:ext cx="10515600" cy="4351338"/>
          </a:xfrm>
        </p:spPr>
        <p:txBody>
          <a:bodyPr/>
          <a:lstStyle/>
          <a:p>
            <a:pPr marL="457200" lvl="1" indent="0">
              <a:buNone/>
            </a:pPr>
            <a:r>
              <a:rPr lang="en-US" dirty="0"/>
              <a:t>The various ways of initializing arrays are as follows:</a:t>
            </a:r>
          </a:p>
          <a:p>
            <a:pPr marL="457200" lvl="1" indent="0">
              <a:buNone/>
            </a:pPr>
            <a:endParaRPr lang="en-US" sz="2000" dirty="0"/>
          </a:p>
          <a:p>
            <a:pPr marL="514350" lvl="0" indent="-514350">
              <a:buFont typeface="+mj-lt"/>
              <a:buAutoNum type="arabicPeriod"/>
            </a:pPr>
            <a:r>
              <a:rPr lang="en-US" b="1" dirty="0"/>
              <a:t>Initializing all elements of array(Complete array initialization)</a:t>
            </a:r>
          </a:p>
          <a:p>
            <a:pPr marL="514350" lvl="0" indent="-514350">
              <a:buFont typeface="+mj-lt"/>
              <a:buAutoNum type="arabicPeriod"/>
            </a:pPr>
            <a:r>
              <a:rPr lang="en-US" b="1" dirty="0"/>
              <a:t>Partial array initialization</a:t>
            </a:r>
            <a:endParaRPr lang="en-US" sz="2400" dirty="0"/>
          </a:p>
          <a:p>
            <a:pPr marL="514350" lvl="0" indent="-514350">
              <a:buFont typeface="+mj-lt"/>
              <a:buAutoNum type="arabicPeriod"/>
            </a:pPr>
            <a:r>
              <a:rPr lang="en-US" b="1" dirty="0"/>
              <a:t>Initialization without size</a:t>
            </a:r>
            <a:endParaRPr lang="en-US" sz="2400" dirty="0"/>
          </a:p>
          <a:p>
            <a:pPr marL="514350" lvl="0" indent="-514350">
              <a:buFont typeface="+mj-lt"/>
              <a:buAutoNum type="arabicPeriod"/>
            </a:pPr>
            <a:r>
              <a:rPr lang="en-US" b="1" dirty="0"/>
              <a:t>Initialize individual elements</a:t>
            </a:r>
            <a:endParaRPr lang="en-US" sz="2400" dirty="0"/>
          </a:p>
          <a:p>
            <a:pPr marL="0" indent="0">
              <a:buNone/>
            </a:pPr>
            <a:endParaRPr lang="en-US" dirty="0"/>
          </a:p>
        </p:txBody>
      </p:sp>
    </p:spTree>
    <p:extLst>
      <p:ext uri="{BB962C8B-B14F-4D97-AF65-F5344CB8AC3E}">
        <p14:creationId xmlns:p14="http://schemas.microsoft.com/office/powerpoint/2010/main" val="401555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3600" dirty="0">
                <a:latin typeface="Times New Roman" panose="02020603050405020304" pitchFamily="18" charset="0"/>
                <a:cs typeface="Times New Roman" panose="02020603050405020304" pitchFamily="18" charset="0"/>
              </a:rPr>
              <a:t>1.</a:t>
            </a:r>
            <a:r>
              <a:rPr lang="en-US" sz="3600" b="1" dirty="0">
                <a:latin typeface="Times New Roman" panose="02020603050405020304" pitchFamily="18" charset="0"/>
                <a:cs typeface="Times New Roman" panose="02020603050405020304" pitchFamily="18" charset="0"/>
              </a:rPr>
              <a:t> Initializing all elements of array:</a:t>
            </a:r>
            <a:br>
              <a:rPr lang="en-US" dirty="0"/>
            </a:br>
            <a:endParaRPr lang="en-US" dirty="0"/>
          </a:p>
        </p:txBody>
      </p:sp>
      <p:sp>
        <p:nvSpPr>
          <p:cNvPr id="3" name="Content Placeholder 2"/>
          <p:cNvSpPr>
            <a:spLocks noGrp="1"/>
          </p:cNvSpPr>
          <p:nvPr>
            <p:ph idx="1"/>
          </p:nvPr>
        </p:nvSpPr>
        <p:spPr>
          <a:xfrm>
            <a:off x="742666" y="1361601"/>
            <a:ext cx="10515600" cy="4351338"/>
          </a:xfrm>
        </p:spPr>
        <p:txBody>
          <a:bodyPr/>
          <a:lstStyle/>
          <a:p>
            <a:r>
              <a:rPr lang="en-US" sz="2400" dirty="0">
                <a:latin typeface="Times New Roman" panose="02020603050405020304" pitchFamily="18" charset="0"/>
                <a:cs typeface="Times New Roman" panose="02020603050405020304" pitchFamily="18" charset="0"/>
              </a:rPr>
              <a:t>Arrays can be initialized at the time of declaration when their initial values are known in advance.</a:t>
            </a:r>
          </a:p>
          <a:p>
            <a:pPr marL="228600" lvl="1">
              <a:spcBef>
                <a:spcPts val="1000"/>
              </a:spcBef>
            </a:pPr>
            <a:r>
              <a:rPr lang="en-US" dirty="0">
                <a:latin typeface="Times New Roman" panose="02020603050405020304" pitchFamily="18" charset="0"/>
                <a:cs typeface="Times New Roman" panose="02020603050405020304" pitchFamily="18" charset="0"/>
              </a:rPr>
              <a:t>In this type of array initialization, initialize all the elements of specified memory size.</a:t>
            </a:r>
          </a:p>
          <a:p>
            <a:pPr marL="228600" lvl="1">
              <a:spcBef>
                <a:spcPts val="1000"/>
              </a:spcBef>
            </a:pPr>
            <a:r>
              <a:rPr lang="en-US" dirty="0">
                <a:latin typeface="Times New Roman" panose="02020603050405020304" pitchFamily="18" charset="0"/>
                <a:cs typeface="Times New Roman" panose="02020603050405020304" pitchFamily="18" charset="0"/>
              </a:rPr>
              <a:t>Example:</a:t>
            </a:r>
          </a:p>
          <a:p>
            <a:pPr marL="0" lvl="1" indent="0">
              <a:spcBef>
                <a:spcPts val="1000"/>
              </a:spcBef>
              <a:buNone/>
            </a:pPr>
            <a:endParaRPr lang="en-US" sz="2000" dirty="0"/>
          </a:p>
          <a:p>
            <a:pPr marL="0" indent="0" algn="ctr">
              <a:buNone/>
            </a:pPr>
            <a:r>
              <a:rPr lang="en-US" b="1" dirty="0"/>
              <a:t>int a[5]={10,20,30,40,50};</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48510266"/>
              </p:ext>
            </p:extLst>
          </p:nvPr>
        </p:nvGraphicFramePr>
        <p:xfrm>
          <a:off x="4135788" y="4366243"/>
          <a:ext cx="3970982" cy="396826"/>
        </p:xfrm>
        <a:graphic>
          <a:graphicData uri="http://schemas.openxmlformats.org/drawingml/2006/table">
            <a:tbl>
              <a:tblPr firstRow="1" firstCol="1" lastRow="1" lastCol="1" bandRow="1" bandCol="1">
                <a:tableStyleId>{5C22544A-7EE6-4342-B048-85BDC9FD1C3A}</a:tableStyleId>
              </a:tblPr>
              <a:tblGrid>
                <a:gridCol w="793791">
                  <a:extLst>
                    <a:ext uri="{9D8B030D-6E8A-4147-A177-3AD203B41FA5}">
                      <a16:colId xmlns:a16="http://schemas.microsoft.com/office/drawing/2014/main" val="20000"/>
                    </a:ext>
                  </a:extLst>
                </a:gridCol>
                <a:gridCol w="795143">
                  <a:extLst>
                    <a:ext uri="{9D8B030D-6E8A-4147-A177-3AD203B41FA5}">
                      <a16:colId xmlns:a16="http://schemas.microsoft.com/office/drawing/2014/main" val="20001"/>
                    </a:ext>
                  </a:extLst>
                </a:gridCol>
                <a:gridCol w="792438">
                  <a:extLst>
                    <a:ext uri="{9D8B030D-6E8A-4147-A177-3AD203B41FA5}">
                      <a16:colId xmlns:a16="http://schemas.microsoft.com/office/drawing/2014/main" val="20002"/>
                    </a:ext>
                  </a:extLst>
                </a:gridCol>
                <a:gridCol w="793791">
                  <a:extLst>
                    <a:ext uri="{9D8B030D-6E8A-4147-A177-3AD203B41FA5}">
                      <a16:colId xmlns:a16="http://schemas.microsoft.com/office/drawing/2014/main" val="20003"/>
                    </a:ext>
                  </a:extLst>
                </a:gridCol>
                <a:gridCol w="795819">
                  <a:extLst>
                    <a:ext uri="{9D8B030D-6E8A-4147-A177-3AD203B41FA5}">
                      <a16:colId xmlns:a16="http://schemas.microsoft.com/office/drawing/2014/main" val="20004"/>
                    </a:ext>
                  </a:extLst>
                </a:gridCol>
              </a:tblGrid>
              <a:tr h="396826">
                <a:tc>
                  <a:txBody>
                    <a:bodyPr/>
                    <a:lstStyle/>
                    <a:p>
                      <a:pPr marL="283845" marR="276860" algn="ctr">
                        <a:spcBef>
                          <a:spcPts val="175"/>
                        </a:spcBef>
                        <a:spcAft>
                          <a:spcPts val="0"/>
                        </a:spcAft>
                      </a:pPr>
                      <a:r>
                        <a:rPr lang="en-US" sz="1200">
                          <a:effectLst/>
                        </a:rPr>
                        <a:t>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85750" marR="276860" algn="ctr">
                        <a:spcBef>
                          <a:spcPts val="175"/>
                        </a:spcBef>
                        <a:spcAft>
                          <a:spcPts val="0"/>
                        </a:spcAft>
                      </a:pPr>
                      <a:r>
                        <a:rPr lang="en-US" sz="1200">
                          <a:effectLst/>
                        </a:rPr>
                        <a:t>20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82575" marR="276860" algn="ctr">
                        <a:spcBef>
                          <a:spcPts val="175"/>
                        </a:spcBef>
                        <a:spcAft>
                          <a:spcPts val="0"/>
                        </a:spcAft>
                      </a:pPr>
                      <a:r>
                        <a:rPr lang="en-US" sz="1200">
                          <a:effectLst/>
                        </a:rPr>
                        <a:t>30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83845" marR="276860" algn="ctr">
                        <a:spcBef>
                          <a:spcPts val="175"/>
                        </a:spcBef>
                        <a:spcAft>
                          <a:spcPts val="0"/>
                        </a:spcAft>
                      </a:pPr>
                      <a:r>
                        <a:rPr lang="en-US" sz="1200">
                          <a:effectLst/>
                        </a:rPr>
                        <a:t>40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85115" marR="277495" algn="ctr">
                        <a:spcBef>
                          <a:spcPts val="175"/>
                        </a:spcBef>
                        <a:spcAft>
                          <a:spcPts val="0"/>
                        </a:spcAft>
                      </a:pPr>
                      <a:r>
                        <a:rPr lang="en-US" sz="1200" dirty="0">
                          <a:effectLst/>
                        </a:rPr>
                        <a:t>50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46545607"/>
              </p:ext>
            </p:extLst>
          </p:nvPr>
        </p:nvGraphicFramePr>
        <p:xfrm>
          <a:off x="4353634" y="4804011"/>
          <a:ext cx="3698544" cy="397730"/>
        </p:xfrm>
        <a:graphic>
          <a:graphicData uri="http://schemas.openxmlformats.org/drawingml/2006/table">
            <a:tbl>
              <a:tblPr firstRow="1" bandRow="1">
                <a:tableStyleId>{5C22544A-7EE6-4342-B048-85BDC9FD1C3A}</a:tableStyleId>
              </a:tblPr>
              <a:tblGrid>
                <a:gridCol w="743198">
                  <a:extLst>
                    <a:ext uri="{9D8B030D-6E8A-4147-A177-3AD203B41FA5}">
                      <a16:colId xmlns:a16="http://schemas.microsoft.com/office/drawing/2014/main" val="20000"/>
                    </a:ext>
                  </a:extLst>
                </a:gridCol>
                <a:gridCol w="743198">
                  <a:extLst>
                    <a:ext uri="{9D8B030D-6E8A-4147-A177-3AD203B41FA5}">
                      <a16:colId xmlns:a16="http://schemas.microsoft.com/office/drawing/2014/main" val="20001"/>
                    </a:ext>
                  </a:extLst>
                </a:gridCol>
                <a:gridCol w="743198">
                  <a:extLst>
                    <a:ext uri="{9D8B030D-6E8A-4147-A177-3AD203B41FA5}">
                      <a16:colId xmlns:a16="http://schemas.microsoft.com/office/drawing/2014/main" val="20002"/>
                    </a:ext>
                  </a:extLst>
                </a:gridCol>
                <a:gridCol w="743198">
                  <a:extLst>
                    <a:ext uri="{9D8B030D-6E8A-4147-A177-3AD203B41FA5}">
                      <a16:colId xmlns:a16="http://schemas.microsoft.com/office/drawing/2014/main" val="20003"/>
                    </a:ext>
                  </a:extLst>
                </a:gridCol>
                <a:gridCol w="725752">
                  <a:extLst>
                    <a:ext uri="{9D8B030D-6E8A-4147-A177-3AD203B41FA5}">
                      <a16:colId xmlns:a16="http://schemas.microsoft.com/office/drawing/2014/main" val="20004"/>
                    </a:ext>
                  </a:extLst>
                </a:gridCol>
              </a:tblGrid>
              <a:tr h="397730">
                <a:tc>
                  <a:txBody>
                    <a:bodyPr/>
                    <a:lstStyle/>
                    <a:p>
                      <a:r>
                        <a:rPr lang="en-US" sz="1200" dirty="0">
                          <a:solidFill>
                            <a:schemeClr val="tx1"/>
                          </a:solidFill>
                        </a:rPr>
                        <a:t>A[0]</a:t>
                      </a:r>
                    </a:p>
                  </a:txBody>
                  <a:tcPr>
                    <a:solidFill>
                      <a:schemeClr val="bg1"/>
                    </a:solidFill>
                  </a:tcPr>
                </a:tc>
                <a:tc>
                  <a:txBody>
                    <a:bodyPr/>
                    <a:lstStyle/>
                    <a:p>
                      <a:r>
                        <a:rPr lang="en-US" sz="1200" dirty="0">
                          <a:solidFill>
                            <a:schemeClr val="tx1"/>
                          </a:solidFill>
                        </a:rPr>
                        <a:t>A[1]</a:t>
                      </a:r>
                    </a:p>
                  </a:txBody>
                  <a:tcPr>
                    <a:solidFill>
                      <a:schemeClr val="bg1"/>
                    </a:solidFill>
                  </a:tcPr>
                </a:tc>
                <a:tc>
                  <a:txBody>
                    <a:bodyPr/>
                    <a:lstStyle/>
                    <a:p>
                      <a:r>
                        <a:rPr lang="en-US" sz="1200" dirty="0">
                          <a:solidFill>
                            <a:schemeClr val="tx1"/>
                          </a:solidFill>
                        </a:rPr>
                        <a:t>A[2]</a:t>
                      </a:r>
                    </a:p>
                  </a:txBody>
                  <a:tcPr>
                    <a:solidFill>
                      <a:schemeClr val="bg1"/>
                    </a:solidFill>
                  </a:tcPr>
                </a:tc>
                <a:tc>
                  <a:txBody>
                    <a:bodyPr/>
                    <a:lstStyle/>
                    <a:p>
                      <a:r>
                        <a:rPr lang="en-US" sz="1200" dirty="0">
                          <a:solidFill>
                            <a:schemeClr val="tx1"/>
                          </a:solidFill>
                        </a:rPr>
                        <a:t>A[3]</a:t>
                      </a:r>
                    </a:p>
                  </a:txBody>
                  <a:tcPr>
                    <a:solidFill>
                      <a:schemeClr val="bg1"/>
                    </a:solidFill>
                  </a:tcPr>
                </a:tc>
                <a:tc>
                  <a:txBody>
                    <a:bodyPr/>
                    <a:lstStyle/>
                    <a:p>
                      <a:r>
                        <a:rPr lang="en-US" sz="1200" dirty="0">
                          <a:solidFill>
                            <a:schemeClr val="tx1"/>
                          </a:solidFill>
                        </a:rPr>
                        <a:t>A[4]</a:t>
                      </a: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99994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5376"/>
            <a:ext cx="10515600" cy="781287"/>
          </a:xfrm>
        </p:spPr>
        <p:txBody>
          <a:bodyPr>
            <a:normAutofit fontScale="90000"/>
          </a:bodyPr>
          <a:lstStyle/>
          <a:p>
            <a:pPr lvl="0"/>
            <a:r>
              <a:rPr lang="en-US" b="1" dirty="0">
                <a:latin typeface="Times New Roman" panose="02020603050405020304" pitchFamily="18" charset="0"/>
                <a:cs typeface="Times New Roman" panose="02020603050405020304" pitchFamily="18" charset="0"/>
              </a:rPr>
              <a:t>2. Partial array initialization</a:t>
            </a:r>
            <a:br>
              <a:rPr lang="en-US" dirty="0"/>
            </a:br>
            <a:endParaRPr lang="en-US" dirty="0"/>
          </a:p>
        </p:txBody>
      </p:sp>
      <p:sp>
        <p:nvSpPr>
          <p:cNvPr id="3" name="Content Placeholder 2"/>
          <p:cNvSpPr>
            <a:spLocks noGrp="1"/>
          </p:cNvSpPr>
          <p:nvPr>
            <p:ph idx="1"/>
          </p:nvPr>
        </p:nvSpPr>
        <p:spPr/>
        <p:txBody>
          <a:bodyPr/>
          <a:lstStyle/>
          <a:p>
            <a:pPr marL="228600" lvl="1">
              <a:spcBef>
                <a:spcPts val="1000"/>
              </a:spcBef>
            </a:pPr>
            <a:r>
              <a:rPr lang="en-US" dirty="0">
                <a:latin typeface="Times New Roman" panose="02020603050405020304" pitchFamily="18" charset="0"/>
                <a:cs typeface="Times New Roman" panose="02020603050405020304" pitchFamily="18" charset="0"/>
              </a:rPr>
              <a:t>If the number of values to be initialized is less than the size of array then it is called as partial array initialization</a:t>
            </a:r>
            <a:r>
              <a:rPr lang="en-US"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228600" lvl="1">
              <a:spcBef>
                <a:spcPts val="1000"/>
              </a:spcBef>
            </a:pPr>
            <a:r>
              <a:rPr lang="en-US" dirty="0">
                <a:latin typeface="Times New Roman" panose="02020603050405020304" pitchFamily="18" charset="0"/>
                <a:cs typeface="Times New Roman" panose="02020603050405020304" pitchFamily="18" charset="0"/>
              </a:rPr>
              <a:t>In such a case elements are initialized in the order from 0</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element.</a:t>
            </a:r>
            <a:endParaRPr lang="en-US" sz="2000" dirty="0">
              <a:latin typeface="Times New Roman" panose="02020603050405020304" pitchFamily="18" charset="0"/>
              <a:cs typeface="Times New Roman" panose="02020603050405020304" pitchFamily="18" charset="0"/>
            </a:endParaRPr>
          </a:p>
          <a:p>
            <a:pPr marL="228600" lvl="1">
              <a:spcBef>
                <a:spcPts val="1000"/>
              </a:spcBef>
            </a:pPr>
            <a:r>
              <a:rPr lang="en-US" dirty="0">
                <a:latin typeface="Times New Roman" panose="02020603050405020304" pitchFamily="18" charset="0"/>
                <a:cs typeface="Times New Roman" panose="02020603050405020304" pitchFamily="18" charset="0"/>
              </a:rPr>
              <a:t>The remaining elements will be initialized to </a:t>
            </a:r>
            <a:r>
              <a:rPr lang="en-US" b="1" dirty="0">
                <a:latin typeface="Times New Roman" panose="02020603050405020304" pitchFamily="18" charset="0"/>
                <a:cs typeface="Times New Roman" panose="02020603050405020304" pitchFamily="18" charset="0"/>
              </a:rPr>
              <a:t>zero automatically by the compiler.</a:t>
            </a:r>
            <a:endParaRPr lang="en-US" sz="2000" dirty="0">
              <a:latin typeface="Times New Roman" panose="02020603050405020304" pitchFamily="18" charset="0"/>
              <a:cs typeface="Times New Roman" panose="02020603050405020304" pitchFamily="18" charset="0"/>
            </a:endParaRPr>
          </a:p>
          <a:p>
            <a:pPr marL="228600" lvl="1">
              <a:spcBef>
                <a:spcPts val="1000"/>
              </a:spcBef>
            </a:pPr>
            <a:r>
              <a:rPr lang="en-US"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 a[5]={10,20};</a:t>
            </a:r>
          </a:p>
          <a:p>
            <a:pPr marL="0" lvl="1" indent="0">
              <a:spcBef>
                <a:spcPts val="1000"/>
              </a:spcBef>
              <a:buNone/>
            </a:pPr>
            <a:endParaRPr lang="en-US" b="1"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374795676"/>
              </p:ext>
            </p:extLst>
          </p:nvPr>
        </p:nvGraphicFramePr>
        <p:xfrm>
          <a:off x="3207740" y="4292930"/>
          <a:ext cx="3729355" cy="262890"/>
        </p:xfrm>
        <a:graphic>
          <a:graphicData uri="http://schemas.openxmlformats.org/drawingml/2006/table">
            <a:tbl>
              <a:tblPr firstRow="1" firstCol="1" lastRow="1" lastCol="1" bandRow="1" bandCol="1">
                <a:tableStyleId>{5C22544A-7EE6-4342-B048-85BDC9FD1C3A}</a:tableStyleId>
              </a:tblPr>
              <a:tblGrid>
                <a:gridCol w="745490">
                  <a:extLst>
                    <a:ext uri="{9D8B030D-6E8A-4147-A177-3AD203B41FA5}">
                      <a16:colId xmlns:a16="http://schemas.microsoft.com/office/drawing/2014/main" val="20000"/>
                    </a:ext>
                  </a:extLst>
                </a:gridCol>
                <a:gridCol w="746760">
                  <a:extLst>
                    <a:ext uri="{9D8B030D-6E8A-4147-A177-3AD203B41FA5}">
                      <a16:colId xmlns:a16="http://schemas.microsoft.com/office/drawing/2014/main" val="20001"/>
                    </a:ext>
                  </a:extLst>
                </a:gridCol>
                <a:gridCol w="744220">
                  <a:extLst>
                    <a:ext uri="{9D8B030D-6E8A-4147-A177-3AD203B41FA5}">
                      <a16:colId xmlns:a16="http://schemas.microsoft.com/office/drawing/2014/main" val="20002"/>
                    </a:ext>
                  </a:extLst>
                </a:gridCol>
                <a:gridCol w="745490">
                  <a:extLst>
                    <a:ext uri="{9D8B030D-6E8A-4147-A177-3AD203B41FA5}">
                      <a16:colId xmlns:a16="http://schemas.microsoft.com/office/drawing/2014/main" val="20003"/>
                    </a:ext>
                  </a:extLst>
                </a:gridCol>
                <a:gridCol w="747395">
                  <a:extLst>
                    <a:ext uri="{9D8B030D-6E8A-4147-A177-3AD203B41FA5}">
                      <a16:colId xmlns:a16="http://schemas.microsoft.com/office/drawing/2014/main" val="20004"/>
                    </a:ext>
                  </a:extLst>
                </a:gridCol>
              </a:tblGrid>
              <a:tr h="262890">
                <a:tc>
                  <a:txBody>
                    <a:bodyPr/>
                    <a:lstStyle/>
                    <a:p>
                      <a:pPr marL="283845" marR="276860" algn="ctr">
                        <a:spcBef>
                          <a:spcPts val="425"/>
                        </a:spcBef>
                        <a:spcAft>
                          <a:spcPts val="0"/>
                        </a:spcAft>
                      </a:pPr>
                      <a:r>
                        <a:rPr lang="en-US" sz="1200">
                          <a:effectLst/>
                        </a:rPr>
                        <a:t>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85750" marR="276860" algn="ctr">
                        <a:spcBef>
                          <a:spcPts val="425"/>
                        </a:spcBef>
                        <a:spcAft>
                          <a:spcPts val="0"/>
                        </a:spcAft>
                      </a:pPr>
                      <a:r>
                        <a:rPr lang="en-US" sz="1200">
                          <a:effectLst/>
                        </a:rPr>
                        <a:t>20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ctr">
                        <a:spcBef>
                          <a:spcPts val="425"/>
                        </a:spcBef>
                        <a:spcAft>
                          <a:spcPts val="0"/>
                        </a:spcAft>
                      </a:pPr>
                      <a:r>
                        <a:rPr lang="en-US" sz="1200">
                          <a:effectLst/>
                        </a:rPr>
                        <a:t>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 marR="0" algn="ctr">
                        <a:spcBef>
                          <a:spcPts val="425"/>
                        </a:spcBef>
                        <a:spcAft>
                          <a:spcPts val="0"/>
                        </a:spcAft>
                      </a:pPr>
                      <a:r>
                        <a:rPr lang="en-US" sz="1200">
                          <a:effectLst/>
                        </a:rPr>
                        <a:t>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marR="0" algn="ctr">
                        <a:spcBef>
                          <a:spcPts val="425"/>
                        </a:spcBef>
                        <a:spcAft>
                          <a:spcPts val="0"/>
                        </a:spcAft>
                      </a:pPr>
                      <a:r>
                        <a:rPr lang="en-US" sz="1200" dirty="0">
                          <a:effectLst/>
                        </a:rPr>
                        <a:t>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528288964"/>
              </p:ext>
            </p:extLst>
          </p:nvPr>
        </p:nvGraphicFramePr>
        <p:xfrm>
          <a:off x="3289109" y="4612944"/>
          <a:ext cx="3575718" cy="397730"/>
        </p:xfrm>
        <a:graphic>
          <a:graphicData uri="http://schemas.openxmlformats.org/drawingml/2006/table">
            <a:tbl>
              <a:tblPr firstRow="1" bandRow="1">
                <a:tableStyleId>{5C22544A-7EE6-4342-B048-85BDC9FD1C3A}</a:tableStyleId>
              </a:tblPr>
              <a:tblGrid>
                <a:gridCol w="718517">
                  <a:extLst>
                    <a:ext uri="{9D8B030D-6E8A-4147-A177-3AD203B41FA5}">
                      <a16:colId xmlns:a16="http://schemas.microsoft.com/office/drawing/2014/main" val="20000"/>
                    </a:ext>
                  </a:extLst>
                </a:gridCol>
                <a:gridCol w="718517">
                  <a:extLst>
                    <a:ext uri="{9D8B030D-6E8A-4147-A177-3AD203B41FA5}">
                      <a16:colId xmlns:a16="http://schemas.microsoft.com/office/drawing/2014/main" val="20001"/>
                    </a:ext>
                  </a:extLst>
                </a:gridCol>
                <a:gridCol w="718517">
                  <a:extLst>
                    <a:ext uri="{9D8B030D-6E8A-4147-A177-3AD203B41FA5}">
                      <a16:colId xmlns:a16="http://schemas.microsoft.com/office/drawing/2014/main" val="20002"/>
                    </a:ext>
                  </a:extLst>
                </a:gridCol>
                <a:gridCol w="718517">
                  <a:extLst>
                    <a:ext uri="{9D8B030D-6E8A-4147-A177-3AD203B41FA5}">
                      <a16:colId xmlns:a16="http://schemas.microsoft.com/office/drawing/2014/main" val="20003"/>
                    </a:ext>
                  </a:extLst>
                </a:gridCol>
                <a:gridCol w="701650">
                  <a:extLst>
                    <a:ext uri="{9D8B030D-6E8A-4147-A177-3AD203B41FA5}">
                      <a16:colId xmlns:a16="http://schemas.microsoft.com/office/drawing/2014/main" val="20004"/>
                    </a:ext>
                  </a:extLst>
                </a:gridCol>
              </a:tblGrid>
              <a:tr h="397730">
                <a:tc>
                  <a:txBody>
                    <a:bodyPr/>
                    <a:lstStyle/>
                    <a:p>
                      <a:r>
                        <a:rPr lang="en-US" sz="1200" dirty="0">
                          <a:solidFill>
                            <a:schemeClr val="tx1"/>
                          </a:solidFill>
                        </a:rPr>
                        <a:t>A[0]</a:t>
                      </a:r>
                    </a:p>
                  </a:txBody>
                  <a:tcPr>
                    <a:solidFill>
                      <a:schemeClr val="bg1"/>
                    </a:solidFill>
                  </a:tcPr>
                </a:tc>
                <a:tc>
                  <a:txBody>
                    <a:bodyPr/>
                    <a:lstStyle/>
                    <a:p>
                      <a:r>
                        <a:rPr lang="en-US" sz="1200" dirty="0">
                          <a:solidFill>
                            <a:schemeClr val="tx1"/>
                          </a:solidFill>
                        </a:rPr>
                        <a:t>A[1]</a:t>
                      </a:r>
                    </a:p>
                  </a:txBody>
                  <a:tcPr>
                    <a:solidFill>
                      <a:schemeClr val="bg1"/>
                    </a:solidFill>
                  </a:tcPr>
                </a:tc>
                <a:tc>
                  <a:txBody>
                    <a:bodyPr/>
                    <a:lstStyle/>
                    <a:p>
                      <a:r>
                        <a:rPr lang="en-US" sz="1200" dirty="0">
                          <a:solidFill>
                            <a:schemeClr val="tx1"/>
                          </a:solidFill>
                        </a:rPr>
                        <a:t>A[2]</a:t>
                      </a:r>
                    </a:p>
                  </a:txBody>
                  <a:tcPr>
                    <a:solidFill>
                      <a:schemeClr val="bg1"/>
                    </a:solidFill>
                  </a:tcPr>
                </a:tc>
                <a:tc>
                  <a:txBody>
                    <a:bodyPr/>
                    <a:lstStyle/>
                    <a:p>
                      <a:r>
                        <a:rPr lang="en-US" sz="1200" dirty="0">
                          <a:solidFill>
                            <a:schemeClr val="tx1"/>
                          </a:solidFill>
                        </a:rPr>
                        <a:t>A[3]</a:t>
                      </a:r>
                    </a:p>
                  </a:txBody>
                  <a:tcPr>
                    <a:solidFill>
                      <a:schemeClr val="bg1"/>
                    </a:solidFill>
                  </a:tcPr>
                </a:tc>
                <a:tc>
                  <a:txBody>
                    <a:bodyPr/>
                    <a:lstStyle/>
                    <a:p>
                      <a:r>
                        <a:rPr lang="en-US" sz="1200" dirty="0">
                          <a:solidFill>
                            <a:schemeClr val="tx1"/>
                          </a:solidFill>
                        </a:rPr>
                        <a:t>A[4]</a:t>
                      </a: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854801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3. Initialization without size</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228600" lvl="2">
              <a:spcBef>
                <a:spcPts val="1000"/>
              </a:spcBef>
            </a:pPr>
            <a:r>
              <a:rPr lang="en-US" sz="3200" dirty="0">
                <a:latin typeface="Times New Roman" panose="02020603050405020304" pitchFamily="18" charset="0"/>
                <a:cs typeface="Times New Roman" panose="02020603050405020304" pitchFamily="18" charset="0"/>
              </a:rPr>
              <a:t>In the the array is initialized where it is declared, mentioning the size of the array is optional</a:t>
            </a:r>
          </a:p>
          <a:p>
            <a:pPr marL="228600" lvl="2">
              <a:spcBef>
                <a:spcPts val="1000"/>
              </a:spcBef>
            </a:pPr>
            <a:r>
              <a:rPr lang="en-US" sz="3200" dirty="0">
                <a:latin typeface="Times New Roman" panose="02020603050405020304" pitchFamily="18" charset="0"/>
                <a:cs typeface="Times New Roman" panose="02020603050405020304" pitchFamily="18" charset="0"/>
              </a:rPr>
              <a:t>The compiler will set the size based on the number of initial values.</a:t>
            </a:r>
          </a:p>
          <a:p>
            <a:pPr marL="0" lvl="2" indent="0">
              <a:spcBef>
                <a:spcPts val="1000"/>
              </a:spcBef>
              <a:buNone/>
            </a:pPr>
            <a:r>
              <a:rPr lang="en-US" sz="3200" dirty="0">
                <a:latin typeface="Times New Roman" panose="02020603050405020304" pitchFamily="18" charset="0"/>
                <a:cs typeface="Times New Roman" panose="02020603050405020304" pitchFamily="18" charset="0"/>
              </a:rPr>
              <a:t>Example:     </a:t>
            </a:r>
            <a:r>
              <a:rPr lang="en-US" sz="3200" b="1" dirty="0">
                <a:latin typeface="Times New Roman" panose="02020603050405020304" pitchFamily="18" charset="0"/>
                <a:cs typeface="Times New Roman" panose="02020603050405020304" pitchFamily="18" charset="0"/>
              </a:rPr>
              <a:t>int a[ ]={10,20,30,40,50};</a:t>
            </a:r>
          </a:p>
          <a:p>
            <a:pPr marL="228600" lvl="2">
              <a:spcBef>
                <a:spcPts val="1000"/>
              </a:spcBef>
            </a:pPr>
            <a:r>
              <a:rPr lang="en-US" sz="3200" dirty="0">
                <a:latin typeface="Times New Roman" panose="02020603050405020304" pitchFamily="18" charset="0"/>
                <a:cs typeface="Times New Roman" panose="02020603050405020304" pitchFamily="18" charset="0"/>
              </a:rPr>
              <a:t>In the above example the size of an array is set to 5</a:t>
            </a:r>
          </a:p>
          <a:p>
            <a:endParaRPr lang="en-US" dirty="0"/>
          </a:p>
        </p:txBody>
      </p:sp>
    </p:spTree>
    <p:extLst>
      <p:ext uri="{BB962C8B-B14F-4D97-AF65-F5344CB8AC3E}">
        <p14:creationId xmlns:p14="http://schemas.microsoft.com/office/powerpoint/2010/main" val="4080301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4. Initialize individual elements: </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We can initialize individual elements of the array</a:t>
            </a:r>
          </a:p>
          <a:p>
            <a:pPr marL="0" indent="0">
              <a:buNone/>
            </a:pPr>
            <a:r>
              <a:rPr lang="en-US" sz="3200" dirty="0">
                <a:latin typeface="Times New Roman" panose="02020603050405020304" pitchFamily="18" charset="0"/>
                <a:cs typeface="Times New Roman" panose="02020603050405020304" pitchFamily="18" charset="0"/>
              </a:rPr>
              <a:t>Example: int a[3];</a:t>
            </a:r>
          </a:p>
          <a:p>
            <a:pPr marL="0" indent="0">
              <a:buNone/>
            </a:pPr>
            <a:r>
              <a:rPr lang="en-US" sz="3200" dirty="0">
                <a:latin typeface="Times New Roman" panose="02020603050405020304" pitchFamily="18" charset="0"/>
                <a:cs typeface="Times New Roman" panose="02020603050405020304" pitchFamily="18" charset="0"/>
              </a:rPr>
              <a:t>a[0] =10;</a:t>
            </a:r>
          </a:p>
          <a:p>
            <a:pPr marL="0" indent="0">
              <a:buNone/>
            </a:pPr>
            <a:r>
              <a:rPr lang="en-US" sz="3200" dirty="0">
                <a:latin typeface="Times New Roman" panose="02020603050405020304" pitchFamily="18" charset="0"/>
                <a:cs typeface="Times New Roman" panose="02020603050405020304" pitchFamily="18" charset="0"/>
              </a:rPr>
              <a:t>a[1] =20;</a:t>
            </a:r>
          </a:p>
          <a:p>
            <a:pPr marL="0" indent="0">
              <a:buNone/>
            </a:pPr>
            <a:r>
              <a:rPr lang="en-US" sz="3200" dirty="0">
                <a:latin typeface="Times New Roman" panose="02020603050405020304" pitchFamily="18" charset="0"/>
                <a:cs typeface="Times New Roman" panose="02020603050405020304" pitchFamily="18" charset="0"/>
              </a:rPr>
              <a:t>a[2] =30</a:t>
            </a:r>
          </a:p>
        </p:txBody>
      </p:sp>
    </p:spTree>
    <p:extLst>
      <p:ext uri="{BB962C8B-B14F-4D97-AF65-F5344CB8AC3E}">
        <p14:creationId xmlns:p14="http://schemas.microsoft.com/office/powerpoint/2010/main" val="1886022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230"/>
          </a:xfrm>
        </p:spPr>
        <p:txBody>
          <a:bodyPr>
            <a:normAutofit fontScale="90000"/>
          </a:bodyPr>
          <a:lstStyle/>
          <a:p>
            <a:r>
              <a:rPr lang="en-US" b="1" dirty="0">
                <a:latin typeface="Times New Roman" panose="02020603050405020304" pitchFamily="18" charset="0"/>
                <a:cs typeface="Times New Roman" panose="02020603050405020304" pitchFamily="18" charset="0"/>
              </a:rPr>
              <a:t>2. Run time Initialization:</a:t>
            </a:r>
            <a:br>
              <a:rPr lang="en-US" b="1" dirty="0"/>
            </a:br>
            <a:endParaRPr lang="en-US" dirty="0"/>
          </a:p>
        </p:txBody>
      </p:sp>
      <p:sp>
        <p:nvSpPr>
          <p:cNvPr id="3" name="Content Placeholder 2"/>
          <p:cNvSpPr>
            <a:spLocks noGrp="1"/>
          </p:cNvSpPr>
          <p:nvPr>
            <p:ph idx="1"/>
          </p:nvPr>
        </p:nvSpPr>
        <p:spPr>
          <a:xfrm>
            <a:off x="838200" y="1296537"/>
            <a:ext cx="10515600" cy="4880426"/>
          </a:xfrm>
        </p:spPr>
        <p:txBody>
          <a:bodyPr/>
          <a:lstStyle/>
          <a:p>
            <a:r>
              <a:rPr lang="en-US" dirty="0"/>
              <a:t>Array can be initialized at runtime using </a:t>
            </a:r>
            <a:r>
              <a:rPr lang="en-US" b="1" dirty="0"/>
              <a:t>for loop</a:t>
            </a:r>
          </a:p>
          <a:p>
            <a:pPr marL="0" indent="0">
              <a:buNone/>
            </a:pPr>
            <a:endParaRPr lang="en-US" b="1" dirty="0"/>
          </a:p>
          <a:p>
            <a:pPr marL="0" indent="0">
              <a:buNone/>
            </a:pPr>
            <a:r>
              <a:rPr lang="en-US" dirty="0" err="1"/>
              <a:t>Eg</a:t>
            </a:r>
            <a:r>
              <a:rPr lang="en-US" dirty="0"/>
              <a:t>: int a[3]; </a:t>
            </a:r>
          </a:p>
          <a:p>
            <a:pPr marL="0" indent="0">
              <a:buNone/>
            </a:pPr>
            <a:r>
              <a:rPr lang="en-US" dirty="0"/>
              <a:t>	for(</a:t>
            </a:r>
            <a:r>
              <a:rPr lang="en-US" dirty="0" err="1"/>
              <a:t>i</a:t>
            </a:r>
            <a:r>
              <a:rPr lang="en-US" dirty="0"/>
              <a:t>=0; </a:t>
            </a:r>
            <a:r>
              <a:rPr lang="en-US" dirty="0" err="1"/>
              <a:t>i</a:t>
            </a:r>
            <a:r>
              <a:rPr lang="en-US" dirty="0"/>
              <a:t>&lt;n; </a:t>
            </a:r>
            <a:r>
              <a:rPr lang="en-US" dirty="0" err="1"/>
              <a:t>i</a:t>
            </a:r>
            <a:r>
              <a:rPr lang="en-US" dirty="0"/>
              <a:t>++)</a:t>
            </a:r>
          </a:p>
          <a:p>
            <a:pPr marL="0" indent="0">
              <a:buNone/>
            </a:pPr>
            <a:r>
              <a:rPr lang="en-US" dirty="0"/>
              <a:t>	{</a:t>
            </a:r>
          </a:p>
          <a:p>
            <a:pPr marL="0" indent="0">
              <a:buNone/>
            </a:pPr>
            <a:r>
              <a:rPr lang="en-US" dirty="0"/>
              <a:t>	</a:t>
            </a:r>
            <a:r>
              <a:rPr lang="en-US" dirty="0" err="1"/>
              <a:t>scanf</a:t>
            </a:r>
            <a:r>
              <a:rPr lang="en-US" dirty="0"/>
              <a:t>(“%d”, &amp;a[</a:t>
            </a:r>
            <a:r>
              <a:rPr lang="en-US" dirty="0" err="1"/>
              <a:t>i</a:t>
            </a:r>
            <a:r>
              <a:rPr lang="en-US" dirty="0"/>
              <a:t>]);</a:t>
            </a:r>
          </a:p>
          <a:p>
            <a:pPr marL="0" indent="0">
              <a:buNone/>
            </a:pPr>
            <a:r>
              <a:rPr lang="en-US" dirty="0"/>
              <a:t>	}</a:t>
            </a:r>
          </a:p>
          <a:p>
            <a:endParaRPr lang="en-US" dirty="0"/>
          </a:p>
        </p:txBody>
      </p:sp>
    </p:spTree>
    <p:extLst>
      <p:ext uri="{BB962C8B-B14F-4D97-AF65-F5344CB8AC3E}">
        <p14:creationId xmlns:p14="http://schemas.microsoft.com/office/powerpoint/2010/main" val="3134883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heavy" dirty="0">
                <a:latin typeface="Times New Roman" panose="02020603050405020304" pitchFamily="18" charset="0"/>
                <a:cs typeface="Times New Roman" panose="02020603050405020304" pitchFamily="18" charset="0"/>
              </a:rPr>
              <a:t>Reading and writing single dimensional arrays.</a:t>
            </a:r>
            <a:br>
              <a:rPr lang="en-US" dirty="0"/>
            </a:br>
            <a:endParaRPr lang="en-US" dirty="0"/>
          </a:p>
        </p:txBody>
      </p:sp>
      <p:sp>
        <p:nvSpPr>
          <p:cNvPr id="3" name="Content Placeholder 2"/>
          <p:cNvSpPr>
            <a:spLocks noGrp="1"/>
          </p:cNvSpPr>
          <p:nvPr>
            <p:ph idx="1"/>
          </p:nvPr>
        </p:nvSpPr>
        <p:spPr>
          <a:xfrm>
            <a:off x="838200" y="1498078"/>
            <a:ext cx="10515600" cy="4351338"/>
          </a:xfrm>
        </p:spPr>
        <p:txBody>
          <a:bodyPr>
            <a:normAutofit fontScale="85000" lnSpcReduction="20000"/>
          </a:bodyPr>
          <a:lstStyle/>
          <a:p>
            <a:pPr marL="0" indent="0">
              <a:buNone/>
            </a:pPr>
            <a:r>
              <a:rPr lang="en-US" dirty="0"/>
              <a:t>To read array elements from keyboard we can use </a:t>
            </a:r>
            <a:r>
              <a:rPr lang="en-US" b="1" dirty="0" err="1"/>
              <a:t>scanf</a:t>
            </a:r>
            <a:r>
              <a:rPr lang="en-US" b="1" dirty="0"/>
              <a:t>() </a:t>
            </a:r>
            <a:r>
              <a:rPr lang="en-US" dirty="0"/>
              <a:t>function as follows:</a:t>
            </a:r>
          </a:p>
          <a:p>
            <a:pPr marL="0" indent="0">
              <a:buNone/>
            </a:pPr>
            <a:r>
              <a:rPr lang="en-US" dirty="0"/>
              <a:t> </a:t>
            </a:r>
          </a:p>
          <a:p>
            <a:pPr marL="0" indent="0">
              <a:buNone/>
            </a:pPr>
            <a:r>
              <a:rPr lang="en-US" dirty="0"/>
              <a:t>To read </a:t>
            </a:r>
            <a:r>
              <a:rPr lang="en-US" b="1" dirty="0"/>
              <a:t>0th </a:t>
            </a:r>
            <a:r>
              <a:rPr lang="en-US" dirty="0"/>
              <a:t>element: </a:t>
            </a:r>
            <a:r>
              <a:rPr lang="en-US" dirty="0" err="1"/>
              <a:t>scanf</a:t>
            </a:r>
            <a:r>
              <a:rPr lang="en-US" dirty="0"/>
              <a:t>(“%</a:t>
            </a:r>
            <a:r>
              <a:rPr lang="en-US" dirty="0" err="1"/>
              <a:t>d”,&amp;a</a:t>
            </a:r>
            <a:r>
              <a:rPr lang="en-US" dirty="0"/>
              <a:t>[0]); </a:t>
            </a:r>
          </a:p>
          <a:p>
            <a:pPr marL="0" indent="0">
              <a:buNone/>
            </a:pPr>
            <a:r>
              <a:rPr lang="en-US" dirty="0"/>
              <a:t>To read </a:t>
            </a:r>
            <a:r>
              <a:rPr lang="en-US" b="1" dirty="0"/>
              <a:t>1st </a:t>
            </a:r>
            <a:r>
              <a:rPr lang="en-US" dirty="0"/>
              <a:t>element: </a:t>
            </a:r>
            <a:r>
              <a:rPr lang="en-US" dirty="0" err="1"/>
              <a:t>scanf</a:t>
            </a:r>
            <a:r>
              <a:rPr lang="en-US" dirty="0"/>
              <a:t>(“%</a:t>
            </a:r>
            <a:r>
              <a:rPr lang="en-US" dirty="0" err="1"/>
              <a:t>d”,&amp;a</a:t>
            </a:r>
            <a:r>
              <a:rPr lang="en-US" dirty="0"/>
              <a:t>[1]); </a:t>
            </a:r>
          </a:p>
          <a:p>
            <a:pPr marL="0" indent="0">
              <a:buNone/>
            </a:pPr>
            <a:r>
              <a:rPr lang="en-US" dirty="0"/>
              <a:t>To read </a:t>
            </a:r>
            <a:r>
              <a:rPr lang="en-US" b="1" dirty="0"/>
              <a:t>2nd </a:t>
            </a:r>
            <a:r>
              <a:rPr lang="en-US" dirty="0"/>
              <a:t>element: </a:t>
            </a:r>
            <a:r>
              <a:rPr lang="en-US" dirty="0" err="1"/>
              <a:t>scanf</a:t>
            </a:r>
            <a:r>
              <a:rPr lang="en-US" dirty="0"/>
              <a:t>(“%</a:t>
            </a:r>
            <a:r>
              <a:rPr lang="en-US" dirty="0" err="1"/>
              <a:t>d”,&amp;a</a:t>
            </a:r>
            <a:r>
              <a:rPr lang="en-US" dirty="0"/>
              <a:t>[2]);</a:t>
            </a:r>
          </a:p>
          <a:p>
            <a:pPr marL="0" indent="0">
              <a:buNone/>
            </a:pPr>
            <a:r>
              <a:rPr lang="en-US" dirty="0"/>
              <a:t>……</a:t>
            </a:r>
          </a:p>
          <a:p>
            <a:pPr marL="0" indent="0">
              <a:buNone/>
            </a:pPr>
            <a:r>
              <a:rPr lang="en-US" dirty="0"/>
              <a:t>…….</a:t>
            </a:r>
          </a:p>
          <a:p>
            <a:pPr marL="0" indent="0">
              <a:buNone/>
            </a:pPr>
            <a:r>
              <a:rPr lang="en-US" dirty="0"/>
              <a:t>To read </a:t>
            </a:r>
            <a:r>
              <a:rPr lang="en-US" b="1" dirty="0"/>
              <a:t>nth </a:t>
            </a:r>
            <a:r>
              <a:rPr lang="en-US" dirty="0"/>
              <a:t>element : </a:t>
            </a:r>
            <a:r>
              <a:rPr lang="en-US" dirty="0" err="1"/>
              <a:t>scanf</a:t>
            </a:r>
            <a:r>
              <a:rPr lang="en-US" dirty="0"/>
              <a:t>(“%</a:t>
            </a:r>
            <a:r>
              <a:rPr lang="en-US" dirty="0" err="1"/>
              <a:t>d”,&amp;a</a:t>
            </a:r>
            <a:r>
              <a:rPr lang="en-US" dirty="0"/>
              <a:t>[n-1]);</a:t>
            </a:r>
          </a:p>
          <a:p>
            <a:pPr marL="0" indent="0">
              <a:buNone/>
            </a:pPr>
            <a:r>
              <a:rPr lang="en-US" b="1" dirty="0"/>
              <a:t>In general</a:t>
            </a:r>
          </a:p>
          <a:p>
            <a:pPr marL="0" indent="0">
              <a:buNone/>
            </a:pPr>
            <a:r>
              <a:rPr lang="en-US" dirty="0"/>
              <a:t>To read </a:t>
            </a:r>
            <a:r>
              <a:rPr lang="en-US" b="1" dirty="0" err="1"/>
              <a:t>ith</a:t>
            </a:r>
            <a:r>
              <a:rPr lang="en-US" b="1" dirty="0"/>
              <a:t> </a:t>
            </a:r>
            <a:r>
              <a:rPr lang="en-US" dirty="0"/>
              <a:t>element:</a:t>
            </a:r>
          </a:p>
          <a:p>
            <a:pPr marL="0" indent="0">
              <a:buNone/>
            </a:pPr>
            <a:r>
              <a:rPr lang="en-US" b="1" dirty="0" err="1"/>
              <a:t>scanf</a:t>
            </a:r>
            <a:r>
              <a:rPr lang="en-US" b="1" dirty="0"/>
              <a:t>(“%</a:t>
            </a:r>
            <a:r>
              <a:rPr lang="en-US" b="1" dirty="0" err="1"/>
              <a:t>d”,&amp;a</a:t>
            </a:r>
            <a:r>
              <a:rPr lang="en-US" b="1" dirty="0"/>
              <a:t>[</a:t>
            </a:r>
            <a:r>
              <a:rPr lang="en-US" b="1" dirty="0" err="1"/>
              <a:t>i</a:t>
            </a:r>
            <a:r>
              <a:rPr lang="en-US" b="1" dirty="0"/>
              <a:t>]); </a:t>
            </a:r>
            <a:r>
              <a:rPr lang="en-US" dirty="0"/>
              <a:t>where </a:t>
            </a:r>
            <a:r>
              <a:rPr lang="en-US" dirty="0" err="1"/>
              <a:t>i</a:t>
            </a:r>
            <a:r>
              <a:rPr lang="en-US" dirty="0"/>
              <a:t>=0; </a:t>
            </a:r>
            <a:r>
              <a:rPr lang="en-US" dirty="0" err="1"/>
              <a:t>i</a:t>
            </a:r>
            <a:r>
              <a:rPr lang="en-US" dirty="0"/>
              <a:t>&lt;n; </a:t>
            </a:r>
            <a:r>
              <a:rPr lang="en-US" dirty="0" err="1"/>
              <a:t>i</a:t>
            </a:r>
            <a:r>
              <a:rPr lang="en-US" dirty="0"/>
              <a:t>++</a:t>
            </a:r>
          </a:p>
          <a:p>
            <a:endParaRPr lang="en-US" dirty="0"/>
          </a:p>
        </p:txBody>
      </p:sp>
    </p:spTree>
    <p:extLst>
      <p:ext uri="{BB962C8B-B14F-4D97-AF65-F5344CB8AC3E}">
        <p14:creationId xmlns:p14="http://schemas.microsoft.com/office/powerpoint/2010/main" val="1942738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2540" y="692860"/>
            <a:ext cx="10515600" cy="5612405"/>
          </a:xfrm>
        </p:spPr>
        <p:txBody>
          <a:bodyPr>
            <a:normAutofit/>
          </a:bodyPr>
          <a:lstStyle/>
          <a:p>
            <a:r>
              <a:rPr lang="en-US" dirty="0"/>
              <a:t>To print array elements we can use </a:t>
            </a:r>
            <a:r>
              <a:rPr lang="en-US" b="1" dirty="0" err="1"/>
              <a:t>printf</a:t>
            </a:r>
            <a:r>
              <a:rPr lang="en-US" b="1" dirty="0"/>
              <a:t>() </a:t>
            </a:r>
            <a:r>
              <a:rPr lang="en-US" dirty="0"/>
              <a:t>function as follows</a:t>
            </a:r>
          </a:p>
          <a:p>
            <a:pPr marL="0" indent="0">
              <a:buNone/>
            </a:pPr>
            <a:r>
              <a:rPr lang="en-US" dirty="0"/>
              <a:t>To print </a:t>
            </a:r>
            <a:r>
              <a:rPr lang="en-US" b="1" dirty="0"/>
              <a:t>0th </a:t>
            </a:r>
            <a:r>
              <a:rPr lang="en-US" dirty="0"/>
              <a:t>element: </a:t>
            </a:r>
            <a:r>
              <a:rPr lang="en-US" dirty="0" err="1"/>
              <a:t>printf</a:t>
            </a:r>
            <a:r>
              <a:rPr lang="en-US" dirty="0"/>
              <a:t>(“%</a:t>
            </a:r>
            <a:r>
              <a:rPr lang="en-US" dirty="0" err="1"/>
              <a:t>d”,a</a:t>
            </a:r>
            <a:r>
              <a:rPr lang="en-US" dirty="0"/>
              <a:t>[0]); </a:t>
            </a:r>
          </a:p>
          <a:p>
            <a:pPr marL="0" indent="0">
              <a:buNone/>
            </a:pPr>
            <a:r>
              <a:rPr lang="en-US" dirty="0"/>
              <a:t>To print </a:t>
            </a:r>
            <a:r>
              <a:rPr lang="en-US" b="1" dirty="0"/>
              <a:t>1st </a:t>
            </a:r>
            <a:r>
              <a:rPr lang="en-US" dirty="0"/>
              <a:t>element: </a:t>
            </a:r>
            <a:r>
              <a:rPr lang="en-US" dirty="0" err="1"/>
              <a:t>printf</a:t>
            </a:r>
            <a:r>
              <a:rPr lang="en-US" dirty="0"/>
              <a:t>(“%</a:t>
            </a:r>
            <a:r>
              <a:rPr lang="en-US" dirty="0" err="1"/>
              <a:t>d”,a</a:t>
            </a:r>
            <a:r>
              <a:rPr lang="en-US" dirty="0"/>
              <a:t>[1]); </a:t>
            </a:r>
          </a:p>
          <a:p>
            <a:pPr marL="0" indent="0">
              <a:buNone/>
            </a:pPr>
            <a:r>
              <a:rPr lang="en-US" dirty="0"/>
              <a:t>To print </a:t>
            </a:r>
            <a:r>
              <a:rPr lang="en-US" b="1" dirty="0"/>
              <a:t>2nd </a:t>
            </a:r>
            <a:r>
              <a:rPr lang="en-US" dirty="0"/>
              <a:t>element :</a:t>
            </a:r>
            <a:r>
              <a:rPr lang="en-US" dirty="0" err="1"/>
              <a:t>printf</a:t>
            </a:r>
            <a:r>
              <a:rPr lang="en-US" dirty="0"/>
              <a:t>(“%</a:t>
            </a:r>
            <a:r>
              <a:rPr lang="en-US" dirty="0" err="1"/>
              <a:t>d”,a</a:t>
            </a:r>
            <a:r>
              <a:rPr lang="en-US" dirty="0"/>
              <a:t>[2]);</a:t>
            </a:r>
          </a:p>
          <a:p>
            <a:pPr marL="0" indent="0">
              <a:buNone/>
            </a:pPr>
            <a:r>
              <a:rPr lang="en-US" dirty="0"/>
              <a:t>……..</a:t>
            </a:r>
          </a:p>
          <a:p>
            <a:pPr marL="0" indent="0">
              <a:buNone/>
            </a:pPr>
            <a:r>
              <a:rPr lang="en-US" dirty="0"/>
              <a:t>……..</a:t>
            </a:r>
          </a:p>
          <a:p>
            <a:pPr marL="0" indent="0">
              <a:buNone/>
            </a:pPr>
            <a:r>
              <a:rPr lang="en-US" dirty="0"/>
              <a:t> </a:t>
            </a:r>
          </a:p>
          <a:p>
            <a:pPr marL="0" indent="0">
              <a:buNone/>
            </a:pPr>
            <a:r>
              <a:rPr lang="en-US" dirty="0"/>
              <a:t>To </a:t>
            </a:r>
            <a:r>
              <a:rPr lang="en-US" b="1" dirty="0"/>
              <a:t>nth </a:t>
            </a:r>
            <a:r>
              <a:rPr lang="en-US" dirty="0"/>
              <a:t>element : </a:t>
            </a:r>
            <a:r>
              <a:rPr lang="en-US" dirty="0" err="1"/>
              <a:t>printf</a:t>
            </a:r>
            <a:r>
              <a:rPr lang="en-US" dirty="0"/>
              <a:t>(“%</a:t>
            </a:r>
            <a:r>
              <a:rPr lang="en-US" dirty="0" err="1"/>
              <a:t>d”,&amp;a</a:t>
            </a:r>
            <a:r>
              <a:rPr lang="en-US" dirty="0"/>
              <a:t>[n-1]);</a:t>
            </a:r>
          </a:p>
          <a:p>
            <a:pPr marL="0" indent="0">
              <a:buNone/>
            </a:pPr>
            <a:r>
              <a:rPr lang="en-US" b="1" dirty="0"/>
              <a:t>In general</a:t>
            </a:r>
          </a:p>
          <a:p>
            <a:pPr marL="0" indent="0">
              <a:buNone/>
            </a:pPr>
            <a:r>
              <a:rPr lang="en-US" dirty="0"/>
              <a:t>To read </a:t>
            </a:r>
            <a:r>
              <a:rPr lang="en-US" b="1" dirty="0" err="1"/>
              <a:t>ith</a:t>
            </a:r>
            <a:r>
              <a:rPr lang="en-US" b="1" dirty="0"/>
              <a:t> </a:t>
            </a:r>
            <a:r>
              <a:rPr lang="en-US" dirty="0"/>
              <a:t>element:</a:t>
            </a:r>
          </a:p>
          <a:p>
            <a:pPr marL="0" indent="0">
              <a:buNone/>
            </a:pPr>
            <a:r>
              <a:rPr lang="en-US" dirty="0" err="1"/>
              <a:t>printf</a:t>
            </a:r>
            <a:r>
              <a:rPr lang="en-US" dirty="0"/>
              <a:t>(“%</a:t>
            </a:r>
            <a:r>
              <a:rPr lang="en-US" dirty="0" err="1"/>
              <a:t>d”,a</a:t>
            </a:r>
            <a:r>
              <a:rPr lang="en-US" dirty="0"/>
              <a:t>[</a:t>
            </a:r>
            <a:r>
              <a:rPr lang="en-US" dirty="0" err="1"/>
              <a:t>i</a:t>
            </a:r>
            <a:r>
              <a:rPr lang="en-US" dirty="0"/>
              <a:t>]); where </a:t>
            </a:r>
            <a:r>
              <a:rPr lang="en-US" dirty="0" err="1"/>
              <a:t>i</a:t>
            </a:r>
            <a:r>
              <a:rPr lang="en-US" dirty="0"/>
              <a:t>=0; </a:t>
            </a:r>
            <a:r>
              <a:rPr lang="en-US" dirty="0" err="1"/>
              <a:t>i</a:t>
            </a:r>
            <a:r>
              <a:rPr lang="en-US" dirty="0"/>
              <a:t>&lt;n; </a:t>
            </a:r>
            <a:r>
              <a:rPr lang="en-US" dirty="0" err="1"/>
              <a:t>i</a:t>
            </a:r>
            <a:r>
              <a:rPr lang="en-US" dirty="0"/>
              <a:t>++</a:t>
            </a:r>
          </a:p>
        </p:txBody>
      </p:sp>
    </p:spTree>
    <p:extLst>
      <p:ext uri="{BB962C8B-B14F-4D97-AF65-F5344CB8AC3E}">
        <p14:creationId xmlns:p14="http://schemas.microsoft.com/office/powerpoint/2010/main" val="286747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u="heavy" dirty="0">
                <a:latin typeface="Times New Roman" panose="02020603050405020304" pitchFamily="18" charset="0"/>
                <a:cs typeface="Times New Roman" panose="02020603050405020304" pitchFamily="18" charset="0"/>
              </a:rPr>
              <a:t>Write a program to read and print array elements</a:t>
            </a:r>
            <a:r>
              <a:rPr lang="en-US" sz="3600" dirty="0">
                <a:latin typeface="Times New Roman" panose="02020603050405020304" pitchFamily="18" charset="0"/>
                <a:cs typeface="Times New Roman" panose="02020603050405020304" pitchFamily="18" charset="0"/>
              </a:rPr>
              <a:t>. </a:t>
            </a:r>
          </a:p>
        </p:txBody>
      </p:sp>
      <p:sp>
        <p:nvSpPr>
          <p:cNvPr id="4" name="TextBox 3"/>
          <p:cNvSpPr txBox="1"/>
          <p:nvPr/>
        </p:nvSpPr>
        <p:spPr>
          <a:xfrm>
            <a:off x="736979" y="1951630"/>
            <a:ext cx="5622878" cy="4801314"/>
          </a:xfrm>
          <a:prstGeom prst="rect">
            <a:avLst/>
          </a:prstGeom>
          <a:noFill/>
        </p:spPr>
        <p:txBody>
          <a:bodyPr wrap="square" rtlCol="0">
            <a:spAutoFit/>
          </a:bodyPr>
          <a:lstStyle/>
          <a:p>
            <a:r>
              <a:rPr lang="en-US" dirty="0"/>
              <a:t>#include &lt;</a:t>
            </a:r>
            <a:r>
              <a:rPr lang="en-US" dirty="0" err="1"/>
              <a:t>stdio.h</a:t>
            </a:r>
            <a:r>
              <a:rPr lang="en-US" dirty="0"/>
              <a:t>&gt;</a:t>
            </a:r>
          </a:p>
          <a:p>
            <a:r>
              <a:rPr lang="en-US" dirty="0"/>
              <a:t>void main()</a:t>
            </a:r>
          </a:p>
          <a:p>
            <a:r>
              <a:rPr lang="en-US" dirty="0"/>
              <a:t>{</a:t>
            </a:r>
          </a:p>
          <a:p>
            <a:r>
              <a:rPr lang="en-US" dirty="0"/>
              <a:t>int </a:t>
            </a:r>
            <a:r>
              <a:rPr lang="en-US" dirty="0" err="1"/>
              <a:t>i,n,a</a:t>
            </a:r>
            <a:r>
              <a:rPr lang="en-US" dirty="0"/>
              <a:t>[10];</a:t>
            </a:r>
          </a:p>
          <a:p>
            <a:r>
              <a:rPr lang="en-US" dirty="0" err="1"/>
              <a:t>printf</a:t>
            </a:r>
            <a:r>
              <a:rPr lang="en-US" dirty="0"/>
              <a:t>("Enter the size of the array\n"); </a:t>
            </a:r>
          </a:p>
          <a:p>
            <a:r>
              <a:rPr lang="en-US" dirty="0" err="1"/>
              <a:t>scanf</a:t>
            </a:r>
            <a:r>
              <a:rPr lang="en-US" dirty="0"/>
              <a:t>("%</a:t>
            </a:r>
            <a:r>
              <a:rPr lang="en-US" dirty="0" err="1"/>
              <a:t>d",&amp;n</a:t>
            </a:r>
            <a:r>
              <a:rPr lang="en-US" dirty="0"/>
              <a:t>);</a:t>
            </a:r>
          </a:p>
          <a:p>
            <a:r>
              <a:rPr lang="en-US" dirty="0" err="1"/>
              <a:t>printf</a:t>
            </a:r>
            <a:r>
              <a:rPr lang="en-US" dirty="0"/>
              <a:t>("Enter array elements\n"); </a:t>
            </a:r>
          </a:p>
          <a:p>
            <a:r>
              <a:rPr lang="en-US" dirty="0"/>
              <a:t>for(</a:t>
            </a:r>
            <a:r>
              <a:rPr lang="en-US" dirty="0" err="1"/>
              <a:t>i</a:t>
            </a:r>
            <a:r>
              <a:rPr lang="en-US" dirty="0"/>
              <a:t>=0; </a:t>
            </a:r>
            <a:r>
              <a:rPr lang="en-US" dirty="0" err="1"/>
              <a:t>i</a:t>
            </a:r>
            <a:r>
              <a:rPr lang="en-US" dirty="0"/>
              <a:t>&lt;n; </a:t>
            </a:r>
            <a:r>
              <a:rPr lang="en-US" dirty="0" err="1"/>
              <a:t>i</a:t>
            </a:r>
            <a:r>
              <a:rPr lang="en-US" dirty="0"/>
              <a:t>++)</a:t>
            </a:r>
          </a:p>
          <a:p>
            <a:r>
              <a:rPr lang="en-US" dirty="0"/>
              <a:t>{</a:t>
            </a:r>
          </a:p>
          <a:p>
            <a:r>
              <a:rPr lang="en-US" dirty="0" err="1"/>
              <a:t>scanf</a:t>
            </a:r>
            <a:r>
              <a:rPr lang="en-US" dirty="0"/>
              <a:t>("%d", &amp;a[</a:t>
            </a:r>
            <a:r>
              <a:rPr lang="en-US" dirty="0" err="1"/>
              <a:t>i</a:t>
            </a:r>
            <a:r>
              <a:rPr lang="en-US" dirty="0"/>
              <a:t>]);</a:t>
            </a:r>
          </a:p>
          <a:p>
            <a:r>
              <a:rPr lang="en-US" dirty="0"/>
              <a:t>}</a:t>
            </a:r>
          </a:p>
          <a:p>
            <a:r>
              <a:rPr lang="en-US" dirty="0" err="1"/>
              <a:t>printf</a:t>
            </a:r>
            <a:r>
              <a:rPr lang="en-US" dirty="0"/>
              <a:t>("Array elements are \n"); for(</a:t>
            </a:r>
            <a:r>
              <a:rPr lang="en-US" dirty="0" err="1"/>
              <a:t>i</a:t>
            </a:r>
            <a:r>
              <a:rPr lang="en-US" dirty="0"/>
              <a:t>=0; </a:t>
            </a:r>
            <a:r>
              <a:rPr lang="en-US" dirty="0" err="1"/>
              <a:t>i</a:t>
            </a:r>
            <a:r>
              <a:rPr lang="en-US" dirty="0"/>
              <a:t>&lt;n; </a:t>
            </a:r>
            <a:r>
              <a:rPr lang="en-US" dirty="0" err="1"/>
              <a:t>i</a:t>
            </a:r>
            <a:r>
              <a:rPr lang="en-US" dirty="0"/>
              <a:t>++)</a:t>
            </a:r>
          </a:p>
          <a:p>
            <a:r>
              <a:rPr lang="en-US" dirty="0"/>
              <a:t>{</a:t>
            </a:r>
          </a:p>
          <a:p>
            <a:r>
              <a:rPr lang="en-US" dirty="0" err="1"/>
              <a:t>printf</a:t>
            </a:r>
            <a:r>
              <a:rPr lang="en-US" dirty="0"/>
              <a:t>("%d\t", a[</a:t>
            </a:r>
            <a:r>
              <a:rPr lang="en-US" dirty="0" err="1"/>
              <a:t>i</a:t>
            </a:r>
            <a:r>
              <a:rPr lang="en-US" dirty="0"/>
              <a:t>]);</a:t>
            </a:r>
          </a:p>
          <a:p>
            <a:r>
              <a:rPr lang="en-US" dirty="0"/>
              <a:t>}</a:t>
            </a:r>
          </a:p>
          <a:p>
            <a:r>
              <a:rPr lang="en-US" dirty="0"/>
              <a:t>}</a:t>
            </a:r>
          </a:p>
          <a:p>
            <a:endParaRPr lang="en-US" dirty="0"/>
          </a:p>
        </p:txBody>
      </p:sp>
      <p:sp>
        <p:nvSpPr>
          <p:cNvPr id="5" name="TextBox 4"/>
          <p:cNvSpPr txBox="1"/>
          <p:nvPr/>
        </p:nvSpPr>
        <p:spPr>
          <a:xfrm>
            <a:off x="6660108" y="2715905"/>
            <a:ext cx="4080680" cy="1200329"/>
          </a:xfrm>
          <a:prstGeom prst="rect">
            <a:avLst/>
          </a:prstGeom>
          <a:noFill/>
        </p:spPr>
        <p:txBody>
          <a:bodyPr wrap="square" rtlCol="0">
            <a:spAutoFit/>
          </a:bodyPr>
          <a:lstStyle/>
          <a:p>
            <a:r>
              <a:rPr lang="en-US" b="1" i="1"/>
              <a:t>Output:</a:t>
            </a:r>
            <a:endParaRPr lang="en-US"/>
          </a:p>
          <a:p>
            <a:r>
              <a:rPr lang="en-US" b="1" i="1"/>
              <a:t>Enter the size of the array 3</a:t>
            </a:r>
            <a:endParaRPr lang="en-US"/>
          </a:p>
          <a:p>
            <a:r>
              <a:rPr lang="en-US" b="1" i="1"/>
              <a:t>Enter array elements 10 20 30</a:t>
            </a:r>
            <a:endParaRPr lang="en-US"/>
          </a:p>
          <a:p>
            <a:r>
              <a:rPr lang="en-US" b="1" i="1"/>
              <a:t>Array elements are 10 20 30</a:t>
            </a:r>
            <a:endParaRPr lang="en-US"/>
          </a:p>
        </p:txBody>
      </p:sp>
    </p:spTree>
    <p:extLst>
      <p:ext uri="{BB962C8B-B14F-4D97-AF65-F5344CB8AC3E}">
        <p14:creationId xmlns:p14="http://schemas.microsoft.com/office/powerpoint/2010/main" val="1018529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heavy" dirty="0">
                <a:latin typeface="Times New Roman" panose="02020603050405020304" pitchFamily="18" charset="0"/>
                <a:cs typeface="Times New Roman" panose="02020603050405020304" pitchFamily="18" charset="0"/>
              </a:rPr>
              <a:t>Assigning values to arrays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738948"/>
          </a:xfrm>
        </p:spPr>
        <p:txBody>
          <a:bodyPr/>
          <a:lstStyle/>
          <a:p>
            <a:r>
              <a:rPr lang="en-US" dirty="0"/>
              <a:t>Using assignment operators, we can assign values to individual elements of arrays.</a:t>
            </a:r>
          </a:p>
          <a:p>
            <a:r>
              <a:rPr lang="en-US" dirty="0"/>
              <a:t> For </a:t>
            </a:r>
            <a:r>
              <a:rPr lang="en-US" dirty="0" err="1"/>
              <a:t>example:int</a:t>
            </a:r>
            <a:r>
              <a:rPr lang="en-US" dirty="0"/>
              <a:t> a[3];</a:t>
            </a:r>
          </a:p>
          <a:p>
            <a:pPr marL="0" indent="0" algn="ctr">
              <a:buNone/>
            </a:pPr>
            <a:r>
              <a:rPr lang="en-US" dirty="0"/>
              <a:t>a[0]=10;</a:t>
            </a:r>
          </a:p>
          <a:p>
            <a:pPr marL="0" indent="0" algn="ctr">
              <a:buNone/>
            </a:pPr>
            <a:r>
              <a:rPr lang="en-US" dirty="0"/>
              <a:t>a[1]=20;</a:t>
            </a:r>
          </a:p>
          <a:p>
            <a:pPr marL="0" indent="0" algn="ctr">
              <a:buNone/>
            </a:pPr>
            <a:r>
              <a:rPr lang="en-US" dirty="0"/>
              <a:t>a[2]=30;</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29169092"/>
              </p:ext>
            </p:extLst>
          </p:nvPr>
        </p:nvGraphicFramePr>
        <p:xfrm>
          <a:off x="2564263" y="4972460"/>
          <a:ext cx="7180239" cy="365760"/>
        </p:xfrm>
        <a:graphic>
          <a:graphicData uri="http://schemas.openxmlformats.org/drawingml/2006/table">
            <a:tbl>
              <a:tblPr firstRow="1" bandRow="1">
                <a:tableStyleId>{5C22544A-7EE6-4342-B048-85BDC9FD1C3A}</a:tableStyleId>
              </a:tblPr>
              <a:tblGrid>
                <a:gridCol w="2393413">
                  <a:extLst>
                    <a:ext uri="{9D8B030D-6E8A-4147-A177-3AD203B41FA5}">
                      <a16:colId xmlns:a16="http://schemas.microsoft.com/office/drawing/2014/main" val="20000"/>
                    </a:ext>
                  </a:extLst>
                </a:gridCol>
                <a:gridCol w="2393413">
                  <a:extLst>
                    <a:ext uri="{9D8B030D-6E8A-4147-A177-3AD203B41FA5}">
                      <a16:colId xmlns:a16="http://schemas.microsoft.com/office/drawing/2014/main" val="20001"/>
                    </a:ext>
                  </a:extLst>
                </a:gridCol>
                <a:gridCol w="2393413">
                  <a:extLst>
                    <a:ext uri="{9D8B030D-6E8A-4147-A177-3AD203B41FA5}">
                      <a16:colId xmlns:a16="http://schemas.microsoft.com/office/drawing/2014/main" val="20002"/>
                    </a:ext>
                  </a:extLst>
                </a:gridCol>
              </a:tblGrid>
              <a:tr h="0">
                <a:tc>
                  <a:txBody>
                    <a:bodyPr/>
                    <a:lstStyle/>
                    <a:p>
                      <a:pPr algn="ctr"/>
                      <a:r>
                        <a:rPr lang="en-US"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218482328"/>
              </p:ext>
            </p:extLst>
          </p:nvPr>
        </p:nvGraphicFramePr>
        <p:xfrm>
          <a:off x="2552131" y="5632859"/>
          <a:ext cx="7260609" cy="370840"/>
        </p:xfrm>
        <a:graphic>
          <a:graphicData uri="http://schemas.openxmlformats.org/drawingml/2006/table">
            <a:tbl>
              <a:tblPr firstRow="1" bandRow="1">
                <a:tableStyleId>{5C22544A-7EE6-4342-B048-85BDC9FD1C3A}</a:tableStyleId>
              </a:tblPr>
              <a:tblGrid>
                <a:gridCol w="2420203">
                  <a:extLst>
                    <a:ext uri="{9D8B030D-6E8A-4147-A177-3AD203B41FA5}">
                      <a16:colId xmlns:a16="http://schemas.microsoft.com/office/drawing/2014/main" val="20000"/>
                    </a:ext>
                  </a:extLst>
                </a:gridCol>
                <a:gridCol w="2420203">
                  <a:extLst>
                    <a:ext uri="{9D8B030D-6E8A-4147-A177-3AD203B41FA5}">
                      <a16:colId xmlns:a16="http://schemas.microsoft.com/office/drawing/2014/main" val="20001"/>
                    </a:ext>
                  </a:extLst>
                </a:gridCol>
                <a:gridCol w="2420203">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a[0]</a:t>
                      </a:r>
                    </a:p>
                  </a:txBody>
                  <a:tcPr>
                    <a:solidFill>
                      <a:schemeClr val="bg1"/>
                    </a:solidFill>
                  </a:tcPr>
                </a:tc>
                <a:tc>
                  <a:txBody>
                    <a:bodyPr/>
                    <a:lstStyle/>
                    <a:p>
                      <a:pPr algn="ctr"/>
                      <a:r>
                        <a:rPr lang="en-US" dirty="0">
                          <a:solidFill>
                            <a:schemeClr val="tx1"/>
                          </a:solidFill>
                        </a:rPr>
                        <a:t>a[1]</a:t>
                      </a:r>
                    </a:p>
                  </a:txBody>
                  <a:tcPr>
                    <a:solidFill>
                      <a:schemeClr val="bg1"/>
                    </a:solidFill>
                  </a:tcPr>
                </a:tc>
                <a:tc>
                  <a:txBody>
                    <a:bodyPr/>
                    <a:lstStyle/>
                    <a:p>
                      <a:pPr algn="ctr"/>
                      <a:r>
                        <a:rPr lang="en-US" dirty="0">
                          <a:solidFill>
                            <a:schemeClr val="tx1"/>
                          </a:solidFill>
                        </a:rPr>
                        <a:t>a[2]</a:t>
                      </a: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58993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dirty="0">
                <a:latin typeface="Times New Roman" panose="02020603050405020304" pitchFamily="18" charset="0"/>
                <a:cs typeface="Times New Roman" panose="02020603050405020304" pitchFamily="18" charset="0"/>
              </a:rPr>
              <a:t>Write a program to find sum and average of integers</a:t>
            </a:r>
          </a:p>
        </p:txBody>
      </p:sp>
      <p:sp>
        <p:nvSpPr>
          <p:cNvPr id="4" name="TextBox 3"/>
          <p:cNvSpPr txBox="1"/>
          <p:nvPr/>
        </p:nvSpPr>
        <p:spPr>
          <a:xfrm>
            <a:off x="1078172" y="1241946"/>
            <a:ext cx="4558353" cy="5632311"/>
          </a:xfrm>
          <a:prstGeom prst="rect">
            <a:avLst/>
          </a:prstGeom>
          <a:noFill/>
        </p:spPr>
        <p:txBody>
          <a:bodyPr wrap="square" rtlCol="0">
            <a:spAutoFit/>
          </a:bodyPr>
          <a:lstStyle/>
          <a:p>
            <a:r>
              <a:rPr lang="en-US" dirty="0"/>
              <a:t>#include&lt;</a:t>
            </a:r>
            <a:r>
              <a:rPr lang="en-US" dirty="0" err="1"/>
              <a:t>stdio.h</a:t>
            </a:r>
            <a:r>
              <a:rPr lang="en-US" dirty="0"/>
              <a:t>&gt; </a:t>
            </a:r>
          </a:p>
          <a:p>
            <a:r>
              <a:rPr lang="en-US" dirty="0"/>
              <a:t>void main( )</a:t>
            </a:r>
          </a:p>
          <a:p>
            <a:r>
              <a:rPr lang="en-US" dirty="0"/>
              <a:t>{</a:t>
            </a:r>
          </a:p>
          <a:p>
            <a:r>
              <a:rPr lang="en-US" dirty="0"/>
              <a:t>int a[10], </a:t>
            </a:r>
            <a:r>
              <a:rPr lang="en-US" dirty="0" err="1"/>
              <a:t>i</a:t>
            </a:r>
            <a:r>
              <a:rPr lang="en-US" dirty="0"/>
              <a:t>, n, sum = 0;</a:t>
            </a:r>
          </a:p>
          <a:p>
            <a:r>
              <a:rPr lang="en-US" dirty="0"/>
              <a:t> float </a:t>
            </a:r>
            <a:r>
              <a:rPr lang="en-US" dirty="0" err="1"/>
              <a:t>avg</a:t>
            </a:r>
            <a:r>
              <a:rPr lang="en-US" dirty="0"/>
              <a:t>;</a:t>
            </a:r>
          </a:p>
          <a:p>
            <a:r>
              <a:rPr lang="en-US" dirty="0" err="1"/>
              <a:t>printf</a:t>
            </a:r>
            <a:r>
              <a:rPr lang="en-US" dirty="0"/>
              <a:t>("Enter the </a:t>
            </a:r>
            <a:r>
              <a:rPr lang="en-US" dirty="0" err="1"/>
              <a:t>no.of</a:t>
            </a:r>
            <a:r>
              <a:rPr lang="en-US" dirty="0"/>
              <a:t> elements\n"); </a:t>
            </a:r>
            <a:r>
              <a:rPr lang="en-US" dirty="0" err="1"/>
              <a:t>scanf</a:t>
            </a:r>
            <a:r>
              <a:rPr lang="en-US" dirty="0"/>
              <a:t>("%d", &amp;n);</a:t>
            </a:r>
          </a:p>
          <a:p>
            <a:r>
              <a:rPr lang="en-US" dirty="0" err="1"/>
              <a:t>printf</a:t>
            </a:r>
            <a:r>
              <a:rPr lang="en-US" dirty="0"/>
              <a:t> ("Enter the elements\n") ; </a:t>
            </a:r>
          </a:p>
          <a:p>
            <a:r>
              <a:rPr lang="en-US" dirty="0"/>
              <a:t>for (</a:t>
            </a:r>
            <a:r>
              <a:rPr lang="en-US" dirty="0" err="1"/>
              <a:t>i</a:t>
            </a:r>
            <a:r>
              <a:rPr lang="en-US" dirty="0"/>
              <a:t> = 0 ; </a:t>
            </a:r>
            <a:r>
              <a:rPr lang="en-US" dirty="0" err="1"/>
              <a:t>i</a:t>
            </a:r>
            <a:r>
              <a:rPr lang="en-US" dirty="0"/>
              <a:t> &lt; n ; </a:t>
            </a:r>
            <a:r>
              <a:rPr lang="en-US" dirty="0" err="1"/>
              <a:t>i</a:t>
            </a:r>
            <a:r>
              <a:rPr lang="en-US" dirty="0"/>
              <a:t>++)</a:t>
            </a:r>
          </a:p>
          <a:p>
            <a:r>
              <a:rPr lang="en-US" dirty="0"/>
              <a:t>{</a:t>
            </a:r>
          </a:p>
          <a:p>
            <a:r>
              <a:rPr lang="en-US" dirty="0" err="1"/>
              <a:t>scanf</a:t>
            </a:r>
            <a:r>
              <a:rPr lang="en-US" dirty="0"/>
              <a:t> ("%d", &amp;a[</a:t>
            </a:r>
            <a:r>
              <a:rPr lang="en-US" dirty="0" err="1"/>
              <a:t>i</a:t>
            </a:r>
            <a:r>
              <a:rPr lang="en-US" dirty="0"/>
              <a:t>] ) ;</a:t>
            </a:r>
          </a:p>
          <a:p>
            <a:r>
              <a:rPr lang="en-US" dirty="0"/>
              <a:t>}</a:t>
            </a:r>
          </a:p>
          <a:p>
            <a:r>
              <a:rPr lang="en-US" b="1" dirty="0"/>
              <a:t>for (</a:t>
            </a:r>
            <a:r>
              <a:rPr lang="en-US" b="1" dirty="0" err="1"/>
              <a:t>i</a:t>
            </a:r>
            <a:r>
              <a:rPr lang="en-US" b="1" dirty="0"/>
              <a:t> = 0 ; </a:t>
            </a:r>
            <a:r>
              <a:rPr lang="en-US" b="1" dirty="0" err="1"/>
              <a:t>i</a:t>
            </a:r>
            <a:r>
              <a:rPr lang="en-US" b="1" dirty="0"/>
              <a:t> &lt; n ; </a:t>
            </a:r>
            <a:r>
              <a:rPr lang="en-US" b="1" dirty="0" err="1"/>
              <a:t>i</a:t>
            </a:r>
            <a:r>
              <a:rPr lang="en-US" b="1" dirty="0"/>
              <a:t>++)</a:t>
            </a:r>
          </a:p>
          <a:p>
            <a:r>
              <a:rPr lang="en-US" b="1" dirty="0"/>
              <a:t>{</a:t>
            </a:r>
            <a:endParaRPr lang="en-US" dirty="0"/>
          </a:p>
          <a:p>
            <a:r>
              <a:rPr lang="en-US" b="1" dirty="0"/>
              <a:t>sum = sum + a[</a:t>
            </a:r>
            <a:r>
              <a:rPr lang="en-US" b="1" dirty="0" err="1"/>
              <a:t>i</a:t>
            </a:r>
            <a:r>
              <a:rPr lang="en-US" b="1" dirty="0"/>
              <a:t>] ;</a:t>
            </a:r>
            <a:endParaRPr lang="en-US" dirty="0"/>
          </a:p>
          <a:p>
            <a:r>
              <a:rPr lang="en-US" b="1" dirty="0"/>
              <a:t>}</a:t>
            </a:r>
            <a:endParaRPr lang="en-US" dirty="0"/>
          </a:p>
          <a:p>
            <a:r>
              <a:rPr lang="en-US" b="1" dirty="0" err="1"/>
              <a:t>avg</a:t>
            </a:r>
            <a:r>
              <a:rPr lang="en-US" b="1" dirty="0"/>
              <a:t> =(float) sum /n;</a:t>
            </a:r>
            <a:endParaRPr lang="en-US" dirty="0"/>
          </a:p>
          <a:p>
            <a:r>
              <a:rPr lang="en-US" dirty="0" err="1"/>
              <a:t>printf</a:t>
            </a:r>
            <a:r>
              <a:rPr lang="en-US" dirty="0"/>
              <a:t>("Sum is %d\</a:t>
            </a:r>
            <a:r>
              <a:rPr lang="en-US" dirty="0" err="1"/>
              <a:t>n",sum</a:t>
            </a:r>
            <a:r>
              <a:rPr lang="en-US" dirty="0"/>
              <a:t>);</a:t>
            </a:r>
          </a:p>
          <a:p>
            <a:r>
              <a:rPr lang="en-US" dirty="0" err="1"/>
              <a:t>printf</a:t>
            </a:r>
            <a:r>
              <a:rPr lang="en-US" dirty="0"/>
              <a:t> ( "Average is %f\n", </a:t>
            </a:r>
            <a:r>
              <a:rPr lang="en-US" dirty="0" err="1"/>
              <a:t>avg</a:t>
            </a:r>
            <a:r>
              <a:rPr lang="en-US" dirty="0"/>
              <a:t> ) ;</a:t>
            </a:r>
          </a:p>
          <a:p>
            <a:r>
              <a:rPr lang="en-US" dirty="0"/>
              <a:t>}</a:t>
            </a:r>
          </a:p>
        </p:txBody>
      </p:sp>
      <p:pic>
        <p:nvPicPr>
          <p:cNvPr id="6" name="image1.png"/>
          <p:cNvPicPr/>
          <p:nvPr/>
        </p:nvPicPr>
        <p:blipFill>
          <a:blip r:embed="rId2" cstate="print"/>
          <a:stretch>
            <a:fillRect/>
          </a:stretch>
        </p:blipFill>
        <p:spPr>
          <a:xfrm>
            <a:off x="7260609" y="4740891"/>
            <a:ext cx="3903259" cy="1837330"/>
          </a:xfrm>
          <a:prstGeom prst="rect">
            <a:avLst/>
          </a:prstGeom>
        </p:spPr>
      </p:pic>
      <p:sp>
        <p:nvSpPr>
          <p:cNvPr id="7" name="TextBox 6"/>
          <p:cNvSpPr txBox="1"/>
          <p:nvPr/>
        </p:nvSpPr>
        <p:spPr>
          <a:xfrm>
            <a:off x="6095999" y="1241946"/>
            <a:ext cx="5409063" cy="2308324"/>
          </a:xfrm>
          <a:prstGeom prst="rect">
            <a:avLst/>
          </a:prstGeom>
          <a:noFill/>
        </p:spPr>
        <p:txBody>
          <a:bodyPr wrap="square" rtlCol="0">
            <a:spAutoFit/>
          </a:bodyPr>
          <a:lstStyle/>
          <a:p>
            <a:r>
              <a:rPr lang="en-US" b="1" dirty="0"/>
              <a:t>Logic: </a:t>
            </a:r>
            <a:r>
              <a:rPr lang="en-US" dirty="0"/>
              <a:t>Assume array has 3 elements a[0]=10, a[1]=20,a[2]= 30.</a:t>
            </a:r>
          </a:p>
          <a:p>
            <a:r>
              <a:rPr lang="en-US" dirty="0"/>
              <a:t> </a:t>
            </a:r>
          </a:p>
          <a:p>
            <a:r>
              <a:rPr lang="en-US" dirty="0"/>
              <a:t>Step1: sum=</a:t>
            </a:r>
            <a:r>
              <a:rPr lang="en-US" dirty="0" err="1"/>
              <a:t>sum+a</a:t>
            </a:r>
            <a:r>
              <a:rPr lang="en-US" dirty="0"/>
              <a:t>[0]=0+10=10 Step2: sum=</a:t>
            </a:r>
            <a:r>
              <a:rPr lang="en-US" dirty="0" err="1"/>
              <a:t>sum+a</a:t>
            </a:r>
            <a:r>
              <a:rPr lang="en-US" dirty="0"/>
              <a:t>[1]=10+20=30 Step3: sum=</a:t>
            </a:r>
            <a:r>
              <a:rPr lang="en-US" dirty="0" err="1"/>
              <a:t>sum+a</a:t>
            </a:r>
            <a:r>
              <a:rPr lang="en-US" dirty="0"/>
              <a:t>[2]=30+30=60</a:t>
            </a:r>
          </a:p>
          <a:p>
            <a:r>
              <a:rPr lang="en-US" dirty="0"/>
              <a:t>In general: </a:t>
            </a:r>
            <a:r>
              <a:rPr lang="en-US" u="sng" dirty="0"/>
              <a:t>sum=</a:t>
            </a:r>
            <a:r>
              <a:rPr lang="en-US" u="sng" dirty="0" err="1"/>
              <a:t>sum+a</a:t>
            </a:r>
            <a:r>
              <a:rPr lang="en-US" u="sng" dirty="0"/>
              <a:t>[</a:t>
            </a:r>
            <a:r>
              <a:rPr lang="en-US" u="sng" dirty="0" err="1"/>
              <a:t>i</a:t>
            </a:r>
            <a:r>
              <a:rPr lang="en-US" u="sng" dirty="0"/>
              <a:t>]</a:t>
            </a:r>
            <a:r>
              <a:rPr lang="en-US" dirty="0"/>
              <a:t> where </a:t>
            </a:r>
            <a:r>
              <a:rPr lang="en-US" dirty="0" err="1"/>
              <a:t>i</a:t>
            </a:r>
            <a:r>
              <a:rPr lang="en-US" dirty="0"/>
              <a:t> varies from 0 to n-1.</a:t>
            </a:r>
          </a:p>
          <a:p>
            <a:endParaRPr lang="en-US" dirty="0"/>
          </a:p>
        </p:txBody>
      </p:sp>
    </p:spTree>
    <p:extLst>
      <p:ext uri="{BB962C8B-B14F-4D97-AF65-F5344CB8AC3E}">
        <p14:creationId xmlns:p14="http://schemas.microsoft.com/office/powerpoint/2010/main" val="3453354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Write a C program to read n integers and display sum of even and odd integers</a:t>
            </a:r>
            <a:r>
              <a:rPr lang="en-US" dirty="0"/>
              <a:t>.</a:t>
            </a:r>
          </a:p>
        </p:txBody>
      </p:sp>
      <p:sp>
        <p:nvSpPr>
          <p:cNvPr id="4" name="TextBox 3"/>
          <p:cNvSpPr txBox="1"/>
          <p:nvPr/>
        </p:nvSpPr>
        <p:spPr>
          <a:xfrm>
            <a:off x="1091821" y="1801504"/>
            <a:ext cx="4585648" cy="5078313"/>
          </a:xfrm>
          <a:prstGeom prst="rect">
            <a:avLst/>
          </a:prstGeom>
          <a:noFill/>
        </p:spPr>
        <p:txBody>
          <a:bodyPr wrap="square" rtlCol="0">
            <a:spAutoFit/>
          </a:bodyPr>
          <a:lstStyle/>
          <a:p>
            <a:r>
              <a:rPr lang="en-US" dirty="0"/>
              <a:t>#include &lt;</a:t>
            </a:r>
            <a:r>
              <a:rPr lang="en-US" dirty="0" err="1"/>
              <a:t>stdio.h</a:t>
            </a:r>
            <a:r>
              <a:rPr lang="en-US" dirty="0"/>
              <a:t>&gt; void main()</a:t>
            </a:r>
          </a:p>
          <a:p>
            <a:r>
              <a:rPr lang="en-US" dirty="0"/>
              <a:t>{</a:t>
            </a:r>
          </a:p>
          <a:p>
            <a:r>
              <a:rPr lang="en-US" dirty="0"/>
              <a:t>int </a:t>
            </a:r>
            <a:r>
              <a:rPr lang="en-US" dirty="0" err="1"/>
              <a:t>i</a:t>
            </a:r>
            <a:r>
              <a:rPr lang="en-US" dirty="0"/>
              <a:t>, n, a[100], even=0,odd=0; </a:t>
            </a:r>
            <a:r>
              <a:rPr lang="en-US" dirty="0" err="1"/>
              <a:t>printf</a:t>
            </a:r>
            <a:r>
              <a:rPr lang="en-US" dirty="0"/>
              <a:t>("Enter the no. of elements\n"); </a:t>
            </a:r>
            <a:r>
              <a:rPr lang="en-US" dirty="0" err="1"/>
              <a:t>scanf</a:t>
            </a:r>
            <a:r>
              <a:rPr lang="en-US" dirty="0"/>
              <a:t>("%d", &amp;n);</a:t>
            </a:r>
          </a:p>
          <a:p>
            <a:r>
              <a:rPr lang="en-US" dirty="0" err="1"/>
              <a:t>printf</a:t>
            </a:r>
            <a:r>
              <a:rPr lang="en-US" dirty="0"/>
              <a:t>("Enter elements\n"); for(</a:t>
            </a:r>
            <a:r>
              <a:rPr lang="en-US" dirty="0" err="1"/>
              <a:t>i</a:t>
            </a:r>
            <a:r>
              <a:rPr lang="en-US" dirty="0"/>
              <a:t>=0; </a:t>
            </a:r>
            <a:r>
              <a:rPr lang="en-US" dirty="0" err="1"/>
              <a:t>i</a:t>
            </a:r>
            <a:r>
              <a:rPr lang="en-US" dirty="0"/>
              <a:t>&lt;n; </a:t>
            </a:r>
            <a:r>
              <a:rPr lang="en-US" dirty="0" err="1"/>
              <a:t>i</a:t>
            </a:r>
            <a:r>
              <a:rPr lang="en-US" dirty="0"/>
              <a:t>++)</a:t>
            </a:r>
          </a:p>
          <a:p>
            <a:r>
              <a:rPr lang="en-US" dirty="0"/>
              <a:t>{</a:t>
            </a:r>
          </a:p>
          <a:p>
            <a:r>
              <a:rPr lang="en-US" dirty="0" err="1"/>
              <a:t>scanf</a:t>
            </a:r>
            <a:r>
              <a:rPr lang="en-US" dirty="0"/>
              <a:t>("%d", &amp;a[</a:t>
            </a:r>
            <a:r>
              <a:rPr lang="en-US" dirty="0" err="1"/>
              <a:t>i</a:t>
            </a:r>
            <a:r>
              <a:rPr lang="en-US" dirty="0"/>
              <a:t>]);</a:t>
            </a:r>
          </a:p>
          <a:p>
            <a:r>
              <a:rPr lang="en-US" dirty="0"/>
              <a:t>}</a:t>
            </a:r>
          </a:p>
          <a:p>
            <a:r>
              <a:rPr lang="en-US" b="1" dirty="0"/>
              <a:t>for(</a:t>
            </a:r>
            <a:r>
              <a:rPr lang="en-US" b="1" dirty="0" err="1"/>
              <a:t>i</a:t>
            </a:r>
            <a:r>
              <a:rPr lang="en-US" b="1" dirty="0"/>
              <a:t>=0; </a:t>
            </a:r>
            <a:r>
              <a:rPr lang="en-US" b="1" dirty="0" err="1"/>
              <a:t>i</a:t>
            </a:r>
            <a:r>
              <a:rPr lang="en-US" b="1" dirty="0"/>
              <a:t>&lt;n; </a:t>
            </a:r>
            <a:r>
              <a:rPr lang="en-US" b="1" dirty="0" err="1"/>
              <a:t>i</a:t>
            </a:r>
            <a:r>
              <a:rPr lang="en-US" b="1" dirty="0"/>
              <a:t>++)</a:t>
            </a:r>
          </a:p>
          <a:p>
            <a:r>
              <a:rPr lang="en-US" b="1" dirty="0"/>
              <a:t>{</a:t>
            </a:r>
            <a:endParaRPr lang="en-US" dirty="0"/>
          </a:p>
          <a:p>
            <a:r>
              <a:rPr lang="en-US" b="1" dirty="0"/>
              <a:t>if(a[</a:t>
            </a:r>
            <a:r>
              <a:rPr lang="en-US" b="1" dirty="0" err="1"/>
              <a:t>i</a:t>
            </a:r>
            <a:r>
              <a:rPr lang="en-US" b="1" dirty="0"/>
              <a:t>]%2==0) even=</a:t>
            </a:r>
            <a:r>
              <a:rPr lang="en-US" b="1" dirty="0" err="1"/>
              <a:t>even+a</a:t>
            </a:r>
            <a:r>
              <a:rPr lang="en-US" b="1" dirty="0"/>
              <a:t>[</a:t>
            </a:r>
            <a:r>
              <a:rPr lang="en-US" b="1" dirty="0" err="1"/>
              <a:t>i</a:t>
            </a:r>
            <a:r>
              <a:rPr lang="en-US" b="1" dirty="0"/>
              <a:t>];</a:t>
            </a:r>
            <a:endParaRPr lang="en-US" dirty="0"/>
          </a:p>
          <a:p>
            <a:r>
              <a:rPr lang="en-US" b="1" dirty="0"/>
              <a:t>else</a:t>
            </a:r>
            <a:endParaRPr lang="en-US" dirty="0"/>
          </a:p>
          <a:p>
            <a:r>
              <a:rPr lang="en-US" b="1" dirty="0"/>
              <a:t>odd=</a:t>
            </a:r>
            <a:r>
              <a:rPr lang="en-US" b="1" dirty="0" err="1"/>
              <a:t>odd+a</a:t>
            </a:r>
            <a:r>
              <a:rPr lang="en-US" b="1" dirty="0"/>
              <a:t>[</a:t>
            </a:r>
            <a:r>
              <a:rPr lang="en-US" b="1" dirty="0" err="1"/>
              <a:t>i</a:t>
            </a:r>
            <a:r>
              <a:rPr lang="en-US" b="1" dirty="0"/>
              <a:t>];</a:t>
            </a:r>
            <a:endParaRPr lang="en-US" dirty="0"/>
          </a:p>
          <a:p>
            <a:r>
              <a:rPr lang="en-US" b="1" dirty="0"/>
              <a:t>}</a:t>
            </a:r>
            <a:endParaRPr lang="en-US" dirty="0"/>
          </a:p>
          <a:p>
            <a:r>
              <a:rPr lang="en-US" dirty="0" err="1"/>
              <a:t>printf</a:t>
            </a:r>
            <a:r>
              <a:rPr lang="en-US" dirty="0"/>
              <a:t>("Sum of even integers is %d\</a:t>
            </a:r>
            <a:r>
              <a:rPr lang="en-US" dirty="0" err="1"/>
              <a:t>n",even</a:t>
            </a:r>
            <a:r>
              <a:rPr lang="en-US" dirty="0"/>
              <a:t>); </a:t>
            </a:r>
            <a:r>
              <a:rPr lang="en-US" dirty="0" err="1"/>
              <a:t>printf</a:t>
            </a:r>
            <a:r>
              <a:rPr lang="en-US" dirty="0"/>
              <a:t>("Sum of odd integers is %d\</a:t>
            </a:r>
            <a:r>
              <a:rPr lang="en-US" dirty="0" err="1"/>
              <a:t>n",odd</a:t>
            </a:r>
            <a:r>
              <a:rPr lang="en-US" dirty="0"/>
              <a:t>);</a:t>
            </a:r>
          </a:p>
          <a:p>
            <a:r>
              <a:rPr lang="en-US" dirty="0"/>
              <a:t>}</a:t>
            </a:r>
          </a:p>
          <a:p>
            <a:endParaRPr lang="en-US" dirty="0"/>
          </a:p>
        </p:txBody>
      </p:sp>
      <p:sp>
        <p:nvSpPr>
          <p:cNvPr id="5" name="TextBox 4"/>
          <p:cNvSpPr txBox="1"/>
          <p:nvPr/>
        </p:nvSpPr>
        <p:spPr>
          <a:xfrm>
            <a:off x="7601803" y="1542197"/>
            <a:ext cx="1119116" cy="369332"/>
          </a:xfrm>
          <a:prstGeom prst="rect">
            <a:avLst/>
          </a:prstGeom>
          <a:noFill/>
        </p:spPr>
        <p:txBody>
          <a:bodyPr wrap="square" rtlCol="0">
            <a:spAutoFit/>
          </a:bodyPr>
          <a:lstStyle/>
          <a:p>
            <a:r>
              <a:rPr lang="en-US" dirty="0"/>
              <a:t>Output</a:t>
            </a:r>
          </a:p>
        </p:txBody>
      </p:sp>
      <p:pic>
        <p:nvPicPr>
          <p:cNvPr id="6" name="image2.png"/>
          <p:cNvPicPr/>
          <p:nvPr/>
        </p:nvPicPr>
        <p:blipFill>
          <a:blip r:embed="rId2" cstate="print"/>
          <a:stretch>
            <a:fillRect/>
          </a:stretch>
        </p:blipFill>
        <p:spPr>
          <a:xfrm>
            <a:off x="7601804" y="2029109"/>
            <a:ext cx="3603008" cy="1928742"/>
          </a:xfrm>
          <a:prstGeom prst="rect">
            <a:avLst/>
          </a:prstGeom>
        </p:spPr>
      </p:pic>
    </p:spTree>
    <p:extLst>
      <p:ext uri="{BB962C8B-B14F-4D97-AF65-F5344CB8AC3E}">
        <p14:creationId xmlns:p14="http://schemas.microsoft.com/office/powerpoint/2010/main" val="332248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000" dirty="0">
                <a:latin typeface="Times New Roman" panose="02020603050405020304" pitchFamily="18" charset="0"/>
                <a:cs typeface="Times New Roman" panose="02020603050405020304" pitchFamily="18" charset="0"/>
              </a:rPr>
              <a:t>Write a C program to find the largest or biggest of n numbers using arrays.</a:t>
            </a:r>
          </a:p>
        </p:txBody>
      </p:sp>
      <p:sp>
        <p:nvSpPr>
          <p:cNvPr id="3" name="Content Placeholder 2"/>
          <p:cNvSpPr>
            <a:spLocks noGrp="1"/>
          </p:cNvSpPr>
          <p:nvPr>
            <p:ph idx="1"/>
          </p:nvPr>
        </p:nvSpPr>
        <p:spPr>
          <a:xfrm>
            <a:off x="838200" y="1187355"/>
            <a:ext cx="10515600" cy="4989608"/>
          </a:xfrm>
        </p:spPr>
        <p:txBody>
          <a:bodyPr/>
          <a:lstStyle/>
          <a:p>
            <a:pPr algn="just"/>
            <a:r>
              <a:rPr lang="en-US" sz="1600" b="1" dirty="0">
                <a:latin typeface="Times New Roman" panose="02020603050405020304" pitchFamily="18" charset="0"/>
                <a:cs typeface="Times New Roman" panose="02020603050405020304" pitchFamily="18" charset="0"/>
              </a:rPr>
              <a:t>Logic: </a:t>
            </a:r>
            <a:r>
              <a:rPr lang="en-US" sz="1600" dirty="0">
                <a:latin typeface="Times New Roman" panose="02020603050405020304" pitchFamily="18" charset="0"/>
                <a:cs typeface="Times New Roman" panose="02020603050405020304" pitchFamily="18" charset="0"/>
              </a:rPr>
              <a:t>Assume first element of the array is the biggest and assign it to big variable. Then compare big with the second to last element of the array. If any of the element is greater than big, copy it to big variable</a:t>
            </a:r>
            <a:r>
              <a:rPr lang="en-US" dirty="0"/>
              <a:t>.</a:t>
            </a:r>
          </a:p>
          <a:p>
            <a:pPr marL="0" indent="0">
              <a:buNone/>
            </a:pPr>
            <a:endParaRPr lang="en-US" dirty="0"/>
          </a:p>
        </p:txBody>
      </p:sp>
      <p:sp>
        <p:nvSpPr>
          <p:cNvPr id="4" name="TextBox 3"/>
          <p:cNvSpPr txBox="1"/>
          <p:nvPr/>
        </p:nvSpPr>
        <p:spPr>
          <a:xfrm>
            <a:off x="1050877" y="1978926"/>
            <a:ext cx="5186150" cy="5355312"/>
          </a:xfrm>
          <a:prstGeom prst="rect">
            <a:avLst/>
          </a:prstGeom>
          <a:noFill/>
        </p:spPr>
        <p:txBody>
          <a:bodyPr wrap="square" rtlCol="0">
            <a:spAutoFit/>
          </a:bodyPr>
          <a:lstStyle/>
          <a:p>
            <a:r>
              <a:rPr lang="en-US" dirty="0"/>
              <a:t>#include &lt;</a:t>
            </a:r>
            <a:r>
              <a:rPr lang="en-US" dirty="0" err="1"/>
              <a:t>stdio.h</a:t>
            </a:r>
            <a:r>
              <a:rPr lang="en-US" dirty="0"/>
              <a:t>&gt; </a:t>
            </a:r>
          </a:p>
          <a:p>
            <a:r>
              <a:rPr lang="en-US" dirty="0"/>
              <a:t>void main()</a:t>
            </a:r>
          </a:p>
          <a:p>
            <a:r>
              <a:rPr lang="en-US" dirty="0"/>
              <a:t>{</a:t>
            </a:r>
          </a:p>
          <a:p>
            <a:r>
              <a:rPr lang="en-US" dirty="0"/>
              <a:t>int </a:t>
            </a:r>
            <a:r>
              <a:rPr lang="en-US" dirty="0" err="1"/>
              <a:t>i</a:t>
            </a:r>
            <a:r>
              <a:rPr lang="en-US" dirty="0"/>
              <a:t>, n, a[100], big;</a:t>
            </a:r>
          </a:p>
          <a:p>
            <a:r>
              <a:rPr lang="en-US" dirty="0" err="1"/>
              <a:t>printf</a:t>
            </a:r>
            <a:r>
              <a:rPr lang="en-US" dirty="0"/>
              <a:t>("Enter the no. of elements\n"); </a:t>
            </a:r>
          </a:p>
          <a:p>
            <a:r>
              <a:rPr lang="en-US" dirty="0" err="1"/>
              <a:t>scanf</a:t>
            </a:r>
            <a:r>
              <a:rPr lang="en-US" dirty="0"/>
              <a:t>("%d", &amp;n);</a:t>
            </a:r>
          </a:p>
          <a:p>
            <a:r>
              <a:rPr lang="en-US" dirty="0" err="1"/>
              <a:t>printf</a:t>
            </a:r>
            <a:r>
              <a:rPr lang="en-US" dirty="0"/>
              <a:t>("Enter elements\n"); </a:t>
            </a:r>
          </a:p>
          <a:p>
            <a:r>
              <a:rPr lang="en-US" dirty="0"/>
              <a:t>for(</a:t>
            </a:r>
            <a:r>
              <a:rPr lang="en-US" dirty="0" err="1"/>
              <a:t>i</a:t>
            </a:r>
            <a:r>
              <a:rPr lang="en-US" dirty="0"/>
              <a:t>=0; </a:t>
            </a:r>
            <a:r>
              <a:rPr lang="en-US" dirty="0" err="1"/>
              <a:t>i</a:t>
            </a:r>
            <a:r>
              <a:rPr lang="en-US" dirty="0"/>
              <a:t>&lt;n; </a:t>
            </a:r>
            <a:r>
              <a:rPr lang="en-US" dirty="0" err="1"/>
              <a:t>i</a:t>
            </a:r>
            <a:r>
              <a:rPr lang="en-US" dirty="0"/>
              <a:t>++)</a:t>
            </a:r>
          </a:p>
          <a:p>
            <a:r>
              <a:rPr lang="en-US" dirty="0"/>
              <a:t>{</a:t>
            </a:r>
          </a:p>
          <a:p>
            <a:r>
              <a:rPr lang="en-US" dirty="0" err="1"/>
              <a:t>Scanf</a:t>
            </a:r>
            <a:r>
              <a:rPr lang="en-US" dirty="0"/>
              <a:t>(“%</a:t>
            </a:r>
            <a:r>
              <a:rPr lang="en-US" dirty="0" err="1"/>
              <a:t>d”,&amp;a</a:t>
            </a:r>
            <a:r>
              <a:rPr lang="en-US" dirty="0"/>
              <a:t>[</a:t>
            </a:r>
            <a:r>
              <a:rPr lang="en-US" dirty="0" err="1"/>
              <a:t>i</a:t>
            </a:r>
            <a:r>
              <a:rPr lang="en-US" dirty="0"/>
              <a:t>]);</a:t>
            </a:r>
          </a:p>
          <a:p>
            <a:r>
              <a:rPr lang="en-US" dirty="0"/>
              <a:t>}</a:t>
            </a:r>
          </a:p>
          <a:p>
            <a:r>
              <a:rPr lang="en-US" b="1" dirty="0"/>
              <a:t>big= a[0]; for(</a:t>
            </a:r>
            <a:r>
              <a:rPr lang="en-US" b="1" dirty="0" err="1"/>
              <a:t>i</a:t>
            </a:r>
            <a:r>
              <a:rPr lang="en-US" b="1" dirty="0"/>
              <a:t>=1; </a:t>
            </a:r>
            <a:r>
              <a:rPr lang="en-US" b="1" dirty="0" err="1"/>
              <a:t>i</a:t>
            </a:r>
            <a:r>
              <a:rPr lang="en-US" b="1" dirty="0"/>
              <a:t>&lt;n; </a:t>
            </a:r>
            <a:r>
              <a:rPr lang="en-US" b="1" dirty="0" err="1"/>
              <a:t>i</a:t>
            </a:r>
            <a:r>
              <a:rPr lang="en-US" b="1" dirty="0"/>
              <a:t>++)</a:t>
            </a:r>
          </a:p>
          <a:p>
            <a:r>
              <a:rPr lang="en-US" b="1" dirty="0"/>
              <a:t>{</a:t>
            </a:r>
            <a:endParaRPr lang="en-US" dirty="0"/>
          </a:p>
          <a:p>
            <a:r>
              <a:rPr lang="en-US" b="1" dirty="0"/>
              <a:t>if(a[</a:t>
            </a:r>
            <a:r>
              <a:rPr lang="en-US" b="1" dirty="0" err="1"/>
              <a:t>i</a:t>
            </a:r>
            <a:r>
              <a:rPr lang="en-US" b="1" dirty="0"/>
              <a:t>]&gt;big)</a:t>
            </a:r>
            <a:endParaRPr lang="en-US" dirty="0"/>
          </a:p>
          <a:p>
            <a:r>
              <a:rPr lang="en-US" b="1" dirty="0"/>
              <a:t>big = a[</a:t>
            </a:r>
            <a:r>
              <a:rPr lang="en-US" b="1" dirty="0" err="1"/>
              <a:t>i</a:t>
            </a:r>
            <a:r>
              <a:rPr lang="en-US" b="1" dirty="0"/>
              <a:t>];</a:t>
            </a:r>
            <a:endParaRPr lang="en-US" dirty="0"/>
          </a:p>
          <a:p>
            <a:r>
              <a:rPr lang="en-US" b="1" dirty="0"/>
              <a:t>}</a:t>
            </a:r>
            <a:endParaRPr lang="en-US" dirty="0"/>
          </a:p>
          <a:p>
            <a:r>
              <a:rPr lang="en-US" dirty="0" err="1"/>
              <a:t>printf</a:t>
            </a:r>
            <a:r>
              <a:rPr lang="en-US" dirty="0"/>
              <a:t>("Biggest element is %d", big);</a:t>
            </a:r>
          </a:p>
          <a:p>
            <a:r>
              <a:rPr lang="en-US" dirty="0"/>
              <a:t>}</a:t>
            </a:r>
          </a:p>
          <a:p>
            <a:endParaRPr lang="en-US" dirty="0"/>
          </a:p>
        </p:txBody>
      </p:sp>
      <p:sp>
        <p:nvSpPr>
          <p:cNvPr id="5" name="TextBox 4"/>
          <p:cNvSpPr txBox="1"/>
          <p:nvPr/>
        </p:nvSpPr>
        <p:spPr>
          <a:xfrm>
            <a:off x="6810233" y="2606722"/>
            <a:ext cx="4162567" cy="1754326"/>
          </a:xfrm>
          <a:prstGeom prst="rect">
            <a:avLst/>
          </a:prstGeom>
          <a:noFill/>
        </p:spPr>
        <p:txBody>
          <a:bodyPr wrap="square" rtlCol="0">
            <a:spAutoFit/>
          </a:bodyPr>
          <a:lstStyle/>
          <a:p>
            <a:r>
              <a:rPr lang="en-US" dirty="0"/>
              <a:t>Output</a:t>
            </a:r>
          </a:p>
          <a:p>
            <a:r>
              <a:rPr lang="en-US" dirty="0"/>
              <a:t>Enter the no. of elements</a:t>
            </a:r>
          </a:p>
          <a:p>
            <a:r>
              <a:rPr lang="en-US" dirty="0"/>
              <a:t>3</a:t>
            </a:r>
          </a:p>
          <a:p>
            <a:r>
              <a:rPr lang="en-US" dirty="0"/>
              <a:t>Enter elements</a:t>
            </a:r>
          </a:p>
          <a:p>
            <a:r>
              <a:rPr lang="en-US" dirty="0"/>
              <a:t>10 20 30</a:t>
            </a:r>
          </a:p>
          <a:p>
            <a:r>
              <a:rPr lang="en-US" dirty="0"/>
              <a:t>Biggest element is 30</a:t>
            </a:r>
          </a:p>
        </p:txBody>
      </p:sp>
    </p:spTree>
    <p:extLst>
      <p:ext uri="{BB962C8B-B14F-4D97-AF65-F5344CB8AC3E}">
        <p14:creationId xmlns:p14="http://schemas.microsoft.com/office/powerpoint/2010/main" val="2012103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8457"/>
          </a:xfrm>
        </p:spPr>
        <p:txBody>
          <a:bodyPr>
            <a:normAutofit/>
          </a:bodyPr>
          <a:lstStyle/>
          <a:p>
            <a:r>
              <a:rPr lang="en-US" sz="2000" dirty="0">
                <a:latin typeface="Times New Roman" panose="02020603050405020304" pitchFamily="18" charset="0"/>
                <a:cs typeface="Times New Roman" panose="02020603050405020304" pitchFamily="18" charset="0"/>
              </a:rPr>
              <a:t>Write a program to find sum of 2 one dimensional arrays and store the result in another array</a:t>
            </a:r>
          </a:p>
        </p:txBody>
      </p:sp>
      <p:sp>
        <p:nvSpPr>
          <p:cNvPr id="4" name="TextBox 3"/>
          <p:cNvSpPr txBox="1"/>
          <p:nvPr/>
        </p:nvSpPr>
        <p:spPr>
          <a:xfrm>
            <a:off x="1255594" y="1228299"/>
            <a:ext cx="5036024" cy="4247317"/>
          </a:xfrm>
          <a:prstGeom prst="rect">
            <a:avLst/>
          </a:prstGeom>
          <a:noFill/>
        </p:spPr>
        <p:txBody>
          <a:bodyPr wrap="square" rtlCol="0">
            <a:spAutoFit/>
          </a:bodyPr>
          <a:lstStyle/>
          <a:p>
            <a:r>
              <a:rPr lang="en-US" dirty="0"/>
              <a:t>#include &lt;</a:t>
            </a:r>
            <a:r>
              <a:rPr lang="en-US" dirty="0" err="1"/>
              <a:t>stdio.h</a:t>
            </a:r>
            <a:r>
              <a:rPr lang="en-US" dirty="0"/>
              <a:t>&gt; </a:t>
            </a:r>
          </a:p>
          <a:p>
            <a:r>
              <a:rPr lang="en-US" dirty="0"/>
              <a:t>void main()</a:t>
            </a:r>
          </a:p>
          <a:p>
            <a:r>
              <a:rPr lang="en-US" dirty="0"/>
              <a:t>{</a:t>
            </a:r>
          </a:p>
          <a:p>
            <a:r>
              <a:rPr lang="en-US" dirty="0"/>
              <a:t>int </a:t>
            </a:r>
            <a:r>
              <a:rPr lang="en-US" dirty="0" err="1"/>
              <a:t>i</a:t>
            </a:r>
            <a:r>
              <a:rPr lang="en-US" dirty="0"/>
              <a:t>, n, a[10], b[10],c[10];</a:t>
            </a:r>
          </a:p>
          <a:p>
            <a:r>
              <a:rPr lang="en-US" dirty="0"/>
              <a:t> </a:t>
            </a:r>
            <a:r>
              <a:rPr lang="en-US" dirty="0" err="1"/>
              <a:t>printf</a:t>
            </a:r>
            <a:r>
              <a:rPr lang="en-US" dirty="0"/>
              <a:t>("Enter the no. of elements\n"); </a:t>
            </a:r>
          </a:p>
          <a:p>
            <a:r>
              <a:rPr lang="en-US" dirty="0" err="1"/>
              <a:t>scanf</a:t>
            </a:r>
            <a:r>
              <a:rPr lang="en-US" dirty="0"/>
              <a:t>("%d", &amp;n);</a:t>
            </a:r>
          </a:p>
          <a:p>
            <a:r>
              <a:rPr lang="en-US" dirty="0" err="1"/>
              <a:t>printf</a:t>
            </a:r>
            <a:r>
              <a:rPr lang="en-US" dirty="0"/>
              <a:t>("Enter elements of array A\n"); </a:t>
            </a:r>
          </a:p>
          <a:p>
            <a:r>
              <a:rPr lang="en-US" dirty="0"/>
              <a:t>for(</a:t>
            </a:r>
            <a:r>
              <a:rPr lang="en-US" dirty="0" err="1"/>
              <a:t>i</a:t>
            </a:r>
            <a:r>
              <a:rPr lang="en-US" dirty="0"/>
              <a:t>=0; </a:t>
            </a:r>
            <a:r>
              <a:rPr lang="en-US" dirty="0" err="1"/>
              <a:t>i</a:t>
            </a:r>
            <a:r>
              <a:rPr lang="en-US" dirty="0"/>
              <a:t>&lt;n; </a:t>
            </a:r>
            <a:r>
              <a:rPr lang="en-US" dirty="0" err="1"/>
              <a:t>i</a:t>
            </a:r>
            <a:r>
              <a:rPr lang="en-US" dirty="0"/>
              <a:t>++)</a:t>
            </a:r>
          </a:p>
          <a:p>
            <a:r>
              <a:rPr lang="en-US" dirty="0"/>
              <a:t>{</a:t>
            </a:r>
          </a:p>
          <a:p>
            <a:r>
              <a:rPr lang="en-US" dirty="0" err="1"/>
              <a:t>scanf</a:t>
            </a:r>
            <a:r>
              <a:rPr lang="en-US" dirty="0"/>
              <a:t>("%d", &amp;a[</a:t>
            </a:r>
            <a:r>
              <a:rPr lang="en-US" dirty="0" err="1"/>
              <a:t>i</a:t>
            </a:r>
            <a:r>
              <a:rPr lang="en-US" dirty="0"/>
              <a:t>]);</a:t>
            </a:r>
          </a:p>
          <a:p>
            <a:r>
              <a:rPr lang="en-US" dirty="0"/>
              <a:t>}</a:t>
            </a:r>
          </a:p>
          <a:p>
            <a:r>
              <a:rPr lang="en-US" dirty="0" err="1"/>
              <a:t>printf</a:t>
            </a:r>
            <a:r>
              <a:rPr lang="en-US" dirty="0"/>
              <a:t>("Enter elements of array B\n"); </a:t>
            </a:r>
          </a:p>
          <a:p>
            <a:r>
              <a:rPr lang="en-US" dirty="0"/>
              <a:t>for(</a:t>
            </a:r>
            <a:r>
              <a:rPr lang="en-US" dirty="0" err="1"/>
              <a:t>i</a:t>
            </a:r>
            <a:r>
              <a:rPr lang="en-US" dirty="0"/>
              <a:t>=0; </a:t>
            </a:r>
            <a:r>
              <a:rPr lang="en-US" dirty="0" err="1"/>
              <a:t>i</a:t>
            </a:r>
            <a:r>
              <a:rPr lang="en-US" dirty="0"/>
              <a:t>&lt;n; </a:t>
            </a:r>
            <a:r>
              <a:rPr lang="en-US" dirty="0" err="1"/>
              <a:t>i</a:t>
            </a:r>
            <a:r>
              <a:rPr lang="en-US" dirty="0"/>
              <a:t>++)</a:t>
            </a:r>
          </a:p>
          <a:p>
            <a:r>
              <a:rPr lang="en-US" dirty="0"/>
              <a:t>{</a:t>
            </a:r>
          </a:p>
          <a:p>
            <a:endParaRPr lang="en-US" dirty="0"/>
          </a:p>
        </p:txBody>
      </p:sp>
      <p:sp>
        <p:nvSpPr>
          <p:cNvPr id="5" name="TextBox 4"/>
          <p:cNvSpPr txBox="1"/>
          <p:nvPr/>
        </p:nvSpPr>
        <p:spPr>
          <a:xfrm>
            <a:off x="6946710" y="1351128"/>
            <a:ext cx="4285397" cy="5632311"/>
          </a:xfrm>
          <a:prstGeom prst="rect">
            <a:avLst/>
          </a:prstGeom>
          <a:noFill/>
        </p:spPr>
        <p:txBody>
          <a:bodyPr wrap="square" rtlCol="0">
            <a:spAutoFit/>
          </a:bodyPr>
          <a:lstStyle/>
          <a:p>
            <a:r>
              <a:rPr lang="en-US" dirty="0" err="1"/>
              <a:t>scanf</a:t>
            </a:r>
            <a:r>
              <a:rPr lang="en-US" dirty="0"/>
              <a:t>("%d", &amp;b[</a:t>
            </a:r>
            <a:r>
              <a:rPr lang="en-US" dirty="0" err="1"/>
              <a:t>i</a:t>
            </a:r>
            <a:r>
              <a:rPr lang="en-US" dirty="0"/>
              <a:t>]);</a:t>
            </a:r>
          </a:p>
          <a:p>
            <a:r>
              <a:rPr lang="en-US" dirty="0"/>
              <a:t>}</a:t>
            </a:r>
          </a:p>
          <a:p>
            <a:r>
              <a:rPr lang="en-US" dirty="0" err="1"/>
              <a:t>printf</a:t>
            </a:r>
            <a:r>
              <a:rPr lang="en-US" dirty="0"/>
              <a:t>("Sum of two arrays is \n");</a:t>
            </a:r>
          </a:p>
          <a:p>
            <a:r>
              <a:rPr lang="en-US" b="1" dirty="0"/>
              <a:t>for(</a:t>
            </a:r>
            <a:r>
              <a:rPr lang="en-US" b="1" dirty="0" err="1"/>
              <a:t>i</a:t>
            </a:r>
            <a:r>
              <a:rPr lang="en-US" b="1" dirty="0"/>
              <a:t>=0; </a:t>
            </a:r>
            <a:r>
              <a:rPr lang="en-US" b="1" dirty="0" err="1"/>
              <a:t>i</a:t>
            </a:r>
            <a:r>
              <a:rPr lang="en-US" b="1" dirty="0"/>
              <a:t>&lt;n; </a:t>
            </a:r>
            <a:r>
              <a:rPr lang="en-US" b="1" dirty="0" err="1"/>
              <a:t>i</a:t>
            </a:r>
            <a:r>
              <a:rPr lang="en-US" b="1" dirty="0"/>
              <a:t>++)</a:t>
            </a:r>
          </a:p>
          <a:p>
            <a:r>
              <a:rPr lang="en-US" b="1" dirty="0"/>
              <a:t>{</a:t>
            </a:r>
            <a:endParaRPr lang="en-US" dirty="0"/>
          </a:p>
          <a:p>
            <a:r>
              <a:rPr lang="en-US" b="1" dirty="0"/>
              <a:t>c[</a:t>
            </a:r>
            <a:r>
              <a:rPr lang="en-US" b="1" dirty="0" err="1"/>
              <a:t>i</a:t>
            </a:r>
            <a:r>
              <a:rPr lang="en-US" b="1" dirty="0"/>
              <a:t>]=a[</a:t>
            </a:r>
            <a:r>
              <a:rPr lang="en-US" b="1" dirty="0" err="1"/>
              <a:t>i</a:t>
            </a:r>
            <a:r>
              <a:rPr lang="en-US" b="1" dirty="0"/>
              <a:t>]+b[</a:t>
            </a:r>
            <a:r>
              <a:rPr lang="en-US" b="1" dirty="0" err="1"/>
              <a:t>i</a:t>
            </a:r>
            <a:r>
              <a:rPr lang="en-US" b="1" dirty="0"/>
              <a:t>];</a:t>
            </a:r>
            <a:endParaRPr lang="en-US" dirty="0"/>
          </a:p>
          <a:p>
            <a:r>
              <a:rPr lang="en-US" b="1" dirty="0" err="1"/>
              <a:t>printf</a:t>
            </a:r>
            <a:r>
              <a:rPr lang="en-US" b="1" dirty="0"/>
              <a:t>("%d\</a:t>
            </a:r>
            <a:r>
              <a:rPr lang="en-US" b="1" dirty="0" err="1"/>
              <a:t>t",c</a:t>
            </a:r>
            <a:r>
              <a:rPr lang="en-US" b="1" dirty="0"/>
              <a:t>[</a:t>
            </a:r>
            <a:r>
              <a:rPr lang="en-US" b="1" dirty="0" err="1"/>
              <a:t>i</a:t>
            </a:r>
            <a:r>
              <a:rPr lang="en-US" b="1" dirty="0"/>
              <a:t>]);</a:t>
            </a:r>
            <a:endParaRPr lang="en-US" dirty="0"/>
          </a:p>
          <a:p>
            <a:r>
              <a:rPr lang="en-US" b="1" dirty="0"/>
              <a:t>}</a:t>
            </a:r>
            <a:endParaRPr lang="en-US" dirty="0"/>
          </a:p>
          <a:p>
            <a:r>
              <a:rPr lang="en-US" dirty="0"/>
              <a:t>}</a:t>
            </a:r>
          </a:p>
          <a:p>
            <a:endParaRPr lang="en-US" dirty="0"/>
          </a:p>
          <a:p>
            <a:r>
              <a:rPr lang="en-US" dirty="0"/>
              <a:t>OUTPUT:</a:t>
            </a:r>
          </a:p>
          <a:p>
            <a:r>
              <a:rPr lang="en-US" dirty="0"/>
              <a:t>Enter the no. of elements</a:t>
            </a:r>
          </a:p>
          <a:p>
            <a:r>
              <a:rPr lang="en-US" dirty="0"/>
              <a:t>3</a:t>
            </a:r>
          </a:p>
          <a:p>
            <a:r>
              <a:rPr lang="en-US" dirty="0"/>
              <a:t>Enter elements of array A</a:t>
            </a:r>
          </a:p>
          <a:p>
            <a:r>
              <a:rPr lang="en-US" dirty="0"/>
              <a:t>10 20 30</a:t>
            </a:r>
          </a:p>
          <a:p>
            <a:r>
              <a:rPr lang="en-US" dirty="0"/>
              <a:t>Enter elements of array B</a:t>
            </a:r>
          </a:p>
          <a:p>
            <a:r>
              <a:rPr lang="en-US" dirty="0"/>
              <a:t>1 2 3</a:t>
            </a:r>
          </a:p>
          <a:p>
            <a:r>
              <a:rPr lang="en-US" dirty="0"/>
              <a:t>Sum of two arrays is</a:t>
            </a:r>
          </a:p>
          <a:p>
            <a:r>
              <a:rPr lang="en-US" dirty="0"/>
              <a:t>11 22 33</a:t>
            </a:r>
          </a:p>
          <a:p>
            <a:endParaRPr lang="en-US" dirty="0"/>
          </a:p>
        </p:txBody>
      </p:sp>
    </p:spTree>
    <p:extLst>
      <p:ext uri="{BB962C8B-B14F-4D97-AF65-F5344CB8AC3E}">
        <p14:creationId xmlns:p14="http://schemas.microsoft.com/office/powerpoint/2010/main" val="668044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pPr lvl="1" algn="l" rtl="0">
              <a:lnSpc>
                <a:spcPct val="90000"/>
              </a:lnSpc>
              <a:spcBef>
                <a:spcPct val="0"/>
              </a:spcBef>
            </a:pPr>
            <a:r>
              <a:rPr lang="en-US" sz="3600" b="1" dirty="0">
                <a:latin typeface="Times New Roman" panose="02020603050405020304" pitchFamily="18" charset="0"/>
                <a:cs typeface="Times New Roman" panose="02020603050405020304" pitchFamily="18" charset="0"/>
              </a:rPr>
              <a:t>Searching</a:t>
            </a:r>
            <a:br>
              <a:rPr lang="en-US" sz="3600" b="1" u="sng"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15370" y="1061351"/>
            <a:ext cx="10515600" cy="4351338"/>
          </a:xfrm>
        </p:spPr>
        <p:txBody>
          <a:bodyPr/>
          <a:lstStyle/>
          <a:p>
            <a:r>
              <a:rPr lang="en-US" dirty="0"/>
              <a:t>The process of finding a particular item in the large amount of data is called searching.</a:t>
            </a:r>
          </a:p>
          <a:p>
            <a:r>
              <a:rPr lang="en-US" dirty="0"/>
              <a:t>The element to be searched is called key element.</a:t>
            </a:r>
          </a:p>
          <a:p>
            <a:r>
              <a:rPr lang="en-US" dirty="0"/>
              <a:t>There are two methods of searching:</a:t>
            </a:r>
          </a:p>
          <a:p>
            <a:pPr marL="0" lvl="0" indent="0">
              <a:buNone/>
            </a:pPr>
            <a:r>
              <a:rPr lang="en-US" dirty="0"/>
              <a:t>	1. Linear search.</a:t>
            </a:r>
          </a:p>
          <a:p>
            <a:pPr marL="0" indent="0">
              <a:buNone/>
            </a:pPr>
            <a:r>
              <a:rPr lang="en-US" dirty="0"/>
              <a:t>	2.Binary search.</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313757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Linear Search</a:t>
            </a:r>
          </a:p>
        </p:txBody>
      </p:sp>
      <p:sp>
        <p:nvSpPr>
          <p:cNvPr id="3" name="Content Placeholder 2"/>
          <p:cNvSpPr>
            <a:spLocks noGrp="1"/>
          </p:cNvSpPr>
          <p:nvPr>
            <p:ph idx="1"/>
          </p:nvPr>
        </p:nvSpPr>
        <p:spPr/>
        <p:txBody>
          <a:bodyPr>
            <a:normAutofit fontScale="925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Linear search also called sequential search is a simple searching technique</a:t>
            </a:r>
          </a:p>
          <a:p>
            <a:pPr marL="228600" lvl="2" algn="just">
              <a:spcBef>
                <a:spcPts val="1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this technique we search for a given key item in linear order </a:t>
            </a:r>
            <a:r>
              <a:rPr lang="en-US" sz="2800" dirty="0" err="1">
                <a:latin typeface="Times New Roman" panose="02020603050405020304" pitchFamily="18" charset="0"/>
                <a:cs typeface="Times New Roman" panose="02020603050405020304" pitchFamily="18" charset="0"/>
              </a:rPr>
              <a:t>i.e,one</a:t>
            </a:r>
            <a:r>
              <a:rPr lang="en-US" sz="2800" dirty="0">
                <a:latin typeface="Times New Roman" panose="02020603050405020304" pitchFamily="18" charset="0"/>
                <a:cs typeface="Times New Roman" panose="02020603050405020304" pitchFamily="18" charset="0"/>
              </a:rPr>
              <a:t> after the other from first element to last element.</a:t>
            </a:r>
          </a:p>
          <a:p>
            <a:pPr marL="228600" lvl="2" algn="just">
              <a:spcBef>
                <a:spcPts val="1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search may be successful or unsuccessful.</a:t>
            </a:r>
          </a:p>
          <a:p>
            <a:pPr marL="228600" lvl="2" algn="just">
              <a:spcBef>
                <a:spcPts val="1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If key item is present, the search is successful, otherwise unsuccessful search.</a:t>
            </a:r>
          </a:p>
          <a:p>
            <a:pPr marL="228600" lvl="2" algn="just">
              <a:spcBef>
                <a:spcPts val="1000"/>
              </a:spcBef>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Logic:In</a:t>
            </a:r>
            <a:r>
              <a:rPr lang="en-US" sz="2800" dirty="0">
                <a:latin typeface="Times New Roman" panose="02020603050405020304" pitchFamily="18" charset="0"/>
                <a:cs typeface="Times New Roman" panose="02020603050405020304" pitchFamily="18" charset="0"/>
              </a:rPr>
              <a:t> this technique, the element to be searched(key) is compared with each item in the array sequentially one after the other. If the key is found, then we display “Search successful” else print “unsuccessful search”.</a:t>
            </a:r>
          </a:p>
          <a:p>
            <a:pPr>
              <a:buFont typeface="Wingdings" panose="05000000000000000000" pitchFamily="2" charset="2"/>
              <a:buChar char="Ø"/>
            </a:pPr>
            <a:r>
              <a:rPr lang="en-US" dirty="0"/>
              <a:t>For program :Refer lab program</a:t>
            </a:r>
          </a:p>
        </p:txBody>
      </p:sp>
    </p:spTree>
    <p:extLst>
      <p:ext uri="{BB962C8B-B14F-4D97-AF65-F5344CB8AC3E}">
        <p14:creationId xmlns:p14="http://schemas.microsoft.com/office/powerpoint/2010/main" val="2611034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1848" y="1102294"/>
            <a:ext cx="10515600" cy="4351338"/>
          </a:xfrm>
        </p:spPr>
        <p:txBody>
          <a:bodyPr/>
          <a:lstStyle/>
          <a:p>
            <a:r>
              <a:rPr lang="en-US" dirty="0"/>
              <a:t>Advantages of Linear Search:</a:t>
            </a:r>
          </a:p>
          <a:p>
            <a:pPr lvl="1"/>
            <a:r>
              <a:rPr lang="en-US" dirty="0"/>
              <a:t>Very simple approach.</a:t>
            </a:r>
            <a:endParaRPr lang="en-US" sz="2000" dirty="0"/>
          </a:p>
          <a:p>
            <a:pPr lvl="1"/>
            <a:r>
              <a:rPr lang="en-US" dirty="0"/>
              <a:t>Used to search when elements are not sorted.</a:t>
            </a:r>
            <a:endParaRPr lang="en-US" sz="2000" dirty="0"/>
          </a:p>
          <a:p>
            <a:endParaRPr lang="en-US" dirty="0"/>
          </a:p>
          <a:p>
            <a:r>
              <a:rPr lang="en-US" dirty="0"/>
              <a:t>Disadvantages of Linear Search:</a:t>
            </a:r>
          </a:p>
          <a:p>
            <a:pPr lvl="1"/>
            <a:r>
              <a:rPr lang="en-US" dirty="0"/>
              <a:t>Less efficient if the array is large</a:t>
            </a:r>
          </a:p>
          <a:p>
            <a:pPr lvl="1"/>
            <a:r>
              <a:rPr lang="en-US" dirty="0"/>
              <a:t>If the elements are already sorted, linear search is not efficient.</a:t>
            </a:r>
          </a:p>
          <a:p>
            <a:pPr marL="0" indent="0">
              <a:buNone/>
            </a:pPr>
            <a:endParaRPr lang="en-US" dirty="0"/>
          </a:p>
          <a:p>
            <a:endParaRPr lang="en-US" dirty="0"/>
          </a:p>
        </p:txBody>
      </p:sp>
    </p:spTree>
    <p:extLst>
      <p:ext uri="{BB962C8B-B14F-4D97-AF65-F5344CB8AC3E}">
        <p14:creationId xmlns:p14="http://schemas.microsoft.com/office/powerpoint/2010/main" val="532708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US" sz="4000" b="1" dirty="0">
                <a:latin typeface="Times New Roman" panose="02020603050405020304" pitchFamily="18" charset="0"/>
                <a:cs typeface="Times New Roman" panose="02020603050405020304" pitchFamily="18" charset="0"/>
              </a:rPr>
              <a:t>Binary Search:</a:t>
            </a:r>
            <a:br>
              <a:rPr lang="en-US" sz="1600" u="heavy" dirty="0"/>
            </a:br>
            <a:endParaRPr lang="en-US" dirty="0"/>
          </a:p>
        </p:txBody>
      </p:sp>
      <p:sp>
        <p:nvSpPr>
          <p:cNvPr id="3" name="Content Placeholder 2"/>
          <p:cNvSpPr>
            <a:spLocks noGrp="1"/>
          </p:cNvSpPr>
          <p:nvPr>
            <p:ph idx="1"/>
          </p:nvPr>
        </p:nvSpPr>
        <p:spPr>
          <a:xfrm>
            <a:off x="838200" y="1347952"/>
            <a:ext cx="10857931" cy="4930017"/>
          </a:xfrm>
        </p:spPr>
        <p:txBody>
          <a:bodyPr>
            <a:normAutofit fontScale="92500" lnSpcReduction="10000"/>
          </a:bodyPr>
          <a:lstStyle/>
          <a:p>
            <a:pPr lvl="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Binary search is a simple and very efficient searching technique which can be applied if the items are arranged in either ascending or descending order.</a:t>
            </a:r>
          </a:p>
          <a:p>
            <a:pPr lvl="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In binary search first element is considered as low and last element is considered as high.</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Position of middle element is found by taking first and last element is as follows.</a:t>
            </a:r>
          </a:p>
          <a:p>
            <a:pPr marL="0" indent="0" algn="just">
              <a:buNone/>
            </a:pPr>
            <a:r>
              <a:rPr lang="en-US" sz="2600" dirty="0">
                <a:latin typeface="Times New Roman" panose="02020603050405020304" pitchFamily="18" charset="0"/>
                <a:cs typeface="Times New Roman" panose="02020603050405020304" pitchFamily="18" charset="0"/>
              </a:rPr>
              <a:t>			mid=(</a:t>
            </a:r>
            <a:r>
              <a:rPr lang="en-US" sz="2600" dirty="0" err="1">
                <a:latin typeface="Times New Roman" panose="02020603050405020304" pitchFamily="18" charset="0"/>
                <a:cs typeface="Times New Roman" panose="02020603050405020304" pitchFamily="18" charset="0"/>
              </a:rPr>
              <a:t>low+high</a:t>
            </a:r>
            <a:r>
              <a:rPr lang="en-US" sz="2600" dirty="0">
                <a:latin typeface="Times New Roman" panose="02020603050405020304" pitchFamily="18" charset="0"/>
                <a:cs typeface="Times New Roman" panose="02020603050405020304" pitchFamily="18" charset="0"/>
              </a:rPr>
              <a:t>)/2</a:t>
            </a:r>
          </a:p>
          <a:p>
            <a:pPr lvl="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Mid element is compared with key element, if they are same, the search is successful.</a:t>
            </a:r>
          </a:p>
          <a:p>
            <a:pPr lvl="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Otherwise if key element is less than middle element then searching continues in left part of the array.</a:t>
            </a:r>
          </a:p>
          <a:p>
            <a:pPr lvl="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If key element is greater than middle element then searching continues in right part of the array.</a:t>
            </a:r>
          </a:p>
          <a:p>
            <a:pPr lvl="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procedure is repeated till key item is found or key item is not found.</a:t>
            </a: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1004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Advantages of binary search</a:t>
            </a:r>
          </a:p>
          <a:p>
            <a:pPr lvl="1" algn="just"/>
            <a:r>
              <a:rPr lang="en-US" sz="2800" dirty="0">
                <a:latin typeface="Times New Roman" panose="02020603050405020304" pitchFamily="18" charset="0"/>
                <a:cs typeface="Times New Roman" panose="02020603050405020304" pitchFamily="18" charset="0"/>
              </a:rPr>
              <a:t>Simple technique</a:t>
            </a:r>
          </a:p>
          <a:p>
            <a:pPr lvl="1" algn="just"/>
            <a:r>
              <a:rPr lang="en-US" sz="2800" dirty="0">
                <a:latin typeface="Times New Roman" panose="02020603050405020304" pitchFamily="18" charset="0"/>
                <a:cs typeface="Times New Roman" panose="02020603050405020304" pitchFamily="18" charset="0"/>
              </a:rPr>
              <a:t>Very efficient searching technique </a:t>
            </a:r>
          </a:p>
          <a:p>
            <a:pPr lvl="0" algn="just"/>
            <a:r>
              <a:rPr lang="en-US" b="1" dirty="0">
                <a:latin typeface="Times New Roman" panose="02020603050405020304" pitchFamily="18" charset="0"/>
                <a:cs typeface="Times New Roman" panose="02020603050405020304" pitchFamily="18" charset="0"/>
              </a:rPr>
              <a:t>Disadvantages</a:t>
            </a:r>
          </a:p>
          <a:p>
            <a:pPr lvl="1" algn="just"/>
            <a:r>
              <a:rPr lang="en-US" sz="2800" dirty="0">
                <a:latin typeface="Times New Roman" panose="02020603050405020304" pitchFamily="18" charset="0"/>
                <a:cs typeface="Times New Roman" panose="02020603050405020304" pitchFamily="18" charset="0"/>
              </a:rPr>
              <a:t>The elements should be sorted.</a:t>
            </a:r>
          </a:p>
          <a:p>
            <a:pPr lvl="1" algn="just"/>
            <a:r>
              <a:rPr lang="en-US" sz="2800" dirty="0">
                <a:latin typeface="Times New Roman" panose="02020603050405020304" pitchFamily="18" charset="0"/>
                <a:cs typeface="Times New Roman" panose="02020603050405020304" pitchFamily="18" charset="0"/>
              </a:rPr>
              <a:t>It is necessary to obtain the middle element, which are stored in array. If the elements are stored in linked list, this method cannot be used.</a:t>
            </a:r>
          </a:p>
          <a:p>
            <a:pPr marL="0" indent="0">
              <a:buNone/>
            </a:pPr>
            <a:r>
              <a:rPr lang="en-US" dirty="0"/>
              <a:t>For example: Refer lab program</a:t>
            </a:r>
          </a:p>
        </p:txBody>
      </p:sp>
    </p:spTree>
    <p:extLst>
      <p:ext uri="{BB962C8B-B14F-4D97-AF65-F5344CB8AC3E}">
        <p14:creationId xmlns:p14="http://schemas.microsoft.com/office/powerpoint/2010/main" val="894406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US" sz="3600" b="1" dirty="0">
                <a:latin typeface="Times New Roman" panose="02020603050405020304" pitchFamily="18" charset="0"/>
                <a:cs typeface="Times New Roman" panose="02020603050405020304" pitchFamily="18" charset="0"/>
              </a:rPr>
              <a:t>Sorting</a:t>
            </a:r>
            <a:br>
              <a:rPr lang="en-US" b="1" u="sng" dirty="0"/>
            </a:br>
            <a:endParaRPr lang="en-US" dirty="0"/>
          </a:p>
        </p:txBody>
      </p:sp>
      <p:sp>
        <p:nvSpPr>
          <p:cNvPr id="3" name="Content Placeholder 2"/>
          <p:cNvSpPr>
            <a:spLocks noGrp="1"/>
          </p:cNvSpPr>
          <p:nvPr>
            <p:ph idx="1"/>
          </p:nvPr>
        </p:nvSpPr>
        <p:spPr/>
        <p:txBody>
          <a:bodyPr/>
          <a:lstStyle/>
          <a:p>
            <a:pPr lvl="0"/>
            <a:r>
              <a:rPr lang="en-US" dirty="0"/>
              <a:t>The process of arranging elements in either ascending order or descending order is called Sorting.</a:t>
            </a:r>
          </a:p>
          <a:p>
            <a:r>
              <a:rPr lang="en-US" b="1" u="heavy" dirty="0"/>
              <a:t>Bubble Sort</a:t>
            </a:r>
            <a:endParaRPr lang="en-US" dirty="0"/>
          </a:p>
          <a:p>
            <a:pPr lvl="0"/>
            <a:r>
              <a:rPr lang="en-US" dirty="0"/>
              <a:t>This is the simplest and easiest sorting technique.</a:t>
            </a:r>
          </a:p>
          <a:p>
            <a:pPr lvl="0">
              <a:buFont typeface="Wingdings" panose="05000000000000000000" pitchFamily="2" charset="2"/>
              <a:buChar char="Ø"/>
            </a:pPr>
            <a:r>
              <a:rPr lang="en-US" dirty="0"/>
              <a:t>In this technique two successive elements of an array such as a[j] and a[j+1] are compared.</a:t>
            </a:r>
          </a:p>
          <a:p>
            <a:pPr>
              <a:buFont typeface="Wingdings" panose="05000000000000000000" pitchFamily="2" charset="2"/>
              <a:buChar char="Ø"/>
            </a:pPr>
            <a:r>
              <a:rPr lang="en-US" dirty="0"/>
              <a:t>If a[j]&gt;=a[j+1] the they are exchanged, this process repeats till all elements of an array are arranged in ascending order.</a:t>
            </a:r>
          </a:p>
        </p:txBody>
      </p:sp>
    </p:spTree>
    <p:extLst>
      <p:ext uri="{BB962C8B-B14F-4D97-AF65-F5344CB8AC3E}">
        <p14:creationId xmlns:p14="http://schemas.microsoft.com/office/powerpoint/2010/main" val="3073190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2955"/>
            <a:ext cx="10515600" cy="5904008"/>
          </a:xfrm>
        </p:spPr>
        <p:txBody>
          <a:bodyPr/>
          <a:lstStyle/>
          <a:p>
            <a:pPr lvl="0"/>
            <a:r>
              <a:rPr lang="en-US" dirty="0"/>
              <a:t>After each pass the largest element in the array is sinks at the bottom and the smallest element in the array is bubble towards top. So this sorting technique is also called as sinking sort and bubble sort.</a:t>
            </a:r>
          </a:p>
          <a:p>
            <a:pPr lvl="0"/>
            <a:r>
              <a:rPr lang="en-US" dirty="0"/>
              <a:t>Bubble Sort algorithm compares each pair of adjacent (</a:t>
            </a:r>
            <a:r>
              <a:rPr lang="en-US" dirty="0" err="1"/>
              <a:t>neighbouring</a:t>
            </a:r>
            <a:r>
              <a:rPr lang="en-US" dirty="0"/>
              <a:t>) elements and the elements are swapped if they are not in ascending order.</a:t>
            </a:r>
          </a:p>
          <a:p>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6470" y="2741565"/>
            <a:ext cx="8227965" cy="3331689"/>
          </a:xfrm>
          <a:prstGeom prst="rect">
            <a:avLst/>
          </a:prstGeom>
        </p:spPr>
      </p:pic>
    </p:spTree>
    <p:extLst>
      <p:ext uri="{BB962C8B-B14F-4D97-AF65-F5344CB8AC3E}">
        <p14:creationId xmlns:p14="http://schemas.microsoft.com/office/powerpoint/2010/main" val="1493226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680679"/>
          </a:xfrm>
        </p:spPr>
        <p:txBody>
          <a:bodyPr>
            <a:normAutofit fontScale="90000"/>
          </a:bodyPr>
          <a:lstStyle/>
          <a:p>
            <a:r>
              <a:rPr lang="en-US" dirty="0"/>
              <a:t>Two-Dimensional Array</a:t>
            </a:r>
          </a:p>
        </p:txBody>
      </p:sp>
      <p:sp>
        <p:nvSpPr>
          <p:cNvPr id="3" name="Subtitle 2"/>
          <p:cNvSpPr>
            <a:spLocks noGrp="1"/>
          </p:cNvSpPr>
          <p:nvPr>
            <p:ph type="subTitle" idx="1"/>
          </p:nvPr>
        </p:nvSpPr>
        <p:spPr>
          <a:xfrm>
            <a:off x="762000" y="2308394"/>
            <a:ext cx="10668000" cy="3003997"/>
          </a:xfrm>
        </p:spPr>
        <p:txBody>
          <a:bodyPr>
            <a:normAutofit lnSpcReduction="10000"/>
          </a:bodyPr>
          <a:lstStyle/>
          <a:p>
            <a:pPr marL="0" lvl="2" algn="just">
              <a:spcBef>
                <a:spcPts val="1000"/>
              </a:spcBef>
            </a:pPr>
            <a:r>
              <a:rPr lang="en-US" sz="2800" dirty="0"/>
              <a:t>In two dimensional arrays, elements will be arranged in rows and columns.</a:t>
            </a:r>
          </a:p>
          <a:p>
            <a:pPr marL="0" lvl="2" algn="just">
              <a:spcBef>
                <a:spcPts val="1000"/>
              </a:spcBef>
            </a:pPr>
            <a:r>
              <a:rPr lang="en-US" sz="2800" dirty="0"/>
              <a:t>To identify two dimensional arrays we will use two indices(say </a:t>
            </a:r>
            <a:r>
              <a:rPr lang="en-US" sz="2800" dirty="0" err="1"/>
              <a:t>i</a:t>
            </a:r>
            <a:r>
              <a:rPr lang="en-US" sz="2800" dirty="0"/>
              <a:t> and j) where I index indicates row number and j index indicates column number.</a:t>
            </a:r>
          </a:p>
          <a:p>
            <a:pPr marL="0" lvl="2" algn="just">
              <a:spcBef>
                <a:spcPts val="1000"/>
              </a:spcBef>
            </a:pPr>
            <a:r>
              <a:rPr lang="en-US" sz="2800" dirty="0"/>
              <a:t>Arrays which stores table of values of same data type is called two dimensional array. It has 2 sets of [ ] brackets.</a:t>
            </a:r>
          </a:p>
          <a:p>
            <a:pPr algn="just"/>
            <a:endParaRPr lang="en-US" dirty="0"/>
          </a:p>
        </p:txBody>
      </p:sp>
    </p:spTree>
    <p:extLst>
      <p:ext uri="{BB962C8B-B14F-4D97-AF65-F5344CB8AC3E}">
        <p14:creationId xmlns:p14="http://schemas.microsoft.com/office/powerpoint/2010/main" val="3062629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l" rtl="0">
              <a:lnSpc>
                <a:spcPct val="90000"/>
              </a:lnSpc>
              <a:spcBef>
                <a:spcPct val="0"/>
              </a:spcBef>
            </a:pPr>
            <a:r>
              <a:rPr lang="en-US" sz="3200" b="1" dirty="0">
                <a:latin typeface="+mn-lt"/>
              </a:rPr>
              <a:t>Declaration of two dimensional array:</a:t>
            </a:r>
            <a:br>
              <a:rPr lang="en-US" sz="1600" dirty="0"/>
            </a:br>
            <a:endParaRPr lang="en-US" dirty="0"/>
          </a:p>
        </p:txBody>
      </p:sp>
      <p:sp>
        <p:nvSpPr>
          <p:cNvPr id="3" name="Content Placeholder 2"/>
          <p:cNvSpPr>
            <a:spLocks noGrp="1"/>
          </p:cNvSpPr>
          <p:nvPr>
            <p:ph idx="1"/>
          </p:nvPr>
        </p:nvSpPr>
        <p:spPr/>
        <p:txBody>
          <a:bodyPr/>
          <a:lstStyle/>
          <a:p>
            <a:pPr marL="0" indent="0" algn="ctr">
              <a:buNone/>
            </a:pPr>
            <a:r>
              <a:rPr lang="en-US" b="1" dirty="0" err="1"/>
              <a:t>data_type</a:t>
            </a:r>
            <a:r>
              <a:rPr lang="en-US" b="1" dirty="0"/>
              <a:t> </a:t>
            </a:r>
            <a:r>
              <a:rPr lang="en-US" b="1" dirty="0" err="1"/>
              <a:t>array_name</a:t>
            </a:r>
            <a:r>
              <a:rPr lang="en-US" b="1" dirty="0"/>
              <a:t>[exp1][exp2];</a:t>
            </a:r>
          </a:p>
          <a:p>
            <a:pPr marL="0" indent="0" algn="ctr">
              <a:buNone/>
            </a:pPr>
            <a:r>
              <a:rPr lang="en-US" b="1" dirty="0"/>
              <a:t>or</a:t>
            </a:r>
            <a:endParaRPr lang="en-US" dirty="0"/>
          </a:p>
          <a:p>
            <a:pPr marL="0" indent="0" algn="ctr">
              <a:buNone/>
            </a:pPr>
            <a:r>
              <a:rPr lang="en-US" b="1" dirty="0" err="1"/>
              <a:t>data_type</a:t>
            </a:r>
            <a:r>
              <a:rPr lang="en-US" b="1" dirty="0"/>
              <a:t> </a:t>
            </a:r>
            <a:r>
              <a:rPr lang="en-US" b="1" dirty="0" err="1"/>
              <a:t>array_name</a:t>
            </a:r>
            <a:r>
              <a:rPr lang="en-US" b="1" dirty="0"/>
              <a:t>[</a:t>
            </a:r>
            <a:r>
              <a:rPr lang="en-US" b="1" dirty="0" err="1"/>
              <a:t>row_size</a:t>
            </a:r>
            <a:r>
              <a:rPr lang="en-US" b="1" dirty="0"/>
              <a:t>][</a:t>
            </a:r>
            <a:r>
              <a:rPr lang="en-US" b="1" dirty="0" err="1"/>
              <a:t>column_size</a:t>
            </a:r>
            <a:r>
              <a:rPr lang="en-US" b="1" dirty="0"/>
              <a:t>];</a:t>
            </a:r>
          </a:p>
          <a:p>
            <a:pPr marL="0" indent="0" algn="ctr">
              <a:buNone/>
            </a:pPr>
            <a:endParaRPr lang="en-US" dirty="0"/>
          </a:p>
          <a:p>
            <a:r>
              <a:rPr lang="en-US" b="1" dirty="0" err="1"/>
              <a:t>data_type</a:t>
            </a:r>
            <a:r>
              <a:rPr lang="en-US" b="1" dirty="0"/>
              <a:t> </a:t>
            </a:r>
            <a:r>
              <a:rPr lang="en-US" dirty="0"/>
              <a:t>can be int,float,char,double.</a:t>
            </a:r>
          </a:p>
          <a:p>
            <a:r>
              <a:rPr lang="en-US" b="1" dirty="0"/>
              <a:t>array_name </a:t>
            </a:r>
            <a:r>
              <a:rPr lang="en-US" dirty="0"/>
              <a:t>is the name of the array.</a:t>
            </a:r>
          </a:p>
          <a:p>
            <a:r>
              <a:rPr lang="en-US" b="1" dirty="0"/>
              <a:t>exp1 and exp2 </a:t>
            </a:r>
            <a:r>
              <a:rPr lang="en-US" dirty="0"/>
              <a:t>indicates number of rows and columns</a:t>
            </a:r>
          </a:p>
          <a:p>
            <a:pPr marL="0" indent="0">
              <a:buNone/>
            </a:pPr>
            <a:endParaRPr lang="en-US" dirty="0"/>
          </a:p>
        </p:txBody>
      </p:sp>
    </p:spTree>
    <p:extLst>
      <p:ext uri="{BB962C8B-B14F-4D97-AF65-F5344CB8AC3E}">
        <p14:creationId xmlns:p14="http://schemas.microsoft.com/office/powerpoint/2010/main" val="3906458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2290" y="241522"/>
            <a:ext cx="10515600" cy="5863063"/>
          </a:xfrm>
        </p:spPr>
        <p:txBody>
          <a:bodyPr/>
          <a:lstStyle/>
          <a:p>
            <a:pPr marL="0" indent="0">
              <a:buNone/>
            </a:pPr>
            <a:r>
              <a:rPr lang="en-US" b="1" dirty="0"/>
              <a:t>Example</a:t>
            </a:r>
            <a:r>
              <a:rPr lang="en-US" dirty="0"/>
              <a:t>:</a:t>
            </a:r>
            <a:endParaRPr lang="en-US" sz="2400" dirty="0"/>
          </a:p>
          <a:p>
            <a:pPr marL="0" indent="0" algn="ctr">
              <a:buNone/>
            </a:pPr>
            <a:r>
              <a:rPr lang="en-US" b="1" dirty="0"/>
              <a:t>int a[2][3];</a:t>
            </a:r>
          </a:p>
          <a:p>
            <a:pPr marL="0" indent="0">
              <a:buNone/>
            </a:pPr>
            <a:r>
              <a:rPr lang="en-US" dirty="0"/>
              <a:t>The above statements allocates memory for 3*4=12 elements </a:t>
            </a:r>
            <a:r>
              <a:rPr lang="en-US" dirty="0" err="1"/>
              <a:t>i.e</a:t>
            </a:r>
            <a:r>
              <a:rPr lang="en-US" dirty="0"/>
              <a:t> 12*2=24 bytes.</a:t>
            </a:r>
            <a:endParaRPr lang="en-US" sz="1600" dirty="0"/>
          </a:p>
          <a:p>
            <a:r>
              <a:rPr lang="en-US" dirty="0"/>
              <a:t>a is a 2D array having 2 rows and 3 columns. While initializing a 2-D array it is necessary to mention the second (column) dimension, whereas the first dimension (row) is optional.</a:t>
            </a:r>
          </a:p>
          <a:p>
            <a:r>
              <a:rPr lang="en-US" dirty="0"/>
              <a:t>int a[2][3] can store 2*3=6 values.</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813756502"/>
              </p:ext>
            </p:extLst>
          </p:nvPr>
        </p:nvGraphicFramePr>
        <p:xfrm>
          <a:off x="3767745" y="4163407"/>
          <a:ext cx="4012565" cy="1297235"/>
        </p:xfrm>
        <a:graphic>
          <a:graphicData uri="http://schemas.openxmlformats.org/drawingml/2006/table">
            <a:tbl>
              <a:tblPr firstRow="1" firstCol="1" lastRow="1" lastCol="1" bandRow="1" bandCol="1">
                <a:tableStyleId>{5C22544A-7EE6-4342-B048-85BDC9FD1C3A}</a:tableStyleId>
              </a:tblPr>
              <a:tblGrid>
                <a:gridCol w="958850">
                  <a:extLst>
                    <a:ext uri="{9D8B030D-6E8A-4147-A177-3AD203B41FA5}">
                      <a16:colId xmlns:a16="http://schemas.microsoft.com/office/drawing/2014/main" val="20000"/>
                    </a:ext>
                  </a:extLst>
                </a:gridCol>
                <a:gridCol w="1017905">
                  <a:extLst>
                    <a:ext uri="{9D8B030D-6E8A-4147-A177-3AD203B41FA5}">
                      <a16:colId xmlns:a16="http://schemas.microsoft.com/office/drawing/2014/main" val="20001"/>
                    </a:ext>
                  </a:extLst>
                </a:gridCol>
                <a:gridCol w="1017905">
                  <a:extLst>
                    <a:ext uri="{9D8B030D-6E8A-4147-A177-3AD203B41FA5}">
                      <a16:colId xmlns:a16="http://schemas.microsoft.com/office/drawing/2014/main" val="20002"/>
                    </a:ext>
                  </a:extLst>
                </a:gridCol>
                <a:gridCol w="1017905">
                  <a:extLst>
                    <a:ext uri="{9D8B030D-6E8A-4147-A177-3AD203B41FA5}">
                      <a16:colId xmlns:a16="http://schemas.microsoft.com/office/drawing/2014/main" val="20003"/>
                    </a:ext>
                  </a:extLst>
                </a:gridCol>
              </a:tblGrid>
              <a:tr h="435545">
                <a:tc>
                  <a:txBody>
                    <a:bodyPr/>
                    <a:lstStyle/>
                    <a:p>
                      <a:pPr marL="0" marR="0">
                        <a:spcBef>
                          <a:spcPts val="0"/>
                        </a:spcBef>
                        <a:spcAft>
                          <a:spcPts val="0"/>
                        </a:spcAft>
                      </a:pPr>
                      <a:r>
                        <a:rPr lang="en-US" sz="10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265" marR="0">
                        <a:lnSpc>
                          <a:spcPts val="1285"/>
                        </a:lnSpc>
                        <a:spcBef>
                          <a:spcPts val="5"/>
                        </a:spcBef>
                        <a:spcAft>
                          <a:spcPts val="0"/>
                        </a:spcAft>
                      </a:pPr>
                      <a:r>
                        <a:rPr lang="en-US" sz="1200">
                          <a:effectLst/>
                        </a:rPr>
                        <a:t>Col0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900" marR="0">
                        <a:lnSpc>
                          <a:spcPts val="1285"/>
                        </a:lnSpc>
                        <a:spcBef>
                          <a:spcPts val="5"/>
                        </a:spcBef>
                        <a:spcAft>
                          <a:spcPts val="0"/>
                        </a:spcAft>
                      </a:pPr>
                      <a:r>
                        <a:rPr lang="en-US" sz="1200" dirty="0">
                          <a:effectLst/>
                        </a:rPr>
                        <a:t>Col1</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900" marR="0">
                        <a:lnSpc>
                          <a:spcPts val="1285"/>
                        </a:lnSpc>
                        <a:spcBef>
                          <a:spcPts val="5"/>
                        </a:spcBef>
                        <a:spcAft>
                          <a:spcPts val="0"/>
                        </a:spcAft>
                      </a:pPr>
                      <a:r>
                        <a:rPr lang="en-US" sz="1200">
                          <a:effectLst/>
                        </a:rPr>
                        <a:t>Col2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r h="430845">
                <a:tc>
                  <a:txBody>
                    <a:bodyPr/>
                    <a:lstStyle/>
                    <a:p>
                      <a:pPr marL="0" marR="243840" algn="r">
                        <a:lnSpc>
                          <a:spcPts val="1280"/>
                        </a:lnSpc>
                        <a:spcBef>
                          <a:spcPts val="0"/>
                        </a:spcBef>
                        <a:spcAft>
                          <a:spcPts val="0"/>
                        </a:spcAft>
                      </a:pPr>
                      <a:r>
                        <a:rPr lang="en-US" sz="1200">
                          <a:effectLst/>
                        </a:rPr>
                        <a:t>Row0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265" marR="0">
                        <a:lnSpc>
                          <a:spcPts val="1280"/>
                        </a:lnSpc>
                        <a:spcBef>
                          <a:spcPts val="0"/>
                        </a:spcBef>
                        <a:spcAft>
                          <a:spcPts val="0"/>
                        </a:spcAft>
                      </a:pPr>
                      <a:r>
                        <a:rPr lang="en-US" sz="1200">
                          <a:effectLst/>
                        </a:rPr>
                        <a:t>a[0][0]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900" marR="0">
                        <a:lnSpc>
                          <a:spcPts val="1280"/>
                        </a:lnSpc>
                        <a:spcBef>
                          <a:spcPts val="0"/>
                        </a:spcBef>
                        <a:spcAft>
                          <a:spcPts val="0"/>
                        </a:spcAft>
                      </a:pPr>
                      <a:r>
                        <a:rPr lang="en-US" sz="1200">
                          <a:effectLst/>
                        </a:rPr>
                        <a:t>a[0][1]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900" marR="0">
                        <a:lnSpc>
                          <a:spcPts val="1280"/>
                        </a:lnSpc>
                        <a:spcBef>
                          <a:spcPts val="0"/>
                        </a:spcBef>
                        <a:spcAft>
                          <a:spcPts val="0"/>
                        </a:spcAft>
                      </a:pPr>
                      <a:r>
                        <a:rPr lang="en-US" sz="1200">
                          <a:effectLst/>
                        </a:rPr>
                        <a:t>a[0][2]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1"/>
                  </a:ext>
                </a:extLst>
              </a:tr>
              <a:tr h="430845">
                <a:tc>
                  <a:txBody>
                    <a:bodyPr/>
                    <a:lstStyle/>
                    <a:p>
                      <a:pPr marL="0" marR="243840" algn="r">
                        <a:lnSpc>
                          <a:spcPts val="1280"/>
                        </a:lnSpc>
                        <a:spcBef>
                          <a:spcPts val="0"/>
                        </a:spcBef>
                        <a:spcAft>
                          <a:spcPts val="0"/>
                        </a:spcAft>
                      </a:pPr>
                      <a:r>
                        <a:rPr lang="en-US" sz="1200">
                          <a:effectLst/>
                        </a:rPr>
                        <a:t>Row1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265" marR="0">
                        <a:lnSpc>
                          <a:spcPts val="1280"/>
                        </a:lnSpc>
                        <a:spcBef>
                          <a:spcPts val="0"/>
                        </a:spcBef>
                        <a:spcAft>
                          <a:spcPts val="0"/>
                        </a:spcAft>
                      </a:pPr>
                      <a:r>
                        <a:rPr lang="en-US" sz="1200">
                          <a:effectLst/>
                        </a:rPr>
                        <a:t>a[1][0]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900" marR="0">
                        <a:lnSpc>
                          <a:spcPts val="1280"/>
                        </a:lnSpc>
                        <a:spcBef>
                          <a:spcPts val="0"/>
                        </a:spcBef>
                        <a:spcAft>
                          <a:spcPts val="0"/>
                        </a:spcAft>
                      </a:pPr>
                      <a:r>
                        <a:rPr lang="en-US" sz="1200">
                          <a:effectLst/>
                        </a:rPr>
                        <a:t>a[1][1]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42900" marR="0">
                        <a:lnSpc>
                          <a:spcPts val="1280"/>
                        </a:lnSpc>
                        <a:spcBef>
                          <a:spcPts val="0"/>
                        </a:spcBef>
                        <a:spcAft>
                          <a:spcPts val="0"/>
                        </a:spcAft>
                      </a:pPr>
                      <a:r>
                        <a:rPr lang="en-US" sz="1200" dirty="0">
                          <a:effectLst/>
                        </a:rPr>
                        <a:t>a[1][2]</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40958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lstStyle/>
          <a:p>
            <a:r>
              <a:rPr lang="en-US" dirty="0"/>
              <a:t>Initialization of 2D Array</a:t>
            </a:r>
          </a:p>
        </p:txBody>
      </p:sp>
      <p:sp>
        <p:nvSpPr>
          <p:cNvPr id="3" name="Content Placeholder 2"/>
          <p:cNvSpPr>
            <a:spLocks noGrp="1"/>
          </p:cNvSpPr>
          <p:nvPr>
            <p:ph idx="1"/>
          </p:nvPr>
        </p:nvSpPr>
        <p:spPr>
          <a:xfrm>
            <a:off x="838200" y="1378039"/>
            <a:ext cx="10515600" cy="4798924"/>
          </a:xfrm>
        </p:spPr>
        <p:txBody>
          <a:bodyPr>
            <a:normAutofit lnSpcReduction="10000"/>
          </a:bodyPr>
          <a:lstStyle/>
          <a:p>
            <a:r>
              <a:rPr lang="en-US" dirty="0"/>
              <a:t>Two dimensional arrays can be initialized in 2 ways </a:t>
            </a:r>
          </a:p>
          <a:p>
            <a:pPr marL="0" indent="0">
              <a:buNone/>
            </a:pPr>
            <a:r>
              <a:rPr lang="en-US" dirty="0"/>
              <a:t>1)At compile time</a:t>
            </a:r>
          </a:p>
          <a:p>
            <a:pPr marL="0" indent="0">
              <a:buNone/>
            </a:pPr>
            <a:r>
              <a:rPr lang="en-US" dirty="0"/>
              <a:t>2)At run time</a:t>
            </a:r>
          </a:p>
          <a:p>
            <a:pPr marL="0" lvl="0" indent="0">
              <a:buNone/>
            </a:pPr>
            <a:r>
              <a:rPr lang="en-US" b="1" dirty="0"/>
              <a:t>1.Compile Time initialization</a:t>
            </a:r>
          </a:p>
          <a:p>
            <a:pPr marL="0" indent="0">
              <a:buNone/>
            </a:pPr>
            <a:r>
              <a:rPr lang="en-US" dirty="0"/>
              <a:t>Different methods used to initialize 2D array are as follow:</a:t>
            </a:r>
          </a:p>
          <a:p>
            <a:pPr marL="571500" lvl="0" indent="-571500">
              <a:buAutoNum type="romanLcPeriod"/>
            </a:pPr>
            <a:r>
              <a:rPr lang="en-US" b="1" dirty="0"/>
              <a:t>Basic initialization: </a:t>
            </a:r>
            <a:r>
              <a:rPr lang="en-US" dirty="0"/>
              <a:t>Mentioning the array size and all the values at the time of declaration. </a:t>
            </a:r>
            <a:r>
              <a:rPr lang="en-US" b="1" dirty="0"/>
              <a:t>Example</a:t>
            </a:r>
            <a:r>
              <a:rPr lang="en-US" dirty="0"/>
              <a:t>: int a[2][3]={6,4,2,1,8,26};</a:t>
            </a:r>
          </a:p>
          <a:p>
            <a:pPr marL="571500" lvl="0" indent="-571500">
              <a:buAutoNum type="romanLcPeriod"/>
            </a:pPr>
            <a:r>
              <a:rPr lang="en-US" b="1" dirty="0"/>
              <a:t>Initialization without size: While</a:t>
            </a:r>
            <a:r>
              <a:rPr lang="en-US" dirty="0"/>
              <a:t> initializing a 2-D array it is necessary to mention the second (column) dimension, whereas the first dimension (row) is optional.</a:t>
            </a:r>
          </a:p>
          <a:p>
            <a:pPr marL="0" indent="0">
              <a:buNone/>
            </a:pPr>
            <a:r>
              <a:rPr lang="en-US" b="1" dirty="0"/>
              <a:t>	Example</a:t>
            </a:r>
            <a:r>
              <a:rPr lang="en-US" dirty="0"/>
              <a:t>: int a[][3]={6,4,2,1,8,26};</a:t>
            </a:r>
          </a:p>
        </p:txBody>
      </p:sp>
    </p:spTree>
    <p:extLst>
      <p:ext uri="{BB962C8B-B14F-4D97-AF65-F5344CB8AC3E}">
        <p14:creationId xmlns:p14="http://schemas.microsoft.com/office/powerpoint/2010/main" val="3302117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3487"/>
            <a:ext cx="10515600" cy="5803476"/>
          </a:xfrm>
        </p:spPr>
        <p:txBody>
          <a:bodyPr>
            <a:normAutofit fontScale="77500" lnSpcReduction="20000"/>
          </a:bodyPr>
          <a:lstStyle/>
          <a:p>
            <a:pPr marL="0" indent="0">
              <a:buNone/>
            </a:pPr>
            <a:r>
              <a:rPr lang="en-US" b="1" dirty="0"/>
              <a:t>Partial initialization</a:t>
            </a:r>
            <a:r>
              <a:rPr lang="en-US" dirty="0"/>
              <a:t>: can initialize the array elements partially as in the below example. </a:t>
            </a:r>
          </a:p>
          <a:p>
            <a:pPr marL="0" indent="0">
              <a:buNone/>
            </a:pPr>
            <a:r>
              <a:rPr lang="en-US" dirty="0"/>
              <a:t>int a[2][3]={{1,2},{5}};</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lvl="0" indent="0">
              <a:buNone/>
            </a:pPr>
            <a:r>
              <a:rPr lang="en-US" b="1" dirty="0"/>
              <a:t>2. At run time:</a:t>
            </a:r>
          </a:p>
          <a:p>
            <a:pPr marL="0" indent="0">
              <a:buNone/>
            </a:pPr>
            <a:r>
              <a:rPr lang="en-US" dirty="0"/>
              <a:t>Two for loops are needed to initialize two dimensional array at runtime. for(</a:t>
            </a:r>
            <a:r>
              <a:rPr lang="en-US" dirty="0" err="1"/>
              <a:t>i</a:t>
            </a:r>
            <a:r>
              <a:rPr lang="en-US" dirty="0"/>
              <a:t>=0;i&lt;</a:t>
            </a:r>
            <a:r>
              <a:rPr lang="en-US" dirty="0" err="1"/>
              <a:t>m;i</a:t>
            </a:r>
            <a:r>
              <a:rPr lang="en-US" dirty="0"/>
              <a:t>++)</a:t>
            </a:r>
          </a:p>
          <a:p>
            <a:pPr marL="0" indent="0">
              <a:buNone/>
            </a:pPr>
            <a:r>
              <a:rPr lang="en-US" dirty="0"/>
              <a:t>{</a:t>
            </a:r>
          </a:p>
          <a:p>
            <a:pPr marL="0" indent="0">
              <a:buNone/>
            </a:pPr>
            <a:r>
              <a:rPr lang="en-US" dirty="0"/>
              <a:t>for(j=0;j&lt;</a:t>
            </a:r>
            <a:r>
              <a:rPr lang="en-US" dirty="0" err="1"/>
              <a:t>n;j</a:t>
            </a:r>
            <a:r>
              <a:rPr lang="en-US" dirty="0"/>
              <a:t>++)</a:t>
            </a:r>
          </a:p>
          <a:p>
            <a:pPr marL="0" indent="0">
              <a:buNone/>
            </a:pPr>
            <a:r>
              <a:rPr lang="en-US" dirty="0"/>
              <a:t>{</a:t>
            </a:r>
          </a:p>
          <a:p>
            <a:pPr marL="0" indent="0">
              <a:buNone/>
            </a:pPr>
            <a:r>
              <a:rPr lang="en-US" dirty="0" err="1"/>
              <a:t>scanf</a:t>
            </a:r>
            <a:r>
              <a:rPr lang="en-US" dirty="0"/>
              <a:t>(“%</a:t>
            </a:r>
            <a:r>
              <a:rPr lang="en-US" dirty="0" err="1"/>
              <a:t>d”,&amp;a</a:t>
            </a:r>
            <a:r>
              <a:rPr lang="en-US" dirty="0"/>
              <a:t>[</a:t>
            </a:r>
            <a:r>
              <a:rPr lang="en-US" dirty="0" err="1"/>
              <a:t>i</a:t>
            </a:r>
            <a:r>
              <a:rPr lang="en-US" dirty="0"/>
              <a:t>][j]);</a:t>
            </a:r>
          </a:p>
          <a:p>
            <a:pPr marL="0" indent="0">
              <a:buNone/>
            </a:pPr>
            <a:r>
              <a:rPr lang="en-US" dirty="0"/>
              <a:t>}</a:t>
            </a:r>
          </a:p>
          <a:p>
            <a:pPr marL="0" indent="0">
              <a:buNone/>
            </a:pPr>
            <a:r>
              <a:rPr lang="en-US" dirty="0"/>
              <a:t>}</a:t>
            </a:r>
          </a:p>
          <a:p>
            <a:pPr marL="0" indent="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275919377"/>
              </p:ext>
            </p:extLst>
          </p:nvPr>
        </p:nvGraphicFramePr>
        <p:xfrm>
          <a:off x="3506214" y="1596980"/>
          <a:ext cx="3821864" cy="1056068"/>
        </p:xfrm>
        <a:graphic>
          <a:graphicData uri="http://schemas.openxmlformats.org/drawingml/2006/table">
            <a:tbl>
              <a:tblPr firstRow="1" firstCol="1" lastRow="1" lastCol="1" bandRow="1" bandCol="1">
                <a:tableStyleId>{5C22544A-7EE6-4342-B048-85BDC9FD1C3A}</a:tableStyleId>
              </a:tblPr>
              <a:tblGrid>
                <a:gridCol w="1008390">
                  <a:extLst>
                    <a:ext uri="{9D8B030D-6E8A-4147-A177-3AD203B41FA5}">
                      <a16:colId xmlns:a16="http://schemas.microsoft.com/office/drawing/2014/main" val="20000"/>
                    </a:ext>
                  </a:extLst>
                </a:gridCol>
                <a:gridCol w="936934">
                  <a:extLst>
                    <a:ext uri="{9D8B030D-6E8A-4147-A177-3AD203B41FA5}">
                      <a16:colId xmlns:a16="http://schemas.microsoft.com/office/drawing/2014/main" val="20001"/>
                    </a:ext>
                  </a:extLst>
                </a:gridCol>
                <a:gridCol w="938270">
                  <a:extLst>
                    <a:ext uri="{9D8B030D-6E8A-4147-A177-3AD203B41FA5}">
                      <a16:colId xmlns:a16="http://schemas.microsoft.com/office/drawing/2014/main" val="20002"/>
                    </a:ext>
                  </a:extLst>
                </a:gridCol>
                <a:gridCol w="938270">
                  <a:extLst>
                    <a:ext uri="{9D8B030D-6E8A-4147-A177-3AD203B41FA5}">
                      <a16:colId xmlns:a16="http://schemas.microsoft.com/office/drawing/2014/main" val="20003"/>
                    </a:ext>
                  </a:extLst>
                </a:gridCol>
              </a:tblGrid>
              <a:tr h="352823">
                <a:tc>
                  <a:txBody>
                    <a:bodyPr/>
                    <a:lstStyle/>
                    <a:p>
                      <a:pPr marL="0" marR="0">
                        <a:spcBef>
                          <a:spcPts val="0"/>
                        </a:spcBef>
                        <a:spcAft>
                          <a:spcPts val="0"/>
                        </a:spcAft>
                      </a:pPr>
                      <a:r>
                        <a:rPr lang="en-US" sz="11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5145" marR="0">
                        <a:lnSpc>
                          <a:spcPts val="1375"/>
                        </a:lnSpc>
                        <a:spcBef>
                          <a:spcPts val="0"/>
                        </a:spcBef>
                        <a:spcAft>
                          <a:spcPts val="0"/>
                        </a:spcAft>
                      </a:pPr>
                      <a:r>
                        <a:rPr lang="en-US" sz="1200">
                          <a:effectLst/>
                        </a:rPr>
                        <a:t>Col0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5780" marR="0">
                        <a:lnSpc>
                          <a:spcPts val="1375"/>
                        </a:lnSpc>
                        <a:spcBef>
                          <a:spcPts val="0"/>
                        </a:spcBef>
                        <a:spcAft>
                          <a:spcPts val="0"/>
                        </a:spcAft>
                      </a:pPr>
                      <a:r>
                        <a:rPr lang="en-US" sz="1200">
                          <a:effectLst/>
                        </a:rPr>
                        <a:t>Col1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3875" marR="0">
                        <a:lnSpc>
                          <a:spcPts val="1375"/>
                        </a:lnSpc>
                        <a:spcBef>
                          <a:spcPts val="0"/>
                        </a:spcBef>
                        <a:spcAft>
                          <a:spcPts val="0"/>
                        </a:spcAft>
                      </a:pPr>
                      <a:r>
                        <a:rPr lang="en-US" sz="1200">
                          <a:effectLst/>
                        </a:rPr>
                        <a:t>Col2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r h="336022">
                <a:tc>
                  <a:txBody>
                    <a:bodyPr/>
                    <a:lstStyle/>
                    <a:p>
                      <a:pPr marL="0" marR="60960" algn="r">
                        <a:lnSpc>
                          <a:spcPts val="1300"/>
                        </a:lnSpc>
                        <a:spcBef>
                          <a:spcPts val="0"/>
                        </a:spcBef>
                        <a:spcAft>
                          <a:spcPts val="0"/>
                        </a:spcAft>
                      </a:pPr>
                      <a:r>
                        <a:rPr lang="en-US" sz="1200">
                          <a:effectLst/>
                        </a:rPr>
                        <a:t>Row0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5145" marR="0">
                        <a:lnSpc>
                          <a:spcPts val="1300"/>
                        </a:lnSpc>
                        <a:spcBef>
                          <a:spcPts val="0"/>
                        </a:spcBef>
                        <a:spcAft>
                          <a:spcPts val="0"/>
                        </a:spcAft>
                      </a:pPr>
                      <a:r>
                        <a:rPr lang="en-US" sz="1200">
                          <a:effectLst/>
                        </a:rPr>
                        <a:t>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5780" marR="0">
                        <a:lnSpc>
                          <a:spcPts val="1300"/>
                        </a:lnSpc>
                        <a:spcBef>
                          <a:spcPts val="0"/>
                        </a:spcBef>
                        <a:spcAft>
                          <a:spcPts val="0"/>
                        </a:spcAft>
                      </a:pPr>
                      <a:r>
                        <a:rPr lang="en-US" sz="1200">
                          <a:effectLst/>
                        </a:rPr>
                        <a:t>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3875" marR="0">
                        <a:lnSpc>
                          <a:spcPts val="1300"/>
                        </a:lnSpc>
                        <a:spcBef>
                          <a:spcPts val="0"/>
                        </a:spcBef>
                        <a:spcAft>
                          <a:spcPts val="0"/>
                        </a:spcAft>
                      </a:pPr>
                      <a:r>
                        <a:rPr lang="en-US" sz="1200" dirty="0">
                          <a:effectLst/>
                        </a:rPr>
                        <a:t>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1"/>
                  </a:ext>
                </a:extLst>
              </a:tr>
              <a:tr h="367223">
                <a:tc>
                  <a:txBody>
                    <a:bodyPr/>
                    <a:lstStyle/>
                    <a:p>
                      <a:pPr marL="0" marR="60960" algn="r">
                        <a:lnSpc>
                          <a:spcPts val="1375"/>
                        </a:lnSpc>
                        <a:spcBef>
                          <a:spcPts val="0"/>
                        </a:spcBef>
                        <a:spcAft>
                          <a:spcPts val="0"/>
                        </a:spcAft>
                      </a:pPr>
                      <a:r>
                        <a:rPr lang="en-US" sz="1200">
                          <a:effectLst/>
                        </a:rPr>
                        <a:t>Row1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5145" marR="0">
                        <a:lnSpc>
                          <a:spcPts val="1375"/>
                        </a:lnSpc>
                        <a:spcBef>
                          <a:spcPts val="0"/>
                        </a:spcBef>
                        <a:spcAft>
                          <a:spcPts val="0"/>
                        </a:spcAft>
                      </a:pPr>
                      <a:r>
                        <a:rPr lang="en-US" sz="1200">
                          <a:effectLst/>
                        </a:rPr>
                        <a:t>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5780" marR="0">
                        <a:lnSpc>
                          <a:spcPts val="1375"/>
                        </a:lnSpc>
                        <a:spcBef>
                          <a:spcPts val="0"/>
                        </a:spcBef>
                        <a:spcAft>
                          <a:spcPts val="0"/>
                        </a:spcAft>
                      </a:pPr>
                      <a:r>
                        <a:rPr lang="en-US" sz="1200">
                          <a:effectLst/>
                        </a:rPr>
                        <a:t>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23875" marR="0">
                        <a:lnSpc>
                          <a:spcPts val="1375"/>
                        </a:lnSpc>
                        <a:spcBef>
                          <a:spcPts val="0"/>
                        </a:spcBef>
                        <a:spcAft>
                          <a:spcPts val="0"/>
                        </a:spcAft>
                      </a:pPr>
                      <a:r>
                        <a:rPr lang="en-US" sz="1200" dirty="0">
                          <a:effectLst/>
                        </a:rPr>
                        <a:t>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85391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4699"/>
            <a:ext cx="10515600" cy="5932264"/>
          </a:xfrm>
        </p:spPr>
        <p:txBody>
          <a:bodyPr/>
          <a:lstStyle/>
          <a:p>
            <a:r>
              <a:rPr lang="en-US" b="1" u="heavy" dirty="0"/>
              <a:t>Initialization of two-dimensional array</a:t>
            </a:r>
          </a:p>
          <a:p>
            <a:r>
              <a:rPr lang="en-US" dirty="0"/>
              <a:t>Assigning or providing the required values to a variable before processing is called initialization. Example</a:t>
            </a:r>
          </a:p>
          <a:p>
            <a:pPr marL="0" indent="0">
              <a:buNone/>
            </a:pPr>
            <a:r>
              <a:rPr lang="en-US" b="1" dirty="0"/>
              <a:t>int a[3][3]={</a:t>
            </a:r>
          </a:p>
          <a:p>
            <a:pPr marL="0" indent="0">
              <a:buNone/>
            </a:pPr>
            <a:r>
              <a:rPr lang="en-US" b="1" dirty="0"/>
              <a:t>		{10,20,30},</a:t>
            </a:r>
            <a:endParaRPr lang="en-US" dirty="0"/>
          </a:p>
          <a:p>
            <a:pPr marL="0" indent="0">
              <a:buNone/>
            </a:pPr>
            <a:r>
              <a:rPr lang="en-US" b="1" dirty="0"/>
              <a:t>		{40,50,60},</a:t>
            </a:r>
            <a:endParaRPr lang="en-US" dirty="0"/>
          </a:p>
          <a:p>
            <a:pPr marL="0" indent="0">
              <a:buNone/>
            </a:pPr>
            <a:r>
              <a:rPr lang="en-US" b="1" dirty="0"/>
              <a:t>		{70,80,90}</a:t>
            </a:r>
            <a:endParaRPr lang="en-US" dirty="0"/>
          </a:p>
          <a:p>
            <a:pPr marL="0" indent="0">
              <a:buNone/>
            </a:pPr>
            <a:r>
              <a:rPr lang="en-US" b="1" dirty="0"/>
              <a:t>		};</a:t>
            </a:r>
            <a:endParaRPr lang="en-US" dirty="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4113698491"/>
              </p:ext>
            </p:extLst>
          </p:nvPr>
        </p:nvGraphicFramePr>
        <p:xfrm>
          <a:off x="2537137" y="4685824"/>
          <a:ext cx="3451538" cy="1277095"/>
        </p:xfrm>
        <a:graphic>
          <a:graphicData uri="http://schemas.openxmlformats.org/drawingml/2006/table">
            <a:tbl>
              <a:tblPr firstRow="1" firstCol="1" lastRow="1" lastCol="1" bandRow="1" bandCol="1">
                <a:tableStyleId>{5C22544A-7EE6-4342-B048-85BDC9FD1C3A}</a:tableStyleId>
              </a:tblPr>
              <a:tblGrid>
                <a:gridCol w="1151348">
                  <a:extLst>
                    <a:ext uri="{9D8B030D-6E8A-4147-A177-3AD203B41FA5}">
                      <a16:colId xmlns:a16="http://schemas.microsoft.com/office/drawing/2014/main" val="20000"/>
                    </a:ext>
                  </a:extLst>
                </a:gridCol>
                <a:gridCol w="1148842">
                  <a:extLst>
                    <a:ext uri="{9D8B030D-6E8A-4147-A177-3AD203B41FA5}">
                      <a16:colId xmlns:a16="http://schemas.microsoft.com/office/drawing/2014/main" val="20001"/>
                    </a:ext>
                  </a:extLst>
                </a:gridCol>
                <a:gridCol w="1151348">
                  <a:extLst>
                    <a:ext uri="{9D8B030D-6E8A-4147-A177-3AD203B41FA5}">
                      <a16:colId xmlns:a16="http://schemas.microsoft.com/office/drawing/2014/main" val="20002"/>
                    </a:ext>
                  </a:extLst>
                </a:gridCol>
              </a:tblGrid>
              <a:tr h="446983">
                <a:tc>
                  <a:txBody>
                    <a:bodyPr/>
                    <a:lstStyle/>
                    <a:p>
                      <a:pPr marL="71120" marR="0">
                        <a:lnSpc>
                          <a:spcPts val="1365"/>
                        </a:lnSpc>
                        <a:spcBef>
                          <a:spcPts val="0"/>
                        </a:spcBef>
                        <a:spcAft>
                          <a:spcPts val="0"/>
                        </a:spcAft>
                      </a:pPr>
                      <a:r>
                        <a:rPr lang="en-US" sz="1200">
                          <a:effectLst/>
                        </a:rPr>
                        <a:t>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120" marR="0">
                        <a:lnSpc>
                          <a:spcPts val="1365"/>
                        </a:lnSpc>
                        <a:spcBef>
                          <a:spcPts val="0"/>
                        </a:spcBef>
                        <a:spcAft>
                          <a:spcPts val="0"/>
                        </a:spcAft>
                      </a:pPr>
                      <a:r>
                        <a:rPr lang="en-US" sz="1200">
                          <a:effectLst/>
                        </a:rPr>
                        <a:t>20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755" marR="0">
                        <a:lnSpc>
                          <a:spcPts val="1365"/>
                        </a:lnSpc>
                        <a:spcBef>
                          <a:spcPts val="0"/>
                        </a:spcBef>
                        <a:spcAft>
                          <a:spcPts val="0"/>
                        </a:spcAft>
                      </a:pPr>
                      <a:r>
                        <a:rPr lang="en-US" sz="1200">
                          <a:effectLst/>
                        </a:rPr>
                        <a:t>30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r h="415056">
                <a:tc>
                  <a:txBody>
                    <a:bodyPr/>
                    <a:lstStyle/>
                    <a:p>
                      <a:pPr marL="71120" marR="0">
                        <a:lnSpc>
                          <a:spcPts val="1285"/>
                        </a:lnSpc>
                        <a:spcBef>
                          <a:spcPts val="5"/>
                        </a:spcBef>
                        <a:spcAft>
                          <a:spcPts val="0"/>
                        </a:spcAft>
                      </a:pPr>
                      <a:r>
                        <a:rPr lang="en-US" sz="1200">
                          <a:effectLst/>
                        </a:rPr>
                        <a:t>40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120" marR="0">
                        <a:lnSpc>
                          <a:spcPts val="1285"/>
                        </a:lnSpc>
                        <a:spcBef>
                          <a:spcPts val="5"/>
                        </a:spcBef>
                        <a:spcAft>
                          <a:spcPts val="0"/>
                        </a:spcAft>
                      </a:pPr>
                      <a:r>
                        <a:rPr lang="en-US" sz="1200">
                          <a:effectLst/>
                        </a:rPr>
                        <a:t>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755" marR="0">
                        <a:lnSpc>
                          <a:spcPts val="1285"/>
                        </a:lnSpc>
                        <a:spcBef>
                          <a:spcPts val="5"/>
                        </a:spcBef>
                        <a:spcAft>
                          <a:spcPts val="0"/>
                        </a:spcAft>
                      </a:pPr>
                      <a:r>
                        <a:rPr lang="en-US" sz="1200" dirty="0">
                          <a:effectLst/>
                        </a:rPr>
                        <a:t>60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1"/>
                  </a:ext>
                </a:extLst>
              </a:tr>
              <a:tr h="415056">
                <a:tc>
                  <a:txBody>
                    <a:bodyPr/>
                    <a:lstStyle/>
                    <a:p>
                      <a:pPr marL="71120" marR="0">
                        <a:lnSpc>
                          <a:spcPts val="1280"/>
                        </a:lnSpc>
                        <a:spcBef>
                          <a:spcPts val="0"/>
                        </a:spcBef>
                        <a:spcAft>
                          <a:spcPts val="0"/>
                        </a:spcAft>
                      </a:pPr>
                      <a:r>
                        <a:rPr lang="en-US" sz="1200">
                          <a:effectLst/>
                        </a:rPr>
                        <a:t>70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120" marR="0">
                        <a:lnSpc>
                          <a:spcPts val="1280"/>
                        </a:lnSpc>
                        <a:spcBef>
                          <a:spcPts val="0"/>
                        </a:spcBef>
                        <a:spcAft>
                          <a:spcPts val="0"/>
                        </a:spcAft>
                      </a:pPr>
                      <a:r>
                        <a:rPr lang="en-US" sz="1200">
                          <a:effectLst/>
                        </a:rPr>
                        <a:t>80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755" marR="0">
                        <a:lnSpc>
                          <a:spcPts val="1280"/>
                        </a:lnSpc>
                        <a:spcBef>
                          <a:spcPts val="0"/>
                        </a:spcBef>
                        <a:spcAft>
                          <a:spcPts val="0"/>
                        </a:spcAft>
                      </a:pPr>
                      <a:r>
                        <a:rPr lang="en-US" sz="1200" dirty="0">
                          <a:effectLst/>
                        </a:rPr>
                        <a:t>90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43512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0790"/>
          </a:xfrm>
        </p:spPr>
        <p:txBody>
          <a:bodyPr>
            <a:normAutofit fontScale="90000"/>
          </a:bodyPr>
          <a:lstStyle/>
          <a:p>
            <a:r>
              <a:rPr lang="en-US" b="1" u="heavy" dirty="0"/>
              <a:t>Partial Array Initialization</a:t>
            </a:r>
            <a:br>
              <a:rPr lang="en-US" dirty="0"/>
            </a:br>
            <a:endParaRPr lang="en-US" dirty="0"/>
          </a:p>
        </p:txBody>
      </p:sp>
      <p:sp>
        <p:nvSpPr>
          <p:cNvPr id="3" name="Content Placeholder 2"/>
          <p:cNvSpPr>
            <a:spLocks noGrp="1"/>
          </p:cNvSpPr>
          <p:nvPr>
            <p:ph idx="1"/>
          </p:nvPr>
        </p:nvSpPr>
        <p:spPr>
          <a:xfrm>
            <a:off x="838200" y="965916"/>
            <a:ext cx="10515600" cy="5211047"/>
          </a:xfrm>
        </p:spPr>
        <p:txBody>
          <a:bodyPr/>
          <a:lstStyle/>
          <a:p>
            <a:pPr lvl="0"/>
            <a:r>
              <a:rPr lang="en-US" dirty="0"/>
              <a:t>If the number of values to be initialized is less than the size of array, then the elements are initialized from left to right one after the other.</a:t>
            </a:r>
          </a:p>
          <a:p>
            <a:pPr lvl="0"/>
            <a:r>
              <a:rPr lang="en-US" dirty="0"/>
              <a:t>The remaining locations initialized to zero </a:t>
            </a:r>
            <a:r>
              <a:rPr lang="en-US" dirty="0" err="1"/>
              <a:t>automatically.Example</a:t>
            </a:r>
            <a:r>
              <a:rPr lang="en-US" dirty="0"/>
              <a:t>:</a:t>
            </a:r>
          </a:p>
          <a:p>
            <a:pPr marL="0" indent="0">
              <a:buNone/>
            </a:pPr>
            <a:r>
              <a:rPr lang="en-US" b="1" dirty="0"/>
              <a:t>int a[3][3]={</a:t>
            </a:r>
          </a:p>
          <a:p>
            <a:pPr marL="0" indent="0">
              <a:buNone/>
            </a:pPr>
            <a:r>
              <a:rPr lang="en-US" b="1" dirty="0"/>
              <a:t>		{10,20},</a:t>
            </a:r>
            <a:endParaRPr lang="en-US" dirty="0"/>
          </a:p>
          <a:p>
            <a:pPr marL="0" indent="0">
              <a:buNone/>
            </a:pPr>
            <a:r>
              <a:rPr lang="en-US" b="1" dirty="0"/>
              <a:t>		{40,50},</a:t>
            </a:r>
            <a:endParaRPr lang="en-US" dirty="0"/>
          </a:p>
          <a:p>
            <a:pPr marL="0" indent="0">
              <a:buNone/>
            </a:pPr>
            <a:r>
              <a:rPr lang="en-US" b="1" dirty="0"/>
              <a:t>		{70,80}</a:t>
            </a:r>
            <a:endParaRPr lang="en-US" dirty="0"/>
          </a:p>
          <a:p>
            <a:pPr marL="0" indent="0">
              <a:buNone/>
            </a:pPr>
            <a:r>
              <a:rPr lang="en-US" b="1" dirty="0"/>
              <a:t>		};</a:t>
            </a:r>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952291103"/>
              </p:ext>
            </p:extLst>
          </p:nvPr>
        </p:nvGraphicFramePr>
        <p:xfrm>
          <a:off x="3533430" y="5138431"/>
          <a:ext cx="1849938" cy="1038532"/>
        </p:xfrm>
        <a:graphic>
          <a:graphicData uri="http://schemas.openxmlformats.org/drawingml/2006/table">
            <a:tbl>
              <a:tblPr firstRow="1" firstCol="1" lastRow="1" lastCol="1" bandRow="1" bandCol="1">
                <a:tableStyleId>{5C22544A-7EE6-4342-B048-85BDC9FD1C3A}</a:tableStyleId>
              </a:tblPr>
              <a:tblGrid>
                <a:gridCol w="667518">
                  <a:extLst>
                    <a:ext uri="{9D8B030D-6E8A-4147-A177-3AD203B41FA5}">
                      <a16:colId xmlns:a16="http://schemas.microsoft.com/office/drawing/2014/main" val="20000"/>
                    </a:ext>
                  </a:extLst>
                </a:gridCol>
                <a:gridCol w="667518">
                  <a:extLst>
                    <a:ext uri="{9D8B030D-6E8A-4147-A177-3AD203B41FA5}">
                      <a16:colId xmlns:a16="http://schemas.microsoft.com/office/drawing/2014/main" val="20001"/>
                    </a:ext>
                  </a:extLst>
                </a:gridCol>
                <a:gridCol w="514902">
                  <a:extLst>
                    <a:ext uri="{9D8B030D-6E8A-4147-A177-3AD203B41FA5}">
                      <a16:colId xmlns:a16="http://schemas.microsoft.com/office/drawing/2014/main" val="20002"/>
                    </a:ext>
                  </a:extLst>
                </a:gridCol>
              </a:tblGrid>
              <a:tr h="416089">
                <a:tc>
                  <a:txBody>
                    <a:bodyPr/>
                    <a:lstStyle/>
                    <a:p>
                      <a:pPr marL="0" marR="65405" algn="r">
                        <a:lnSpc>
                          <a:spcPts val="1365"/>
                        </a:lnSpc>
                        <a:spcBef>
                          <a:spcPts val="0"/>
                        </a:spcBef>
                        <a:spcAft>
                          <a:spcPts val="0"/>
                        </a:spcAft>
                      </a:pPr>
                      <a:r>
                        <a:rPr lang="en-US" sz="1200">
                          <a:effectLst/>
                        </a:rPr>
                        <a:t>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65405" algn="r">
                        <a:lnSpc>
                          <a:spcPts val="1365"/>
                        </a:lnSpc>
                        <a:spcBef>
                          <a:spcPts val="0"/>
                        </a:spcBef>
                        <a:spcAft>
                          <a:spcPts val="0"/>
                        </a:spcAft>
                      </a:pPr>
                      <a:r>
                        <a:rPr lang="en-US" sz="1200">
                          <a:effectLst/>
                        </a:rPr>
                        <a:t>20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120" marR="0">
                        <a:lnSpc>
                          <a:spcPts val="1365"/>
                        </a:lnSpc>
                        <a:spcBef>
                          <a:spcPts val="0"/>
                        </a:spcBef>
                        <a:spcAft>
                          <a:spcPts val="0"/>
                        </a:spcAft>
                      </a:pPr>
                      <a:r>
                        <a:rPr lang="en-US" sz="1200">
                          <a:effectLst/>
                        </a:rPr>
                        <a:t>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r h="310094">
                <a:tc>
                  <a:txBody>
                    <a:bodyPr/>
                    <a:lstStyle/>
                    <a:p>
                      <a:pPr marL="0" marR="65405" algn="r">
                        <a:lnSpc>
                          <a:spcPts val="1280"/>
                        </a:lnSpc>
                        <a:spcBef>
                          <a:spcPts val="0"/>
                        </a:spcBef>
                        <a:spcAft>
                          <a:spcPts val="0"/>
                        </a:spcAft>
                      </a:pPr>
                      <a:r>
                        <a:rPr lang="en-US" sz="1200">
                          <a:effectLst/>
                        </a:rPr>
                        <a:t>40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65405" algn="r">
                        <a:lnSpc>
                          <a:spcPts val="1280"/>
                        </a:lnSpc>
                        <a:spcBef>
                          <a:spcPts val="0"/>
                        </a:spcBef>
                        <a:spcAft>
                          <a:spcPts val="0"/>
                        </a:spcAft>
                      </a:pPr>
                      <a:r>
                        <a:rPr lang="en-US" sz="1200">
                          <a:effectLst/>
                        </a:rPr>
                        <a:t>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120" marR="0">
                        <a:lnSpc>
                          <a:spcPts val="1280"/>
                        </a:lnSpc>
                        <a:spcBef>
                          <a:spcPts val="0"/>
                        </a:spcBef>
                        <a:spcAft>
                          <a:spcPts val="0"/>
                        </a:spcAft>
                      </a:pPr>
                      <a:r>
                        <a:rPr lang="en-US" sz="1200">
                          <a:effectLst/>
                        </a:rPr>
                        <a:t>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1"/>
                  </a:ext>
                </a:extLst>
              </a:tr>
              <a:tr h="312349">
                <a:tc>
                  <a:txBody>
                    <a:bodyPr/>
                    <a:lstStyle/>
                    <a:p>
                      <a:pPr marL="0" marR="65405" algn="r">
                        <a:lnSpc>
                          <a:spcPts val="1290"/>
                        </a:lnSpc>
                        <a:spcBef>
                          <a:spcPts val="0"/>
                        </a:spcBef>
                        <a:spcAft>
                          <a:spcPts val="0"/>
                        </a:spcAft>
                      </a:pPr>
                      <a:r>
                        <a:rPr lang="en-US" sz="1200">
                          <a:effectLst/>
                        </a:rPr>
                        <a:t>70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65405" algn="r">
                        <a:lnSpc>
                          <a:spcPts val="1290"/>
                        </a:lnSpc>
                        <a:spcBef>
                          <a:spcPts val="0"/>
                        </a:spcBef>
                        <a:spcAft>
                          <a:spcPts val="0"/>
                        </a:spcAft>
                      </a:pPr>
                      <a:r>
                        <a:rPr lang="en-US" sz="1200">
                          <a:effectLst/>
                        </a:rPr>
                        <a:t>80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1120" marR="0">
                        <a:lnSpc>
                          <a:spcPts val="1290"/>
                        </a:lnSpc>
                        <a:spcBef>
                          <a:spcPts val="0"/>
                        </a:spcBef>
                        <a:spcAft>
                          <a:spcPts val="0"/>
                        </a:spcAft>
                      </a:pPr>
                      <a:r>
                        <a:rPr lang="en-US" sz="1200" dirty="0">
                          <a:effectLst/>
                        </a:rPr>
                        <a:t>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30457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91698"/>
          </a:xfrm>
        </p:spPr>
        <p:txBody>
          <a:bodyPr>
            <a:normAutofit fontScale="90000"/>
          </a:bodyPr>
          <a:lstStyle/>
          <a:p>
            <a:r>
              <a:rPr lang="en-US" b="1" dirty="0"/>
              <a:t>Write a program to read and display matrix</a:t>
            </a:r>
            <a:br>
              <a:rPr lang="en-US" dirty="0"/>
            </a:br>
            <a:endParaRPr lang="en-US" dirty="0"/>
          </a:p>
        </p:txBody>
      </p:sp>
      <p:sp>
        <p:nvSpPr>
          <p:cNvPr id="10" name="TextBox 9"/>
          <p:cNvSpPr txBox="1"/>
          <p:nvPr/>
        </p:nvSpPr>
        <p:spPr>
          <a:xfrm>
            <a:off x="6096000" y="2189408"/>
            <a:ext cx="4426039" cy="2585323"/>
          </a:xfrm>
          <a:prstGeom prst="rect">
            <a:avLst/>
          </a:prstGeom>
          <a:noFill/>
        </p:spPr>
        <p:txBody>
          <a:bodyPr wrap="square" rtlCol="0">
            <a:spAutoFit/>
          </a:bodyPr>
          <a:lstStyle/>
          <a:p>
            <a:r>
              <a:rPr lang="en-US" b="1" dirty="0"/>
              <a:t>OUTPUT:</a:t>
            </a:r>
          </a:p>
          <a:p>
            <a:r>
              <a:rPr lang="en-US" dirty="0"/>
              <a:t>Enter number of rows and columns</a:t>
            </a:r>
          </a:p>
          <a:p>
            <a:r>
              <a:rPr lang="en-US" dirty="0"/>
              <a:t>2 3</a:t>
            </a:r>
          </a:p>
          <a:p>
            <a:r>
              <a:rPr lang="en-US" dirty="0"/>
              <a:t>Enter elements of matrix</a:t>
            </a:r>
          </a:p>
          <a:p>
            <a:r>
              <a:rPr lang="en-US" dirty="0"/>
              <a:t>1 2 3 4 5 6</a:t>
            </a:r>
          </a:p>
          <a:p>
            <a:r>
              <a:rPr lang="en-US" dirty="0"/>
              <a:t>matrix is</a:t>
            </a:r>
          </a:p>
          <a:p>
            <a:pPr marL="342900" indent="-342900">
              <a:buAutoNum type="arabicPlain"/>
            </a:pPr>
            <a:r>
              <a:rPr lang="en-US" dirty="0"/>
              <a:t>2	3</a:t>
            </a:r>
          </a:p>
          <a:p>
            <a:pPr marL="342900" indent="-342900">
              <a:buAutoNum type="arabicPlain" startAt="4"/>
            </a:pPr>
            <a:r>
              <a:rPr lang="en-US" dirty="0"/>
              <a:t>5	6</a:t>
            </a:r>
          </a:p>
          <a:p>
            <a:endParaRPr lang="en-US" dirty="0"/>
          </a:p>
        </p:txBody>
      </p:sp>
      <p:sp>
        <p:nvSpPr>
          <p:cNvPr id="16" name="TextBox 15"/>
          <p:cNvSpPr txBox="1"/>
          <p:nvPr/>
        </p:nvSpPr>
        <p:spPr>
          <a:xfrm>
            <a:off x="955344" y="656824"/>
            <a:ext cx="5140656" cy="5909310"/>
          </a:xfrm>
          <a:prstGeom prst="rect">
            <a:avLst/>
          </a:prstGeom>
          <a:noFill/>
        </p:spPr>
        <p:txBody>
          <a:bodyPr wrap="square" rtlCol="0">
            <a:spAutoFit/>
          </a:bodyPr>
          <a:lstStyle/>
          <a:p>
            <a:r>
              <a:rPr lang="en-US" dirty="0"/>
              <a:t>#include&lt;</a:t>
            </a:r>
            <a:r>
              <a:rPr lang="en-US" dirty="0" err="1"/>
              <a:t>stdio.h</a:t>
            </a:r>
            <a:r>
              <a:rPr lang="en-US" dirty="0"/>
              <a:t>&gt; </a:t>
            </a:r>
          </a:p>
          <a:p>
            <a:r>
              <a:rPr lang="en-US" dirty="0"/>
              <a:t>void main()</a:t>
            </a:r>
          </a:p>
          <a:p>
            <a:r>
              <a:rPr lang="en-US" dirty="0"/>
              <a:t>{</a:t>
            </a:r>
          </a:p>
          <a:p>
            <a:r>
              <a:rPr lang="en-US" dirty="0"/>
              <a:t>int a[10][10],</a:t>
            </a:r>
            <a:r>
              <a:rPr lang="en-US" dirty="0" err="1"/>
              <a:t>m,n,i,j</a:t>
            </a:r>
            <a:r>
              <a:rPr lang="en-US" dirty="0"/>
              <a:t>;</a:t>
            </a:r>
          </a:p>
          <a:p>
            <a:r>
              <a:rPr lang="en-US" dirty="0" err="1"/>
              <a:t>printf</a:t>
            </a:r>
            <a:r>
              <a:rPr lang="en-US" dirty="0"/>
              <a:t>("Enter number of rows and columns\n"); </a:t>
            </a:r>
          </a:p>
          <a:p>
            <a:r>
              <a:rPr lang="en-US" dirty="0" err="1"/>
              <a:t>scanf</a:t>
            </a:r>
            <a:r>
              <a:rPr lang="en-US" dirty="0"/>
              <a:t>("%</a:t>
            </a:r>
            <a:r>
              <a:rPr lang="en-US" dirty="0" err="1"/>
              <a:t>d%d</a:t>
            </a:r>
            <a:r>
              <a:rPr lang="en-US" dirty="0"/>
              <a:t>",&amp;</a:t>
            </a:r>
            <a:r>
              <a:rPr lang="en-US" dirty="0" err="1"/>
              <a:t>m,&amp;n</a:t>
            </a:r>
            <a:r>
              <a:rPr lang="en-US" dirty="0"/>
              <a:t>);</a:t>
            </a:r>
          </a:p>
          <a:p>
            <a:r>
              <a:rPr lang="en-US" dirty="0" err="1"/>
              <a:t>printf</a:t>
            </a:r>
            <a:r>
              <a:rPr lang="en-US" dirty="0"/>
              <a:t>("Enter elements of matrix\n"); </a:t>
            </a:r>
          </a:p>
          <a:p>
            <a:r>
              <a:rPr lang="en-US" dirty="0"/>
              <a:t>for(</a:t>
            </a:r>
            <a:r>
              <a:rPr lang="en-US" dirty="0" err="1"/>
              <a:t>i</a:t>
            </a:r>
            <a:r>
              <a:rPr lang="en-US" dirty="0"/>
              <a:t>=0;i&lt;</a:t>
            </a:r>
            <a:r>
              <a:rPr lang="en-US" dirty="0" err="1"/>
              <a:t>m;i</a:t>
            </a:r>
            <a:r>
              <a:rPr lang="en-US" dirty="0"/>
              <a:t>++){</a:t>
            </a:r>
          </a:p>
          <a:p>
            <a:r>
              <a:rPr lang="en-US" dirty="0"/>
              <a:t>for(j=0;j&lt;</a:t>
            </a:r>
            <a:r>
              <a:rPr lang="en-US" dirty="0" err="1"/>
              <a:t>n;j</a:t>
            </a:r>
            <a:r>
              <a:rPr lang="en-US" dirty="0"/>
              <a:t>++){</a:t>
            </a:r>
          </a:p>
          <a:p>
            <a:r>
              <a:rPr lang="en-US" dirty="0" err="1"/>
              <a:t>scanf</a:t>
            </a:r>
            <a:r>
              <a:rPr lang="en-US" dirty="0"/>
              <a:t>("%</a:t>
            </a:r>
            <a:r>
              <a:rPr lang="en-US" dirty="0" err="1"/>
              <a:t>d",&amp;a</a:t>
            </a:r>
            <a:r>
              <a:rPr lang="en-US" dirty="0"/>
              <a:t>[</a:t>
            </a:r>
            <a:r>
              <a:rPr lang="en-US" dirty="0" err="1"/>
              <a:t>i</a:t>
            </a:r>
            <a:r>
              <a:rPr lang="en-US" dirty="0"/>
              <a:t>][j]);</a:t>
            </a:r>
          </a:p>
          <a:p>
            <a:r>
              <a:rPr lang="en-US" dirty="0"/>
              <a:t>}}</a:t>
            </a:r>
          </a:p>
          <a:p>
            <a:r>
              <a:rPr lang="en-US" dirty="0" err="1"/>
              <a:t>printf</a:t>
            </a:r>
            <a:r>
              <a:rPr lang="en-US" dirty="0"/>
              <a:t>("matrix is\n"); for(</a:t>
            </a:r>
            <a:r>
              <a:rPr lang="en-US" dirty="0" err="1"/>
              <a:t>i</a:t>
            </a:r>
            <a:r>
              <a:rPr lang="en-US" dirty="0"/>
              <a:t>=0;i&lt;</a:t>
            </a:r>
            <a:r>
              <a:rPr lang="en-US" dirty="0" err="1"/>
              <a:t>m;i</a:t>
            </a:r>
            <a:r>
              <a:rPr lang="en-US" dirty="0"/>
              <a:t>++)</a:t>
            </a:r>
          </a:p>
          <a:p>
            <a:r>
              <a:rPr lang="en-US" dirty="0"/>
              <a:t>{</a:t>
            </a:r>
          </a:p>
          <a:p>
            <a:r>
              <a:rPr lang="en-US" dirty="0"/>
              <a:t>for(j=0;j&lt;</a:t>
            </a:r>
            <a:r>
              <a:rPr lang="en-US" dirty="0" err="1"/>
              <a:t>n;j</a:t>
            </a:r>
            <a:r>
              <a:rPr lang="en-US" dirty="0"/>
              <a:t>++)</a:t>
            </a:r>
          </a:p>
          <a:p>
            <a:r>
              <a:rPr lang="en-US" dirty="0"/>
              <a:t>{</a:t>
            </a:r>
          </a:p>
          <a:p>
            <a:r>
              <a:rPr lang="en-US" dirty="0" err="1"/>
              <a:t>printf</a:t>
            </a:r>
            <a:r>
              <a:rPr lang="en-US" dirty="0"/>
              <a:t>("%d\</a:t>
            </a:r>
            <a:r>
              <a:rPr lang="en-US" dirty="0" err="1"/>
              <a:t>t",a</a:t>
            </a:r>
            <a:r>
              <a:rPr lang="en-US" dirty="0"/>
              <a:t>[</a:t>
            </a:r>
            <a:r>
              <a:rPr lang="en-US" dirty="0" err="1"/>
              <a:t>i</a:t>
            </a:r>
            <a:r>
              <a:rPr lang="en-US" dirty="0"/>
              <a:t>][j]);</a:t>
            </a:r>
          </a:p>
          <a:p>
            <a:r>
              <a:rPr lang="en-US" dirty="0"/>
              <a:t>}</a:t>
            </a:r>
          </a:p>
          <a:p>
            <a:r>
              <a:rPr lang="en-US" dirty="0" err="1"/>
              <a:t>printf</a:t>
            </a:r>
            <a:r>
              <a:rPr lang="en-US" dirty="0"/>
              <a:t>("\n");</a:t>
            </a:r>
          </a:p>
          <a:p>
            <a:r>
              <a:rPr lang="en-US" dirty="0"/>
              <a:t>}</a:t>
            </a:r>
          </a:p>
          <a:p>
            <a:r>
              <a:rPr lang="en-US" dirty="0"/>
              <a:t>}</a:t>
            </a:r>
          </a:p>
          <a:p>
            <a:endParaRPr lang="en-US" dirty="0"/>
          </a:p>
        </p:txBody>
      </p:sp>
    </p:spTree>
    <p:extLst>
      <p:ext uri="{BB962C8B-B14F-4D97-AF65-F5344CB8AC3E}">
        <p14:creationId xmlns:p14="http://schemas.microsoft.com/office/powerpoint/2010/main" val="408078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3517"/>
          </a:xfrm>
        </p:spPr>
        <p:txBody>
          <a:bodyPr>
            <a:normAutofit/>
          </a:bodyPr>
          <a:lstStyle/>
          <a:p>
            <a:r>
              <a:rPr lang="en-US" sz="1600" dirty="0"/>
              <a:t> </a:t>
            </a:r>
            <a:r>
              <a:rPr lang="en-US" sz="1600" b="1" dirty="0"/>
              <a:t>Write a C program to find sum of two matrices or 2D array</a:t>
            </a:r>
          </a:p>
        </p:txBody>
      </p:sp>
      <p:sp>
        <p:nvSpPr>
          <p:cNvPr id="4" name="TextBox 3"/>
          <p:cNvSpPr txBox="1"/>
          <p:nvPr/>
        </p:nvSpPr>
        <p:spPr>
          <a:xfrm>
            <a:off x="838200" y="1094704"/>
            <a:ext cx="4751231" cy="5355312"/>
          </a:xfrm>
          <a:prstGeom prst="rect">
            <a:avLst/>
          </a:prstGeom>
          <a:noFill/>
        </p:spPr>
        <p:txBody>
          <a:bodyPr wrap="square" rtlCol="0">
            <a:spAutoFit/>
          </a:bodyPr>
          <a:lstStyle/>
          <a:p>
            <a:r>
              <a:rPr lang="en-US" dirty="0"/>
              <a:t>#include&lt;</a:t>
            </a:r>
            <a:r>
              <a:rPr lang="en-US" dirty="0" err="1"/>
              <a:t>stdio.h</a:t>
            </a:r>
            <a:r>
              <a:rPr lang="en-US" dirty="0"/>
              <a:t>&gt; void main()</a:t>
            </a:r>
          </a:p>
          <a:p>
            <a:r>
              <a:rPr lang="en-US" dirty="0"/>
              <a:t>{</a:t>
            </a:r>
          </a:p>
          <a:p>
            <a:r>
              <a:rPr lang="en-US" dirty="0"/>
              <a:t>int a[10][10],b[10][10],c[10][10],</a:t>
            </a:r>
            <a:r>
              <a:rPr lang="en-US" dirty="0" err="1"/>
              <a:t>m,n,i,j</a:t>
            </a:r>
            <a:r>
              <a:rPr lang="en-US" dirty="0"/>
              <a:t>;</a:t>
            </a:r>
          </a:p>
          <a:p>
            <a:r>
              <a:rPr lang="en-US" dirty="0" err="1"/>
              <a:t>printf</a:t>
            </a:r>
            <a:r>
              <a:rPr lang="en-US" dirty="0"/>
              <a:t>("Enter number of rows and columns\n"); </a:t>
            </a:r>
            <a:r>
              <a:rPr lang="en-US" dirty="0" err="1"/>
              <a:t>scanf</a:t>
            </a:r>
            <a:r>
              <a:rPr lang="en-US" dirty="0"/>
              <a:t>("%</a:t>
            </a:r>
            <a:r>
              <a:rPr lang="en-US" dirty="0" err="1"/>
              <a:t>d%d</a:t>
            </a:r>
            <a:r>
              <a:rPr lang="en-US" dirty="0"/>
              <a:t>",&amp;</a:t>
            </a:r>
            <a:r>
              <a:rPr lang="en-US" dirty="0" err="1"/>
              <a:t>m,&amp;n</a:t>
            </a:r>
            <a:r>
              <a:rPr lang="en-US" dirty="0"/>
              <a:t>);</a:t>
            </a:r>
          </a:p>
          <a:p>
            <a:r>
              <a:rPr lang="en-US" dirty="0" err="1"/>
              <a:t>printf</a:t>
            </a:r>
            <a:r>
              <a:rPr lang="en-US" dirty="0"/>
              <a:t>("Enter elements of matrix A\n"); for(</a:t>
            </a:r>
            <a:r>
              <a:rPr lang="en-US" dirty="0" err="1"/>
              <a:t>i</a:t>
            </a:r>
            <a:r>
              <a:rPr lang="en-US" dirty="0"/>
              <a:t>=0;i&lt;</a:t>
            </a:r>
            <a:r>
              <a:rPr lang="en-US" dirty="0" err="1"/>
              <a:t>m;i</a:t>
            </a:r>
            <a:r>
              <a:rPr lang="en-US" dirty="0"/>
              <a:t>++)</a:t>
            </a:r>
          </a:p>
          <a:p>
            <a:r>
              <a:rPr lang="en-US" dirty="0"/>
              <a:t>{</a:t>
            </a:r>
          </a:p>
          <a:p>
            <a:r>
              <a:rPr lang="en-US" dirty="0"/>
              <a:t>for(j=0;j&lt;</a:t>
            </a:r>
            <a:r>
              <a:rPr lang="en-US" dirty="0" err="1"/>
              <a:t>n;j</a:t>
            </a:r>
            <a:r>
              <a:rPr lang="en-US" dirty="0"/>
              <a:t>++)</a:t>
            </a:r>
          </a:p>
          <a:p>
            <a:r>
              <a:rPr lang="en-US" dirty="0"/>
              <a:t>{</a:t>
            </a:r>
          </a:p>
          <a:p>
            <a:r>
              <a:rPr lang="en-US" dirty="0" err="1"/>
              <a:t>scanf</a:t>
            </a:r>
            <a:r>
              <a:rPr lang="en-US" dirty="0"/>
              <a:t>("%</a:t>
            </a:r>
            <a:r>
              <a:rPr lang="en-US" dirty="0" err="1"/>
              <a:t>d",&amp;a</a:t>
            </a:r>
            <a:r>
              <a:rPr lang="en-US" dirty="0"/>
              <a:t>[</a:t>
            </a:r>
            <a:r>
              <a:rPr lang="en-US" dirty="0" err="1"/>
              <a:t>i</a:t>
            </a:r>
            <a:r>
              <a:rPr lang="en-US" dirty="0"/>
              <a:t>][j]);</a:t>
            </a:r>
          </a:p>
          <a:p>
            <a:r>
              <a:rPr lang="en-US" dirty="0"/>
              <a:t>}</a:t>
            </a:r>
          </a:p>
          <a:p>
            <a:r>
              <a:rPr lang="en-US" dirty="0"/>
              <a:t>}</a:t>
            </a:r>
          </a:p>
          <a:p>
            <a:r>
              <a:rPr lang="en-US" dirty="0" err="1"/>
              <a:t>printf</a:t>
            </a:r>
            <a:r>
              <a:rPr lang="en-US" dirty="0"/>
              <a:t>("Enter elements of matrix B\n"); for(</a:t>
            </a:r>
            <a:r>
              <a:rPr lang="en-US" dirty="0" err="1"/>
              <a:t>i</a:t>
            </a:r>
            <a:r>
              <a:rPr lang="en-US" dirty="0"/>
              <a:t>=0;i&lt;</a:t>
            </a:r>
            <a:r>
              <a:rPr lang="en-US" dirty="0" err="1"/>
              <a:t>m;i</a:t>
            </a:r>
            <a:r>
              <a:rPr lang="en-US" dirty="0"/>
              <a:t>++)</a:t>
            </a:r>
          </a:p>
          <a:p>
            <a:r>
              <a:rPr lang="en-US" dirty="0"/>
              <a:t> {</a:t>
            </a:r>
          </a:p>
          <a:p>
            <a:r>
              <a:rPr lang="en-US" dirty="0"/>
              <a:t>for(j=0;j&lt;</a:t>
            </a:r>
            <a:r>
              <a:rPr lang="en-US" dirty="0" err="1"/>
              <a:t>n;j</a:t>
            </a:r>
            <a:r>
              <a:rPr lang="en-US" dirty="0"/>
              <a:t>++)</a:t>
            </a:r>
          </a:p>
          <a:p>
            <a:r>
              <a:rPr lang="en-US" dirty="0"/>
              <a:t>{</a:t>
            </a:r>
          </a:p>
          <a:p>
            <a:endParaRPr lang="en-US" dirty="0"/>
          </a:p>
        </p:txBody>
      </p:sp>
      <p:sp>
        <p:nvSpPr>
          <p:cNvPr id="5" name="TextBox 4"/>
          <p:cNvSpPr txBox="1"/>
          <p:nvPr/>
        </p:nvSpPr>
        <p:spPr>
          <a:xfrm>
            <a:off x="6112099" y="1094704"/>
            <a:ext cx="5241701" cy="5355312"/>
          </a:xfrm>
          <a:prstGeom prst="rect">
            <a:avLst/>
          </a:prstGeom>
          <a:noFill/>
        </p:spPr>
        <p:txBody>
          <a:bodyPr wrap="square" rtlCol="0">
            <a:spAutoFit/>
          </a:bodyPr>
          <a:lstStyle/>
          <a:p>
            <a:r>
              <a:rPr lang="en-US" dirty="0" err="1"/>
              <a:t>scanf</a:t>
            </a:r>
            <a:r>
              <a:rPr lang="en-US" dirty="0"/>
              <a:t>("%</a:t>
            </a:r>
            <a:r>
              <a:rPr lang="en-US" dirty="0" err="1"/>
              <a:t>d",&amp;b</a:t>
            </a:r>
            <a:r>
              <a:rPr lang="en-US" dirty="0"/>
              <a:t>[</a:t>
            </a:r>
            <a:r>
              <a:rPr lang="en-US" dirty="0" err="1"/>
              <a:t>i</a:t>
            </a:r>
            <a:r>
              <a:rPr lang="en-US" dirty="0"/>
              <a:t>][j]);</a:t>
            </a:r>
          </a:p>
          <a:p>
            <a:r>
              <a:rPr lang="en-US" dirty="0"/>
              <a:t>}</a:t>
            </a:r>
          </a:p>
          <a:p>
            <a:r>
              <a:rPr lang="en-US" dirty="0"/>
              <a:t>}</a:t>
            </a:r>
          </a:p>
          <a:p>
            <a:r>
              <a:rPr lang="en-US" dirty="0"/>
              <a:t>for(</a:t>
            </a:r>
            <a:r>
              <a:rPr lang="en-US" dirty="0" err="1"/>
              <a:t>i</a:t>
            </a:r>
            <a:r>
              <a:rPr lang="en-US" dirty="0"/>
              <a:t>=0;i&lt;</a:t>
            </a:r>
            <a:r>
              <a:rPr lang="en-US" dirty="0" err="1"/>
              <a:t>m;i</a:t>
            </a:r>
            <a:r>
              <a:rPr lang="en-US" dirty="0"/>
              <a:t>++)</a:t>
            </a:r>
          </a:p>
          <a:p>
            <a:r>
              <a:rPr lang="en-US" dirty="0"/>
              <a:t>{for(j=0;j&lt;</a:t>
            </a:r>
            <a:r>
              <a:rPr lang="en-US" dirty="0" err="1"/>
              <a:t>n;j</a:t>
            </a:r>
            <a:r>
              <a:rPr lang="en-US" dirty="0"/>
              <a:t>++){</a:t>
            </a:r>
          </a:p>
          <a:p>
            <a:r>
              <a:rPr lang="en-US" dirty="0"/>
              <a:t>C[</a:t>
            </a:r>
            <a:r>
              <a:rPr lang="en-US" dirty="0" err="1"/>
              <a:t>i</a:t>
            </a:r>
            <a:r>
              <a:rPr lang="en-US" dirty="0"/>
              <a:t>][j]=a[</a:t>
            </a:r>
            <a:r>
              <a:rPr lang="en-US" dirty="0" err="1"/>
              <a:t>i</a:t>
            </a:r>
            <a:r>
              <a:rPr lang="en-US" dirty="0"/>
              <a:t>][j]+b[</a:t>
            </a:r>
            <a:r>
              <a:rPr lang="en-US" dirty="0" err="1"/>
              <a:t>i</a:t>
            </a:r>
            <a:r>
              <a:rPr lang="en-US" dirty="0"/>
              <a:t>][j];</a:t>
            </a:r>
          </a:p>
          <a:p>
            <a:r>
              <a:rPr lang="en-US" dirty="0"/>
              <a:t>}  }</a:t>
            </a:r>
          </a:p>
          <a:p>
            <a:r>
              <a:rPr lang="en-US" dirty="0" err="1"/>
              <a:t>printf</a:t>
            </a:r>
            <a:r>
              <a:rPr lang="en-US" dirty="0"/>
              <a:t>("Sum of two matrices is \n"); for(</a:t>
            </a:r>
            <a:r>
              <a:rPr lang="en-US" dirty="0" err="1"/>
              <a:t>i</a:t>
            </a:r>
            <a:r>
              <a:rPr lang="en-US" dirty="0"/>
              <a:t>=0;i&lt;</a:t>
            </a:r>
            <a:r>
              <a:rPr lang="en-US" dirty="0" err="1"/>
              <a:t>m;i</a:t>
            </a:r>
            <a:r>
              <a:rPr lang="en-US" dirty="0"/>
              <a:t>++)</a:t>
            </a:r>
          </a:p>
          <a:p>
            <a:r>
              <a:rPr lang="en-US" dirty="0"/>
              <a:t>{</a:t>
            </a:r>
          </a:p>
          <a:p>
            <a:r>
              <a:rPr lang="en-US" dirty="0"/>
              <a:t>for(j=0;j&lt;</a:t>
            </a:r>
            <a:r>
              <a:rPr lang="en-US" dirty="0" err="1"/>
              <a:t>n;j</a:t>
            </a:r>
            <a:r>
              <a:rPr lang="en-US" dirty="0"/>
              <a:t>++)</a:t>
            </a:r>
          </a:p>
          <a:p>
            <a:r>
              <a:rPr lang="en-US" dirty="0"/>
              <a:t>{</a:t>
            </a:r>
          </a:p>
          <a:p>
            <a:r>
              <a:rPr lang="en-US" dirty="0" err="1"/>
              <a:t>printf</a:t>
            </a:r>
            <a:r>
              <a:rPr lang="en-US" dirty="0"/>
              <a:t>("%d\</a:t>
            </a:r>
            <a:r>
              <a:rPr lang="en-US" dirty="0" err="1"/>
              <a:t>t",c</a:t>
            </a:r>
            <a:r>
              <a:rPr lang="en-US" dirty="0"/>
              <a:t>[</a:t>
            </a:r>
            <a:r>
              <a:rPr lang="en-US" dirty="0" err="1"/>
              <a:t>i</a:t>
            </a:r>
            <a:r>
              <a:rPr lang="en-US" dirty="0"/>
              <a:t>][j]);</a:t>
            </a:r>
          </a:p>
          <a:p>
            <a:r>
              <a:rPr lang="en-US" dirty="0"/>
              <a:t>}</a:t>
            </a:r>
          </a:p>
          <a:p>
            <a:r>
              <a:rPr lang="en-US" dirty="0" err="1"/>
              <a:t>printf</a:t>
            </a:r>
            <a:r>
              <a:rPr lang="en-US" dirty="0"/>
              <a:t>("\n");</a:t>
            </a:r>
          </a:p>
          <a:p>
            <a:r>
              <a:rPr lang="en-US" dirty="0"/>
              <a:t>}</a:t>
            </a:r>
          </a:p>
          <a:p>
            <a:r>
              <a:rPr lang="en-US" dirty="0"/>
              <a:t>}</a:t>
            </a:r>
          </a:p>
          <a:p>
            <a:endParaRPr lang="en-US" b="1" dirty="0"/>
          </a:p>
          <a:p>
            <a:endParaRPr lang="en-US" dirty="0"/>
          </a:p>
          <a:p>
            <a:endParaRPr lang="en-US" dirty="0"/>
          </a:p>
        </p:txBody>
      </p:sp>
      <p:sp>
        <p:nvSpPr>
          <p:cNvPr id="8" name="TextBox 7"/>
          <p:cNvSpPr txBox="1"/>
          <p:nvPr/>
        </p:nvSpPr>
        <p:spPr>
          <a:xfrm>
            <a:off x="8191732" y="3465185"/>
            <a:ext cx="3837903" cy="2862322"/>
          </a:xfrm>
          <a:prstGeom prst="rect">
            <a:avLst/>
          </a:prstGeom>
          <a:solidFill>
            <a:schemeClr val="tx1"/>
          </a:solidFill>
        </p:spPr>
        <p:txBody>
          <a:bodyPr wrap="square" rtlCol="0">
            <a:spAutoFit/>
          </a:bodyPr>
          <a:lstStyle/>
          <a:p>
            <a:r>
              <a:rPr lang="en-US" dirty="0">
                <a:solidFill>
                  <a:schemeClr val="bg1"/>
                </a:solidFill>
              </a:rPr>
              <a:t>Output:</a:t>
            </a:r>
          </a:p>
          <a:p>
            <a:r>
              <a:rPr lang="en-US" dirty="0">
                <a:solidFill>
                  <a:schemeClr val="bg1"/>
                </a:solidFill>
              </a:rPr>
              <a:t>Enter number of rows and columns</a:t>
            </a:r>
          </a:p>
          <a:p>
            <a:r>
              <a:rPr lang="en-US" dirty="0">
                <a:solidFill>
                  <a:schemeClr val="bg1"/>
                </a:solidFill>
              </a:rPr>
              <a:t>2 2</a:t>
            </a:r>
          </a:p>
          <a:p>
            <a:r>
              <a:rPr lang="en-US" dirty="0">
                <a:solidFill>
                  <a:schemeClr val="bg1"/>
                </a:solidFill>
              </a:rPr>
              <a:t>Enter elements of matrix A</a:t>
            </a:r>
          </a:p>
          <a:p>
            <a:r>
              <a:rPr lang="en-US" dirty="0">
                <a:solidFill>
                  <a:schemeClr val="bg1"/>
                </a:solidFill>
              </a:rPr>
              <a:t>1 1 1 1</a:t>
            </a:r>
          </a:p>
          <a:p>
            <a:r>
              <a:rPr lang="en-US" dirty="0">
                <a:solidFill>
                  <a:schemeClr val="bg1"/>
                </a:solidFill>
              </a:rPr>
              <a:t>Enter elements of matrix B</a:t>
            </a:r>
          </a:p>
          <a:p>
            <a:r>
              <a:rPr lang="en-US" dirty="0">
                <a:solidFill>
                  <a:schemeClr val="bg1"/>
                </a:solidFill>
              </a:rPr>
              <a:t>1 1 1 1</a:t>
            </a:r>
          </a:p>
          <a:p>
            <a:r>
              <a:rPr lang="en-US" dirty="0">
                <a:solidFill>
                  <a:schemeClr val="bg1"/>
                </a:solidFill>
              </a:rPr>
              <a:t>Sum of two matrices is</a:t>
            </a:r>
          </a:p>
          <a:p>
            <a:pPr marL="342900" indent="-342900">
              <a:buAutoNum type="arabicPlain" startAt="2"/>
            </a:pPr>
            <a:r>
              <a:rPr lang="en-US" b="1" dirty="0">
                <a:solidFill>
                  <a:schemeClr val="bg1"/>
                </a:solidFill>
              </a:rPr>
              <a:t>2	</a:t>
            </a:r>
          </a:p>
          <a:p>
            <a:r>
              <a:rPr lang="en-US" b="1" dirty="0">
                <a:solidFill>
                  <a:schemeClr val="bg1"/>
                </a:solidFill>
              </a:rPr>
              <a:t>2     2</a:t>
            </a:r>
          </a:p>
        </p:txBody>
      </p:sp>
    </p:spTree>
    <p:extLst>
      <p:ext uri="{BB962C8B-B14F-4D97-AF65-F5344CB8AC3E}">
        <p14:creationId xmlns:p14="http://schemas.microsoft.com/office/powerpoint/2010/main" val="18721530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597" y="378773"/>
            <a:ext cx="10515600" cy="549275"/>
          </a:xfrm>
        </p:spPr>
        <p:txBody>
          <a:bodyPr>
            <a:normAutofit/>
          </a:bodyPr>
          <a:lstStyle/>
          <a:p>
            <a:r>
              <a:rPr lang="en-US" sz="1800" dirty="0"/>
              <a:t>Write a program to find transpose of a matrix</a:t>
            </a:r>
          </a:p>
        </p:txBody>
      </p:sp>
      <p:sp>
        <p:nvSpPr>
          <p:cNvPr id="6" name="TextBox 5"/>
          <p:cNvSpPr txBox="1"/>
          <p:nvPr/>
        </p:nvSpPr>
        <p:spPr>
          <a:xfrm>
            <a:off x="846161" y="1269242"/>
            <a:ext cx="4763069" cy="4801314"/>
          </a:xfrm>
          <a:prstGeom prst="rect">
            <a:avLst/>
          </a:prstGeom>
          <a:noFill/>
        </p:spPr>
        <p:txBody>
          <a:bodyPr wrap="square" rtlCol="0">
            <a:spAutoFit/>
          </a:bodyPr>
          <a:lstStyle/>
          <a:p>
            <a:r>
              <a:rPr lang="en-US" dirty="0"/>
              <a:t>#include&lt;</a:t>
            </a:r>
            <a:r>
              <a:rPr lang="en-US" dirty="0" err="1"/>
              <a:t>stdio.h</a:t>
            </a:r>
            <a:r>
              <a:rPr lang="en-US" dirty="0"/>
              <a:t>&gt;</a:t>
            </a:r>
          </a:p>
          <a:p>
            <a:r>
              <a:rPr lang="en-US" dirty="0"/>
              <a:t> void main()</a:t>
            </a:r>
          </a:p>
          <a:p>
            <a:r>
              <a:rPr lang="en-US" dirty="0"/>
              <a:t>{</a:t>
            </a:r>
          </a:p>
          <a:p>
            <a:r>
              <a:rPr lang="en-US" dirty="0"/>
              <a:t>int a[10][10],b[10][10],</a:t>
            </a:r>
            <a:r>
              <a:rPr lang="en-US" dirty="0" err="1"/>
              <a:t>i,j,m,n</a:t>
            </a:r>
            <a:r>
              <a:rPr lang="en-US" dirty="0"/>
              <a:t>;</a:t>
            </a:r>
          </a:p>
          <a:p>
            <a:r>
              <a:rPr lang="en-US" dirty="0" err="1"/>
              <a:t>printf</a:t>
            </a:r>
            <a:r>
              <a:rPr lang="en-US" dirty="0"/>
              <a:t>("Enter rows and columns for matrix\n");</a:t>
            </a:r>
          </a:p>
          <a:p>
            <a:r>
              <a:rPr lang="en-US" dirty="0"/>
              <a:t> </a:t>
            </a:r>
            <a:r>
              <a:rPr lang="en-US" dirty="0" err="1"/>
              <a:t>scanf</a:t>
            </a:r>
            <a:r>
              <a:rPr lang="en-US" dirty="0"/>
              <a:t>("%</a:t>
            </a:r>
            <a:r>
              <a:rPr lang="en-US" dirty="0" err="1"/>
              <a:t>d%d</a:t>
            </a:r>
            <a:r>
              <a:rPr lang="en-US" dirty="0"/>
              <a:t>",&amp;</a:t>
            </a:r>
            <a:r>
              <a:rPr lang="en-US" dirty="0" err="1"/>
              <a:t>m,&amp;n</a:t>
            </a:r>
            <a:r>
              <a:rPr lang="en-US" dirty="0"/>
              <a:t>);</a:t>
            </a:r>
          </a:p>
          <a:p>
            <a:r>
              <a:rPr lang="en-US" dirty="0" err="1"/>
              <a:t>printf</a:t>
            </a:r>
            <a:r>
              <a:rPr lang="en-US" dirty="0"/>
              <a:t>("Enter matrix elements\n"); for(</a:t>
            </a:r>
            <a:r>
              <a:rPr lang="en-US" dirty="0" err="1"/>
              <a:t>i</a:t>
            </a:r>
            <a:r>
              <a:rPr lang="en-US" dirty="0"/>
              <a:t>=0;i&lt;</a:t>
            </a:r>
            <a:r>
              <a:rPr lang="en-US" dirty="0" err="1"/>
              <a:t>m;i</a:t>
            </a:r>
            <a:r>
              <a:rPr lang="en-US" dirty="0"/>
              <a:t>++)</a:t>
            </a:r>
          </a:p>
          <a:p>
            <a:r>
              <a:rPr lang="en-US" dirty="0"/>
              <a:t>{</a:t>
            </a:r>
          </a:p>
          <a:p>
            <a:r>
              <a:rPr lang="en-US" dirty="0"/>
              <a:t>for(j=0;j&lt;</a:t>
            </a:r>
            <a:r>
              <a:rPr lang="en-US" dirty="0" err="1"/>
              <a:t>n;j</a:t>
            </a:r>
            <a:r>
              <a:rPr lang="en-US" dirty="0"/>
              <a:t>++)</a:t>
            </a:r>
          </a:p>
          <a:p>
            <a:r>
              <a:rPr lang="en-US" dirty="0"/>
              <a:t>{</a:t>
            </a:r>
          </a:p>
          <a:p>
            <a:r>
              <a:rPr lang="en-US" dirty="0" err="1"/>
              <a:t>scanf</a:t>
            </a:r>
            <a:r>
              <a:rPr lang="en-US" dirty="0"/>
              <a:t>("%</a:t>
            </a:r>
            <a:r>
              <a:rPr lang="en-US" dirty="0" err="1"/>
              <a:t>d",&amp;a</a:t>
            </a:r>
            <a:r>
              <a:rPr lang="en-US" dirty="0"/>
              <a:t>[</a:t>
            </a:r>
            <a:r>
              <a:rPr lang="en-US" dirty="0" err="1"/>
              <a:t>i</a:t>
            </a:r>
            <a:r>
              <a:rPr lang="en-US" dirty="0"/>
              <a:t>][j]);</a:t>
            </a:r>
          </a:p>
          <a:p>
            <a:r>
              <a:rPr lang="en-US" dirty="0"/>
              <a:t>}</a:t>
            </a:r>
          </a:p>
          <a:p>
            <a:r>
              <a:rPr lang="en-US" dirty="0"/>
              <a:t>}</a:t>
            </a:r>
          </a:p>
          <a:p>
            <a:r>
              <a:rPr lang="en-US" b="1" dirty="0"/>
              <a:t>{</a:t>
            </a:r>
            <a:endParaRPr lang="en-US" dirty="0"/>
          </a:p>
          <a:p>
            <a:r>
              <a:rPr lang="en-US" dirty="0"/>
              <a:t>for(j=0;j&lt;</a:t>
            </a:r>
            <a:r>
              <a:rPr lang="en-US" dirty="0" err="1"/>
              <a:t>n;j</a:t>
            </a:r>
            <a:r>
              <a:rPr lang="en-US" dirty="0"/>
              <a:t>++)</a:t>
            </a:r>
          </a:p>
          <a:p>
            <a:endParaRPr lang="en-US" dirty="0"/>
          </a:p>
        </p:txBody>
      </p:sp>
      <p:sp>
        <p:nvSpPr>
          <p:cNvPr id="8" name="TextBox 7"/>
          <p:cNvSpPr txBox="1"/>
          <p:nvPr/>
        </p:nvSpPr>
        <p:spPr>
          <a:xfrm>
            <a:off x="6209731" y="1223074"/>
            <a:ext cx="5336275" cy="4247317"/>
          </a:xfrm>
          <a:prstGeom prst="rect">
            <a:avLst/>
          </a:prstGeom>
          <a:noFill/>
        </p:spPr>
        <p:txBody>
          <a:bodyPr wrap="square" rtlCol="0">
            <a:spAutoFit/>
          </a:bodyPr>
          <a:lstStyle/>
          <a:p>
            <a:r>
              <a:rPr lang="en-US" dirty="0"/>
              <a:t>{</a:t>
            </a:r>
          </a:p>
          <a:p>
            <a:r>
              <a:rPr lang="en-US" dirty="0"/>
              <a:t>b[</a:t>
            </a:r>
            <a:r>
              <a:rPr lang="en-US" dirty="0" err="1"/>
              <a:t>i</a:t>
            </a:r>
            <a:r>
              <a:rPr lang="en-US" dirty="0"/>
              <a:t>][j]=a[j][</a:t>
            </a:r>
            <a:r>
              <a:rPr lang="en-US" dirty="0" err="1"/>
              <a:t>i</a:t>
            </a:r>
            <a:r>
              <a:rPr lang="en-US" dirty="0"/>
              <a:t>];</a:t>
            </a:r>
          </a:p>
          <a:p>
            <a:r>
              <a:rPr lang="en-US" dirty="0"/>
              <a:t>}</a:t>
            </a:r>
          </a:p>
          <a:p>
            <a:r>
              <a:rPr lang="en-US" dirty="0"/>
              <a:t>}</a:t>
            </a:r>
          </a:p>
          <a:p>
            <a:r>
              <a:rPr lang="en-US" dirty="0" err="1"/>
              <a:t>printf</a:t>
            </a:r>
            <a:r>
              <a:rPr lang="en-US" dirty="0"/>
              <a:t>("Transpose matrix is\n"); </a:t>
            </a:r>
          </a:p>
          <a:p>
            <a:r>
              <a:rPr lang="en-US" dirty="0"/>
              <a:t>for(</a:t>
            </a:r>
            <a:r>
              <a:rPr lang="en-US" dirty="0" err="1"/>
              <a:t>i</a:t>
            </a:r>
            <a:r>
              <a:rPr lang="en-US" dirty="0"/>
              <a:t>=0;i&lt;</a:t>
            </a:r>
            <a:r>
              <a:rPr lang="en-US" dirty="0" err="1"/>
              <a:t>m;i</a:t>
            </a:r>
            <a:r>
              <a:rPr lang="en-US" dirty="0"/>
              <a:t>++)</a:t>
            </a:r>
          </a:p>
          <a:p>
            <a:r>
              <a:rPr lang="en-US" dirty="0"/>
              <a:t>{</a:t>
            </a:r>
          </a:p>
          <a:p>
            <a:r>
              <a:rPr lang="en-US" dirty="0"/>
              <a:t>for(j=0;j&lt;</a:t>
            </a:r>
            <a:r>
              <a:rPr lang="en-US" dirty="0" err="1"/>
              <a:t>n;j</a:t>
            </a:r>
            <a:r>
              <a:rPr lang="en-US" dirty="0"/>
              <a:t>++)</a:t>
            </a:r>
          </a:p>
          <a:p>
            <a:r>
              <a:rPr lang="en-US" dirty="0"/>
              <a:t>{</a:t>
            </a:r>
          </a:p>
          <a:p>
            <a:r>
              <a:rPr lang="en-US" dirty="0" err="1"/>
              <a:t>printf</a:t>
            </a:r>
            <a:r>
              <a:rPr lang="en-US" dirty="0"/>
              <a:t>("%d\</a:t>
            </a:r>
            <a:r>
              <a:rPr lang="en-US" dirty="0" err="1"/>
              <a:t>t",b</a:t>
            </a:r>
            <a:r>
              <a:rPr lang="en-US" dirty="0"/>
              <a:t>[</a:t>
            </a:r>
            <a:r>
              <a:rPr lang="en-US" dirty="0" err="1"/>
              <a:t>i</a:t>
            </a:r>
            <a:r>
              <a:rPr lang="en-US" dirty="0"/>
              <a:t>][j]);</a:t>
            </a:r>
          </a:p>
          <a:p>
            <a:r>
              <a:rPr lang="en-US" dirty="0"/>
              <a:t>}</a:t>
            </a:r>
          </a:p>
          <a:p>
            <a:r>
              <a:rPr lang="en-US" dirty="0" err="1"/>
              <a:t>printf</a:t>
            </a:r>
            <a:r>
              <a:rPr lang="en-US" dirty="0"/>
              <a:t>("\n”);</a:t>
            </a:r>
          </a:p>
          <a:p>
            <a:r>
              <a:rPr lang="en-US" dirty="0"/>
              <a:t>}</a:t>
            </a:r>
          </a:p>
          <a:p>
            <a:r>
              <a:rPr lang="en-US" dirty="0"/>
              <a:t>}</a:t>
            </a:r>
          </a:p>
          <a:p>
            <a:endParaRPr lang="en-US" dirty="0"/>
          </a:p>
        </p:txBody>
      </p:sp>
      <p:sp>
        <p:nvSpPr>
          <p:cNvPr id="9" name="TextBox 8"/>
          <p:cNvSpPr txBox="1"/>
          <p:nvPr/>
        </p:nvSpPr>
        <p:spPr>
          <a:xfrm>
            <a:off x="8407021" y="2885067"/>
            <a:ext cx="3534770" cy="2585323"/>
          </a:xfrm>
          <a:prstGeom prst="rect">
            <a:avLst/>
          </a:prstGeom>
          <a:solidFill>
            <a:schemeClr val="tx1"/>
          </a:solidFill>
        </p:spPr>
        <p:txBody>
          <a:bodyPr wrap="square" rtlCol="0">
            <a:spAutoFit/>
          </a:bodyPr>
          <a:lstStyle/>
          <a:p>
            <a:r>
              <a:rPr lang="en-US" dirty="0">
                <a:solidFill>
                  <a:schemeClr val="bg1"/>
                </a:solidFill>
              </a:rPr>
              <a:t>Output:</a:t>
            </a:r>
          </a:p>
          <a:p>
            <a:r>
              <a:rPr lang="en-US" dirty="0">
                <a:solidFill>
                  <a:schemeClr val="bg1"/>
                </a:solidFill>
              </a:rPr>
              <a:t>Enter rows and columns for matrix</a:t>
            </a:r>
          </a:p>
          <a:p>
            <a:r>
              <a:rPr lang="en-US" dirty="0">
                <a:solidFill>
                  <a:schemeClr val="bg1"/>
                </a:solidFill>
              </a:rPr>
              <a:t>2 2</a:t>
            </a:r>
          </a:p>
          <a:p>
            <a:r>
              <a:rPr lang="en-US" dirty="0">
                <a:solidFill>
                  <a:schemeClr val="bg1"/>
                </a:solidFill>
              </a:rPr>
              <a:t>Enter matrix elements</a:t>
            </a:r>
          </a:p>
          <a:p>
            <a:pPr marL="342900" indent="-342900">
              <a:buAutoNum type="arabicPlain"/>
            </a:pPr>
            <a:r>
              <a:rPr lang="en-US" dirty="0">
                <a:solidFill>
                  <a:schemeClr val="bg1"/>
                </a:solidFill>
              </a:rPr>
              <a:t>2  </a:t>
            </a:r>
          </a:p>
          <a:p>
            <a:r>
              <a:rPr lang="en-US" dirty="0">
                <a:solidFill>
                  <a:schemeClr val="bg1"/>
                </a:solidFill>
              </a:rPr>
              <a:t>3     4	</a:t>
            </a:r>
          </a:p>
          <a:p>
            <a:r>
              <a:rPr lang="en-US" dirty="0">
                <a:solidFill>
                  <a:schemeClr val="bg1"/>
                </a:solidFill>
              </a:rPr>
              <a:t>Transpose matrix is</a:t>
            </a:r>
          </a:p>
          <a:p>
            <a:pPr marL="342900" indent="-342900">
              <a:buAutoNum type="arabicPlain"/>
            </a:pPr>
            <a:r>
              <a:rPr lang="en-US" dirty="0">
                <a:solidFill>
                  <a:schemeClr val="bg1"/>
                </a:solidFill>
              </a:rPr>
              <a:t>3 </a:t>
            </a:r>
          </a:p>
          <a:p>
            <a:pPr marL="342900" indent="-342900">
              <a:buAutoNum type="arabicPlain"/>
            </a:pPr>
            <a:r>
              <a:rPr lang="en-US" dirty="0">
                <a:solidFill>
                  <a:schemeClr val="bg1"/>
                </a:solidFill>
              </a:rPr>
              <a:t> 4</a:t>
            </a:r>
          </a:p>
        </p:txBody>
      </p:sp>
    </p:spTree>
    <p:extLst>
      <p:ext uri="{BB962C8B-B14F-4D97-AF65-F5344CB8AC3E}">
        <p14:creationId xmlns:p14="http://schemas.microsoft.com/office/powerpoint/2010/main" val="3600086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71854"/>
          </a:xfrm>
        </p:spPr>
        <p:txBody>
          <a:bodyPr>
            <a:noAutofit/>
          </a:bodyPr>
          <a:lstStyle/>
          <a:p>
            <a:r>
              <a:rPr lang="en-US" sz="2800" dirty="0"/>
              <a:t>Write a program to copy elements of one matrix to another matrix</a:t>
            </a:r>
          </a:p>
        </p:txBody>
      </p:sp>
      <p:sp>
        <p:nvSpPr>
          <p:cNvPr id="4" name="TextBox 3"/>
          <p:cNvSpPr txBox="1"/>
          <p:nvPr/>
        </p:nvSpPr>
        <p:spPr>
          <a:xfrm>
            <a:off x="1182806" y="948690"/>
            <a:ext cx="5204346" cy="5909310"/>
          </a:xfrm>
          <a:prstGeom prst="rect">
            <a:avLst/>
          </a:prstGeom>
          <a:noFill/>
        </p:spPr>
        <p:txBody>
          <a:bodyPr wrap="square" rtlCol="0">
            <a:spAutoFit/>
          </a:bodyPr>
          <a:lstStyle/>
          <a:p>
            <a:r>
              <a:rPr lang="en-US" dirty="0"/>
              <a:t>#include &lt;</a:t>
            </a:r>
            <a:r>
              <a:rPr lang="en-US" dirty="0" err="1"/>
              <a:t>stdio.h</a:t>
            </a:r>
            <a:r>
              <a:rPr lang="en-US" dirty="0"/>
              <a:t>&gt; void main()</a:t>
            </a:r>
          </a:p>
          <a:p>
            <a:r>
              <a:rPr lang="en-US" dirty="0"/>
              <a:t>{</a:t>
            </a:r>
          </a:p>
          <a:p>
            <a:r>
              <a:rPr lang="en-US" dirty="0"/>
              <a:t>int </a:t>
            </a:r>
            <a:r>
              <a:rPr lang="en-US" dirty="0" err="1"/>
              <a:t>i</a:t>
            </a:r>
            <a:r>
              <a:rPr lang="en-US" dirty="0"/>
              <a:t>, </a:t>
            </a:r>
            <a:r>
              <a:rPr lang="en-US" dirty="0" err="1"/>
              <a:t>j,m,n</a:t>
            </a:r>
            <a:r>
              <a:rPr lang="en-US" dirty="0"/>
              <a:t>, a[10][10],b[10][10];</a:t>
            </a:r>
          </a:p>
          <a:p>
            <a:r>
              <a:rPr lang="en-US" dirty="0" err="1"/>
              <a:t>printf</a:t>
            </a:r>
            <a:r>
              <a:rPr lang="en-US" dirty="0"/>
              <a:t>("Enter the rows and columns of matrix A\n"); </a:t>
            </a:r>
          </a:p>
          <a:p>
            <a:r>
              <a:rPr lang="en-US" dirty="0" err="1"/>
              <a:t>scanf</a:t>
            </a:r>
            <a:r>
              <a:rPr lang="en-US" dirty="0"/>
              <a:t>("%</a:t>
            </a:r>
            <a:r>
              <a:rPr lang="en-US" dirty="0" err="1"/>
              <a:t>d%d</a:t>
            </a:r>
            <a:r>
              <a:rPr lang="en-US" dirty="0"/>
              <a:t>", &amp;</a:t>
            </a:r>
            <a:r>
              <a:rPr lang="en-US" dirty="0" err="1"/>
              <a:t>m,&amp;n</a:t>
            </a:r>
            <a:r>
              <a:rPr lang="en-US" dirty="0"/>
              <a:t>);</a:t>
            </a:r>
          </a:p>
          <a:p>
            <a:r>
              <a:rPr lang="en-US" dirty="0" err="1"/>
              <a:t>printf</a:t>
            </a:r>
            <a:r>
              <a:rPr lang="en-US" dirty="0"/>
              <a:t>("Enter elements of array A\n"); </a:t>
            </a:r>
          </a:p>
          <a:p>
            <a:r>
              <a:rPr lang="en-US" dirty="0"/>
              <a:t>for(</a:t>
            </a:r>
            <a:r>
              <a:rPr lang="en-US" dirty="0" err="1"/>
              <a:t>i</a:t>
            </a:r>
            <a:r>
              <a:rPr lang="en-US" dirty="0"/>
              <a:t>=0; </a:t>
            </a:r>
            <a:r>
              <a:rPr lang="en-US" dirty="0" err="1"/>
              <a:t>i</a:t>
            </a:r>
            <a:r>
              <a:rPr lang="en-US" dirty="0"/>
              <a:t>&lt;m; </a:t>
            </a:r>
            <a:r>
              <a:rPr lang="en-US" dirty="0" err="1"/>
              <a:t>i</a:t>
            </a:r>
            <a:r>
              <a:rPr lang="en-US" dirty="0"/>
              <a:t>++)</a:t>
            </a:r>
          </a:p>
          <a:p>
            <a:r>
              <a:rPr lang="en-US" dirty="0"/>
              <a:t>{</a:t>
            </a:r>
          </a:p>
          <a:p>
            <a:r>
              <a:rPr lang="en-US" dirty="0"/>
              <a:t>for(j=0;j&lt;</a:t>
            </a:r>
            <a:r>
              <a:rPr lang="en-US" dirty="0" err="1"/>
              <a:t>n;j</a:t>
            </a:r>
            <a:r>
              <a:rPr lang="en-US" dirty="0"/>
              <a:t>++)</a:t>
            </a:r>
          </a:p>
          <a:p>
            <a:r>
              <a:rPr lang="en-US" dirty="0"/>
              <a:t>{</a:t>
            </a:r>
          </a:p>
          <a:p>
            <a:r>
              <a:rPr lang="en-US" dirty="0" err="1"/>
              <a:t>scanf</a:t>
            </a:r>
            <a:r>
              <a:rPr lang="en-US" dirty="0"/>
              <a:t>("%d", &amp;a[</a:t>
            </a:r>
            <a:r>
              <a:rPr lang="en-US" dirty="0" err="1"/>
              <a:t>i</a:t>
            </a:r>
            <a:r>
              <a:rPr lang="en-US" dirty="0"/>
              <a:t>][j]);</a:t>
            </a:r>
          </a:p>
          <a:p>
            <a:r>
              <a:rPr lang="en-US" dirty="0"/>
              <a:t>}</a:t>
            </a:r>
          </a:p>
          <a:p>
            <a:r>
              <a:rPr lang="en-US" dirty="0"/>
              <a:t>}</a:t>
            </a:r>
          </a:p>
          <a:p>
            <a:r>
              <a:rPr lang="en-US" dirty="0"/>
              <a:t>for(</a:t>
            </a:r>
            <a:r>
              <a:rPr lang="en-US" dirty="0" err="1"/>
              <a:t>i</a:t>
            </a:r>
            <a:r>
              <a:rPr lang="en-US" dirty="0"/>
              <a:t>=0; </a:t>
            </a:r>
            <a:r>
              <a:rPr lang="en-US" dirty="0" err="1"/>
              <a:t>i</a:t>
            </a:r>
            <a:r>
              <a:rPr lang="en-US" dirty="0"/>
              <a:t>&lt;m; </a:t>
            </a:r>
            <a:r>
              <a:rPr lang="en-US" dirty="0" err="1"/>
              <a:t>i</a:t>
            </a:r>
            <a:r>
              <a:rPr lang="en-US" dirty="0"/>
              <a:t>++)</a:t>
            </a:r>
          </a:p>
          <a:p>
            <a:r>
              <a:rPr lang="en-US" dirty="0"/>
              <a:t>{</a:t>
            </a:r>
          </a:p>
          <a:p>
            <a:r>
              <a:rPr lang="en-US" dirty="0"/>
              <a:t>for(j=0;j&lt;</a:t>
            </a:r>
            <a:r>
              <a:rPr lang="en-US" dirty="0" err="1"/>
              <a:t>n;j</a:t>
            </a:r>
            <a:r>
              <a:rPr lang="en-US" dirty="0"/>
              <a:t>++)</a:t>
            </a:r>
          </a:p>
          <a:p>
            <a:r>
              <a:rPr lang="en-US" dirty="0"/>
              <a:t>{</a:t>
            </a:r>
          </a:p>
          <a:p>
            <a:r>
              <a:rPr lang="en-US" dirty="0"/>
              <a:t>b[</a:t>
            </a:r>
            <a:r>
              <a:rPr lang="en-US" dirty="0" err="1"/>
              <a:t>i</a:t>
            </a:r>
            <a:r>
              <a:rPr lang="en-US" dirty="0"/>
              <a:t>][j]=a[</a:t>
            </a:r>
            <a:r>
              <a:rPr lang="en-US" dirty="0" err="1"/>
              <a:t>i</a:t>
            </a:r>
            <a:r>
              <a:rPr lang="en-US" dirty="0"/>
              <a:t>][j];</a:t>
            </a:r>
          </a:p>
          <a:p>
            <a:r>
              <a:rPr lang="en-US" dirty="0"/>
              <a:t>}</a:t>
            </a:r>
          </a:p>
          <a:p>
            <a:r>
              <a:rPr lang="en-US" dirty="0"/>
              <a:t>}</a:t>
            </a:r>
          </a:p>
          <a:p>
            <a:endParaRPr lang="en-US" dirty="0"/>
          </a:p>
        </p:txBody>
      </p:sp>
      <p:sp>
        <p:nvSpPr>
          <p:cNvPr id="5" name="TextBox 4"/>
          <p:cNvSpPr txBox="1"/>
          <p:nvPr/>
        </p:nvSpPr>
        <p:spPr>
          <a:xfrm>
            <a:off x="6945573" y="1214651"/>
            <a:ext cx="4408227" cy="3139321"/>
          </a:xfrm>
          <a:prstGeom prst="rect">
            <a:avLst/>
          </a:prstGeom>
          <a:noFill/>
        </p:spPr>
        <p:txBody>
          <a:bodyPr wrap="square" rtlCol="0">
            <a:spAutoFit/>
          </a:bodyPr>
          <a:lstStyle/>
          <a:p>
            <a:r>
              <a:rPr lang="en-US" dirty="0" err="1"/>
              <a:t>printf</a:t>
            </a:r>
            <a:r>
              <a:rPr lang="en-US" dirty="0"/>
              <a:t>("Elements of matrix B are\n"); for(</a:t>
            </a:r>
            <a:r>
              <a:rPr lang="en-US" dirty="0" err="1"/>
              <a:t>i</a:t>
            </a:r>
            <a:r>
              <a:rPr lang="en-US" dirty="0"/>
              <a:t>=0; </a:t>
            </a:r>
            <a:r>
              <a:rPr lang="en-US" dirty="0" err="1"/>
              <a:t>i</a:t>
            </a:r>
            <a:r>
              <a:rPr lang="en-US" dirty="0"/>
              <a:t>&lt;m; </a:t>
            </a:r>
            <a:r>
              <a:rPr lang="en-US" dirty="0" err="1"/>
              <a:t>i</a:t>
            </a:r>
            <a:r>
              <a:rPr lang="en-US" dirty="0"/>
              <a:t>++)</a:t>
            </a:r>
          </a:p>
          <a:p>
            <a:r>
              <a:rPr lang="en-US" dirty="0"/>
              <a:t>{</a:t>
            </a:r>
          </a:p>
          <a:p>
            <a:r>
              <a:rPr lang="en-US" dirty="0"/>
              <a:t>for(j=0;j&lt;</a:t>
            </a:r>
            <a:r>
              <a:rPr lang="en-US" dirty="0" err="1"/>
              <a:t>n;j</a:t>
            </a:r>
            <a:r>
              <a:rPr lang="en-US" dirty="0"/>
              <a:t>++)</a:t>
            </a:r>
          </a:p>
          <a:p>
            <a:r>
              <a:rPr lang="en-US" dirty="0"/>
              <a:t>{</a:t>
            </a:r>
          </a:p>
          <a:p>
            <a:r>
              <a:rPr lang="en-US" dirty="0" err="1"/>
              <a:t>printf</a:t>
            </a:r>
            <a:r>
              <a:rPr lang="en-US" dirty="0"/>
              <a:t>("%d\t", b[</a:t>
            </a:r>
            <a:r>
              <a:rPr lang="en-US" dirty="0" err="1"/>
              <a:t>i</a:t>
            </a:r>
            <a:r>
              <a:rPr lang="en-US" dirty="0"/>
              <a:t>][j]);</a:t>
            </a:r>
          </a:p>
          <a:p>
            <a:r>
              <a:rPr lang="en-US" dirty="0"/>
              <a:t>}</a:t>
            </a:r>
          </a:p>
          <a:p>
            <a:r>
              <a:rPr lang="en-US" dirty="0" err="1"/>
              <a:t>printf</a:t>
            </a:r>
            <a:r>
              <a:rPr lang="en-US" dirty="0"/>
              <a:t>("\n");</a:t>
            </a:r>
          </a:p>
          <a:p>
            <a:r>
              <a:rPr lang="en-US" dirty="0"/>
              <a:t>}</a:t>
            </a:r>
          </a:p>
          <a:p>
            <a:r>
              <a:rPr lang="en-US" dirty="0"/>
              <a:t>}</a:t>
            </a:r>
          </a:p>
          <a:p>
            <a:endParaRPr lang="en-US" dirty="0"/>
          </a:p>
        </p:txBody>
      </p:sp>
      <p:sp>
        <p:nvSpPr>
          <p:cNvPr id="20" name="TextBox 19"/>
          <p:cNvSpPr txBox="1"/>
          <p:nvPr/>
        </p:nvSpPr>
        <p:spPr>
          <a:xfrm>
            <a:off x="6544101" y="4144368"/>
            <a:ext cx="4809699" cy="2308324"/>
          </a:xfrm>
          <a:prstGeom prst="rect">
            <a:avLst/>
          </a:prstGeom>
          <a:solidFill>
            <a:schemeClr val="tx1"/>
          </a:solidFill>
        </p:spPr>
        <p:txBody>
          <a:bodyPr wrap="square" rtlCol="0">
            <a:spAutoFit/>
          </a:bodyPr>
          <a:lstStyle/>
          <a:p>
            <a:r>
              <a:rPr lang="en-US" dirty="0">
                <a:solidFill>
                  <a:schemeClr val="bg1"/>
                </a:solidFill>
              </a:rPr>
              <a:t>Output</a:t>
            </a:r>
          </a:p>
          <a:p>
            <a:r>
              <a:rPr lang="en-US" dirty="0">
                <a:solidFill>
                  <a:schemeClr val="bg1"/>
                </a:solidFill>
              </a:rPr>
              <a:t>Enter the rows and columns of matrix A</a:t>
            </a:r>
          </a:p>
          <a:p>
            <a:r>
              <a:rPr lang="en-US" dirty="0">
                <a:solidFill>
                  <a:schemeClr val="bg1"/>
                </a:solidFill>
              </a:rPr>
              <a:t>2 2</a:t>
            </a:r>
          </a:p>
          <a:p>
            <a:r>
              <a:rPr lang="en-US" dirty="0">
                <a:solidFill>
                  <a:schemeClr val="bg1"/>
                </a:solidFill>
              </a:rPr>
              <a:t>Enter elements of array A</a:t>
            </a:r>
          </a:p>
          <a:p>
            <a:r>
              <a:rPr lang="en-US" dirty="0">
                <a:solidFill>
                  <a:schemeClr val="bg1"/>
                </a:solidFill>
              </a:rPr>
              <a:t>1 2 3 4</a:t>
            </a:r>
          </a:p>
          <a:p>
            <a:r>
              <a:rPr lang="en-US" dirty="0">
                <a:solidFill>
                  <a:schemeClr val="bg1"/>
                </a:solidFill>
              </a:rPr>
              <a:t>Elements of matrix B are</a:t>
            </a:r>
          </a:p>
          <a:p>
            <a:pPr marL="342900" indent="-342900">
              <a:buAutoNum type="arabicPlain"/>
            </a:pPr>
            <a:r>
              <a:rPr lang="en-US" dirty="0">
                <a:solidFill>
                  <a:schemeClr val="bg1"/>
                </a:solidFill>
              </a:rPr>
              <a:t>2</a:t>
            </a:r>
          </a:p>
          <a:p>
            <a:r>
              <a:rPr lang="en-US" dirty="0">
                <a:solidFill>
                  <a:schemeClr val="bg1"/>
                </a:solidFill>
              </a:rPr>
              <a:t>3     4</a:t>
            </a:r>
          </a:p>
        </p:txBody>
      </p:sp>
    </p:spTree>
    <p:extLst>
      <p:ext uri="{BB962C8B-B14F-4D97-AF65-F5344CB8AC3E}">
        <p14:creationId xmlns:p14="http://schemas.microsoft.com/office/powerpoint/2010/main" val="22788683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3741"/>
          </a:xfrm>
        </p:spPr>
        <p:txBody>
          <a:bodyPr>
            <a:noAutofit/>
          </a:bodyPr>
          <a:lstStyle/>
          <a:p>
            <a:r>
              <a:rPr lang="en-US" sz="2400" dirty="0"/>
              <a:t>Write a program to find sum of each row and sum of each column</a:t>
            </a:r>
          </a:p>
        </p:txBody>
      </p:sp>
      <p:sp>
        <p:nvSpPr>
          <p:cNvPr id="4" name="TextBox 3"/>
          <p:cNvSpPr txBox="1"/>
          <p:nvPr/>
        </p:nvSpPr>
        <p:spPr>
          <a:xfrm>
            <a:off x="709684" y="818866"/>
            <a:ext cx="5213444" cy="5355312"/>
          </a:xfrm>
          <a:prstGeom prst="rect">
            <a:avLst/>
          </a:prstGeom>
          <a:noFill/>
        </p:spPr>
        <p:txBody>
          <a:bodyPr wrap="square" rtlCol="0">
            <a:spAutoFit/>
          </a:bodyPr>
          <a:lstStyle/>
          <a:p>
            <a:r>
              <a:rPr lang="en-US" dirty="0"/>
              <a:t>#include&lt;</a:t>
            </a:r>
            <a:r>
              <a:rPr lang="en-US" dirty="0" err="1"/>
              <a:t>stdio.h</a:t>
            </a:r>
            <a:r>
              <a:rPr lang="en-US" dirty="0"/>
              <a:t>&gt;</a:t>
            </a:r>
          </a:p>
          <a:p>
            <a:r>
              <a:rPr lang="en-US" dirty="0"/>
              <a:t>void main()</a:t>
            </a:r>
          </a:p>
          <a:p>
            <a:r>
              <a:rPr lang="en-US" dirty="0"/>
              <a:t>{</a:t>
            </a:r>
          </a:p>
          <a:p>
            <a:r>
              <a:rPr lang="en-US" dirty="0"/>
              <a:t> </a:t>
            </a:r>
          </a:p>
          <a:p>
            <a:r>
              <a:rPr lang="en-US" dirty="0"/>
              <a:t>int </a:t>
            </a:r>
            <a:r>
              <a:rPr lang="en-US" dirty="0" err="1"/>
              <a:t>m,n,i,j,rsum,csum,a</a:t>
            </a:r>
            <a:r>
              <a:rPr lang="en-US" dirty="0"/>
              <a:t>[3][3];</a:t>
            </a:r>
          </a:p>
          <a:p>
            <a:r>
              <a:rPr lang="en-US" dirty="0" err="1"/>
              <a:t>printf</a:t>
            </a:r>
            <a:r>
              <a:rPr lang="en-US" dirty="0"/>
              <a:t>(“enter number of rows and columns\n”); </a:t>
            </a:r>
            <a:r>
              <a:rPr lang="en-US" dirty="0" err="1"/>
              <a:t>scanf</a:t>
            </a:r>
            <a:r>
              <a:rPr lang="en-US" dirty="0"/>
              <a:t>(“%d %</a:t>
            </a:r>
            <a:r>
              <a:rPr lang="en-US" dirty="0" err="1"/>
              <a:t>d”,&amp;m,&amp;n</a:t>
            </a:r>
            <a:r>
              <a:rPr lang="en-US" dirty="0"/>
              <a:t>);</a:t>
            </a:r>
          </a:p>
          <a:p>
            <a:r>
              <a:rPr lang="en-US" dirty="0" err="1"/>
              <a:t>printf</a:t>
            </a:r>
            <a:r>
              <a:rPr lang="en-US" dirty="0"/>
              <a:t>(“enter array elements\n”);</a:t>
            </a:r>
          </a:p>
          <a:p>
            <a:r>
              <a:rPr lang="en-US" dirty="0"/>
              <a:t>for(</a:t>
            </a:r>
            <a:r>
              <a:rPr lang="en-US" dirty="0" err="1"/>
              <a:t>i</a:t>
            </a:r>
            <a:r>
              <a:rPr lang="en-US" dirty="0"/>
              <a:t>=0;i&lt;</a:t>
            </a:r>
            <a:r>
              <a:rPr lang="en-US" dirty="0" err="1"/>
              <a:t>m;i</a:t>
            </a:r>
            <a:r>
              <a:rPr lang="en-US" dirty="0"/>
              <a:t>++)</a:t>
            </a:r>
          </a:p>
          <a:p>
            <a:r>
              <a:rPr lang="en-US" dirty="0"/>
              <a:t>{</a:t>
            </a:r>
          </a:p>
          <a:p>
            <a:r>
              <a:rPr lang="en-US" dirty="0"/>
              <a:t>for(j=0;j&lt;</a:t>
            </a:r>
            <a:r>
              <a:rPr lang="en-US" dirty="0" err="1"/>
              <a:t>n;j</a:t>
            </a:r>
            <a:r>
              <a:rPr lang="en-US" dirty="0"/>
              <a:t>++)</a:t>
            </a:r>
          </a:p>
          <a:p>
            <a:r>
              <a:rPr lang="en-US" dirty="0"/>
              <a:t>{</a:t>
            </a:r>
          </a:p>
          <a:p>
            <a:r>
              <a:rPr lang="en-US" dirty="0" err="1"/>
              <a:t>scanf</a:t>
            </a:r>
            <a:r>
              <a:rPr lang="en-US" dirty="0"/>
              <a:t>(“%</a:t>
            </a:r>
            <a:r>
              <a:rPr lang="en-US" dirty="0" err="1"/>
              <a:t>d”,&amp;a</a:t>
            </a:r>
            <a:r>
              <a:rPr lang="en-US" dirty="0"/>
              <a:t>[</a:t>
            </a:r>
            <a:r>
              <a:rPr lang="en-US" dirty="0" err="1"/>
              <a:t>i</a:t>
            </a:r>
            <a:r>
              <a:rPr lang="en-US" dirty="0"/>
              <a:t>][j]);</a:t>
            </a:r>
          </a:p>
          <a:p>
            <a:r>
              <a:rPr lang="en-US" dirty="0"/>
              <a:t>}</a:t>
            </a:r>
          </a:p>
          <a:p>
            <a:r>
              <a:rPr lang="en-US" dirty="0"/>
              <a:t>}</a:t>
            </a:r>
          </a:p>
          <a:p>
            <a:r>
              <a:rPr lang="en-US" dirty="0"/>
              <a:t>for(</a:t>
            </a:r>
            <a:r>
              <a:rPr lang="en-US" dirty="0" err="1"/>
              <a:t>i</a:t>
            </a:r>
            <a:r>
              <a:rPr lang="en-US" dirty="0"/>
              <a:t>=0;i&lt;</a:t>
            </a:r>
            <a:r>
              <a:rPr lang="en-US" dirty="0" err="1"/>
              <a:t>m;i</a:t>
            </a:r>
            <a:r>
              <a:rPr lang="en-US" dirty="0"/>
              <a:t>++)</a:t>
            </a:r>
          </a:p>
          <a:p>
            <a:r>
              <a:rPr lang="en-US" dirty="0"/>
              <a:t>{</a:t>
            </a:r>
          </a:p>
          <a:p>
            <a:r>
              <a:rPr lang="en-US" dirty="0" err="1"/>
              <a:t>rsum</a:t>
            </a:r>
            <a:r>
              <a:rPr lang="en-US" dirty="0"/>
              <a:t>=0; for(j=0;j&lt;</a:t>
            </a:r>
            <a:r>
              <a:rPr lang="en-US" dirty="0" err="1"/>
              <a:t>n;j</a:t>
            </a:r>
            <a:r>
              <a:rPr lang="en-US" dirty="0"/>
              <a:t>++)</a:t>
            </a:r>
          </a:p>
          <a:p>
            <a:endParaRPr lang="en-US" dirty="0"/>
          </a:p>
        </p:txBody>
      </p:sp>
      <p:sp>
        <p:nvSpPr>
          <p:cNvPr id="5" name="TextBox 4"/>
          <p:cNvSpPr txBox="1"/>
          <p:nvPr/>
        </p:nvSpPr>
        <p:spPr>
          <a:xfrm>
            <a:off x="6428096" y="1091821"/>
            <a:ext cx="5268035" cy="4247317"/>
          </a:xfrm>
          <a:prstGeom prst="rect">
            <a:avLst/>
          </a:prstGeom>
          <a:noFill/>
        </p:spPr>
        <p:txBody>
          <a:bodyPr wrap="square" rtlCol="0">
            <a:spAutoFit/>
          </a:bodyPr>
          <a:lstStyle/>
          <a:p>
            <a:r>
              <a:rPr lang="en-US" dirty="0"/>
              <a:t>{</a:t>
            </a:r>
          </a:p>
          <a:p>
            <a:r>
              <a:rPr lang="en-US" dirty="0" err="1"/>
              <a:t>rsum</a:t>
            </a:r>
            <a:r>
              <a:rPr lang="en-US" dirty="0"/>
              <a:t>=</a:t>
            </a:r>
            <a:r>
              <a:rPr lang="en-US" dirty="0" err="1"/>
              <a:t>rsum+a</a:t>
            </a:r>
            <a:r>
              <a:rPr lang="en-US" dirty="0"/>
              <a:t>[</a:t>
            </a:r>
            <a:r>
              <a:rPr lang="en-US" dirty="0" err="1"/>
              <a:t>i</a:t>
            </a:r>
            <a:r>
              <a:rPr lang="en-US" dirty="0"/>
              <a:t>][j];</a:t>
            </a:r>
          </a:p>
          <a:p>
            <a:r>
              <a:rPr lang="en-US" dirty="0"/>
              <a:t>}</a:t>
            </a:r>
          </a:p>
          <a:p>
            <a:r>
              <a:rPr lang="en-US" dirty="0" err="1"/>
              <a:t>printf</a:t>
            </a:r>
            <a:r>
              <a:rPr lang="en-US" dirty="0"/>
              <a:t>(“sum is %d”,</a:t>
            </a:r>
            <a:r>
              <a:rPr lang="en-US" dirty="0" err="1"/>
              <a:t>rsum</a:t>
            </a:r>
            <a:r>
              <a:rPr lang="en-US" dirty="0"/>
              <a:t>);</a:t>
            </a:r>
          </a:p>
          <a:p>
            <a:r>
              <a:rPr lang="en-US" dirty="0"/>
              <a:t>}</a:t>
            </a:r>
          </a:p>
          <a:p>
            <a:r>
              <a:rPr lang="en-US" dirty="0"/>
              <a:t>{</a:t>
            </a:r>
          </a:p>
          <a:p>
            <a:r>
              <a:rPr lang="en-US" dirty="0" err="1"/>
              <a:t>csum</a:t>
            </a:r>
            <a:r>
              <a:rPr lang="en-US" dirty="0"/>
              <a:t>=0; for(j=0;j&lt;</a:t>
            </a:r>
            <a:r>
              <a:rPr lang="en-US" dirty="0" err="1"/>
              <a:t>n;j</a:t>
            </a:r>
            <a:r>
              <a:rPr lang="en-US" dirty="0"/>
              <a:t>++)</a:t>
            </a:r>
          </a:p>
          <a:p>
            <a:r>
              <a:rPr lang="en-US" dirty="0"/>
              <a:t>{</a:t>
            </a:r>
          </a:p>
          <a:p>
            <a:r>
              <a:rPr lang="en-US" dirty="0" err="1"/>
              <a:t>csum</a:t>
            </a:r>
            <a:r>
              <a:rPr lang="en-US" dirty="0"/>
              <a:t>=</a:t>
            </a:r>
            <a:r>
              <a:rPr lang="en-US" dirty="0" err="1"/>
              <a:t>csum+a</a:t>
            </a:r>
            <a:r>
              <a:rPr lang="en-US" dirty="0"/>
              <a:t>[</a:t>
            </a:r>
            <a:r>
              <a:rPr lang="en-US" dirty="0" err="1"/>
              <a:t>i</a:t>
            </a:r>
            <a:r>
              <a:rPr lang="en-US" dirty="0"/>
              <a:t>][j];</a:t>
            </a:r>
          </a:p>
          <a:p>
            <a:r>
              <a:rPr lang="en-US" dirty="0"/>
              <a:t>}</a:t>
            </a:r>
          </a:p>
          <a:p>
            <a:r>
              <a:rPr lang="en-US" dirty="0" err="1"/>
              <a:t>printf</a:t>
            </a:r>
            <a:r>
              <a:rPr lang="en-US" dirty="0"/>
              <a:t>(“sum is %d”,</a:t>
            </a:r>
            <a:r>
              <a:rPr lang="en-US" dirty="0" err="1"/>
              <a:t>csum</a:t>
            </a:r>
            <a:r>
              <a:rPr lang="en-US" dirty="0"/>
              <a:t>);</a:t>
            </a:r>
          </a:p>
          <a:p>
            <a:r>
              <a:rPr lang="en-US" dirty="0"/>
              <a:t>}</a:t>
            </a:r>
          </a:p>
          <a:p>
            <a:r>
              <a:rPr lang="en-US" dirty="0"/>
              <a:t> </a:t>
            </a:r>
          </a:p>
          <a:p>
            <a:r>
              <a:rPr lang="en-US" dirty="0"/>
              <a:t>}</a:t>
            </a:r>
          </a:p>
          <a:p>
            <a:endParaRPr lang="en-US" dirty="0"/>
          </a:p>
        </p:txBody>
      </p:sp>
    </p:spTree>
    <p:extLst>
      <p:ext uri="{BB962C8B-B14F-4D97-AF65-F5344CB8AC3E}">
        <p14:creationId xmlns:p14="http://schemas.microsoft.com/office/powerpoint/2010/main" val="244293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2955"/>
            <a:ext cx="10515600" cy="5904008"/>
          </a:xfrm>
        </p:spPr>
        <p:txBody>
          <a:bodyPr/>
          <a:lstStyle/>
          <a:p>
            <a:r>
              <a:rPr lang="en-US" b="1" dirty="0"/>
              <a:t>Advantages of using array:</a:t>
            </a:r>
          </a:p>
          <a:p>
            <a:pPr marL="0" lvl="0" indent="0">
              <a:buNone/>
            </a:pPr>
            <a:r>
              <a:rPr lang="en-US" dirty="0"/>
              <a:t>Array gives us the ability to store and retrieve large amount of data without declaring many separate variables.</a:t>
            </a:r>
          </a:p>
          <a:p>
            <a:pPr marL="0" indent="0">
              <a:buNone/>
            </a:pPr>
            <a:r>
              <a:rPr lang="en-US" b="1" dirty="0"/>
              <a:t>Limitation or disadvantages of array</a:t>
            </a:r>
          </a:p>
          <a:p>
            <a:pPr lvl="0"/>
            <a:r>
              <a:rPr lang="en-US" dirty="0"/>
              <a:t>The size of an array that specify at the time of creation can't be altered, other words can't add more elements to an array than specified in its size.</a:t>
            </a:r>
          </a:p>
          <a:p>
            <a:pPr lvl="0"/>
            <a:r>
              <a:rPr lang="en-US" dirty="0"/>
              <a:t>Difficult to insert an element between 2 existing elements.</a:t>
            </a:r>
          </a:p>
          <a:p>
            <a:pPr lvl="0"/>
            <a:r>
              <a:rPr lang="en-US" dirty="0"/>
              <a:t>Amount of memory taken by an array depends on size specified for the array at time of declaration.</a:t>
            </a:r>
          </a:p>
        </p:txBody>
      </p:sp>
    </p:spTree>
    <p:extLst>
      <p:ext uri="{BB962C8B-B14F-4D97-AF65-F5344CB8AC3E}">
        <p14:creationId xmlns:p14="http://schemas.microsoft.com/office/powerpoint/2010/main" val="5235871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US" sz="3600" b="1" dirty="0"/>
              <a:t>CHARACTER ARRAYS AND STRINGS:</a:t>
            </a:r>
            <a:br>
              <a:rPr lang="en-US" b="1" dirty="0"/>
            </a:br>
            <a:r>
              <a:rPr lang="en-US" dirty="0"/>
              <a:t> </a:t>
            </a:r>
            <a:br>
              <a:rPr lang="en-US" dirty="0"/>
            </a:br>
            <a:endParaRPr lang="en-US" dirty="0"/>
          </a:p>
        </p:txBody>
      </p:sp>
      <p:sp>
        <p:nvSpPr>
          <p:cNvPr id="3" name="Content Placeholder 2"/>
          <p:cNvSpPr>
            <a:spLocks noGrp="1"/>
          </p:cNvSpPr>
          <p:nvPr>
            <p:ph idx="1"/>
          </p:nvPr>
        </p:nvSpPr>
        <p:spPr/>
        <p:txBody>
          <a:bodyPr/>
          <a:lstStyle/>
          <a:p>
            <a:r>
              <a:rPr lang="en-US" dirty="0"/>
              <a:t>String is a sequence of characters enclosed inside double quotes.</a:t>
            </a:r>
          </a:p>
          <a:p>
            <a:r>
              <a:rPr lang="en-US" dirty="0"/>
              <a:t>Strings ends with NULL character(‘/0’) which means end of string.</a:t>
            </a:r>
          </a:p>
          <a:p>
            <a:r>
              <a:rPr lang="en-US" dirty="0"/>
              <a:t> ‘\0’ is also called as string delimiter or NULL character.</a:t>
            </a:r>
          </a:p>
          <a:p>
            <a:r>
              <a:rPr lang="en-US" dirty="0"/>
              <a:t>String is a sequence of elements of the char data type. </a:t>
            </a:r>
          </a:p>
          <a:p>
            <a:pPr marL="0" indent="0">
              <a:buNone/>
            </a:pPr>
            <a:br>
              <a:rPr lang="en-US" dirty="0"/>
            </a:br>
            <a:r>
              <a:rPr lang="en-US" dirty="0"/>
              <a:t>Example: </a:t>
            </a:r>
            <a:r>
              <a:rPr lang="en-US" dirty="0" err="1"/>
              <a:t>printf</a:t>
            </a:r>
            <a:r>
              <a:rPr lang="en-US" dirty="0"/>
              <a:t>(“Hello World”);</a:t>
            </a:r>
          </a:p>
          <a:p>
            <a:pPr marL="0" indent="0">
              <a:buNone/>
            </a:pPr>
            <a:r>
              <a:rPr lang="en-US" dirty="0"/>
              <a:t>	      </a:t>
            </a:r>
            <a:r>
              <a:rPr lang="en-US" dirty="0" err="1"/>
              <a:t>printf</a:t>
            </a:r>
            <a:r>
              <a:rPr lang="en-US" dirty="0"/>
              <a:t> (“</a:t>
            </a:r>
            <a:r>
              <a:rPr lang="en-US" dirty="0" err="1"/>
              <a:t>WellDone</a:t>
            </a:r>
            <a:r>
              <a:rPr lang="en-US" dirty="0"/>
              <a:t>!!!”);</a:t>
            </a:r>
          </a:p>
          <a:p>
            <a:endParaRPr lang="en-US" dirty="0"/>
          </a:p>
        </p:txBody>
      </p:sp>
    </p:spTree>
    <p:extLst>
      <p:ext uri="{BB962C8B-B14F-4D97-AF65-F5344CB8AC3E}">
        <p14:creationId xmlns:p14="http://schemas.microsoft.com/office/powerpoint/2010/main" val="12718073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Declaring and initializing string variables</a:t>
            </a:r>
          </a:p>
        </p:txBody>
      </p:sp>
      <p:sp>
        <p:nvSpPr>
          <p:cNvPr id="3" name="Content Placeholder 2"/>
          <p:cNvSpPr>
            <a:spLocks noGrp="1"/>
          </p:cNvSpPr>
          <p:nvPr>
            <p:ph idx="1"/>
          </p:nvPr>
        </p:nvSpPr>
        <p:spPr>
          <a:xfrm>
            <a:off x="838200" y="1457135"/>
            <a:ext cx="10515600" cy="4351338"/>
          </a:xfrm>
        </p:spPr>
        <p:txBody>
          <a:bodyPr>
            <a:normAutofit lnSpcReduction="10000"/>
          </a:bodyPr>
          <a:lstStyle/>
          <a:p>
            <a:pPr marL="0" indent="0">
              <a:buNone/>
            </a:pPr>
            <a:r>
              <a:rPr lang="en-US" b="1" dirty="0"/>
              <a:t>  Syntax: char variable_name[size];</a:t>
            </a:r>
          </a:p>
          <a:p>
            <a:r>
              <a:rPr lang="en-US" dirty="0"/>
              <a:t>Size determines the number of characters in the </a:t>
            </a:r>
            <a:r>
              <a:rPr lang="en-US" dirty="0" err="1"/>
              <a:t>string_name</a:t>
            </a:r>
            <a:endParaRPr lang="en-US" dirty="0"/>
          </a:p>
          <a:p>
            <a:r>
              <a:rPr lang="en-US" dirty="0"/>
              <a:t>Size of the string should always be number of characters plus 1 because string should end with '\0'.</a:t>
            </a:r>
          </a:p>
          <a:p>
            <a:pPr marL="0" indent="0">
              <a:buNone/>
            </a:pPr>
            <a:endParaRPr lang="en-US" dirty="0"/>
          </a:p>
          <a:p>
            <a:pPr marL="0" indent="0">
              <a:buNone/>
            </a:pPr>
            <a:r>
              <a:rPr lang="en-US" dirty="0" err="1"/>
              <a:t>Example:char</a:t>
            </a:r>
            <a:r>
              <a:rPr lang="en-US" dirty="0"/>
              <a:t> name[21];</a:t>
            </a:r>
          </a:p>
          <a:p>
            <a:r>
              <a:rPr lang="en-US" dirty="0"/>
              <a:t>name can store up to 20 characters plus '\0'.</a:t>
            </a:r>
          </a:p>
          <a:p>
            <a:pPr marL="0" indent="0">
              <a:buNone/>
            </a:pPr>
            <a:r>
              <a:rPr lang="en-US" b="1" dirty="0"/>
              <a:t>Length of the string: </a:t>
            </a:r>
            <a:r>
              <a:rPr lang="en-US" dirty="0"/>
              <a:t>Number of characters stored in string up to “\0‟ but not including NULL character. Length of the string is different from its declared size.</a:t>
            </a:r>
          </a:p>
          <a:p>
            <a:pPr marL="0" indent="0">
              <a:buNone/>
            </a:pPr>
            <a:endParaRPr lang="en-US" dirty="0"/>
          </a:p>
        </p:txBody>
      </p:sp>
    </p:spTree>
    <p:extLst>
      <p:ext uri="{BB962C8B-B14F-4D97-AF65-F5344CB8AC3E}">
        <p14:creationId xmlns:p14="http://schemas.microsoft.com/office/powerpoint/2010/main" val="20891622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a:t>
            </a:r>
          </a:p>
        </p:txBody>
      </p:sp>
      <p:sp>
        <p:nvSpPr>
          <p:cNvPr id="3" name="Content Placeholder 2"/>
          <p:cNvSpPr>
            <a:spLocks noGrp="1"/>
          </p:cNvSpPr>
          <p:nvPr>
            <p:ph idx="1"/>
          </p:nvPr>
        </p:nvSpPr>
        <p:spPr/>
        <p:txBody>
          <a:bodyPr>
            <a:normAutofit lnSpcReduction="10000"/>
          </a:bodyPr>
          <a:lstStyle/>
          <a:p>
            <a:r>
              <a:rPr lang="en-US" b="1" dirty="0"/>
              <a:t>1.Initilaizing strings at compile time:</a:t>
            </a:r>
          </a:p>
          <a:p>
            <a:pPr marL="0" indent="0">
              <a:buNone/>
            </a:pPr>
            <a:r>
              <a:rPr lang="en-US" b="1" dirty="0"/>
              <a:t>Example: </a:t>
            </a:r>
            <a:r>
              <a:rPr lang="en-US" dirty="0"/>
              <a:t>char first[10] = {'t', 'a', 'b', 'l', 'e', '\0'};</a:t>
            </a:r>
          </a:p>
          <a:p>
            <a:r>
              <a:rPr lang="en-US" dirty="0"/>
              <a:t>This type of initialization treats string as an array of character and assigns value to individual position. So a NULL character should be added at the end.</a:t>
            </a:r>
          </a:p>
          <a:p>
            <a:pPr marL="0" indent="0">
              <a:buNone/>
            </a:pPr>
            <a:r>
              <a:rPr lang="en-US" dirty="0"/>
              <a:t>				or</a:t>
            </a:r>
          </a:p>
          <a:p>
            <a:pPr marL="0" indent="0">
              <a:buNone/>
            </a:pPr>
            <a:r>
              <a:rPr lang="en-US" dirty="0"/>
              <a:t>char second[10] = “table”;</a:t>
            </a:r>
          </a:p>
          <a:p>
            <a:r>
              <a:rPr lang="en-US" dirty="0"/>
              <a:t>This type of initialization initialize string as a unit and null char is automatically added by compiler. The values stored for 2 strings are identical.</a:t>
            </a:r>
          </a:p>
          <a:p>
            <a:endParaRPr lang="en-US" dirty="0"/>
          </a:p>
        </p:txBody>
      </p:sp>
    </p:spTree>
    <p:extLst>
      <p:ext uri="{BB962C8B-B14F-4D97-AF65-F5344CB8AC3E}">
        <p14:creationId xmlns:p14="http://schemas.microsoft.com/office/powerpoint/2010/main" val="3675712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9433"/>
            <a:ext cx="10515600" cy="5767530"/>
          </a:xfrm>
        </p:spPr>
        <p:txBody>
          <a:bodyPr/>
          <a:lstStyle/>
          <a:p>
            <a:endParaRPr lang="en-US" dirty="0"/>
          </a:p>
          <a:p>
            <a:endParaRPr lang="en-US" dirty="0"/>
          </a:p>
          <a:p>
            <a:r>
              <a:rPr lang="en-US" dirty="0"/>
              <a:t>Initialization is a process of assigning values to a string, before doing manipulation. Strings are initialized in 4 ways:</a:t>
            </a:r>
          </a:p>
          <a:p>
            <a:pPr marL="0" indent="0">
              <a:buNone/>
            </a:pPr>
            <a:endParaRPr lang="en-US" dirty="0"/>
          </a:p>
          <a:p>
            <a:pPr marL="514350" lvl="0" indent="-514350">
              <a:buFont typeface="+mj-lt"/>
              <a:buAutoNum type="arabicPeriod"/>
            </a:pPr>
            <a:r>
              <a:rPr lang="en-US" dirty="0"/>
              <a:t> Initializing character by character </a:t>
            </a:r>
          </a:p>
          <a:p>
            <a:pPr marL="514350" lvl="0" indent="-514350">
              <a:buFont typeface="+mj-lt"/>
              <a:buAutoNum type="arabicPeriod"/>
            </a:pPr>
            <a:r>
              <a:rPr lang="en-US" dirty="0"/>
              <a:t>Partial Array Initialization</a:t>
            </a:r>
          </a:p>
          <a:p>
            <a:pPr marL="514350" lvl="0" indent="-514350">
              <a:buFont typeface="+mj-lt"/>
              <a:buAutoNum type="arabicPeriod"/>
            </a:pPr>
            <a:r>
              <a:rPr lang="en-US" dirty="0"/>
              <a:t>Initialization without size</a:t>
            </a:r>
          </a:p>
          <a:p>
            <a:pPr marL="514350" lvl="0" indent="-514350">
              <a:buFont typeface="+mj-lt"/>
              <a:buAutoNum type="arabicPeriod"/>
            </a:pPr>
            <a:r>
              <a:rPr lang="en-US" dirty="0"/>
              <a:t>Initialization of Array with string </a:t>
            </a:r>
          </a:p>
          <a:p>
            <a:pPr marL="0" indent="0">
              <a:buNone/>
            </a:pPr>
            <a:endParaRPr lang="en-US" dirty="0"/>
          </a:p>
        </p:txBody>
      </p:sp>
    </p:spTree>
    <p:extLst>
      <p:ext uri="{BB962C8B-B14F-4D97-AF65-F5344CB8AC3E}">
        <p14:creationId xmlns:p14="http://schemas.microsoft.com/office/powerpoint/2010/main" val="992230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137"/>
            <a:ext cx="10515600" cy="5794826"/>
          </a:xfrm>
        </p:spPr>
        <p:txBody>
          <a:bodyPr/>
          <a:lstStyle/>
          <a:p>
            <a:pPr>
              <a:lnSpc>
                <a:spcPct val="100000"/>
              </a:lnSpc>
            </a:pPr>
            <a:r>
              <a:rPr lang="en-US" dirty="0"/>
              <a:t> </a:t>
            </a:r>
            <a:r>
              <a:rPr lang="en-US" b="1" dirty="0"/>
              <a:t>Initializing character by character</a:t>
            </a:r>
          </a:p>
          <a:p>
            <a:pPr marL="0" indent="0">
              <a:lnSpc>
                <a:spcPct val="100000"/>
              </a:lnSpc>
              <a:buNone/>
            </a:pPr>
            <a:r>
              <a:rPr lang="en-US" dirty="0"/>
              <a:t>Consider the following declaration and initialization </a:t>
            </a:r>
          </a:p>
          <a:p>
            <a:pPr marL="0" indent="0">
              <a:lnSpc>
                <a:spcPct val="100000"/>
              </a:lnSpc>
              <a:buNone/>
            </a:pPr>
            <a:r>
              <a:rPr lang="en-US" dirty="0"/>
              <a:t>	char b[6]={‘H’, ‘E’, ‘L’, ‘L’, ‘O’};</a:t>
            </a:r>
          </a:p>
          <a:p>
            <a:pPr marL="0" indent="0">
              <a:lnSpc>
                <a:spcPct val="100000"/>
              </a:lnSpc>
              <a:buNone/>
            </a:pPr>
            <a:r>
              <a:rPr lang="en-US" dirty="0"/>
              <a:t>The compiler allocates 6 memory locations and these locations are initialized with the character in the order specified.</a:t>
            </a:r>
          </a:p>
          <a:p>
            <a:pPr marL="0" indent="0">
              <a:lnSpc>
                <a:spcPct val="100000"/>
              </a:lnSpc>
              <a:buNone/>
            </a:pPr>
            <a:endParaRPr lang="en-US" dirty="0"/>
          </a:p>
          <a:p>
            <a:pPr marL="0" indent="0">
              <a:lnSpc>
                <a:spcPct val="100000"/>
              </a:lnSpc>
              <a:buNone/>
            </a:pPr>
            <a:endParaRPr lang="en-US" dirty="0"/>
          </a:p>
          <a:p>
            <a:pPr marL="0" indent="0">
              <a:lnSpc>
                <a:spcPct val="100000"/>
              </a:lnSpc>
              <a:buNone/>
            </a:pPr>
            <a:r>
              <a:rPr lang="en-US" dirty="0"/>
              <a:t>	     0              1                2              3              4               5</a:t>
            </a:r>
          </a:p>
        </p:txBody>
      </p:sp>
      <p:graphicFrame>
        <p:nvGraphicFramePr>
          <p:cNvPr id="4" name="Table 3"/>
          <p:cNvGraphicFramePr>
            <a:graphicFrameLocks noGrp="1"/>
          </p:cNvGraphicFramePr>
          <p:nvPr>
            <p:extLst>
              <p:ext uri="{D42A27DB-BD31-4B8C-83A1-F6EECF244321}">
                <p14:modId xmlns:p14="http://schemas.microsoft.com/office/powerpoint/2010/main" val="4226925703"/>
              </p:ext>
            </p:extLst>
          </p:nvPr>
        </p:nvGraphicFramePr>
        <p:xfrm>
          <a:off x="1868227" y="3585696"/>
          <a:ext cx="8128002" cy="3708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70840">
                <a:tc>
                  <a:txBody>
                    <a:bodyPr/>
                    <a:lstStyle/>
                    <a:p>
                      <a:pPr algn="ctr"/>
                      <a:r>
                        <a:rPr lang="en-US" dirty="0"/>
                        <a:t>H</a:t>
                      </a:r>
                    </a:p>
                  </a:txBody>
                  <a:tcPr/>
                </a:tc>
                <a:tc>
                  <a:txBody>
                    <a:bodyPr/>
                    <a:lstStyle/>
                    <a:p>
                      <a:pPr algn="ctr"/>
                      <a:r>
                        <a:rPr lang="en-US" dirty="0"/>
                        <a:t>E</a:t>
                      </a:r>
                    </a:p>
                  </a:txBody>
                  <a:tcPr/>
                </a:tc>
                <a:tc>
                  <a:txBody>
                    <a:bodyPr/>
                    <a:lstStyle/>
                    <a:p>
                      <a:pPr algn="ctr"/>
                      <a:r>
                        <a:rPr lang="en-US" dirty="0"/>
                        <a:t>L</a:t>
                      </a:r>
                    </a:p>
                  </a:txBody>
                  <a:tcPr/>
                </a:tc>
                <a:tc>
                  <a:txBody>
                    <a:bodyPr/>
                    <a:lstStyle/>
                    <a:p>
                      <a:pPr algn="ctr"/>
                      <a:r>
                        <a:rPr lang="en-US" dirty="0"/>
                        <a:t>L</a:t>
                      </a:r>
                    </a:p>
                  </a:txBody>
                  <a:tcPr/>
                </a:tc>
                <a:tc>
                  <a:txBody>
                    <a:bodyPr/>
                    <a:lstStyle/>
                    <a:p>
                      <a:pPr algn="ctr"/>
                      <a:r>
                        <a:rPr lang="en-US" dirty="0"/>
                        <a:t>O</a:t>
                      </a:r>
                    </a:p>
                  </a:txBody>
                  <a:tcPr/>
                </a:tc>
                <a:tc>
                  <a:txBody>
                    <a:bodyPr/>
                    <a:lstStyle/>
                    <a:p>
                      <a:pPr algn="ctr"/>
                      <a:r>
                        <a:rPr lang="en-US" dirty="0"/>
                        <a:t>\O</a:t>
                      </a:r>
                    </a:p>
                  </a:txBody>
                  <a:tcPr/>
                </a:tc>
                <a:extLst>
                  <a:ext uri="{0D108BD9-81ED-4DB2-BD59-A6C34878D82A}">
                    <a16:rowId xmlns:a16="http://schemas.microsoft.com/office/drawing/2014/main" val="10000"/>
                  </a:ext>
                </a:extLst>
              </a:tr>
            </a:tbl>
          </a:graphicData>
        </a:graphic>
      </p:graphicFrame>
      <p:sp>
        <p:nvSpPr>
          <p:cNvPr id="5" name="TextBox 4"/>
          <p:cNvSpPr txBox="1"/>
          <p:nvPr/>
        </p:nvSpPr>
        <p:spPr>
          <a:xfrm>
            <a:off x="1105469" y="3575713"/>
            <a:ext cx="573206"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40528606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1723" y="720156"/>
            <a:ext cx="10515600" cy="4351338"/>
          </a:xfrm>
        </p:spPr>
        <p:txBody>
          <a:bodyPr/>
          <a:lstStyle/>
          <a:p>
            <a:pPr lvl="0"/>
            <a:r>
              <a:rPr lang="en-US" dirty="0"/>
              <a:t>Partial Array Initialization</a:t>
            </a:r>
          </a:p>
          <a:p>
            <a:r>
              <a:rPr lang="en-US" dirty="0"/>
              <a:t>If the number of characters to be initialized less than the size of the array then the remaining locations will be initialized to NULL as follows</a:t>
            </a:r>
          </a:p>
          <a:p>
            <a:r>
              <a:rPr lang="en-US" dirty="0"/>
              <a:t>char b[5]={‘H’, ‘I’};</a:t>
            </a:r>
          </a:p>
        </p:txBody>
      </p:sp>
      <p:graphicFrame>
        <p:nvGraphicFramePr>
          <p:cNvPr id="5" name="Table 4"/>
          <p:cNvGraphicFramePr>
            <a:graphicFrameLocks noGrp="1"/>
          </p:cNvGraphicFramePr>
          <p:nvPr>
            <p:extLst>
              <p:ext uri="{D42A27DB-BD31-4B8C-83A1-F6EECF244321}">
                <p14:modId xmlns:p14="http://schemas.microsoft.com/office/powerpoint/2010/main" val="3070474616"/>
              </p:ext>
            </p:extLst>
          </p:nvPr>
        </p:nvGraphicFramePr>
        <p:xfrm>
          <a:off x="2004705" y="3340036"/>
          <a:ext cx="8128000" cy="3708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370840">
                <a:tc>
                  <a:txBody>
                    <a:bodyPr/>
                    <a:lstStyle/>
                    <a:p>
                      <a:pPr algn="ctr"/>
                      <a:r>
                        <a:rPr lang="en-US" dirty="0"/>
                        <a:t>H</a:t>
                      </a:r>
                    </a:p>
                  </a:txBody>
                  <a:tcPr/>
                </a:tc>
                <a:tc>
                  <a:txBody>
                    <a:bodyPr/>
                    <a:lstStyle/>
                    <a:p>
                      <a:pPr algn="ctr"/>
                      <a:r>
                        <a:rPr lang="en-US" dirty="0"/>
                        <a:t>I</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0"/>
                  </a:ext>
                </a:extLst>
              </a:tr>
            </a:tbl>
          </a:graphicData>
        </a:graphic>
      </p:graphicFrame>
      <p:sp>
        <p:nvSpPr>
          <p:cNvPr id="6" name="TextBox 5"/>
          <p:cNvSpPr txBox="1"/>
          <p:nvPr/>
        </p:nvSpPr>
        <p:spPr>
          <a:xfrm>
            <a:off x="1351127" y="3384645"/>
            <a:ext cx="306494" cy="369332"/>
          </a:xfrm>
          <a:prstGeom prst="rect">
            <a:avLst/>
          </a:prstGeom>
          <a:noFill/>
        </p:spPr>
        <p:txBody>
          <a:bodyPr wrap="none" rtlCol="0">
            <a:spAutoFit/>
          </a:bodyPr>
          <a:lstStyle/>
          <a:p>
            <a:r>
              <a:rPr lang="en-US" dirty="0"/>
              <a:t>b</a:t>
            </a:r>
          </a:p>
        </p:txBody>
      </p:sp>
      <p:sp>
        <p:nvSpPr>
          <p:cNvPr id="7" name="TextBox 6"/>
          <p:cNvSpPr txBox="1"/>
          <p:nvPr/>
        </p:nvSpPr>
        <p:spPr>
          <a:xfrm>
            <a:off x="2006222" y="3985146"/>
            <a:ext cx="7997588" cy="369332"/>
          </a:xfrm>
          <a:prstGeom prst="rect">
            <a:avLst/>
          </a:prstGeom>
          <a:noFill/>
        </p:spPr>
        <p:txBody>
          <a:bodyPr wrap="square" rtlCol="0">
            <a:spAutoFit/>
          </a:bodyPr>
          <a:lstStyle/>
          <a:p>
            <a:r>
              <a:rPr lang="en-US" dirty="0"/>
              <a:t>	0	     1	                      2	              3		          4</a:t>
            </a:r>
          </a:p>
        </p:txBody>
      </p:sp>
    </p:spTree>
    <p:extLst>
      <p:ext uri="{BB962C8B-B14F-4D97-AF65-F5344CB8AC3E}">
        <p14:creationId xmlns:p14="http://schemas.microsoft.com/office/powerpoint/2010/main" val="17195839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0904" y="638270"/>
            <a:ext cx="10515600" cy="4351338"/>
          </a:xfrm>
        </p:spPr>
        <p:txBody>
          <a:bodyPr/>
          <a:lstStyle/>
          <a:p>
            <a:pPr lvl="0"/>
            <a:r>
              <a:rPr lang="en-US" dirty="0"/>
              <a:t>Initialization without size</a:t>
            </a:r>
          </a:p>
          <a:p>
            <a:pPr marL="0" indent="0">
              <a:buNone/>
            </a:pPr>
            <a:r>
              <a:rPr lang="en-US" dirty="0"/>
              <a:t>If a string is declared without the size then compiler will set the array size to the total number of initialized values.</a:t>
            </a:r>
          </a:p>
          <a:p>
            <a:pPr marL="0" indent="0">
              <a:buNone/>
            </a:pPr>
            <a:r>
              <a:rPr lang="en-US" dirty="0"/>
              <a:t>Example: char b[ ]={‘H’, ‘E’, ‘L’, ‘L’, ‘O’};</a:t>
            </a:r>
          </a:p>
          <a:p>
            <a:pPr marL="0" indent="0">
              <a:buNone/>
            </a:pPr>
            <a:endParaRPr lang="en-US" dirty="0"/>
          </a:p>
          <a:p>
            <a:pPr marL="0" indent="0">
              <a:buNone/>
            </a:pPr>
            <a:endParaRPr lang="en-US" dirty="0"/>
          </a:p>
          <a:p>
            <a:pPr marL="0" indent="0">
              <a:buNone/>
            </a:pPr>
            <a:endParaRPr lang="en-US" dirty="0"/>
          </a:p>
          <a:p>
            <a:pPr marL="0" indent="0">
              <a:buNone/>
            </a:pPr>
            <a:r>
              <a:rPr lang="en-US" dirty="0"/>
              <a:t>                 0              1                2              3              4               5</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80606599"/>
              </p:ext>
            </p:extLst>
          </p:nvPr>
        </p:nvGraphicFramePr>
        <p:xfrm>
          <a:off x="1745397" y="3353684"/>
          <a:ext cx="8128002" cy="3708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70840">
                <a:tc>
                  <a:txBody>
                    <a:bodyPr/>
                    <a:lstStyle/>
                    <a:p>
                      <a:pPr algn="ctr"/>
                      <a:r>
                        <a:rPr lang="en-US" dirty="0"/>
                        <a:t>H</a:t>
                      </a:r>
                    </a:p>
                  </a:txBody>
                  <a:tcPr/>
                </a:tc>
                <a:tc>
                  <a:txBody>
                    <a:bodyPr/>
                    <a:lstStyle/>
                    <a:p>
                      <a:pPr algn="ctr"/>
                      <a:r>
                        <a:rPr lang="en-US" dirty="0"/>
                        <a:t>E</a:t>
                      </a:r>
                    </a:p>
                  </a:txBody>
                  <a:tcPr/>
                </a:tc>
                <a:tc>
                  <a:txBody>
                    <a:bodyPr/>
                    <a:lstStyle/>
                    <a:p>
                      <a:pPr algn="ctr"/>
                      <a:r>
                        <a:rPr lang="en-US" dirty="0"/>
                        <a:t>L</a:t>
                      </a:r>
                    </a:p>
                  </a:txBody>
                  <a:tcPr/>
                </a:tc>
                <a:tc>
                  <a:txBody>
                    <a:bodyPr/>
                    <a:lstStyle/>
                    <a:p>
                      <a:pPr algn="ctr"/>
                      <a:r>
                        <a:rPr lang="en-US" dirty="0"/>
                        <a:t>L</a:t>
                      </a:r>
                    </a:p>
                  </a:txBody>
                  <a:tcPr/>
                </a:tc>
                <a:tc>
                  <a:txBody>
                    <a:bodyPr/>
                    <a:lstStyle/>
                    <a:p>
                      <a:pPr algn="ctr"/>
                      <a:r>
                        <a:rPr lang="en-US" dirty="0"/>
                        <a:t>O</a:t>
                      </a:r>
                    </a:p>
                  </a:txBody>
                  <a:tcPr/>
                </a:tc>
                <a:tc>
                  <a:txBody>
                    <a:bodyPr/>
                    <a:lstStyle/>
                    <a:p>
                      <a:pPr algn="ctr"/>
                      <a:r>
                        <a:rPr lang="en-US" dirty="0"/>
                        <a:t>\O</a:t>
                      </a:r>
                    </a:p>
                  </a:txBody>
                  <a:tcPr/>
                </a:tc>
                <a:extLst>
                  <a:ext uri="{0D108BD9-81ED-4DB2-BD59-A6C34878D82A}">
                    <a16:rowId xmlns:a16="http://schemas.microsoft.com/office/drawing/2014/main" val="10000"/>
                  </a:ext>
                </a:extLst>
              </a:tr>
            </a:tbl>
          </a:graphicData>
        </a:graphic>
      </p:graphicFrame>
      <p:sp>
        <p:nvSpPr>
          <p:cNvPr id="5" name="Rectangle 4"/>
          <p:cNvSpPr/>
          <p:nvPr/>
        </p:nvSpPr>
        <p:spPr>
          <a:xfrm>
            <a:off x="1166036" y="3326221"/>
            <a:ext cx="306494" cy="369332"/>
          </a:xfrm>
          <a:prstGeom prst="rect">
            <a:avLst/>
          </a:prstGeom>
        </p:spPr>
        <p:txBody>
          <a:bodyPr wrap="none">
            <a:spAutoFit/>
          </a:bodyPr>
          <a:lstStyle/>
          <a:p>
            <a:r>
              <a:rPr lang="en-US" dirty="0"/>
              <a:t>b</a:t>
            </a:r>
          </a:p>
        </p:txBody>
      </p:sp>
    </p:spTree>
    <p:extLst>
      <p:ext uri="{BB962C8B-B14F-4D97-AF65-F5344CB8AC3E}">
        <p14:creationId xmlns:p14="http://schemas.microsoft.com/office/powerpoint/2010/main" val="13240368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1722" y="447202"/>
            <a:ext cx="10515600" cy="4351338"/>
          </a:xfrm>
        </p:spPr>
        <p:txBody>
          <a:bodyPr/>
          <a:lstStyle/>
          <a:p>
            <a:r>
              <a:rPr lang="en-US" dirty="0"/>
              <a:t>Initialization of Array with string</a:t>
            </a:r>
          </a:p>
          <a:p>
            <a:pPr marL="0" indent="0">
              <a:buNone/>
            </a:pPr>
            <a:r>
              <a:rPr lang="en-US" dirty="0"/>
              <a:t>Char b[]= “GAT”;</a:t>
            </a:r>
          </a:p>
          <a:p>
            <a:pPr marL="0" indent="0">
              <a:buNone/>
            </a:pPr>
            <a:r>
              <a:rPr lang="en-US" dirty="0"/>
              <a:t>In the above example the string length is 3 bytes but size is 4bytes.</a:t>
            </a:r>
          </a:p>
          <a:p>
            <a:pPr marL="0" indent="0">
              <a:buNone/>
            </a:pPr>
            <a:endParaRPr lang="en-US" dirty="0"/>
          </a:p>
          <a:p>
            <a:pPr marL="0" indent="0">
              <a:buNone/>
            </a:pPr>
            <a:endParaRPr lang="en-US" dirty="0"/>
          </a:p>
          <a:p>
            <a:pPr marL="0" indent="0">
              <a:buNone/>
            </a:pPr>
            <a:r>
              <a:rPr lang="en-US" dirty="0"/>
              <a:t>		0		1			2		3	</a:t>
            </a:r>
          </a:p>
        </p:txBody>
      </p:sp>
      <p:graphicFrame>
        <p:nvGraphicFramePr>
          <p:cNvPr id="5" name="Table 4"/>
          <p:cNvGraphicFramePr>
            <a:graphicFrameLocks noGrp="1"/>
          </p:cNvGraphicFramePr>
          <p:nvPr>
            <p:extLst>
              <p:ext uri="{D42A27DB-BD31-4B8C-83A1-F6EECF244321}">
                <p14:modId xmlns:p14="http://schemas.microsoft.com/office/powerpoint/2010/main" val="2464737985"/>
              </p:ext>
            </p:extLst>
          </p:nvPr>
        </p:nvGraphicFramePr>
        <p:xfrm>
          <a:off x="1895522" y="2622871"/>
          <a:ext cx="8128000" cy="3657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0">
                <a:tc>
                  <a:txBody>
                    <a:bodyPr/>
                    <a:lstStyle/>
                    <a:p>
                      <a:pPr algn="ctr"/>
                      <a:r>
                        <a:rPr lang="en-US" dirty="0"/>
                        <a:t>G</a:t>
                      </a:r>
                    </a:p>
                  </a:txBody>
                  <a:tcPr/>
                </a:tc>
                <a:tc>
                  <a:txBody>
                    <a:bodyPr/>
                    <a:lstStyle/>
                    <a:p>
                      <a:pPr algn="ctr"/>
                      <a:r>
                        <a:rPr lang="en-US" dirty="0"/>
                        <a:t>A</a:t>
                      </a:r>
                    </a:p>
                  </a:txBody>
                  <a:tcPr/>
                </a:tc>
                <a:tc>
                  <a:txBody>
                    <a:bodyPr/>
                    <a:lstStyle/>
                    <a:p>
                      <a:pPr algn="ctr"/>
                      <a:r>
                        <a:rPr lang="en-US" dirty="0"/>
                        <a:t>T</a:t>
                      </a:r>
                    </a:p>
                  </a:txBody>
                  <a:tcPr/>
                </a:tc>
                <a:tc>
                  <a:txBody>
                    <a:bodyPr/>
                    <a:lstStyle/>
                    <a:p>
                      <a:pPr algn="ctr"/>
                      <a:r>
                        <a:rPr lang="en-US" dirty="0"/>
                        <a:t>\0</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282923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9962" y="488143"/>
            <a:ext cx="10515600" cy="5721587"/>
          </a:xfrm>
        </p:spPr>
        <p:txBody>
          <a:bodyPr>
            <a:normAutofit fontScale="92500"/>
          </a:bodyPr>
          <a:lstStyle/>
          <a:p>
            <a:pPr marL="0" indent="0">
              <a:buNone/>
            </a:pPr>
            <a:r>
              <a:rPr lang="en-US" b="1" dirty="0"/>
              <a:t>2.Initializing strings at runtime</a:t>
            </a:r>
          </a:p>
          <a:p>
            <a:pPr marL="0" indent="0">
              <a:buNone/>
            </a:pPr>
            <a:r>
              <a:rPr lang="en-US" dirty="0"/>
              <a:t>1)Using </a:t>
            </a:r>
            <a:r>
              <a:rPr lang="en-US" dirty="0" err="1"/>
              <a:t>scanf</a:t>
            </a:r>
            <a:r>
              <a:rPr lang="en-US" dirty="0"/>
              <a:t> and </a:t>
            </a:r>
            <a:r>
              <a:rPr lang="en-US" dirty="0" err="1"/>
              <a:t>printf</a:t>
            </a:r>
            <a:r>
              <a:rPr lang="en-US" dirty="0"/>
              <a:t> function </a:t>
            </a:r>
          </a:p>
          <a:p>
            <a:pPr marL="0" indent="0">
              <a:buNone/>
            </a:pPr>
            <a:r>
              <a:rPr lang="en-US" dirty="0"/>
              <a:t>2)Using gets and puts function</a:t>
            </a:r>
            <a:r>
              <a:rPr lang="en-US" b="1" dirty="0"/>
              <a:t> </a:t>
            </a:r>
          </a:p>
          <a:p>
            <a:pPr marL="514350" indent="-514350">
              <a:buAutoNum type="arabicPeriod"/>
            </a:pPr>
            <a:r>
              <a:rPr lang="en-US" b="1" dirty="0"/>
              <a:t>Using </a:t>
            </a:r>
            <a:r>
              <a:rPr lang="en-US" b="1" dirty="0" err="1"/>
              <a:t>scanf</a:t>
            </a:r>
            <a:r>
              <a:rPr lang="en-US" b="1" dirty="0"/>
              <a:t> and </a:t>
            </a:r>
            <a:r>
              <a:rPr lang="en-US" b="1" dirty="0" err="1"/>
              <a:t>printf</a:t>
            </a:r>
            <a:r>
              <a:rPr lang="en-US" b="1" dirty="0"/>
              <a:t> function </a:t>
            </a:r>
          </a:p>
          <a:p>
            <a:pPr marL="0" indent="0">
              <a:buNone/>
            </a:pPr>
            <a:r>
              <a:rPr lang="en-US" dirty="0"/>
              <a:t>Using </a:t>
            </a:r>
            <a:r>
              <a:rPr lang="en-US" dirty="0" err="1"/>
              <a:t>scanf</a:t>
            </a:r>
            <a:r>
              <a:rPr lang="en-US" dirty="0"/>
              <a:t>, can read string.</a:t>
            </a:r>
          </a:p>
          <a:p>
            <a:pPr marL="0" indent="0">
              <a:buNone/>
            </a:pPr>
            <a:r>
              <a:rPr lang="en-US" dirty="0"/>
              <a:t>Example:</a:t>
            </a:r>
          </a:p>
          <a:p>
            <a:pPr marL="0" indent="0">
              <a:buNone/>
            </a:pPr>
            <a:r>
              <a:rPr lang="en-US" dirty="0"/>
              <a:t>char s1[20];</a:t>
            </a:r>
          </a:p>
          <a:p>
            <a:pPr marL="0" indent="0">
              <a:buNone/>
            </a:pPr>
            <a:r>
              <a:rPr lang="en-US" b="1" dirty="0" err="1"/>
              <a:t>scanf</a:t>
            </a:r>
            <a:r>
              <a:rPr lang="en-US" b="1" dirty="0"/>
              <a:t>(“%s”, s1);</a:t>
            </a:r>
          </a:p>
          <a:p>
            <a:pPr marL="0" indent="0">
              <a:buNone/>
            </a:pPr>
            <a:r>
              <a:rPr lang="en-US" dirty="0" err="1"/>
              <a:t>Scanf</a:t>
            </a:r>
            <a:r>
              <a:rPr lang="en-US" dirty="0"/>
              <a:t> can read strings of only one word </a:t>
            </a:r>
            <a:r>
              <a:rPr lang="en-US" dirty="0" err="1"/>
              <a:t>i.e</a:t>
            </a:r>
            <a:r>
              <a:rPr lang="en-US" dirty="0"/>
              <a:t> it cannot include whitespace</a:t>
            </a:r>
          </a:p>
          <a:p>
            <a:r>
              <a:rPr lang="en-US" dirty="0"/>
              <a:t>Using </a:t>
            </a:r>
            <a:r>
              <a:rPr lang="en-US" dirty="0" err="1"/>
              <a:t>printf</a:t>
            </a:r>
            <a:r>
              <a:rPr lang="en-US" dirty="0"/>
              <a:t> function can print strings. It prints all characters up to '\0' but not including the NULL character. %s is the format </a:t>
            </a:r>
            <a:r>
              <a:rPr lang="en-US" dirty="0" err="1"/>
              <a:t>specifier</a:t>
            </a:r>
            <a:r>
              <a:rPr lang="en-US" dirty="0"/>
              <a:t> for string.</a:t>
            </a:r>
          </a:p>
          <a:p>
            <a:pPr marL="0" indent="0">
              <a:buNone/>
            </a:pPr>
            <a:r>
              <a:rPr lang="en-US" b="1" dirty="0" err="1"/>
              <a:t>Eg</a:t>
            </a:r>
            <a:r>
              <a:rPr lang="en-US" b="1" dirty="0"/>
              <a:t>: </a:t>
            </a:r>
            <a:r>
              <a:rPr lang="en-US" b="1" dirty="0" err="1"/>
              <a:t>printf</a:t>
            </a:r>
            <a:r>
              <a:rPr lang="en-US" b="1" dirty="0"/>
              <a:t>(“%s”,s1);</a:t>
            </a:r>
          </a:p>
          <a:p>
            <a:pPr marL="0" indent="0">
              <a:buNone/>
            </a:pPr>
            <a:endParaRPr lang="en-US" dirty="0"/>
          </a:p>
        </p:txBody>
      </p:sp>
    </p:spTree>
    <p:extLst>
      <p:ext uri="{BB962C8B-B14F-4D97-AF65-F5344CB8AC3E}">
        <p14:creationId xmlns:p14="http://schemas.microsoft.com/office/powerpoint/2010/main" val="28602151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7546"/>
            <a:ext cx="10515600" cy="5849417"/>
          </a:xfrm>
        </p:spPr>
        <p:txBody>
          <a:bodyPr>
            <a:normAutofit lnSpcReduction="10000"/>
          </a:bodyPr>
          <a:lstStyle/>
          <a:p>
            <a:r>
              <a:rPr lang="en-US" dirty="0"/>
              <a:t>Example program</a:t>
            </a:r>
          </a:p>
          <a:p>
            <a:pPr marL="0" indent="0">
              <a:buNone/>
            </a:pPr>
            <a:r>
              <a:rPr lang="en-US" dirty="0"/>
              <a:t>#include &lt;</a:t>
            </a:r>
            <a:r>
              <a:rPr lang="en-US" dirty="0" err="1"/>
              <a:t>stdio.h</a:t>
            </a:r>
            <a:r>
              <a:rPr lang="en-US" dirty="0"/>
              <a:t>&gt; </a:t>
            </a:r>
          </a:p>
          <a:p>
            <a:pPr marL="0" indent="0">
              <a:buNone/>
            </a:pPr>
            <a:r>
              <a:rPr lang="en-US" dirty="0"/>
              <a:t>void main()</a:t>
            </a:r>
          </a:p>
          <a:p>
            <a:pPr marL="0" indent="0">
              <a:buNone/>
            </a:pPr>
            <a:r>
              <a:rPr lang="en-US" dirty="0"/>
              <a:t>{</a:t>
            </a:r>
          </a:p>
          <a:p>
            <a:pPr marL="0" indent="0">
              <a:buNone/>
            </a:pPr>
            <a:r>
              <a:rPr lang="en-US" dirty="0"/>
              <a:t>char s1[100]; </a:t>
            </a:r>
          </a:p>
          <a:p>
            <a:pPr marL="0" indent="0">
              <a:buNone/>
            </a:pPr>
            <a:r>
              <a:rPr lang="en-US" dirty="0" err="1"/>
              <a:t>printf</a:t>
            </a:r>
            <a:r>
              <a:rPr lang="en-US" dirty="0"/>
              <a:t>("Enter string\n"); </a:t>
            </a:r>
          </a:p>
          <a:p>
            <a:pPr marL="0" indent="0">
              <a:buNone/>
            </a:pPr>
            <a:r>
              <a:rPr lang="en-US" dirty="0" err="1"/>
              <a:t>scanf</a:t>
            </a:r>
            <a:r>
              <a:rPr lang="en-US" dirty="0"/>
              <a:t>("%s",s1);</a:t>
            </a:r>
          </a:p>
          <a:p>
            <a:pPr marL="0" indent="0">
              <a:buNone/>
            </a:pPr>
            <a:r>
              <a:rPr lang="en-US" dirty="0" err="1"/>
              <a:t>printf</a:t>
            </a:r>
            <a:r>
              <a:rPr lang="en-US" dirty="0"/>
              <a:t>("%s",s1);</a:t>
            </a:r>
          </a:p>
          <a:p>
            <a:pPr marL="0" indent="0">
              <a:buNone/>
            </a:pPr>
            <a:r>
              <a:rPr lang="en-US" dirty="0"/>
              <a:t>}</a:t>
            </a:r>
          </a:p>
          <a:p>
            <a:pPr marL="0" indent="0">
              <a:buNone/>
            </a:pPr>
            <a:r>
              <a:rPr lang="en-US" dirty="0"/>
              <a:t>Output:</a:t>
            </a:r>
          </a:p>
          <a:p>
            <a:pPr marL="0" indent="0">
              <a:buNone/>
            </a:pPr>
            <a:r>
              <a:rPr lang="en-US" dirty="0"/>
              <a:t>Enter string Hello</a:t>
            </a:r>
          </a:p>
          <a:p>
            <a:pPr marL="0" indent="0">
              <a:buNone/>
            </a:pPr>
            <a:r>
              <a:rPr lang="en-US" dirty="0"/>
              <a:t>Hello</a:t>
            </a:r>
          </a:p>
          <a:p>
            <a:pPr marL="0" indent="0">
              <a:buNone/>
            </a:pPr>
            <a:endParaRPr lang="en-US" dirty="0"/>
          </a:p>
        </p:txBody>
      </p:sp>
    </p:spTree>
    <p:extLst>
      <p:ext uri="{BB962C8B-B14F-4D97-AF65-F5344CB8AC3E}">
        <p14:creationId xmlns:p14="http://schemas.microsoft.com/office/powerpoint/2010/main" val="3291153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7546"/>
            <a:ext cx="10515600" cy="5849417"/>
          </a:xfrm>
        </p:spPr>
        <p:txBody>
          <a:bodyPr/>
          <a:lstStyle/>
          <a:p>
            <a:pPr marL="0" lvl="0" indent="0">
              <a:buNone/>
            </a:pPr>
            <a:r>
              <a:rPr lang="en-US" b="1" dirty="0"/>
              <a:t>2. Using gets and puts function</a:t>
            </a:r>
          </a:p>
          <a:p>
            <a:r>
              <a:rPr lang="en-US" b="1" dirty="0"/>
              <a:t>gets</a:t>
            </a:r>
            <a:r>
              <a:rPr lang="en-US" dirty="0"/>
              <a:t>: reads a sequence of characters from keyboard </a:t>
            </a:r>
            <a:r>
              <a:rPr lang="en-US" b="1" dirty="0"/>
              <a:t>including white space</a:t>
            </a:r>
            <a:r>
              <a:rPr lang="en-US" dirty="0"/>
              <a:t>. Using gets( ) can read a many word string.</a:t>
            </a:r>
          </a:p>
          <a:p>
            <a:pPr marL="0" indent="0">
              <a:buNone/>
            </a:pPr>
            <a:r>
              <a:rPr lang="en-US" dirty="0"/>
              <a:t>      Syntax: </a:t>
            </a:r>
            <a:r>
              <a:rPr lang="en-US" b="1" dirty="0"/>
              <a:t>gets(</a:t>
            </a:r>
            <a:r>
              <a:rPr lang="en-US" b="1" dirty="0" err="1"/>
              <a:t>str</a:t>
            </a:r>
            <a:r>
              <a:rPr lang="en-US" b="1" dirty="0"/>
              <a:t>); </a:t>
            </a:r>
          </a:p>
          <a:p>
            <a:pPr marL="0" indent="0">
              <a:buNone/>
            </a:pPr>
            <a:r>
              <a:rPr lang="en-US" b="1" dirty="0"/>
              <a:t>         </a:t>
            </a:r>
            <a:r>
              <a:rPr lang="en-US" b="1" dirty="0" err="1"/>
              <a:t>Eg</a:t>
            </a:r>
            <a:r>
              <a:rPr lang="en-US" b="1" dirty="0"/>
              <a:t>: gets(s1);</a:t>
            </a:r>
            <a:endParaRPr lang="en-US" dirty="0"/>
          </a:p>
          <a:p>
            <a:r>
              <a:rPr lang="en-US" dirty="0"/>
              <a:t>String entered by the user is stored in str.</a:t>
            </a:r>
          </a:p>
          <a:p>
            <a:r>
              <a:rPr lang="en-US" b="1" dirty="0"/>
              <a:t>puts()</a:t>
            </a:r>
            <a:r>
              <a:rPr lang="en-US" dirty="0"/>
              <a:t>: puts( ) can display only one string at a time </a:t>
            </a:r>
          </a:p>
          <a:p>
            <a:pPr marL="0" indent="0">
              <a:buNone/>
            </a:pPr>
            <a:r>
              <a:rPr lang="en-US" dirty="0"/>
              <a:t>        </a:t>
            </a:r>
            <a:r>
              <a:rPr lang="en-US" dirty="0" err="1"/>
              <a:t>Syntax:</a:t>
            </a:r>
            <a:r>
              <a:rPr lang="en-US" b="1" dirty="0" err="1"/>
              <a:t>puts</a:t>
            </a:r>
            <a:r>
              <a:rPr lang="en-US" b="1" dirty="0"/>
              <a:t>(</a:t>
            </a:r>
            <a:r>
              <a:rPr lang="en-US" b="1" dirty="0" err="1"/>
              <a:t>str</a:t>
            </a:r>
            <a:r>
              <a:rPr lang="en-US" b="1" dirty="0"/>
              <a:t>);</a:t>
            </a:r>
            <a:endParaRPr lang="en-US" dirty="0"/>
          </a:p>
          <a:p>
            <a:pPr marL="0" indent="0">
              <a:buNone/>
            </a:pPr>
            <a:r>
              <a:rPr lang="en-US" b="1" dirty="0"/>
              <a:t>           </a:t>
            </a:r>
            <a:r>
              <a:rPr lang="en-US" b="1" dirty="0" err="1"/>
              <a:t>Eg:puts</a:t>
            </a:r>
            <a:r>
              <a:rPr lang="en-US" b="1" dirty="0"/>
              <a:t>(s1);</a:t>
            </a:r>
          </a:p>
          <a:p>
            <a:pPr marL="0" indent="0">
              <a:buNone/>
            </a:pPr>
            <a:endParaRPr lang="en-US" dirty="0"/>
          </a:p>
        </p:txBody>
      </p:sp>
    </p:spTree>
    <p:extLst>
      <p:ext uri="{BB962C8B-B14F-4D97-AF65-F5344CB8AC3E}">
        <p14:creationId xmlns:p14="http://schemas.microsoft.com/office/powerpoint/2010/main" val="910317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780" y="297076"/>
            <a:ext cx="10515600" cy="6322088"/>
          </a:xfrm>
        </p:spPr>
        <p:txBody>
          <a:bodyPr>
            <a:normAutofit lnSpcReduction="10000"/>
          </a:bodyPr>
          <a:lstStyle/>
          <a:p>
            <a:r>
              <a:rPr lang="en-US" dirty="0"/>
              <a:t>Example Program</a:t>
            </a:r>
          </a:p>
          <a:p>
            <a:pPr marL="0" indent="0">
              <a:buNone/>
            </a:pPr>
            <a:r>
              <a:rPr lang="en-US" dirty="0"/>
              <a:t>#include &lt;</a:t>
            </a:r>
            <a:r>
              <a:rPr lang="en-US" dirty="0" err="1"/>
              <a:t>stdio.h</a:t>
            </a:r>
            <a:r>
              <a:rPr lang="en-US" dirty="0"/>
              <a:t>&gt; </a:t>
            </a:r>
          </a:p>
          <a:p>
            <a:pPr marL="0" indent="0">
              <a:buNone/>
            </a:pPr>
            <a:r>
              <a:rPr lang="en-US" dirty="0"/>
              <a:t>void main()</a:t>
            </a:r>
          </a:p>
          <a:p>
            <a:pPr marL="0" indent="0">
              <a:buNone/>
            </a:pPr>
            <a:r>
              <a:rPr lang="en-US" dirty="0"/>
              <a:t>{</a:t>
            </a:r>
          </a:p>
          <a:p>
            <a:pPr marL="0" indent="0">
              <a:buNone/>
            </a:pPr>
            <a:r>
              <a:rPr lang="en-US" dirty="0"/>
              <a:t>char s1[100]; </a:t>
            </a:r>
          </a:p>
          <a:p>
            <a:pPr marL="0" indent="0">
              <a:buNone/>
            </a:pPr>
            <a:r>
              <a:rPr lang="en-US" dirty="0" err="1"/>
              <a:t>printf</a:t>
            </a:r>
            <a:r>
              <a:rPr lang="en-US" dirty="0"/>
              <a:t>("Enter string\n"); </a:t>
            </a:r>
          </a:p>
          <a:p>
            <a:pPr marL="0" indent="0">
              <a:buNone/>
            </a:pPr>
            <a:r>
              <a:rPr lang="en-US" dirty="0"/>
              <a:t>gets(s1);</a:t>
            </a:r>
          </a:p>
          <a:p>
            <a:pPr marL="0" indent="0">
              <a:buNone/>
            </a:pPr>
            <a:r>
              <a:rPr lang="en-US" dirty="0"/>
              <a:t>puts(s1);</a:t>
            </a:r>
          </a:p>
          <a:p>
            <a:pPr marL="0" indent="0">
              <a:buNone/>
            </a:pPr>
            <a:r>
              <a:rPr lang="en-US" dirty="0"/>
              <a:t>}</a:t>
            </a:r>
          </a:p>
          <a:p>
            <a:pPr marL="0" indent="0">
              <a:buNone/>
            </a:pPr>
            <a:r>
              <a:rPr lang="en-US" dirty="0"/>
              <a:t>Output:</a:t>
            </a:r>
          </a:p>
          <a:p>
            <a:pPr marL="0" indent="0">
              <a:buNone/>
            </a:pPr>
            <a:r>
              <a:rPr lang="en-US" dirty="0"/>
              <a:t>Enter string</a:t>
            </a:r>
          </a:p>
          <a:p>
            <a:pPr marL="0" indent="0">
              <a:buNone/>
            </a:pPr>
            <a:r>
              <a:rPr lang="en-US" dirty="0"/>
              <a:t> Hello world</a:t>
            </a:r>
          </a:p>
          <a:p>
            <a:pPr marL="0" indent="0">
              <a:buNone/>
            </a:pPr>
            <a:r>
              <a:rPr lang="en-US" dirty="0"/>
              <a:t>Hello world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074770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STRING HANDLING/MANIPULATION FUNCTIONS:</a:t>
            </a:r>
            <a:endParaRPr lang="en-US" sz="4000" dirty="0"/>
          </a:p>
        </p:txBody>
      </p:sp>
      <p:sp>
        <p:nvSpPr>
          <p:cNvPr id="3" name="Content Placeholder 2"/>
          <p:cNvSpPr>
            <a:spLocks noGrp="1"/>
          </p:cNvSpPr>
          <p:nvPr>
            <p:ph idx="1"/>
          </p:nvPr>
        </p:nvSpPr>
        <p:spPr/>
        <p:txBody>
          <a:bodyPr/>
          <a:lstStyle/>
          <a:p>
            <a:r>
              <a:rPr lang="en-US" dirty="0"/>
              <a:t>With every C compiler a large set of useful string handling library functions are provided</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38876231"/>
              </p:ext>
            </p:extLst>
          </p:nvPr>
        </p:nvGraphicFramePr>
        <p:xfrm>
          <a:off x="1951629" y="3179929"/>
          <a:ext cx="8461612" cy="2852381"/>
        </p:xfrm>
        <a:graphic>
          <a:graphicData uri="http://schemas.openxmlformats.org/drawingml/2006/table">
            <a:tbl>
              <a:tblPr firstRow="1" firstCol="1" lastRow="1" lastCol="1" bandRow="1" bandCol="1">
                <a:tableStyleId>{5C22544A-7EE6-4342-B048-85BDC9FD1C3A}</a:tableStyleId>
              </a:tblPr>
              <a:tblGrid>
                <a:gridCol w="4230806">
                  <a:extLst>
                    <a:ext uri="{9D8B030D-6E8A-4147-A177-3AD203B41FA5}">
                      <a16:colId xmlns:a16="http://schemas.microsoft.com/office/drawing/2014/main" val="20000"/>
                    </a:ext>
                  </a:extLst>
                </a:gridCol>
                <a:gridCol w="4230806">
                  <a:extLst>
                    <a:ext uri="{9D8B030D-6E8A-4147-A177-3AD203B41FA5}">
                      <a16:colId xmlns:a16="http://schemas.microsoft.com/office/drawing/2014/main" val="20001"/>
                    </a:ext>
                  </a:extLst>
                </a:gridCol>
              </a:tblGrid>
              <a:tr h="543756">
                <a:tc>
                  <a:txBody>
                    <a:bodyPr/>
                    <a:lstStyle/>
                    <a:p>
                      <a:pPr marL="67945" marR="0" algn="ctr">
                        <a:lnSpc>
                          <a:spcPts val="1280"/>
                        </a:lnSpc>
                        <a:spcBef>
                          <a:spcPts val="0"/>
                        </a:spcBef>
                        <a:spcAft>
                          <a:spcPts val="0"/>
                        </a:spcAft>
                      </a:pPr>
                      <a:endParaRPr lang="en-US" sz="1600" dirty="0">
                        <a:solidFill>
                          <a:schemeClr val="tx1"/>
                        </a:solidFill>
                        <a:effectLst/>
                        <a:latin typeface="Times New Roman" panose="02020603050405020304" pitchFamily="18" charset="0"/>
                        <a:cs typeface="Times New Roman" panose="02020603050405020304" pitchFamily="18" charset="0"/>
                      </a:endParaRPr>
                    </a:p>
                    <a:p>
                      <a:pPr marL="67945" marR="0" algn="ctr">
                        <a:lnSpc>
                          <a:spcPts val="128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Function</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7945" marR="0" algn="ctr">
                        <a:lnSpc>
                          <a:spcPts val="1280"/>
                        </a:lnSpc>
                        <a:spcBef>
                          <a:spcPts val="0"/>
                        </a:spcBef>
                        <a:spcAft>
                          <a:spcPts val="0"/>
                        </a:spcAft>
                      </a:pPr>
                      <a:endParaRPr lang="en-US" sz="1600" dirty="0">
                        <a:solidFill>
                          <a:schemeClr val="tx1"/>
                        </a:solidFill>
                        <a:effectLst/>
                        <a:latin typeface="Times New Roman" panose="02020603050405020304" pitchFamily="18" charset="0"/>
                        <a:cs typeface="Times New Roman" panose="02020603050405020304" pitchFamily="18" charset="0"/>
                      </a:endParaRPr>
                    </a:p>
                    <a:p>
                      <a:pPr marL="67945" marR="0" algn="ctr">
                        <a:lnSpc>
                          <a:spcPts val="128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Description</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33167">
                <a:tc>
                  <a:txBody>
                    <a:bodyPr/>
                    <a:lstStyle/>
                    <a:p>
                      <a:pPr marL="67945" marR="0">
                        <a:lnSpc>
                          <a:spcPts val="1285"/>
                        </a:lnSpc>
                        <a:spcBef>
                          <a:spcPts val="5"/>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length=</a:t>
                      </a:r>
                      <a:r>
                        <a:rPr lang="en-US" sz="1400" dirty="0" err="1">
                          <a:solidFill>
                            <a:schemeClr val="tx1"/>
                          </a:solidFill>
                          <a:effectLst/>
                          <a:latin typeface="Times New Roman" panose="02020603050405020304" pitchFamily="18" charset="0"/>
                          <a:cs typeface="Times New Roman" panose="02020603050405020304" pitchFamily="18" charset="0"/>
                        </a:rPr>
                        <a:t>strlen</a:t>
                      </a:r>
                      <a:r>
                        <a:rPr lang="en-US" sz="1400" dirty="0">
                          <a:solidFill>
                            <a:schemeClr val="tx1"/>
                          </a:solidFill>
                          <a:effectLst/>
                          <a:latin typeface="Times New Roman" panose="02020603050405020304" pitchFamily="18" charset="0"/>
                          <a:cs typeface="Times New Roman" panose="02020603050405020304" pitchFamily="18" charset="0"/>
                        </a:rPr>
                        <a:t>(string)</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7945" marR="0">
                        <a:lnSpc>
                          <a:spcPts val="1285"/>
                        </a:lnSpc>
                        <a:spcBef>
                          <a:spcPts val="5"/>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Returns number of characters in the given string</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34848">
                <a:tc>
                  <a:txBody>
                    <a:bodyPr/>
                    <a:lstStyle/>
                    <a:p>
                      <a:pPr marL="67945" marR="0">
                        <a:lnSpc>
                          <a:spcPts val="1280"/>
                        </a:lnSpc>
                        <a:spcBef>
                          <a:spcPts val="0"/>
                        </a:spcBef>
                        <a:spcAft>
                          <a:spcPts val="0"/>
                        </a:spcAft>
                      </a:pPr>
                      <a:r>
                        <a:rPr lang="en-US" sz="1400" dirty="0" err="1">
                          <a:solidFill>
                            <a:schemeClr val="tx1"/>
                          </a:solidFill>
                          <a:effectLst/>
                          <a:latin typeface="Times New Roman" panose="02020603050405020304" pitchFamily="18" charset="0"/>
                          <a:cs typeface="Times New Roman" panose="02020603050405020304" pitchFamily="18" charset="0"/>
                        </a:rPr>
                        <a:t>strcpy</a:t>
                      </a:r>
                      <a:r>
                        <a:rPr lang="en-US" sz="1400" dirty="0">
                          <a:solidFill>
                            <a:schemeClr val="tx1"/>
                          </a:solidFill>
                          <a:effectLst/>
                          <a:latin typeface="Times New Roman" panose="02020603050405020304" pitchFamily="18" charset="0"/>
                          <a:cs typeface="Times New Roman" panose="02020603050405020304" pitchFamily="18" charset="0"/>
                        </a:rPr>
                        <a:t>(</a:t>
                      </a:r>
                      <a:r>
                        <a:rPr lang="en-US" sz="1400" dirty="0" err="1">
                          <a:solidFill>
                            <a:schemeClr val="tx1"/>
                          </a:solidFill>
                          <a:effectLst/>
                          <a:latin typeface="Times New Roman" panose="02020603050405020304" pitchFamily="18" charset="0"/>
                          <a:cs typeface="Times New Roman" panose="02020603050405020304" pitchFamily="18" charset="0"/>
                        </a:rPr>
                        <a:t>dest,source</a:t>
                      </a:r>
                      <a:r>
                        <a:rPr lang="en-US" sz="1400" dirty="0">
                          <a:solidFill>
                            <a:schemeClr val="tx1"/>
                          </a:solidFill>
                          <a:effectLst/>
                          <a:latin typeface="Times New Roman" panose="02020603050405020304" pitchFamily="18" charset="0"/>
                          <a:cs typeface="Times New Roman" panose="02020603050405020304" pitchFamily="18" charset="0"/>
                        </a:rPr>
                        <a:t>)</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7945" marR="0">
                        <a:lnSpc>
                          <a:spcPts val="128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Copies given source string to destination string</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4848">
                <a:tc>
                  <a:txBody>
                    <a:bodyPr/>
                    <a:lstStyle/>
                    <a:p>
                      <a:pPr marL="67945" marR="0">
                        <a:lnSpc>
                          <a:spcPts val="1280"/>
                        </a:lnSpc>
                        <a:spcBef>
                          <a:spcPts val="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strcmp(string1,string2)</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7945" marR="0">
                        <a:lnSpc>
                          <a:spcPts val="128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It compares one string with another</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4848">
                <a:tc>
                  <a:txBody>
                    <a:bodyPr/>
                    <a:lstStyle/>
                    <a:p>
                      <a:pPr marL="67945" marR="0">
                        <a:lnSpc>
                          <a:spcPts val="1280"/>
                        </a:lnSpc>
                        <a:spcBef>
                          <a:spcPts val="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strcat(string1,string2)</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7945" marR="0">
                        <a:lnSpc>
                          <a:spcPts val="128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Used to join two strings.</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70914">
                <a:tc>
                  <a:txBody>
                    <a:bodyPr/>
                    <a:lstStyle/>
                    <a:p>
                      <a:pPr marL="67945" marR="0">
                        <a:lnSpc>
                          <a:spcPts val="1375"/>
                        </a:lnSpc>
                        <a:spcBef>
                          <a:spcPts val="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strrev(string)</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7945" marR="0">
                        <a:lnSpc>
                          <a:spcPts val="1375"/>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Reverses a string</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125871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7421"/>
            <a:ext cx="10515600" cy="5999542"/>
          </a:xfrm>
        </p:spPr>
        <p:txBody>
          <a:bodyPr/>
          <a:lstStyle/>
          <a:p>
            <a:pPr marL="0" lvl="0" indent="0">
              <a:buNone/>
            </a:pPr>
            <a:r>
              <a:rPr lang="en-US" b="1" dirty="0"/>
              <a:t>1. </a:t>
            </a:r>
            <a:r>
              <a:rPr lang="en-US" b="1" dirty="0" err="1"/>
              <a:t>strlen</a:t>
            </a:r>
            <a:r>
              <a:rPr lang="en-US" b="1" dirty="0"/>
              <a:t>() function</a:t>
            </a:r>
          </a:p>
          <a:p>
            <a:pPr marL="0" indent="0">
              <a:buNone/>
            </a:pPr>
            <a:r>
              <a:rPr lang="en-US" dirty="0"/>
              <a:t>This function counts the number of characters present in a string</a:t>
            </a:r>
          </a:p>
          <a:p>
            <a:pPr marL="0" indent="0">
              <a:buNone/>
            </a:pPr>
            <a:r>
              <a:rPr lang="en-US" b="1" dirty="0"/>
              <a:t>Syntax: length=</a:t>
            </a:r>
            <a:r>
              <a:rPr lang="en-US" b="1" dirty="0" err="1"/>
              <a:t>strlen</a:t>
            </a:r>
            <a:r>
              <a:rPr lang="en-US" b="1" dirty="0"/>
              <a:t>(string);</a:t>
            </a:r>
          </a:p>
          <a:p>
            <a:pPr marL="0" indent="0">
              <a:buNone/>
            </a:pPr>
            <a:endParaRPr lang="en-US" b="1" dirty="0"/>
          </a:p>
          <a:p>
            <a:endParaRPr lang="en-US" dirty="0"/>
          </a:p>
        </p:txBody>
      </p:sp>
      <p:sp>
        <p:nvSpPr>
          <p:cNvPr id="7" name="TextBox 6"/>
          <p:cNvSpPr txBox="1"/>
          <p:nvPr/>
        </p:nvSpPr>
        <p:spPr>
          <a:xfrm>
            <a:off x="968992" y="2306472"/>
            <a:ext cx="4899546" cy="3416320"/>
          </a:xfrm>
          <a:prstGeom prst="rect">
            <a:avLst/>
          </a:prstGeom>
          <a:noFill/>
        </p:spPr>
        <p:txBody>
          <a:bodyPr wrap="square" rtlCol="0">
            <a:spAutoFit/>
          </a:bodyPr>
          <a:lstStyle/>
          <a:p>
            <a:r>
              <a:rPr lang="en-US" b="1" dirty="0"/>
              <a:t>Example program using </a:t>
            </a:r>
            <a:r>
              <a:rPr lang="en-US" b="1" dirty="0" err="1"/>
              <a:t>strlen</a:t>
            </a:r>
            <a:r>
              <a:rPr lang="en-US" b="1" dirty="0"/>
              <a:t>()</a:t>
            </a:r>
          </a:p>
          <a:p>
            <a:endParaRPr lang="en-US" b="1" dirty="0"/>
          </a:p>
          <a:p>
            <a:r>
              <a:rPr lang="en-US" dirty="0"/>
              <a:t>#include &lt;</a:t>
            </a:r>
            <a:r>
              <a:rPr lang="en-US" dirty="0" err="1"/>
              <a:t>stdio.h</a:t>
            </a:r>
            <a:r>
              <a:rPr lang="en-US" dirty="0"/>
              <a:t>&gt; </a:t>
            </a:r>
          </a:p>
          <a:p>
            <a:r>
              <a:rPr lang="en-US" dirty="0"/>
              <a:t>#include&lt;</a:t>
            </a:r>
            <a:r>
              <a:rPr lang="en-US" dirty="0" err="1"/>
              <a:t>string.h</a:t>
            </a:r>
            <a:r>
              <a:rPr lang="en-US" dirty="0"/>
              <a:t>&gt;</a:t>
            </a:r>
          </a:p>
          <a:p>
            <a:r>
              <a:rPr lang="en-US" dirty="0"/>
              <a:t>Void main()</a:t>
            </a:r>
          </a:p>
          <a:p>
            <a:r>
              <a:rPr lang="en-US" dirty="0"/>
              <a:t>{</a:t>
            </a:r>
          </a:p>
          <a:p>
            <a:r>
              <a:rPr lang="en-US" dirty="0"/>
              <a:t>char </a:t>
            </a:r>
            <a:r>
              <a:rPr lang="en-US" dirty="0" err="1"/>
              <a:t>str</a:t>
            </a:r>
            <a:r>
              <a:rPr lang="en-US" dirty="0"/>
              <a:t>[100]; int length;</a:t>
            </a:r>
          </a:p>
          <a:p>
            <a:r>
              <a:rPr lang="en-US" dirty="0" err="1"/>
              <a:t>printf</a:t>
            </a:r>
            <a:r>
              <a:rPr lang="en-US" dirty="0"/>
              <a:t>("Enter string\n"); </a:t>
            </a:r>
            <a:r>
              <a:rPr lang="en-US" dirty="0" err="1"/>
              <a:t>scanf</a:t>
            </a:r>
            <a:r>
              <a:rPr lang="en-US" dirty="0"/>
              <a:t>("%s",</a:t>
            </a:r>
            <a:r>
              <a:rPr lang="en-US" dirty="0" err="1"/>
              <a:t>str</a:t>
            </a:r>
            <a:r>
              <a:rPr lang="en-US" dirty="0"/>
              <a:t>); </a:t>
            </a:r>
            <a:r>
              <a:rPr lang="en-US" b="1" dirty="0"/>
              <a:t>length=</a:t>
            </a:r>
            <a:r>
              <a:rPr lang="en-US" b="1" dirty="0" err="1"/>
              <a:t>strlen</a:t>
            </a:r>
            <a:r>
              <a:rPr lang="en-US" b="1" dirty="0"/>
              <a:t>(</a:t>
            </a:r>
            <a:r>
              <a:rPr lang="en-US" b="1" dirty="0" err="1"/>
              <a:t>str</a:t>
            </a:r>
            <a:r>
              <a:rPr lang="en-US" b="1" dirty="0"/>
              <a:t>);</a:t>
            </a:r>
            <a:endParaRPr lang="en-US" dirty="0"/>
          </a:p>
          <a:p>
            <a:r>
              <a:rPr lang="en-US" dirty="0" err="1"/>
              <a:t>printf</a:t>
            </a:r>
            <a:r>
              <a:rPr lang="en-US" dirty="0"/>
              <a:t>("Length of the string is %d\</a:t>
            </a:r>
            <a:r>
              <a:rPr lang="en-US" dirty="0" err="1"/>
              <a:t>n",length</a:t>
            </a:r>
            <a:r>
              <a:rPr lang="en-US" dirty="0"/>
              <a:t>);</a:t>
            </a:r>
          </a:p>
          <a:p>
            <a:r>
              <a:rPr lang="en-US" dirty="0"/>
              <a:t>}</a:t>
            </a:r>
          </a:p>
          <a:p>
            <a:endParaRPr lang="en-US" dirty="0"/>
          </a:p>
        </p:txBody>
      </p:sp>
      <p:sp>
        <p:nvSpPr>
          <p:cNvPr id="8" name="TextBox 7"/>
          <p:cNvSpPr txBox="1"/>
          <p:nvPr/>
        </p:nvSpPr>
        <p:spPr>
          <a:xfrm>
            <a:off x="7301554" y="3002507"/>
            <a:ext cx="3187238" cy="1200329"/>
          </a:xfrm>
          <a:prstGeom prst="rect">
            <a:avLst/>
          </a:prstGeom>
          <a:noFill/>
        </p:spPr>
        <p:txBody>
          <a:bodyPr wrap="square" rtlCol="0">
            <a:spAutoFit/>
          </a:bodyPr>
          <a:lstStyle/>
          <a:p>
            <a:r>
              <a:rPr lang="en-US" b="1" dirty="0"/>
              <a:t>Output:</a:t>
            </a:r>
          </a:p>
          <a:p>
            <a:r>
              <a:rPr lang="en-US" dirty="0"/>
              <a:t>Enter string Hello</a:t>
            </a:r>
          </a:p>
          <a:p>
            <a:r>
              <a:rPr lang="en-US" dirty="0"/>
              <a:t>Length of the string is 5</a:t>
            </a:r>
          </a:p>
          <a:p>
            <a:endParaRPr lang="en-US" dirty="0"/>
          </a:p>
        </p:txBody>
      </p:sp>
    </p:spTree>
    <p:extLst>
      <p:ext uri="{BB962C8B-B14F-4D97-AF65-F5344CB8AC3E}">
        <p14:creationId xmlns:p14="http://schemas.microsoft.com/office/powerpoint/2010/main" val="2651139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Write a program to find length of string without using built in function </a:t>
            </a:r>
            <a:r>
              <a:rPr lang="en-US" sz="2000" b="1" dirty="0" err="1"/>
              <a:t>strlen</a:t>
            </a:r>
            <a:r>
              <a:rPr lang="en-US" sz="2000" b="1" dirty="0"/>
              <a:t>. </a:t>
            </a:r>
          </a:p>
        </p:txBody>
      </p:sp>
      <p:sp>
        <p:nvSpPr>
          <p:cNvPr id="4" name="TextBox 3"/>
          <p:cNvSpPr txBox="1"/>
          <p:nvPr/>
        </p:nvSpPr>
        <p:spPr>
          <a:xfrm>
            <a:off x="1078173" y="1690688"/>
            <a:ext cx="5281684" cy="4524315"/>
          </a:xfrm>
          <a:prstGeom prst="rect">
            <a:avLst/>
          </a:prstGeom>
          <a:noFill/>
        </p:spPr>
        <p:txBody>
          <a:bodyPr wrap="square" rtlCol="0">
            <a:spAutoFit/>
          </a:bodyPr>
          <a:lstStyle/>
          <a:p>
            <a:r>
              <a:rPr lang="en-US" dirty="0"/>
              <a:t>#include &lt;</a:t>
            </a:r>
            <a:r>
              <a:rPr lang="en-US" dirty="0" err="1"/>
              <a:t>stdio.h</a:t>
            </a:r>
            <a:r>
              <a:rPr lang="en-US" dirty="0"/>
              <a:t>&gt; </a:t>
            </a:r>
          </a:p>
          <a:p>
            <a:r>
              <a:rPr lang="en-US" dirty="0"/>
              <a:t>void main()</a:t>
            </a:r>
          </a:p>
          <a:p>
            <a:r>
              <a:rPr lang="en-US" dirty="0"/>
              <a:t>{</a:t>
            </a:r>
          </a:p>
          <a:p>
            <a:r>
              <a:rPr lang="en-US" dirty="0"/>
              <a:t>char </a:t>
            </a:r>
            <a:r>
              <a:rPr lang="en-US" dirty="0" err="1"/>
              <a:t>str</a:t>
            </a:r>
            <a:r>
              <a:rPr lang="en-US" dirty="0"/>
              <a:t>[100]; </a:t>
            </a:r>
          </a:p>
          <a:p>
            <a:r>
              <a:rPr lang="en-US" dirty="0"/>
              <a:t>int </a:t>
            </a:r>
            <a:r>
              <a:rPr lang="en-US" dirty="0" err="1"/>
              <a:t>i</a:t>
            </a:r>
            <a:r>
              <a:rPr lang="en-US" dirty="0"/>
              <a:t>;</a:t>
            </a:r>
          </a:p>
          <a:p>
            <a:r>
              <a:rPr lang="en-US" dirty="0" err="1"/>
              <a:t>printf</a:t>
            </a:r>
            <a:r>
              <a:rPr lang="en-US" dirty="0"/>
              <a:t>("Enter string\n);</a:t>
            </a:r>
          </a:p>
          <a:p>
            <a:r>
              <a:rPr lang="en-US" dirty="0" err="1"/>
              <a:t>scanf</a:t>
            </a:r>
            <a:r>
              <a:rPr lang="en-US" dirty="0"/>
              <a:t>("%s",</a:t>
            </a:r>
            <a:r>
              <a:rPr lang="en-US" dirty="0" err="1"/>
              <a:t>str</a:t>
            </a:r>
            <a:r>
              <a:rPr lang="en-US" dirty="0"/>
              <a:t>);</a:t>
            </a:r>
          </a:p>
          <a:p>
            <a:r>
              <a:rPr lang="en-US" b="1" dirty="0" err="1"/>
              <a:t>i</a:t>
            </a:r>
            <a:r>
              <a:rPr lang="en-US" b="1" dirty="0"/>
              <a:t>=0;</a:t>
            </a:r>
          </a:p>
          <a:p>
            <a:r>
              <a:rPr lang="en-US" b="1" dirty="0"/>
              <a:t>while(</a:t>
            </a:r>
            <a:r>
              <a:rPr lang="en-US" b="1" dirty="0" err="1"/>
              <a:t>str</a:t>
            </a:r>
            <a:r>
              <a:rPr lang="en-US" b="1" dirty="0"/>
              <a:t>[</a:t>
            </a:r>
            <a:r>
              <a:rPr lang="en-US" b="1" dirty="0" err="1"/>
              <a:t>i</a:t>
            </a:r>
            <a:r>
              <a:rPr lang="en-US" b="1" dirty="0"/>
              <a:t>]!='\0')</a:t>
            </a:r>
            <a:endParaRPr lang="en-US" dirty="0"/>
          </a:p>
          <a:p>
            <a:r>
              <a:rPr lang="en-US" b="1" dirty="0"/>
              <a:t>{</a:t>
            </a:r>
            <a:endParaRPr lang="en-US" dirty="0"/>
          </a:p>
          <a:p>
            <a:r>
              <a:rPr lang="en-US" b="1" dirty="0" err="1"/>
              <a:t>i</a:t>
            </a:r>
            <a:r>
              <a:rPr lang="en-US" b="1" dirty="0"/>
              <a:t>++;</a:t>
            </a:r>
            <a:endParaRPr lang="en-US" dirty="0"/>
          </a:p>
          <a:p>
            <a:r>
              <a:rPr lang="en-US" b="1" dirty="0"/>
              <a:t>}</a:t>
            </a:r>
            <a:endParaRPr lang="en-US" dirty="0"/>
          </a:p>
          <a:p>
            <a:r>
              <a:rPr lang="en-US" dirty="0" err="1"/>
              <a:t>printf</a:t>
            </a:r>
            <a:r>
              <a:rPr lang="en-US" dirty="0"/>
              <a:t>("Length of the string is %d\n",</a:t>
            </a:r>
            <a:r>
              <a:rPr lang="en-US" dirty="0" err="1"/>
              <a:t>i</a:t>
            </a:r>
            <a:r>
              <a:rPr lang="en-US" dirty="0"/>
              <a:t>);</a:t>
            </a:r>
          </a:p>
          <a:p>
            <a:r>
              <a:rPr lang="en-US" dirty="0"/>
              <a:t>}</a:t>
            </a:r>
          </a:p>
          <a:p>
            <a:r>
              <a:rPr lang="en-US" dirty="0"/>
              <a:t> </a:t>
            </a:r>
          </a:p>
          <a:p>
            <a:endParaRPr lang="en-US" dirty="0"/>
          </a:p>
        </p:txBody>
      </p:sp>
      <p:sp>
        <p:nvSpPr>
          <p:cNvPr id="5" name="TextBox 4"/>
          <p:cNvSpPr txBox="1"/>
          <p:nvPr/>
        </p:nvSpPr>
        <p:spPr>
          <a:xfrm>
            <a:off x="6701051" y="2524836"/>
            <a:ext cx="2715904" cy="1200329"/>
          </a:xfrm>
          <a:prstGeom prst="rect">
            <a:avLst/>
          </a:prstGeom>
          <a:noFill/>
        </p:spPr>
        <p:txBody>
          <a:bodyPr wrap="square" rtlCol="0">
            <a:spAutoFit/>
          </a:bodyPr>
          <a:lstStyle/>
          <a:p>
            <a:r>
              <a:rPr lang="en-US" dirty="0"/>
              <a:t>Output:</a:t>
            </a:r>
          </a:p>
          <a:p>
            <a:r>
              <a:rPr lang="en-US" dirty="0"/>
              <a:t>Enter string Hello</a:t>
            </a:r>
          </a:p>
          <a:p>
            <a:r>
              <a:rPr lang="en-US" dirty="0"/>
              <a:t>Length of the string is 5</a:t>
            </a:r>
          </a:p>
          <a:p>
            <a:endParaRPr lang="en-US" dirty="0"/>
          </a:p>
        </p:txBody>
      </p:sp>
    </p:spTree>
    <p:extLst>
      <p:ext uri="{BB962C8B-B14F-4D97-AF65-F5344CB8AC3E}">
        <p14:creationId xmlns:p14="http://schemas.microsoft.com/office/powerpoint/2010/main" val="24125828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6728"/>
            <a:ext cx="10515600" cy="5740235"/>
          </a:xfrm>
        </p:spPr>
        <p:txBody>
          <a:bodyPr>
            <a:normAutofit fontScale="92500" lnSpcReduction="20000"/>
          </a:bodyPr>
          <a:lstStyle/>
          <a:p>
            <a:pPr marL="0" lvl="0" indent="0">
              <a:buNone/>
            </a:pPr>
            <a:r>
              <a:rPr lang="en-US" b="1" dirty="0"/>
              <a:t>2. </a:t>
            </a:r>
            <a:r>
              <a:rPr lang="en-US" b="1" dirty="0" err="1"/>
              <a:t>strcpy</a:t>
            </a:r>
            <a:r>
              <a:rPr lang="en-US" b="1" dirty="0"/>
              <a:t>() function</a:t>
            </a:r>
          </a:p>
          <a:p>
            <a:r>
              <a:rPr lang="en-US" dirty="0"/>
              <a:t>This function copies the contents of source string to destination string.</a:t>
            </a:r>
          </a:p>
          <a:p>
            <a:pPr marL="0" indent="0">
              <a:buNone/>
            </a:pPr>
            <a:r>
              <a:rPr lang="en-US" b="1" dirty="0"/>
              <a:t>         Syntax: </a:t>
            </a:r>
            <a:r>
              <a:rPr lang="en-US" b="1" dirty="0" err="1"/>
              <a:t>strcpy</a:t>
            </a:r>
            <a:r>
              <a:rPr lang="en-US" b="1" dirty="0"/>
              <a:t>(</a:t>
            </a:r>
            <a:r>
              <a:rPr lang="en-US" b="1" dirty="0" err="1"/>
              <a:t>dest</a:t>
            </a:r>
            <a:r>
              <a:rPr lang="en-US" b="1" dirty="0"/>
              <a:t>, source);</a:t>
            </a:r>
          </a:p>
          <a:p>
            <a:pPr marL="0" indent="0">
              <a:buNone/>
            </a:pPr>
            <a:r>
              <a:rPr lang="en-US" b="1" dirty="0"/>
              <a:t>Example:</a:t>
            </a:r>
          </a:p>
          <a:p>
            <a:pPr marL="0" indent="0">
              <a:buNone/>
            </a:pPr>
            <a:r>
              <a:rPr lang="en-US" dirty="0"/>
              <a:t>#include &lt;</a:t>
            </a:r>
            <a:r>
              <a:rPr lang="en-US" dirty="0" err="1"/>
              <a:t>stdio.h</a:t>
            </a:r>
            <a:r>
              <a:rPr lang="en-US" dirty="0"/>
              <a:t>&gt; </a:t>
            </a:r>
          </a:p>
          <a:p>
            <a:pPr marL="0" indent="0">
              <a:buNone/>
            </a:pPr>
            <a:r>
              <a:rPr lang="en-US" dirty="0"/>
              <a:t>#include&lt;</a:t>
            </a:r>
            <a:r>
              <a:rPr lang="en-US" dirty="0" err="1"/>
              <a:t>string.h</a:t>
            </a:r>
            <a:r>
              <a:rPr lang="en-US" dirty="0"/>
              <a:t>&gt;</a:t>
            </a:r>
          </a:p>
          <a:p>
            <a:pPr marL="0" indent="0">
              <a:buNone/>
            </a:pPr>
            <a:r>
              <a:rPr lang="en-US" dirty="0"/>
              <a:t>void main()</a:t>
            </a:r>
          </a:p>
          <a:p>
            <a:pPr marL="0" indent="0">
              <a:buNone/>
            </a:pPr>
            <a:r>
              <a:rPr lang="en-US" dirty="0"/>
              <a:t>{</a:t>
            </a:r>
          </a:p>
          <a:p>
            <a:pPr marL="0" indent="0">
              <a:buNone/>
            </a:pPr>
            <a:r>
              <a:rPr lang="en-US" dirty="0"/>
              <a:t>char source[100],</a:t>
            </a:r>
            <a:r>
              <a:rPr lang="en-US" dirty="0" err="1"/>
              <a:t>dest</a:t>
            </a:r>
            <a:r>
              <a:rPr lang="en-US" dirty="0"/>
              <a:t>[100]; </a:t>
            </a:r>
          </a:p>
          <a:p>
            <a:pPr marL="0" indent="0">
              <a:buNone/>
            </a:pPr>
            <a:r>
              <a:rPr lang="en-US" dirty="0" err="1"/>
              <a:t>printf</a:t>
            </a:r>
            <a:r>
              <a:rPr lang="en-US" dirty="0"/>
              <a:t>("Enter string\n"); </a:t>
            </a:r>
          </a:p>
          <a:p>
            <a:pPr marL="0" indent="0">
              <a:buNone/>
            </a:pPr>
            <a:r>
              <a:rPr lang="en-US" dirty="0" err="1"/>
              <a:t>scanf</a:t>
            </a:r>
            <a:r>
              <a:rPr lang="en-US" dirty="0"/>
              <a:t>("%</a:t>
            </a:r>
            <a:r>
              <a:rPr lang="en-US" dirty="0" err="1"/>
              <a:t>s",source</a:t>
            </a:r>
            <a:r>
              <a:rPr lang="en-US" dirty="0"/>
              <a:t>); </a:t>
            </a:r>
          </a:p>
          <a:p>
            <a:pPr marL="0" indent="0">
              <a:buNone/>
            </a:pPr>
            <a:r>
              <a:rPr lang="en-US" b="1" dirty="0" err="1"/>
              <a:t>strcpy</a:t>
            </a:r>
            <a:r>
              <a:rPr lang="en-US" b="1" dirty="0"/>
              <a:t>(</a:t>
            </a:r>
            <a:r>
              <a:rPr lang="en-US" b="1" dirty="0" err="1"/>
              <a:t>dest,source</a:t>
            </a:r>
            <a:r>
              <a:rPr lang="en-US" b="1" dirty="0"/>
              <a:t>); </a:t>
            </a:r>
          </a:p>
          <a:p>
            <a:pPr marL="0" indent="0">
              <a:buNone/>
            </a:pPr>
            <a:r>
              <a:rPr lang="en-US" dirty="0" err="1"/>
              <a:t>printf</a:t>
            </a:r>
            <a:r>
              <a:rPr lang="en-US" dirty="0"/>
              <a:t>("Copied string is %s\n",</a:t>
            </a:r>
            <a:r>
              <a:rPr lang="en-US" dirty="0" err="1"/>
              <a:t>dest</a:t>
            </a:r>
            <a:r>
              <a:rPr lang="en-US" dirty="0"/>
              <a:t>);</a:t>
            </a:r>
          </a:p>
          <a:p>
            <a:pPr marL="0" indent="0">
              <a:buNone/>
            </a:pPr>
            <a:r>
              <a:rPr lang="en-US" dirty="0"/>
              <a:t>}</a:t>
            </a:r>
          </a:p>
          <a:p>
            <a:endParaRPr lang="en-US" dirty="0"/>
          </a:p>
        </p:txBody>
      </p:sp>
      <p:sp>
        <p:nvSpPr>
          <p:cNvPr id="7" name="TextBox 6"/>
          <p:cNvSpPr txBox="1"/>
          <p:nvPr/>
        </p:nvSpPr>
        <p:spPr>
          <a:xfrm>
            <a:off x="7315200" y="2391602"/>
            <a:ext cx="2265528" cy="1200329"/>
          </a:xfrm>
          <a:prstGeom prst="rect">
            <a:avLst/>
          </a:prstGeom>
          <a:noFill/>
        </p:spPr>
        <p:txBody>
          <a:bodyPr wrap="square" rtlCol="0">
            <a:spAutoFit/>
          </a:bodyPr>
          <a:lstStyle/>
          <a:p>
            <a:r>
              <a:rPr lang="en-US" dirty="0"/>
              <a:t>Output:</a:t>
            </a:r>
          </a:p>
          <a:p>
            <a:r>
              <a:rPr lang="en-US" dirty="0"/>
              <a:t>Enter string Hello</a:t>
            </a:r>
          </a:p>
          <a:p>
            <a:r>
              <a:rPr lang="en-US" dirty="0"/>
              <a:t>Copied string is Hello</a:t>
            </a:r>
          </a:p>
          <a:p>
            <a:endParaRPr lang="en-US" dirty="0"/>
          </a:p>
        </p:txBody>
      </p:sp>
    </p:spTree>
    <p:extLst>
      <p:ext uri="{BB962C8B-B14F-4D97-AF65-F5344CB8AC3E}">
        <p14:creationId xmlns:p14="http://schemas.microsoft.com/office/powerpoint/2010/main" val="5479166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1319"/>
            <a:ext cx="10515600" cy="5685644"/>
          </a:xfrm>
        </p:spPr>
        <p:txBody>
          <a:bodyPr/>
          <a:lstStyle/>
          <a:p>
            <a:pPr marL="0" indent="0">
              <a:buNone/>
            </a:pPr>
            <a:r>
              <a:rPr lang="en-US" b="1" dirty="0"/>
              <a:t>Write a program to copy one string to another without using built in function and count the </a:t>
            </a:r>
            <a:r>
              <a:rPr lang="en-US" b="1" dirty="0" err="1"/>
              <a:t>no.of</a:t>
            </a:r>
            <a:r>
              <a:rPr lang="en-US" b="1" dirty="0"/>
              <a:t> characters.</a:t>
            </a:r>
          </a:p>
          <a:p>
            <a:endParaRPr lang="en-US" dirty="0"/>
          </a:p>
        </p:txBody>
      </p:sp>
      <p:sp>
        <p:nvSpPr>
          <p:cNvPr id="4" name="TextBox 3"/>
          <p:cNvSpPr txBox="1"/>
          <p:nvPr/>
        </p:nvSpPr>
        <p:spPr>
          <a:xfrm>
            <a:off x="545910" y="1951630"/>
            <a:ext cx="4135272" cy="5078313"/>
          </a:xfrm>
          <a:prstGeom prst="rect">
            <a:avLst/>
          </a:prstGeom>
          <a:noFill/>
        </p:spPr>
        <p:txBody>
          <a:bodyPr wrap="square" rtlCol="0">
            <a:spAutoFit/>
          </a:bodyPr>
          <a:lstStyle/>
          <a:p>
            <a:r>
              <a:rPr lang="en-US" dirty="0"/>
              <a:t>#include &lt;</a:t>
            </a:r>
            <a:r>
              <a:rPr lang="en-US" dirty="0" err="1"/>
              <a:t>stdio.h</a:t>
            </a:r>
            <a:r>
              <a:rPr lang="en-US" dirty="0"/>
              <a:t>&gt; </a:t>
            </a:r>
          </a:p>
          <a:p>
            <a:r>
              <a:rPr lang="en-US" dirty="0"/>
              <a:t>void main()</a:t>
            </a:r>
          </a:p>
          <a:p>
            <a:r>
              <a:rPr lang="en-US" dirty="0"/>
              <a:t>{</a:t>
            </a:r>
          </a:p>
          <a:p>
            <a:r>
              <a:rPr lang="en-US" dirty="0"/>
              <a:t>char source[100],</a:t>
            </a:r>
            <a:r>
              <a:rPr lang="en-US" dirty="0" err="1"/>
              <a:t>dest</a:t>
            </a:r>
            <a:r>
              <a:rPr lang="en-US" dirty="0"/>
              <a:t>[100]; </a:t>
            </a:r>
          </a:p>
          <a:p>
            <a:r>
              <a:rPr lang="en-US" dirty="0"/>
              <a:t>int i:</a:t>
            </a:r>
          </a:p>
          <a:p>
            <a:r>
              <a:rPr lang="en-US" dirty="0" err="1"/>
              <a:t>printf</a:t>
            </a:r>
            <a:r>
              <a:rPr lang="en-US" dirty="0"/>
              <a:t>("Enter string\n"); </a:t>
            </a:r>
            <a:r>
              <a:rPr lang="en-US" dirty="0" err="1"/>
              <a:t>scanf</a:t>
            </a:r>
            <a:r>
              <a:rPr lang="en-US" dirty="0"/>
              <a:t>("%</a:t>
            </a:r>
            <a:r>
              <a:rPr lang="en-US" dirty="0" err="1"/>
              <a:t>s",source</a:t>
            </a:r>
            <a:r>
              <a:rPr lang="en-US" dirty="0"/>
              <a:t>); </a:t>
            </a:r>
            <a:r>
              <a:rPr lang="en-US" b="1" dirty="0" err="1"/>
              <a:t>i</a:t>
            </a:r>
            <a:r>
              <a:rPr lang="en-US" b="1" dirty="0"/>
              <a:t>=0;</a:t>
            </a:r>
            <a:endParaRPr lang="en-US" dirty="0"/>
          </a:p>
          <a:p>
            <a:r>
              <a:rPr lang="en-US" b="1" dirty="0"/>
              <a:t>while(source[</a:t>
            </a:r>
            <a:r>
              <a:rPr lang="en-US" b="1" dirty="0" err="1"/>
              <a:t>i</a:t>
            </a:r>
            <a:r>
              <a:rPr lang="en-US" b="1" dirty="0"/>
              <a:t>]!='\0')</a:t>
            </a:r>
          </a:p>
          <a:p>
            <a:r>
              <a:rPr lang="en-US" b="1" dirty="0"/>
              <a:t>{</a:t>
            </a:r>
            <a:endParaRPr lang="en-US" dirty="0"/>
          </a:p>
          <a:p>
            <a:r>
              <a:rPr lang="en-US" b="1" dirty="0" err="1"/>
              <a:t>dest</a:t>
            </a:r>
            <a:r>
              <a:rPr lang="en-US" b="1" dirty="0"/>
              <a:t>[</a:t>
            </a:r>
            <a:r>
              <a:rPr lang="en-US" b="1" dirty="0" err="1"/>
              <a:t>i</a:t>
            </a:r>
            <a:r>
              <a:rPr lang="en-US" b="1" dirty="0"/>
              <a:t>]=source[</a:t>
            </a:r>
            <a:r>
              <a:rPr lang="en-US" b="1" dirty="0" err="1"/>
              <a:t>i</a:t>
            </a:r>
            <a:r>
              <a:rPr lang="en-US" b="1" dirty="0"/>
              <a:t>]; </a:t>
            </a:r>
            <a:r>
              <a:rPr lang="en-US" b="1" dirty="0" err="1"/>
              <a:t>i</a:t>
            </a:r>
            <a:r>
              <a:rPr lang="en-US" b="1" dirty="0"/>
              <a:t>++;</a:t>
            </a:r>
            <a:endParaRPr lang="en-US" dirty="0"/>
          </a:p>
          <a:p>
            <a:r>
              <a:rPr lang="en-US" b="1" dirty="0"/>
              <a:t>}</a:t>
            </a:r>
            <a:endParaRPr lang="en-US" dirty="0"/>
          </a:p>
          <a:p>
            <a:r>
              <a:rPr lang="en-US" b="1" dirty="0" err="1"/>
              <a:t>dest</a:t>
            </a:r>
            <a:r>
              <a:rPr lang="en-US" b="1" dirty="0"/>
              <a:t>[</a:t>
            </a:r>
            <a:r>
              <a:rPr lang="en-US" b="1" dirty="0" err="1"/>
              <a:t>i</a:t>
            </a:r>
            <a:r>
              <a:rPr lang="en-US" b="1" dirty="0"/>
              <a:t>]='\0';</a:t>
            </a:r>
            <a:endParaRPr lang="en-US" dirty="0"/>
          </a:p>
          <a:p>
            <a:r>
              <a:rPr lang="en-US" dirty="0" err="1"/>
              <a:t>printf</a:t>
            </a:r>
            <a:r>
              <a:rPr lang="en-US" dirty="0"/>
              <a:t>("Copied string is %s\n",</a:t>
            </a:r>
            <a:r>
              <a:rPr lang="en-US" dirty="0" err="1"/>
              <a:t>dest</a:t>
            </a:r>
            <a:r>
              <a:rPr lang="en-US" dirty="0"/>
              <a:t>); </a:t>
            </a:r>
            <a:r>
              <a:rPr lang="en-US" dirty="0" err="1"/>
              <a:t>printf</a:t>
            </a:r>
            <a:r>
              <a:rPr lang="en-US" dirty="0"/>
              <a:t>(“No. of copied characters are %d\n”,</a:t>
            </a:r>
            <a:r>
              <a:rPr lang="en-US" dirty="0" err="1"/>
              <a:t>i</a:t>
            </a:r>
            <a:r>
              <a:rPr lang="en-US" dirty="0"/>
              <a:t>);</a:t>
            </a:r>
          </a:p>
          <a:p>
            <a:r>
              <a:rPr lang="en-US" dirty="0"/>
              <a:t>}</a:t>
            </a:r>
          </a:p>
          <a:p>
            <a:endParaRPr lang="en-US" dirty="0"/>
          </a:p>
          <a:p>
            <a:endParaRPr lang="en-US" dirty="0"/>
          </a:p>
        </p:txBody>
      </p:sp>
      <p:sp>
        <p:nvSpPr>
          <p:cNvPr id="5" name="TextBox 4"/>
          <p:cNvSpPr txBox="1"/>
          <p:nvPr/>
        </p:nvSpPr>
        <p:spPr>
          <a:xfrm>
            <a:off x="6359857" y="2361063"/>
            <a:ext cx="3507474" cy="1477328"/>
          </a:xfrm>
          <a:prstGeom prst="rect">
            <a:avLst/>
          </a:prstGeom>
          <a:noFill/>
        </p:spPr>
        <p:txBody>
          <a:bodyPr wrap="square" rtlCol="0">
            <a:spAutoFit/>
          </a:bodyPr>
          <a:lstStyle/>
          <a:p>
            <a:r>
              <a:rPr lang="en-US" b="1" dirty="0"/>
              <a:t>Output:</a:t>
            </a:r>
            <a:endParaRPr lang="en-US" dirty="0"/>
          </a:p>
          <a:p>
            <a:r>
              <a:rPr lang="en-US" dirty="0"/>
              <a:t>Enter string Hello</a:t>
            </a:r>
          </a:p>
          <a:p>
            <a:r>
              <a:rPr lang="en-US" dirty="0"/>
              <a:t>Copied string is Hello</a:t>
            </a:r>
          </a:p>
          <a:p>
            <a:r>
              <a:rPr lang="en-US" dirty="0"/>
              <a:t>No. of copied characters are 5</a:t>
            </a:r>
          </a:p>
          <a:p>
            <a:endParaRPr lang="en-US" dirty="0"/>
          </a:p>
        </p:txBody>
      </p:sp>
    </p:spTree>
    <p:extLst>
      <p:ext uri="{BB962C8B-B14F-4D97-AF65-F5344CB8AC3E}">
        <p14:creationId xmlns:p14="http://schemas.microsoft.com/office/powerpoint/2010/main" val="38579365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5660"/>
            <a:ext cx="10515600" cy="5931303"/>
          </a:xfrm>
        </p:spPr>
        <p:txBody>
          <a:bodyPr>
            <a:normAutofit/>
          </a:bodyPr>
          <a:lstStyle/>
          <a:p>
            <a:pPr marL="0" lvl="0" indent="0">
              <a:buNone/>
            </a:pPr>
            <a:r>
              <a:rPr lang="en-US" b="1" dirty="0" err="1"/>
              <a:t>strcat</a:t>
            </a:r>
            <a:r>
              <a:rPr lang="en-US" b="1" dirty="0"/>
              <a:t>() function:</a:t>
            </a:r>
          </a:p>
          <a:p>
            <a:pPr marL="0" indent="0">
              <a:buNone/>
            </a:pPr>
            <a:r>
              <a:rPr lang="en-US" dirty="0" err="1"/>
              <a:t>strcat</a:t>
            </a:r>
            <a:r>
              <a:rPr lang="en-US" dirty="0"/>
              <a:t> function is used to join two strings together.</a:t>
            </a:r>
          </a:p>
          <a:p>
            <a:pPr marL="0" indent="0">
              <a:buNone/>
            </a:pPr>
            <a:r>
              <a:rPr lang="en-US" b="1" dirty="0"/>
              <a:t>        Syntax: </a:t>
            </a:r>
            <a:r>
              <a:rPr lang="en-US" b="1" dirty="0" err="1"/>
              <a:t>strcat</a:t>
            </a:r>
            <a:r>
              <a:rPr lang="en-US" b="1" dirty="0"/>
              <a:t>(string1,string2);</a:t>
            </a:r>
            <a:endParaRPr lang="en-US" dirty="0"/>
          </a:p>
          <a:p>
            <a:pPr marL="0" indent="0">
              <a:buNone/>
            </a:pPr>
            <a:r>
              <a:rPr lang="en-US" b="1" dirty="0"/>
              <a:t>Example program using </a:t>
            </a:r>
            <a:r>
              <a:rPr lang="en-US" b="1" dirty="0" err="1"/>
              <a:t>strcat</a:t>
            </a:r>
            <a:r>
              <a:rPr lang="en-US" b="1" dirty="0"/>
              <a:t>() </a:t>
            </a:r>
          </a:p>
          <a:p>
            <a:pPr marL="0" indent="0">
              <a:buNone/>
            </a:pPr>
            <a:r>
              <a:rPr lang="en-US" dirty="0"/>
              <a:t> </a:t>
            </a:r>
          </a:p>
          <a:p>
            <a:endParaRPr lang="en-US" dirty="0"/>
          </a:p>
        </p:txBody>
      </p:sp>
      <p:sp>
        <p:nvSpPr>
          <p:cNvPr id="4" name="TextBox 3"/>
          <p:cNvSpPr txBox="1"/>
          <p:nvPr/>
        </p:nvSpPr>
        <p:spPr>
          <a:xfrm>
            <a:off x="838200" y="2442949"/>
            <a:ext cx="5603543" cy="3416320"/>
          </a:xfrm>
          <a:prstGeom prst="rect">
            <a:avLst/>
          </a:prstGeom>
          <a:noFill/>
        </p:spPr>
        <p:txBody>
          <a:bodyPr wrap="square" rtlCol="0">
            <a:spAutoFit/>
          </a:bodyPr>
          <a:lstStyle/>
          <a:p>
            <a:r>
              <a:rPr lang="en-US" dirty="0"/>
              <a:t>#include &lt;</a:t>
            </a:r>
            <a:r>
              <a:rPr lang="en-US" dirty="0" err="1"/>
              <a:t>stdio.h</a:t>
            </a:r>
            <a:r>
              <a:rPr lang="en-US" dirty="0"/>
              <a:t>&gt;</a:t>
            </a:r>
          </a:p>
          <a:p>
            <a:r>
              <a:rPr lang="en-US" dirty="0"/>
              <a:t> #include&lt;</a:t>
            </a:r>
            <a:r>
              <a:rPr lang="en-US" dirty="0" err="1"/>
              <a:t>string.h</a:t>
            </a:r>
            <a:r>
              <a:rPr lang="en-US" dirty="0"/>
              <a:t>&gt;</a:t>
            </a:r>
          </a:p>
          <a:p>
            <a:r>
              <a:rPr lang="en-US" dirty="0"/>
              <a:t>void main()</a:t>
            </a:r>
          </a:p>
          <a:p>
            <a:r>
              <a:rPr lang="en-US" dirty="0"/>
              <a:t>{</a:t>
            </a:r>
          </a:p>
          <a:p>
            <a:r>
              <a:rPr lang="en-US" dirty="0"/>
              <a:t>char str1[100],str2[100]; </a:t>
            </a:r>
          </a:p>
          <a:p>
            <a:r>
              <a:rPr lang="en-US" dirty="0" err="1"/>
              <a:t>printf</a:t>
            </a:r>
            <a:r>
              <a:rPr lang="en-US" dirty="0"/>
              <a:t>("Enter first string\n");</a:t>
            </a:r>
          </a:p>
          <a:p>
            <a:r>
              <a:rPr lang="en-US" dirty="0"/>
              <a:t> </a:t>
            </a:r>
            <a:r>
              <a:rPr lang="en-US" dirty="0" err="1"/>
              <a:t>scanf</a:t>
            </a:r>
            <a:r>
              <a:rPr lang="en-US" dirty="0"/>
              <a:t>("%s",str1);</a:t>
            </a:r>
          </a:p>
          <a:p>
            <a:r>
              <a:rPr lang="en-US" dirty="0" err="1"/>
              <a:t>printf</a:t>
            </a:r>
            <a:r>
              <a:rPr lang="en-US" dirty="0"/>
              <a:t>("Enter second string\n"); </a:t>
            </a:r>
          </a:p>
          <a:p>
            <a:r>
              <a:rPr lang="en-US" dirty="0" err="1"/>
              <a:t>scanf</a:t>
            </a:r>
            <a:r>
              <a:rPr lang="en-US" dirty="0"/>
              <a:t>("%s",str2); </a:t>
            </a:r>
          </a:p>
          <a:p>
            <a:r>
              <a:rPr lang="en-US" b="1" dirty="0" err="1"/>
              <a:t>strcat</a:t>
            </a:r>
            <a:r>
              <a:rPr lang="en-US" b="1" dirty="0"/>
              <a:t>(str1,str2);</a:t>
            </a:r>
            <a:endParaRPr lang="en-US" dirty="0"/>
          </a:p>
          <a:p>
            <a:r>
              <a:rPr lang="en-US" dirty="0" err="1"/>
              <a:t>printf</a:t>
            </a:r>
            <a:r>
              <a:rPr lang="en-US" dirty="0"/>
              <a:t>("Concatenated string is %s\n",str1);</a:t>
            </a:r>
          </a:p>
          <a:p>
            <a:r>
              <a:rPr lang="en-US" dirty="0"/>
              <a:t>}</a:t>
            </a:r>
          </a:p>
        </p:txBody>
      </p:sp>
      <p:pic>
        <p:nvPicPr>
          <p:cNvPr id="5" name="image16.png"/>
          <p:cNvPicPr/>
          <p:nvPr/>
        </p:nvPicPr>
        <p:blipFill>
          <a:blip r:embed="rId2" cstate="print"/>
          <a:stretch>
            <a:fillRect/>
          </a:stretch>
        </p:blipFill>
        <p:spPr>
          <a:xfrm>
            <a:off x="5697585" y="2442949"/>
            <a:ext cx="5029556" cy="2374640"/>
          </a:xfrm>
          <a:prstGeom prst="rect">
            <a:avLst/>
          </a:prstGeom>
        </p:spPr>
      </p:pic>
    </p:spTree>
    <p:extLst>
      <p:ext uri="{BB962C8B-B14F-4D97-AF65-F5344CB8AC3E}">
        <p14:creationId xmlns:p14="http://schemas.microsoft.com/office/powerpoint/2010/main" val="9160049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lstStyle/>
          <a:p>
            <a:r>
              <a:rPr lang="en-US" dirty="0"/>
              <a:t>Write a program to concatenate two strings without using built in function </a:t>
            </a:r>
            <a:r>
              <a:rPr lang="en-US" dirty="0" err="1"/>
              <a:t>strcat</a:t>
            </a:r>
            <a:r>
              <a:rPr lang="en-US" dirty="0"/>
              <a:t>. </a:t>
            </a:r>
          </a:p>
        </p:txBody>
      </p:sp>
      <p:sp>
        <p:nvSpPr>
          <p:cNvPr id="4" name="TextBox 3"/>
          <p:cNvSpPr txBox="1"/>
          <p:nvPr/>
        </p:nvSpPr>
        <p:spPr>
          <a:xfrm>
            <a:off x="1160060" y="948690"/>
            <a:ext cx="5090615" cy="5909310"/>
          </a:xfrm>
          <a:prstGeom prst="rect">
            <a:avLst/>
          </a:prstGeom>
          <a:noFill/>
        </p:spPr>
        <p:txBody>
          <a:bodyPr wrap="square" rtlCol="0">
            <a:spAutoFit/>
          </a:bodyPr>
          <a:lstStyle/>
          <a:p>
            <a:r>
              <a:rPr lang="en-US" dirty="0"/>
              <a:t>#include &lt;</a:t>
            </a:r>
            <a:r>
              <a:rPr lang="en-US" dirty="0" err="1"/>
              <a:t>stdio.h</a:t>
            </a:r>
            <a:r>
              <a:rPr lang="en-US" dirty="0"/>
              <a:t>&gt; </a:t>
            </a:r>
          </a:p>
          <a:p>
            <a:r>
              <a:rPr lang="en-US" dirty="0"/>
              <a:t>void main()</a:t>
            </a:r>
          </a:p>
          <a:p>
            <a:r>
              <a:rPr lang="en-US" dirty="0"/>
              <a:t>{</a:t>
            </a:r>
          </a:p>
          <a:p>
            <a:r>
              <a:rPr lang="en-US" dirty="0"/>
              <a:t>char str1[100],str2[100]; int </a:t>
            </a:r>
            <a:r>
              <a:rPr lang="en-US" dirty="0" err="1"/>
              <a:t>i,j</a:t>
            </a:r>
            <a:r>
              <a:rPr lang="en-US" dirty="0"/>
              <a:t>;</a:t>
            </a:r>
          </a:p>
          <a:p>
            <a:r>
              <a:rPr lang="en-US" dirty="0" err="1"/>
              <a:t>printf</a:t>
            </a:r>
            <a:r>
              <a:rPr lang="en-US" dirty="0"/>
              <a:t>("Enter first string\n"); </a:t>
            </a:r>
            <a:r>
              <a:rPr lang="en-US" dirty="0" err="1"/>
              <a:t>scanf</a:t>
            </a:r>
            <a:r>
              <a:rPr lang="en-US" dirty="0"/>
              <a:t>("%s",str1);</a:t>
            </a:r>
          </a:p>
          <a:p>
            <a:r>
              <a:rPr lang="en-US" dirty="0" err="1"/>
              <a:t>printf</a:t>
            </a:r>
            <a:r>
              <a:rPr lang="en-US" dirty="0"/>
              <a:t>("Enter second string\n"); </a:t>
            </a:r>
            <a:r>
              <a:rPr lang="en-US" dirty="0" err="1"/>
              <a:t>scanf</a:t>
            </a:r>
            <a:r>
              <a:rPr lang="en-US" dirty="0"/>
              <a:t>("%s",str2);</a:t>
            </a:r>
          </a:p>
          <a:p>
            <a:r>
              <a:rPr lang="en-US" b="1" dirty="0" err="1"/>
              <a:t>i</a:t>
            </a:r>
            <a:r>
              <a:rPr lang="en-US" b="1" dirty="0"/>
              <a:t>=0;</a:t>
            </a:r>
          </a:p>
          <a:p>
            <a:r>
              <a:rPr lang="en-US" b="1" dirty="0"/>
              <a:t>while(str1[</a:t>
            </a:r>
            <a:r>
              <a:rPr lang="en-US" b="1" dirty="0" err="1"/>
              <a:t>i</a:t>
            </a:r>
            <a:r>
              <a:rPr lang="en-US" b="1" dirty="0"/>
              <a:t>]!='\0')</a:t>
            </a:r>
            <a:endParaRPr lang="en-US" dirty="0"/>
          </a:p>
          <a:p>
            <a:r>
              <a:rPr lang="en-US" b="1" dirty="0"/>
              <a:t>{</a:t>
            </a:r>
            <a:endParaRPr lang="en-US" dirty="0"/>
          </a:p>
          <a:p>
            <a:r>
              <a:rPr lang="en-US" b="1" dirty="0" err="1"/>
              <a:t>i</a:t>
            </a:r>
            <a:r>
              <a:rPr lang="en-US" b="1" dirty="0"/>
              <a:t>++;</a:t>
            </a:r>
            <a:endParaRPr lang="en-US" dirty="0"/>
          </a:p>
          <a:p>
            <a:r>
              <a:rPr lang="en-US" b="1" dirty="0"/>
              <a:t>}</a:t>
            </a:r>
            <a:endParaRPr lang="en-US" dirty="0"/>
          </a:p>
          <a:p>
            <a:r>
              <a:rPr lang="en-US" b="1" dirty="0"/>
              <a:t>j=0;</a:t>
            </a:r>
            <a:endParaRPr lang="en-US" dirty="0"/>
          </a:p>
          <a:p>
            <a:r>
              <a:rPr lang="en-US" b="1" dirty="0"/>
              <a:t>while(str2[j]!='\0')</a:t>
            </a:r>
            <a:endParaRPr lang="en-US" dirty="0"/>
          </a:p>
          <a:p>
            <a:r>
              <a:rPr lang="en-US" b="1" dirty="0"/>
              <a:t>{</a:t>
            </a:r>
            <a:endParaRPr lang="en-US" dirty="0"/>
          </a:p>
          <a:p>
            <a:r>
              <a:rPr lang="en-US" b="1" dirty="0"/>
              <a:t>str1[</a:t>
            </a:r>
            <a:r>
              <a:rPr lang="en-US" b="1" dirty="0" err="1"/>
              <a:t>i</a:t>
            </a:r>
            <a:r>
              <a:rPr lang="en-US" b="1" dirty="0"/>
              <a:t>]=str2[j]; </a:t>
            </a:r>
            <a:r>
              <a:rPr lang="en-US" b="1" dirty="0" err="1"/>
              <a:t>i</a:t>
            </a:r>
            <a:r>
              <a:rPr lang="en-US" b="1" dirty="0"/>
              <a:t>++;</a:t>
            </a:r>
            <a:endParaRPr lang="en-US" dirty="0"/>
          </a:p>
          <a:p>
            <a:r>
              <a:rPr lang="en-US" b="1" dirty="0"/>
              <a:t>j++;</a:t>
            </a:r>
            <a:endParaRPr lang="en-US" dirty="0"/>
          </a:p>
          <a:p>
            <a:r>
              <a:rPr lang="en-US" b="1" dirty="0"/>
              <a:t>}</a:t>
            </a:r>
            <a:endParaRPr lang="en-US" dirty="0"/>
          </a:p>
          <a:p>
            <a:r>
              <a:rPr lang="en-US" b="1" dirty="0"/>
              <a:t>str1[</a:t>
            </a:r>
            <a:r>
              <a:rPr lang="en-US" b="1" dirty="0" err="1"/>
              <a:t>i</a:t>
            </a:r>
            <a:r>
              <a:rPr lang="en-US" b="1" dirty="0"/>
              <a:t>]='\0';</a:t>
            </a:r>
            <a:endParaRPr lang="en-US" dirty="0"/>
          </a:p>
          <a:p>
            <a:r>
              <a:rPr lang="en-US" dirty="0" err="1"/>
              <a:t>printf</a:t>
            </a:r>
            <a:r>
              <a:rPr lang="en-US" dirty="0"/>
              <a:t>("Concatenated string is %s\n",str1);</a:t>
            </a:r>
          </a:p>
          <a:p>
            <a:r>
              <a:rPr lang="en-US" dirty="0"/>
              <a:t>}</a:t>
            </a:r>
          </a:p>
          <a:p>
            <a:endParaRPr lang="en-US" dirty="0"/>
          </a:p>
        </p:txBody>
      </p:sp>
      <p:pic>
        <p:nvPicPr>
          <p:cNvPr id="6" name="image16.png"/>
          <p:cNvPicPr/>
          <p:nvPr/>
        </p:nvPicPr>
        <p:blipFill>
          <a:blip r:embed="rId2" cstate="print"/>
          <a:stretch>
            <a:fillRect/>
          </a:stretch>
        </p:blipFill>
        <p:spPr>
          <a:xfrm>
            <a:off x="6572535" y="2320119"/>
            <a:ext cx="4456350" cy="2490645"/>
          </a:xfrm>
          <a:prstGeom prst="rect">
            <a:avLst/>
          </a:prstGeom>
        </p:spPr>
      </p:pic>
    </p:spTree>
    <p:extLst>
      <p:ext uri="{BB962C8B-B14F-4D97-AF65-F5344CB8AC3E}">
        <p14:creationId xmlns:p14="http://schemas.microsoft.com/office/powerpoint/2010/main" val="2353145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1069"/>
            <a:ext cx="10515600" cy="5985894"/>
          </a:xfrm>
        </p:spPr>
        <p:txBody>
          <a:bodyPr/>
          <a:lstStyle/>
          <a:p>
            <a:pPr lvl="0"/>
            <a:r>
              <a:rPr lang="en-US" b="1" dirty="0" err="1"/>
              <a:t>strcmp</a:t>
            </a:r>
            <a:r>
              <a:rPr lang="en-US" b="1" dirty="0"/>
              <a:t>() function</a:t>
            </a:r>
          </a:p>
          <a:p>
            <a:r>
              <a:rPr lang="en-US" dirty="0"/>
              <a:t>This is a function which compares two strings to find out whether they are same or different. The two strings are compared character by character until there is a mismatch or end of one of the strings is reached, whichever occurs first.</a:t>
            </a:r>
          </a:p>
          <a:p>
            <a:pPr marL="0" indent="0">
              <a:buNone/>
            </a:pPr>
            <a:r>
              <a:rPr lang="en-US" b="1" dirty="0"/>
              <a:t>           Syntax: result=</a:t>
            </a:r>
            <a:r>
              <a:rPr lang="en-US" b="1" dirty="0" err="1"/>
              <a:t>strcmp</a:t>
            </a:r>
            <a:r>
              <a:rPr lang="en-US" b="1" dirty="0"/>
              <a:t>(string1, string2)</a:t>
            </a:r>
            <a:r>
              <a:rPr lang="en-US" dirty="0"/>
              <a:t>;</a:t>
            </a:r>
          </a:p>
          <a:p>
            <a:r>
              <a:rPr lang="en-US" dirty="0" err="1"/>
              <a:t>Eg</a:t>
            </a:r>
            <a:r>
              <a:rPr lang="en-US" dirty="0"/>
              <a:t>: result=</a:t>
            </a:r>
            <a:r>
              <a:rPr lang="en-US" dirty="0" err="1"/>
              <a:t>strcmp</a:t>
            </a:r>
            <a:r>
              <a:rPr lang="en-US" dirty="0"/>
              <a:t>(name1,name2);</a:t>
            </a:r>
          </a:p>
          <a:p>
            <a:r>
              <a:rPr lang="en-US" dirty="0"/>
              <a:t>result=0 if string1 = string2 </a:t>
            </a:r>
          </a:p>
          <a:p>
            <a:r>
              <a:rPr lang="en-US" dirty="0"/>
              <a:t>result&gt;0 if string1&gt;string2 </a:t>
            </a:r>
          </a:p>
          <a:p>
            <a:r>
              <a:rPr lang="en-US" dirty="0"/>
              <a:t>result&lt;0 if string1&lt;string2</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360023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188" y="624432"/>
            <a:ext cx="10515600" cy="344559"/>
          </a:xfrm>
        </p:spPr>
        <p:txBody>
          <a:bodyPr>
            <a:normAutofit fontScale="90000"/>
          </a:bodyPr>
          <a:lstStyle/>
          <a:p>
            <a:r>
              <a:rPr lang="en-US" sz="2000" b="1" dirty="0"/>
              <a:t>Example program using </a:t>
            </a:r>
            <a:r>
              <a:rPr lang="en-US" sz="2000" b="1" dirty="0" err="1"/>
              <a:t>strcmp</a:t>
            </a:r>
            <a:r>
              <a:rPr lang="en-US" sz="2000" b="1" dirty="0"/>
              <a:t>()</a:t>
            </a:r>
            <a:br>
              <a:rPr lang="en-US" b="1" dirty="0"/>
            </a:br>
            <a:endParaRPr lang="en-US" dirty="0"/>
          </a:p>
        </p:txBody>
      </p:sp>
      <p:sp>
        <p:nvSpPr>
          <p:cNvPr id="4" name="TextBox 3"/>
          <p:cNvSpPr txBox="1"/>
          <p:nvPr/>
        </p:nvSpPr>
        <p:spPr>
          <a:xfrm>
            <a:off x="791570" y="1105469"/>
            <a:ext cx="4831308" cy="5355312"/>
          </a:xfrm>
          <a:prstGeom prst="rect">
            <a:avLst/>
          </a:prstGeom>
          <a:noFill/>
        </p:spPr>
        <p:txBody>
          <a:bodyPr wrap="square" rtlCol="0">
            <a:spAutoFit/>
          </a:bodyPr>
          <a:lstStyle/>
          <a:p>
            <a:r>
              <a:rPr lang="en-US" dirty="0"/>
              <a:t>#include&lt;</a:t>
            </a:r>
            <a:r>
              <a:rPr lang="en-US" dirty="0" err="1"/>
              <a:t>stdio.h</a:t>
            </a:r>
            <a:r>
              <a:rPr lang="en-US" dirty="0"/>
              <a:t>&gt;</a:t>
            </a:r>
          </a:p>
          <a:p>
            <a:r>
              <a:rPr lang="en-US" dirty="0"/>
              <a:t>#include&lt;</a:t>
            </a:r>
            <a:r>
              <a:rPr lang="en-US" dirty="0" err="1"/>
              <a:t>string.h</a:t>
            </a:r>
            <a:r>
              <a:rPr lang="en-US" dirty="0"/>
              <a:t>&gt; void main()</a:t>
            </a:r>
          </a:p>
          <a:p>
            <a:r>
              <a:rPr lang="en-US" dirty="0"/>
              <a:t>{</a:t>
            </a:r>
          </a:p>
          <a:p>
            <a:r>
              <a:rPr lang="en-US" dirty="0"/>
              <a:t>char str1[100],str2[100]; </a:t>
            </a:r>
          </a:p>
          <a:p>
            <a:r>
              <a:rPr lang="en-US" dirty="0"/>
              <a:t>int result;</a:t>
            </a:r>
          </a:p>
          <a:p>
            <a:r>
              <a:rPr lang="en-US" dirty="0" err="1"/>
              <a:t>printf</a:t>
            </a:r>
            <a:r>
              <a:rPr lang="en-US" dirty="0"/>
              <a:t>("Enter first string\n"); </a:t>
            </a:r>
          </a:p>
          <a:p>
            <a:r>
              <a:rPr lang="en-US" dirty="0" err="1"/>
              <a:t>scanf</a:t>
            </a:r>
            <a:r>
              <a:rPr lang="en-US" dirty="0"/>
              <a:t>("%s",str1);</a:t>
            </a:r>
          </a:p>
          <a:p>
            <a:r>
              <a:rPr lang="en-US" dirty="0" err="1"/>
              <a:t>printf</a:t>
            </a:r>
            <a:r>
              <a:rPr lang="en-US" dirty="0"/>
              <a:t>("Enter second string\n"); </a:t>
            </a:r>
            <a:r>
              <a:rPr lang="en-US" dirty="0" err="1"/>
              <a:t>scanf</a:t>
            </a:r>
            <a:r>
              <a:rPr lang="en-US" dirty="0"/>
              <a:t>("%s",str2);</a:t>
            </a:r>
          </a:p>
          <a:p>
            <a:r>
              <a:rPr lang="en-US" dirty="0"/>
              <a:t>result =</a:t>
            </a:r>
            <a:r>
              <a:rPr lang="en-US" dirty="0" err="1"/>
              <a:t>strcmp</a:t>
            </a:r>
            <a:r>
              <a:rPr lang="en-US" dirty="0"/>
              <a:t>(str1,str2);</a:t>
            </a:r>
          </a:p>
          <a:p>
            <a:r>
              <a:rPr lang="en-US" dirty="0"/>
              <a:t>if(result ==0)</a:t>
            </a:r>
          </a:p>
          <a:p>
            <a:r>
              <a:rPr lang="en-US" dirty="0" err="1"/>
              <a:t>printf</a:t>
            </a:r>
            <a:r>
              <a:rPr lang="en-US" dirty="0"/>
              <a:t>("Strings are equal"); </a:t>
            </a:r>
          </a:p>
          <a:p>
            <a:r>
              <a:rPr lang="en-US" dirty="0"/>
              <a:t>else if(result &gt;0)</a:t>
            </a:r>
          </a:p>
          <a:p>
            <a:r>
              <a:rPr lang="en-US" dirty="0" err="1"/>
              <a:t>printf</a:t>
            </a:r>
            <a:r>
              <a:rPr lang="en-US" dirty="0"/>
              <a:t>("First string is greater than second string\n");</a:t>
            </a:r>
          </a:p>
          <a:p>
            <a:r>
              <a:rPr lang="en-US" dirty="0"/>
              <a:t> else</a:t>
            </a:r>
          </a:p>
          <a:p>
            <a:r>
              <a:rPr lang="en-US" dirty="0" err="1"/>
              <a:t>printf</a:t>
            </a:r>
            <a:r>
              <a:rPr lang="en-US" dirty="0"/>
              <a:t>("Second string is greater than first string\n");</a:t>
            </a:r>
          </a:p>
          <a:p>
            <a:r>
              <a:rPr lang="en-US" dirty="0"/>
              <a:t>}</a:t>
            </a:r>
          </a:p>
          <a:p>
            <a:endParaRPr lang="en-US" dirty="0"/>
          </a:p>
        </p:txBody>
      </p:sp>
      <p:sp>
        <p:nvSpPr>
          <p:cNvPr id="7" name="TextBox 6"/>
          <p:cNvSpPr txBox="1"/>
          <p:nvPr/>
        </p:nvSpPr>
        <p:spPr>
          <a:xfrm>
            <a:off x="6237027" y="382137"/>
            <a:ext cx="4203510" cy="1754326"/>
          </a:xfrm>
          <a:prstGeom prst="rect">
            <a:avLst/>
          </a:prstGeom>
          <a:noFill/>
        </p:spPr>
        <p:txBody>
          <a:bodyPr wrap="square" rtlCol="0">
            <a:spAutoFit/>
          </a:bodyPr>
          <a:lstStyle/>
          <a:p>
            <a:r>
              <a:rPr lang="en-US" dirty="0"/>
              <a:t>OUTPUT1</a:t>
            </a:r>
          </a:p>
          <a:p>
            <a:r>
              <a:rPr lang="en-US" dirty="0"/>
              <a:t>Enter first string</a:t>
            </a:r>
          </a:p>
          <a:p>
            <a:r>
              <a:rPr lang="en-US" dirty="0"/>
              <a:t>Raj</a:t>
            </a:r>
          </a:p>
          <a:p>
            <a:r>
              <a:rPr lang="en-US" dirty="0"/>
              <a:t>Enter second string</a:t>
            </a:r>
          </a:p>
          <a:p>
            <a:r>
              <a:rPr lang="en-US" dirty="0" err="1"/>
              <a:t>Taj</a:t>
            </a:r>
            <a:endParaRPr lang="en-US" dirty="0"/>
          </a:p>
          <a:p>
            <a:r>
              <a:rPr lang="en-US" dirty="0"/>
              <a:t>Second string is greater than first string</a:t>
            </a:r>
          </a:p>
        </p:txBody>
      </p:sp>
      <p:sp>
        <p:nvSpPr>
          <p:cNvPr id="8" name="TextBox 7"/>
          <p:cNvSpPr txBox="1"/>
          <p:nvPr/>
        </p:nvSpPr>
        <p:spPr>
          <a:xfrm>
            <a:off x="6393976" y="2378758"/>
            <a:ext cx="3889612" cy="1754326"/>
          </a:xfrm>
          <a:prstGeom prst="rect">
            <a:avLst/>
          </a:prstGeom>
          <a:noFill/>
        </p:spPr>
        <p:txBody>
          <a:bodyPr wrap="square" rtlCol="0">
            <a:spAutoFit/>
          </a:bodyPr>
          <a:lstStyle/>
          <a:p>
            <a:r>
              <a:rPr lang="en-US" dirty="0"/>
              <a:t>OUTPUT2</a:t>
            </a:r>
          </a:p>
          <a:p>
            <a:r>
              <a:rPr lang="en-US" dirty="0"/>
              <a:t>Enter first string</a:t>
            </a:r>
          </a:p>
          <a:p>
            <a:r>
              <a:rPr lang="en-US" dirty="0" err="1"/>
              <a:t>Taj</a:t>
            </a:r>
            <a:endParaRPr lang="en-US" dirty="0"/>
          </a:p>
          <a:p>
            <a:r>
              <a:rPr lang="en-US" dirty="0"/>
              <a:t>Enter second string</a:t>
            </a:r>
          </a:p>
          <a:p>
            <a:r>
              <a:rPr lang="en-US" dirty="0"/>
              <a:t>Raj</a:t>
            </a:r>
          </a:p>
          <a:p>
            <a:r>
              <a:rPr lang="en-US" dirty="0"/>
              <a:t>First string is greater than second string</a:t>
            </a:r>
          </a:p>
        </p:txBody>
      </p:sp>
      <p:sp>
        <p:nvSpPr>
          <p:cNvPr id="9" name="TextBox 8"/>
          <p:cNvSpPr txBox="1"/>
          <p:nvPr/>
        </p:nvSpPr>
        <p:spPr>
          <a:xfrm>
            <a:off x="6591868" y="4429456"/>
            <a:ext cx="3848669" cy="2031325"/>
          </a:xfrm>
          <a:prstGeom prst="rect">
            <a:avLst/>
          </a:prstGeom>
          <a:noFill/>
        </p:spPr>
        <p:txBody>
          <a:bodyPr wrap="square" rtlCol="0">
            <a:spAutoFit/>
          </a:bodyPr>
          <a:lstStyle/>
          <a:p>
            <a:r>
              <a:rPr lang="en-US" dirty="0"/>
              <a:t>OUTPUT3</a:t>
            </a:r>
          </a:p>
          <a:p>
            <a:r>
              <a:rPr lang="en-US" dirty="0"/>
              <a:t>Enter first string</a:t>
            </a:r>
          </a:p>
          <a:p>
            <a:r>
              <a:rPr lang="en-US" dirty="0"/>
              <a:t>Raj</a:t>
            </a:r>
          </a:p>
          <a:p>
            <a:r>
              <a:rPr lang="en-US" dirty="0"/>
              <a:t>Enter second string</a:t>
            </a:r>
          </a:p>
          <a:p>
            <a:r>
              <a:rPr lang="en-US" dirty="0"/>
              <a:t>Raj</a:t>
            </a:r>
          </a:p>
          <a:p>
            <a:r>
              <a:rPr lang="en-US" dirty="0"/>
              <a:t>Strings are equal</a:t>
            </a:r>
          </a:p>
          <a:p>
            <a:endParaRPr lang="en-US" dirty="0"/>
          </a:p>
        </p:txBody>
      </p:sp>
    </p:spTree>
    <p:extLst>
      <p:ext uri="{BB962C8B-B14F-4D97-AF65-F5344CB8AC3E}">
        <p14:creationId xmlns:p14="http://schemas.microsoft.com/office/powerpoint/2010/main" val="14751663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Write a program to compare strings without using built in function </a:t>
            </a:r>
            <a:r>
              <a:rPr lang="en-US" sz="2800" dirty="0" err="1">
                <a:latin typeface="Times New Roman" panose="02020603050405020304" pitchFamily="18" charset="0"/>
                <a:cs typeface="Times New Roman" panose="02020603050405020304" pitchFamily="18" charset="0"/>
              </a:rPr>
              <a:t>strcmp</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38200" y="1526915"/>
            <a:ext cx="4067033" cy="5632311"/>
          </a:xfrm>
          <a:prstGeom prst="rect">
            <a:avLst/>
          </a:prstGeom>
          <a:noFill/>
        </p:spPr>
        <p:txBody>
          <a:bodyPr wrap="square" rtlCol="0">
            <a:spAutoFit/>
          </a:bodyPr>
          <a:lstStyle/>
          <a:p>
            <a:r>
              <a:rPr lang="en-US" dirty="0"/>
              <a:t>#include &lt;</a:t>
            </a:r>
            <a:r>
              <a:rPr lang="en-US" dirty="0" err="1"/>
              <a:t>stdio.h</a:t>
            </a:r>
            <a:r>
              <a:rPr lang="en-US" dirty="0"/>
              <a:t>&gt; </a:t>
            </a:r>
          </a:p>
          <a:p>
            <a:r>
              <a:rPr lang="en-US" dirty="0"/>
              <a:t>#include&lt;</a:t>
            </a:r>
            <a:r>
              <a:rPr lang="en-US" dirty="0" err="1"/>
              <a:t>stdlib.h</a:t>
            </a:r>
            <a:r>
              <a:rPr lang="en-US" dirty="0"/>
              <a:t>&gt; void main()</a:t>
            </a:r>
          </a:p>
          <a:p>
            <a:r>
              <a:rPr lang="en-US" dirty="0"/>
              <a:t>{</a:t>
            </a:r>
          </a:p>
          <a:p>
            <a:r>
              <a:rPr lang="en-US" dirty="0"/>
              <a:t>char str1[100],str2[100]; </a:t>
            </a:r>
          </a:p>
          <a:p>
            <a:r>
              <a:rPr lang="en-US" dirty="0"/>
              <a:t>int i,length1,length2;</a:t>
            </a:r>
          </a:p>
          <a:p>
            <a:r>
              <a:rPr lang="en-US" dirty="0" err="1"/>
              <a:t>printf</a:t>
            </a:r>
            <a:r>
              <a:rPr lang="en-US" dirty="0"/>
              <a:t>("Enter first string\n"); </a:t>
            </a:r>
            <a:r>
              <a:rPr lang="en-US" dirty="0" err="1"/>
              <a:t>scanf</a:t>
            </a:r>
            <a:r>
              <a:rPr lang="en-US" dirty="0"/>
              <a:t>("%s",str1);</a:t>
            </a:r>
          </a:p>
          <a:p>
            <a:r>
              <a:rPr lang="en-US" dirty="0" err="1"/>
              <a:t>printf</a:t>
            </a:r>
            <a:r>
              <a:rPr lang="en-US" dirty="0"/>
              <a:t>("Enter second string\n"); </a:t>
            </a:r>
            <a:r>
              <a:rPr lang="en-US" dirty="0" err="1"/>
              <a:t>scanf</a:t>
            </a:r>
            <a:r>
              <a:rPr lang="en-US" dirty="0"/>
              <a:t>("%s",str2);</a:t>
            </a:r>
          </a:p>
          <a:p>
            <a:r>
              <a:rPr lang="en-US" dirty="0"/>
              <a:t> length1=</a:t>
            </a:r>
            <a:r>
              <a:rPr lang="en-US" dirty="0" err="1"/>
              <a:t>strlen</a:t>
            </a:r>
            <a:r>
              <a:rPr lang="en-US" dirty="0"/>
              <a:t>(str1); length2=</a:t>
            </a:r>
            <a:r>
              <a:rPr lang="en-US" dirty="0" err="1"/>
              <a:t>strlen</a:t>
            </a:r>
            <a:r>
              <a:rPr lang="en-US" dirty="0"/>
              <a:t>(str2); </a:t>
            </a:r>
          </a:p>
          <a:p>
            <a:r>
              <a:rPr lang="en-US" dirty="0"/>
              <a:t>if(length1!=length2)</a:t>
            </a:r>
          </a:p>
          <a:p>
            <a:r>
              <a:rPr lang="en-US" dirty="0" err="1"/>
              <a:t>printf</a:t>
            </a:r>
            <a:r>
              <a:rPr lang="en-US" dirty="0"/>
              <a:t>("String1 is not equal to string2\n"); else</a:t>
            </a:r>
          </a:p>
          <a:p>
            <a:r>
              <a:rPr lang="en-US" dirty="0"/>
              <a:t>{</a:t>
            </a:r>
          </a:p>
          <a:p>
            <a:r>
              <a:rPr lang="en-US" dirty="0" err="1"/>
              <a:t>i</a:t>
            </a:r>
            <a:r>
              <a:rPr lang="en-US" dirty="0"/>
              <a:t>=0;</a:t>
            </a:r>
          </a:p>
          <a:p>
            <a:r>
              <a:rPr lang="en-US" dirty="0"/>
              <a:t>while(str1[</a:t>
            </a:r>
            <a:r>
              <a:rPr lang="en-US" dirty="0" err="1"/>
              <a:t>i</a:t>
            </a:r>
            <a:r>
              <a:rPr lang="en-US" dirty="0"/>
              <a:t>]!='\0')</a:t>
            </a:r>
          </a:p>
          <a:p>
            <a:r>
              <a:rPr lang="en-US" dirty="0"/>
              <a:t>{</a:t>
            </a:r>
          </a:p>
          <a:p>
            <a:endParaRPr lang="en-US" dirty="0"/>
          </a:p>
          <a:p>
            <a:endParaRPr lang="en-US" dirty="0"/>
          </a:p>
        </p:txBody>
      </p:sp>
      <p:sp>
        <p:nvSpPr>
          <p:cNvPr id="5" name="TextBox 4"/>
          <p:cNvSpPr txBox="1"/>
          <p:nvPr/>
        </p:nvSpPr>
        <p:spPr>
          <a:xfrm>
            <a:off x="5800299" y="1526915"/>
            <a:ext cx="4995080" cy="2862322"/>
          </a:xfrm>
          <a:prstGeom prst="rect">
            <a:avLst/>
          </a:prstGeom>
          <a:noFill/>
        </p:spPr>
        <p:txBody>
          <a:bodyPr wrap="square" rtlCol="0">
            <a:spAutoFit/>
          </a:bodyPr>
          <a:lstStyle/>
          <a:p>
            <a:r>
              <a:rPr lang="en-US" dirty="0"/>
              <a:t>if(str1[</a:t>
            </a:r>
            <a:r>
              <a:rPr lang="en-US" dirty="0" err="1"/>
              <a:t>i</a:t>
            </a:r>
            <a:r>
              <a:rPr lang="en-US" dirty="0"/>
              <a:t>] != str2[</a:t>
            </a:r>
            <a:r>
              <a:rPr lang="en-US" dirty="0" err="1"/>
              <a:t>i</a:t>
            </a:r>
            <a:r>
              <a:rPr lang="en-US" dirty="0"/>
              <a:t>])</a:t>
            </a:r>
          </a:p>
          <a:p>
            <a:r>
              <a:rPr lang="en-US" dirty="0"/>
              <a:t>{</a:t>
            </a:r>
          </a:p>
          <a:p>
            <a:r>
              <a:rPr lang="en-US" dirty="0" err="1"/>
              <a:t>printf</a:t>
            </a:r>
            <a:r>
              <a:rPr lang="en-US" dirty="0"/>
              <a:t>("String1 is not equal to string2\n");</a:t>
            </a:r>
          </a:p>
          <a:p>
            <a:r>
              <a:rPr lang="en-US" dirty="0"/>
              <a:t> exit(0);</a:t>
            </a:r>
          </a:p>
          <a:p>
            <a:r>
              <a:rPr lang="en-US" dirty="0"/>
              <a:t>}</a:t>
            </a:r>
          </a:p>
          <a:p>
            <a:r>
              <a:rPr lang="en-US" dirty="0"/>
              <a:t>else</a:t>
            </a:r>
          </a:p>
          <a:p>
            <a:r>
              <a:rPr lang="en-US" dirty="0" err="1"/>
              <a:t>i</a:t>
            </a:r>
            <a:r>
              <a:rPr lang="en-US" dirty="0"/>
              <a:t>++;</a:t>
            </a:r>
          </a:p>
          <a:p>
            <a:r>
              <a:rPr lang="en-US" dirty="0"/>
              <a:t>}</a:t>
            </a:r>
          </a:p>
          <a:p>
            <a:r>
              <a:rPr lang="en-US" dirty="0" err="1"/>
              <a:t>printf</a:t>
            </a:r>
            <a:r>
              <a:rPr lang="en-US" dirty="0"/>
              <a:t>("Strings are equal\n");</a:t>
            </a:r>
          </a:p>
          <a:p>
            <a:r>
              <a:rPr lang="en-US" dirty="0"/>
              <a:t>}</a:t>
            </a:r>
          </a:p>
        </p:txBody>
      </p:sp>
    </p:spTree>
    <p:extLst>
      <p:ext uri="{BB962C8B-B14F-4D97-AF65-F5344CB8AC3E}">
        <p14:creationId xmlns:p14="http://schemas.microsoft.com/office/powerpoint/2010/main" val="1473851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4716"/>
            <a:ext cx="10515600" cy="5972247"/>
          </a:xfrm>
        </p:spPr>
        <p:txBody>
          <a:bodyPr>
            <a:normAutofit/>
          </a:bodyPr>
          <a:lstStyle/>
          <a:p>
            <a:r>
              <a:rPr lang="en-US" sz="3600" dirty="0" err="1">
                <a:latin typeface="Times New Roman" panose="02020603050405020304" pitchFamily="18" charset="0"/>
                <a:cs typeface="Times New Roman" panose="02020603050405020304" pitchFamily="18" charset="0"/>
              </a:rPr>
              <a:t>Strrev</a:t>
            </a:r>
            <a:r>
              <a:rPr lang="en-US" sz="3600" dirty="0">
                <a:latin typeface="Times New Roman" panose="02020603050405020304" pitchFamily="18" charset="0"/>
                <a:cs typeface="Times New Roman" panose="02020603050405020304" pitchFamily="18" charset="0"/>
              </a:rPr>
              <a:t>() function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Used to reverse the string.</a:t>
            </a:r>
          </a:p>
          <a:p>
            <a:pPr marL="0" indent="0">
              <a:buNone/>
            </a:pPr>
            <a:r>
              <a:rPr lang="en-US" b="1" dirty="0">
                <a:latin typeface="Times New Roman" panose="02020603050405020304" pitchFamily="18" charset="0"/>
                <a:cs typeface="Times New Roman" panose="02020603050405020304" pitchFamily="18" charset="0"/>
              </a:rPr>
              <a:t>               Syntax: </a:t>
            </a:r>
            <a:r>
              <a:rPr lang="en-US" b="1" dirty="0" err="1">
                <a:latin typeface="Times New Roman" panose="02020603050405020304" pitchFamily="18" charset="0"/>
                <a:cs typeface="Times New Roman" panose="02020603050405020304" pitchFamily="18" charset="0"/>
              </a:rPr>
              <a:t>strrev</a:t>
            </a:r>
            <a:r>
              <a:rPr lang="en-US" b="1" dirty="0">
                <a:latin typeface="Times New Roman" panose="02020603050405020304" pitchFamily="18" charset="0"/>
                <a:cs typeface="Times New Roman" panose="02020603050405020304" pitchFamily="18" charset="0"/>
              </a:rPr>
              <a:t>(string);</a:t>
            </a:r>
          </a:p>
          <a:p>
            <a:pPr marL="0" indent="0">
              <a:buNone/>
            </a:pPr>
            <a:endParaRPr lang="en-US" sz="3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78174" y="2129050"/>
            <a:ext cx="4285397" cy="375487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Example program using </a:t>
            </a:r>
            <a:r>
              <a:rPr lang="en-US" sz="2000" b="1" dirty="0" err="1">
                <a:latin typeface="Times New Roman" panose="02020603050405020304" pitchFamily="18" charset="0"/>
                <a:cs typeface="Times New Roman" panose="02020603050405020304" pitchFamily="18" charset="0"/>
              </a:rPr>
              <a:t>strrev</a:t>
            </a:r>
            <a:r>
              <a:rPr lang="en-US" sz="2000" b="1"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#include &lt;</a:t>
            </a:r>
            <a:r>
              <a:rPr lang="en-US" sz="2000" dirty="0" err="1">
                <a:latin typeface="Times New Roman" panose="02020603050405020304" pitchFamily="18" charset="0"/>
                <a:cs typeface="Times New Roman" panose="02020603050405020304" pitchFamily="18" charset="0"/>
              </a:rPr>
              <a:t>stdio.h</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 #include&lt;</a:t>
            </a:r>
            <a:r>
              <a:rPr lang="en-US" sz="2000" dirty="0" err="1">
                <a:latin typeface="Times New Roman" panose="02020603050405020304" pitchFamily="18" charset="0"/>
                <a:cs typeface="Times New Roman" panose="02020603050405020304" pitchFamily="18" charset="0"/>
              </a:rPr>
              <a:t>string.h</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void main()</a:t>
            </a:r>
          </a:p>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char </a:t>
            </a:r>
            <a:r>
              <a:rPr lang="en-US" sz="2000" dirty="0" err="1">
                <a:latin typeface="Times New Roman" panose="02020603050405020304" pitchFamily="18" charset="0"/>
                <a:cs typeface="Times New Roman" panose="02020603050405020304" pitchFamily="18" charset="0"/>
              </a:rPr>
              <a:t>str</a:t>
            </a:r>
            <a:r>
              <a:rPr lang="en-US" sz="2000" dirty="0">
                <a:latin typeface="Times New Roman" panose="02020603050405020304" pitchFamily="18" charset="0"/>
                <a:cs typeface="Times New Roman" panose="02020603050405020304" pitchFamily="18" charset="0"/>
              </a:rPr>
              <a:t>[100]; </a:t>
            </a:r>
          </a:p>
          <a:p>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("Enter string\n"); </a:t>
            </a:r>
          </a:p>
          <a:p>
            <a:r>
              <a:rPr lang="en-US" sz="2000" dirty="0" err="1">
                <a:latin typeface="Times New Roman" panose="02020603050405020304" pitchFamily="18" charset="0"/>
                <a:cs typeface="Times New Roman" panose="02020603050405020304" pitchFamily="18" charset="0"/>
              </a:rPr>
              <a:t>scanf</a:t>
            </a:r>
            <a:r>
              <a:rPr lang="en-US" sz="2000" dirty="0">
                <a:latin typeface="Times New Roman" panose="02020603050405020304" pitchFamily="18" charset="0"/>
                <a:cs typeface="Times New Roman" panose="02020603050405020304" pitchFamily="18" charset="0"/>
              </a:rPr>
              <a:t>("%s",</a:t>
            </a:r>
            <a:r>
              <a:rPr lang="en-US" sz="2000" dirty="0" err="1">
                <a:latin typeface="Times New Roman" panose="02020603050405020304" pitchFamily="18" charset="0"/>
                <a:cs typeface="Times New Roman" panose="02020603050405020304" pitchFamily="18" charset="0"/>
              </a:rPr>
              <a:t>str</a:t>
            </a:r>
            <a:r>
              <a:rPr lang="en-US" sz="2000" dirty="0">
                <a:latin typeface="Times New Roman" panose="02020603050405020304" pitchFamily="18" charset="0"/>
                <a:cs typeface="Times New Roman" panose="02020603050405020304" pitchFamily="18" charset="0"/>
              </a:rPr>
              <a:t>); </a:t>
            </a:r>
          </a:p>
          <a:p>
            <a:r>
              <a:rPr lang="en-US" sz="2000" b="1" dirty="0" err="1">
                <a:latin typeface="Times New Roman" panose="02020603050405020304" pitchFamily="18" charset="0"/>
                <a:cs typeface="Times New Roman" panose="02020603050405020304" pitchFamily="18" charset="0"/>
              </a:rPr>
              <a:t>strrev</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str</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("Reversed string is %s\n",</a:t>
            </a:r>
            <a:r>
              <a:rPr lang="en-US" sz="2000" dirty="0" err="1">
                <a:latin typeface="Times New Roman" panose="02020603050405020304" pitchFamily="18" charset="0"/>
                <a:cs typeface="Times New Roman" panose="02020603050405020304" pitchFamily="18" charset="0"/>
              </a:rPr>
              <a:t>str</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a:p>
            <a:endParaRPr lang="en-US" dirty="0"/>
          </a:p>
        </p:txBody>
      </p:sp>
      <p:sp>
        <p:nvSpPr>
          <p:cNvPr id="8" name="TextBox 7"/>
          <p:cNvSpPr txBox="1"/>
          <p:nvPr/>
        </p:nvSpPr>
        <p:spPr>
          <a:xfrm>
            <a:off x="7042243" y="2575847"/>
            <a:ext cx="2934270" cy="923330"/>
          </a:xfrm>
          <a:prstGeom prst="rect">
            <a:avLst/>
          </a:prstGeom>
          <a:noFill/>
        </p:spPr>
        <p:txBody>
          <a:bodyPr wrap="square" rtlCol="0">
            <a:spAutoFit/>
          </a:bodyPr>
          <a:lstStyle/>
          <a:p>
            <a:r>
              <a:rPr lang="en-US"/>
              <a:t>Output:</a:t>
            </a:r>
          </a:p>
          <a:p>
            <a:r>
              <a:rPr lang="en-US"/>
              <a:t>Enter string Raj</a:t>
            </a:r>
          </a:p>
          <a:p>
            <a:r>
              <a:rPr lang="en-US"/>
              <a:t>Reversed string is jaR</a:t>
            </a:r>
          </a:p>
        </p:txBody>
      </p:sp>
    </p:spTree>
    <p:extLst>
      <p:ext uri="{BB962C8B-B14F-4D97-AF65-F5344CB8AC3E}">
        <p14:creationId xmlns:p14="http://schemas.microsoft.com/office/powerpoint/2010/main" val="3262829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Write a program to reverse a string without using built in function </a:t>
            </a:r>
            <a:r>
              <a:rPr lang="en-US" sz="3200" dirty="0" err="1">
                <a:latin typeface="Times New Roman" panose="02020603050405020304" pitchFamily="18" charset="0"/>
                <a:cs typeface="Times New Roman" panose="02020603050405020304" pitchFamily="18" charset="0"/>
              </a:rPr>
              <a:t>strrev</a:t>
            </a:r>
            <a:r>
              <a:rPr lang="en-US" sz="3200" dirty="0">
                <a:latin typeface="Times New Roman" panose="02020603050405020304" pitchFamily="18" charset="0"/>
                <a:cs typeface="Times New Roman" panose="02020603050405020304" pitchFamily="18" charset="0"/>
              </a:rPr>
              <a:t> and check for palindrome</a:t>
            </a:r>
          </a:p>
        </p:txBody>
      </p:sp>
      <p:sp>
        <p:nvSpPr>
          <p:cNvPr id="4" name="TextBox 3"/>
          <p:cNvSpPr txBox="1"/>
          <p:nvPr/>
        </p:nvSpPr>
        <p:spPr>
          <a:xfrm>
            <a:off x="1187355" y="1910687"/>
            <a:ext cx="4667535" cy="5078313"/>
          </a:xfrm>
          <a:prstGeom prst="rect">
            <a:avLst/>
          </a:prstGeom>
          <a:noFill/>
        </p:spPr>
        <p:txBody>
          <a:bodyPr wrap="square" rtlCol="0">
            <a:spAutoFit/>
          </a:bodyPr>
          <a:lstStyle/>
          <a:p>
            <a:r>
              <a:rPr lang="en-US" dirty="0"/>
              <a:t>#include &lt;</a:t>
            </a:r>
            <a:r>
              <a:rPr lang="en-US" dirty="0" err="1"/>
              <a:t>stdio.h</a:t>
            </a:r>
            <a:r>
              <a:rPr lang="en-US" dirty="0"/>
              <a:t>&gt; </a:t>
            </a:r>
          </a:p>
          <a:p>
            <a:r>
              <a:rPr lang="en-US" dirty="0"/>
              <a:t>#include&lt;</a:t>
            </a:r>
            <a:r>
              <a:rPr lang="en-US" dirty="0" err="1"/>
              <a:t>string.h</a:t>
            </a:r>
            <a:r>
              <a:rPr lang="en-US" dirty="0"/>
              <a:t>&gt; </a:t>
            </a:r>
          </a:p>
          <a:p>
            <a:r>
              <a:rPr lang="en-US" dirty="0"/>
              <a:t>void main()</a:t>
            </a:r>
          </a:p>
          <a:p>
            <a:r>
              <a:rPr lang="en-US" dirty="0"/>
              <a:t>{</a:t>
            </a:r>
          </a:p>
          <a:p>
            <a:r>
              <a:rPr lang="en-US" dirty="0"/>
              <a:t>char str1[100],str2[100];</a:t>
            </a:r>
          </a:p>
          <a:p>
            <a:r>
              <a:rPr lang="en-US" dirty="0"/>
              <a:t> int </a:t>
            </a:r>
            <a:r>
              <a:rPr lang="en-US" dirty="0" err="1"/>
              <a:t>length,result,i,j</a:t>
            </a:r>
            <a:r>
              <a:rPr lang="en-US" dirty="0"/>
              <a:t>;</a:t>
            </a:r>
          </a:p>
          <a:p>
            <a:r>
              <a:rPr lang="en-US" dirty="0"/>
              <a:t> </a:t>
            </a:r>
            <a:r>
              <a:rPr lang="en-US" dirty="0" err="1"/>
              <a:t>printf</a:t>
            </a:r>
            <a:r>
              <a:rPr lang="en-US" dirty="0"/>
              <a:t>("Enter string\n");</a:t>
            </a:r>
          </a:p>
          <a:p>
            <a:r>
              <a:rPr lang="en-US" dirty="0"/>
              <a:t> </a:t>
            </a:r>
            <a:r>
              <a:rPr lang="en-US" dirty="0" err="1"/>
              <a:t>scanf</a:t>
            </a:r>
            <a:r>
              <a:rPr lang="en-US" dirty="0"/>
              <a:t>("%s",str1); </a:t>
            </a:r>
          </a:p>
          <a:p>
            <a:r>
              <a:rPr lang="en-US" dirty="0"/>
              <a:t>length=</a:t>
            </a:r>
            <a:r>
              <a:rPr lang="en-US" dirty="0" err="1"/>
              <a:t>strlen</a:t>
            </a:r>
            <a:r>
              <a:rPr lang="en-US" dirty="0"/>
              <a:t>(str1); </a:t>
            </a:r>
          </a:p>
          <a:p>
            <a:r>
              <a:rPr lang="en-US" dirty="0" err="1"/>
              <a:t>i</a:t>
            </a:r>
            <a:r>
              <a:rPr lang="en-US" dirty="0"/>
              <a:t>=length-1;</a:t>
            </a:r>
          </a:p>
          <a:p>
            <a:r>
              <a:rPr lang="en-US" dirty="0"/>
              <a:t>j=0;</a:t>
            </a:r>
          </a:p>
          <a:p>
            <a:r>
              <a:rPr lang="en-US" dirty="0"/>
              <a:t>while(</a:t>
            </a:r>
            <a:r>
              <a:rPr lang="en-US" dirty="0" err="1"/>
              <a:t>i</a:t>
            </a:r>
            <a:r>
              <a:rPr lang="en-US" dirty="0"/>
              <a:t>&gt;=0)</a:t>
            </a:r>
          </a:p>
          <a:p>
            <a:r>
              <a:rPr lang="en-US" dirty="0"/>
              <a:t>{</a:t>
            </a:r>
          </a:p>
          <a:p>
            <a:r>
              <a:rPr lang="en-US" dirty="0"/>
              <a:t>str2[j]=str1[</a:t>
            </a:r>
            <a:r>
              <a:rPr lang="en-US" dirty="0" err="1"/>
              <a:t>i</a:t>
            </a:r>
            <a:r>
              <a:rPr lang="en-US" dirty="0"/>
              <a:t>]; j++;</a:t>
            </a:r>
          </a:p>
          <a:p>
            <a:r>
              <a:rPr lang="en-US" dirty="0" err="1"/>
              <a:t>i</a:t>
            </a:r>
            <a:r>
              <a:rPr lang="en-US" dirty="0"/>
              <a:t>--;</a:t>
            </a:r>
          </a:p>
          <a:p>
            <a:r>
              <a:rPr lang="en-US" dirty="0"/>
              <a:t>}</a:t>
            </a:r>
          </a:p>
          <a:p>
            <a:r>
              <a:rPr lang="en-US" dirty="0"/>
              <a:t> </a:t>
            </a:r>
          </a:p>
          <a:p>
            <a:endParaRPr lang="en-US" dirty="0"/>
          </a:p>
        </p:txBody>
      </p:sp>
      <p:sp>
        <p:nvSpPr>
          <p:cNvPr id="5" name="TextBox 4"/>
          <p:cNvSpPr txBox="1"/>
          <p:nvPr/>
        </p:nvSpPr>
        <p:spPr>
          <a:xfrm>
            <a:off x="5554639" y="1910687"/>
            <a:ext cx="4148919" cy="2585323"/>
          </a:xfrm>
          <a:prstGeom prst="rect">
            <a:avLst/>
          </a:prstGeom>
          <a:noFill/>
        </p:spPr>
        <p:txBody>
          <a:bodyPr wrap="square" rtlCol="0">
            <a:spAutoFit/>
          </a:bodyPr>
          <a:lstStyle/>
          <a:p>
            <a:r>
              <a:rPr lang="en-US" dirty="0"/>
              <a:t>str2[j]='\0';</a:t>
            </a:r>
          </a:p>
          <a:p>
            <a:r>
              <a:rPr lang="en-US" dirty="0" err="1"/>
              <a:t>printf</a:t>
            </a:r>
            <a:r>
              <a:rPr lang="en-US" dirty="0"/>
              <a:t>("Reversed string is %s\n",str2); </a:t>
            </a:r>
          </a:p>
          <a:p>
            <a:r>
              <a:rPr lang="en-US" dirty="0"/>
              <a:t>result=</a:t>
            </a:r>
            <a:r>
              <a:rPr lang="en-US" dirty="0" err="1"/>
              <a:t>strcmp</a:t>
            </a:r>
            <a:r>
              <a:rPr lang="en-US" dirty="0"/>
              <a:t>(str1,str2);</a:t>
            </a:r>
          </a:p>
          <a:p>
            <a:r>
              <a:rPr lang="en-US" dirty="0"/>
              <a:t>if(result==0) </a:t>
            </a:r>
            <a:r>
              <a:rPr lang="en-US" dirty="0" err="1"/>
              <a:t>printf</a:t>
            </a:r>
            <a:r>
              <a:rPr lang="en-US" dirty="0"/>
              <a:t>("Palindrome");</a:t>
            </a:r>
          </a:p>
          <a:p>
            <a:r>
              <a:rPr lang="en-US" dirty="0"/>
              <a:t>else</a:t>
            </a:r>
          </a:p>
          <a:p>
            <a:r>
              <a:rPr lang="en-US" dirty="0" err="1"/>
              <a:t>printf</a:t>
            </a:r>
            <a:r>
              <a:rPr lang="en-US" dirty="0"/>
              <a:t>("Not Palindrome");</a:t>
            </a:r>
          </a:p>
          <a:p>
            <a:r>
              <a:rPr lang="en-US" dirty="0"/>
              <a:t>}</a:t>
            </a:r>
          </a:p>
          <a:p>
            <a:r>
              <a:rPr lang="en-US" dirty="0"/>
              <a:t> </a:t>
            </a:r>
          </a:p>
          <a:p>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322630523"/>
              </p:ext>
            </p:extLst>
          </p:nvPr>
        </p:nvGraphicFramePr>
        <p:xfrm>
          <a:off x="6139976" y="4230806"/>
          <a:ext cx="3686412" cy="1310185"/>
        </p:xfrm>
        <a:graphic>
          <a:graphicData uri="http://schemas.openxmlformats.org/drawingml/2006/table">
            <a:tbl>
              <a:tblPr firstRow="1" bandRow="1">
                <a:tableStyleId>{5C22544A-7EE6-4342-B048-85BDC9FD1C3A}</a:tableStyleId>
              </a:tblPr>
              <a:tblGrid>
                <a:gridCol w="3686412">
                  <a:extLst>
                    <a:ext uri="{9D8B030D-6E8A-4147-A177-3AD203B41FA5}">
                      <a16:colId xmlns:a16="http://schemas.microsoft.com/office/drawing/2014/main" val="20000"/>
                    </a:ext>
                  </a:extLst>
                </a:gridCol>
              </a:tblGrid>
              <a:tr h="1310185">
                <a:tc>
                  <a:txBody>
                    <a:bodyPr/>
                    <a:lstStyle/>
                    <a:p>
                      <a:r>
                        <a:rPr lang="en-US" sz="1800" b="1" kern="1200" dirty="0">
                          <a:solidFill>
                            <a:schemeClr val="lt1"/>
                          </a:solidFill>
                          <a:effectLst/>
                          <a:latin typeface="+mn-lt"/>
                          <a:ea typeface="+mn-ea"/>
                          <a:cs typeface="+mn-cs"/>
                        </a:rPr>
                        <a:t>Output:</a:t>
                      </a:r>
                    </a:p>
                    <a:p>
                      <a:r>
                        <a:rPr lang="en-US" sz="1800" b="1" kern="1200" dirty="0">
                          <a:solidFill>
                            <a:schemeClr val="lt1"/>
                          </a:solidFill>
                          <a:effectLst/>
                          <a:latin typeface="+mn-lt"/>
                          <a:ea typeface="+mn-ea"/>
                          <a:cs typeface="+mn-cs"/>
                        </a:rPr>
                        <a:t>Enter string wow</a:t>
                      </a:r>
                    </a:p>
                    <a:p>
                      <a:r>
                        <a:rPr lang="en-US" sz="1800" b="1" kern="1200" dirty="0">
                          <a:solidFill>
                            <a:schemeClr val="lt1"/>
                          </a:solidFill>
                          <a:effectLst/>
                          <a:latin typeface="+mn-lt"/>
                          <a:ea typeface="+mn-ea"/>
                          <a:cs typeface="+mn-cs"/>
                        </a:rPr>
                        <a:t>Reversed string is wow</a:t>
                      </a:r>
                    </a:p>
                    <a:p>
                      <a:endParaRPr lang="en-US" dirty="0">
                        <a:solidFill>
                          <a:schemeClr val="bg1"/>
                        </a:solidFill>
                      </a:endParaRPr>
                    </a:p>
                  </a:txBody>
                  <a:tcPr>
                    <a:solidFill>
                      <a:schemeClr val="tx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55953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Other String Functions</a:t>
            </a:r>
          </a:p>
        </p:txBody>
      </p:sp>
      <p:sp>
        <p:nvSpPr>
          <p:cNvPr id="3" name="Content Placeholder 2"/>
          <p:cNvSpPr>
            <a:spLocks noGrp="1"/>
          </p:cNvSpPr>
          <p:nvPr>
            <p:ph idx="1"/>
          </p:nvPr>
        </p:nvSpPr>
        <p:spPr>
          <a:xfrm>
            <a:off x="838200" y="1435856"/>
            <a:ext cx="10515600" cy="5121085"/>
          </a:xfrm>
        </p:spPr>
        <p:txBody>
          <a:bodyPr>
            <a:normAutofit/>
          </a:bodyPr>
          <a:lstStyle/>
          <a:p>
            <a:pPr marL="0" lvl="0" indent="0">
              <a:buNone/>
            </a:pPr>
            <a:r>
              <a:rPr lang="en-US" sz="2000" b="1" dirty="0">
                <a:latin typeface="Times New Roman" panose="02020603050405020304" pitchFamily="18" charset="0"/>
                <a:cs typeface="Times New Roman" panose="02020603050405020304" pitchFamily="18" charset="0"/>
              </a:rPr>
              <a:t>1. </a:t>
            </a:r>
            <a:r>
              <a:rPr lang="en-US" sz="2000" b="1" dirty="0" err="1">
                <a:latin typeface="Times New Roman" panose="02020603050405020304" pitchFamily="18" charset="0"/>
                <a:cs typeface="Times New Roman" panose="02020603050405020304" pitchFamily="18" charset="0"/>
              </a:rPr>
              <a:t>strncpy</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function allows us to copy first 'n' character from one string to another. Syntax: </a:t>
            </a:r>
            <a:r>
              <a:rPr lang="en-US" sz="2000" b="1" dirty="0" err="1">
                <a:latin typeface="Times New Roman" panose="02020603050405020304" pitchFamily="18" charset="0"/>
                <a:cs typeface="Times New Roman" panose="02020603050405020304" pitchFamily="18" charset="0"/>
              </a:rPr>
              <a:t>strncpy</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dest,source,n</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strncpy</a:t>
            </a:r>
            <a:r>
              <a:rPr lang="en-US" sz="2000" dirty="0">
                <a:latin typeface="Times New Roman" panose="02020603050405020304" pitchFamily="18" charset="0"/>
                <a:cs typeface="Times New Roman" panose="02020603050405020304" pitchFamily="18" charset="0"/>
              </a:rPr>
              <a:t>(s1,s2,5);</a:t>
            </a:r>
          </a:p>
          <a:p>
            <a:pPr marL="0" indent="0">
              <a:buNone/>
            </a:pPr>
            <a:r>
              <a:rPr lang="en-US" sz="2000" dirty="0">
                <a:latin typeface="Times New Roman" panose="02020603050405020304" pitchFamily="18" charset="0"/>
                <a:cs typeface="Times New Roman" panose="02020603050405020304" pitchFamily="18" charset="0"/>
              </a:rPr>
              <a:t>This copies first 5 characters from s2 to s1.</a:t>
            </a:r>
          </a:p>
          <a:p>
            <a:pPr marL="0" indent="0">
              <a:buNone/>
            </a:pPr>
            <a:endParaRPr lang="en-US" dirty="0"/>
          </a:p>
        </p:txBody>
      </p:sp>
      <p:sp>
        <p:nvSpPr>
          <p:cNvPr id="4" name="TextBox 3"/>
          <p:cNvSpPr txBox="1"/>
          <p:nvPr/>
        </p:nvSpPr>
        <p:spPr>
          <a:xfrm>
            <a:off x="6878472" y="2156346"/>
            <a:ext cx="4475328" cy="3970318"/>
          </a:xfrm>
          <a:prstGeom prst="rect">
            <a:avLst/>
          </a:prstGeom>
          <a:noFill/>
        </p:spPr>
        <p:txBody>
          <a:bodyPr wrap="square" rtlCol="0">
            <a:spAutoFit/>
          </a:bodyPr>
          <a:lstStyle/>
          <a:p>
            <a:r>
              <a:rPr lang="en-US" dirty="0"/>
              <a:t>#include&lt;</a:t>
            </a:r>
            <a:r>
              <a:rPr lang="en-US" dirty="0" err="1"/>
              <a:t>stdio.h</a:t>
            </a:r>
            <a:r>
              <a:rPr lang="en-US" dirty="0"/>
              <a:t>&gt;</a:t>
            </a:r>
          </a:p>
          <a:p>
            <a:r>
              <a:rPr lang="en-US" dirty="0"/>
              <a:t> #include&lt;</a:t>
            </a:r>
            <a:r>
              <a:rPr lang="en-US" dirty="0" err="1"/>
              <a:t>string.h</a:t>
            </a:r>
            <a:r>
              <a:rPr lang="en-US" dirty="0"/>
              <a:t>&gt; </a:t>
            </a:r>
          </a:p>
          <a:p>
            <a:r>
              <a:rPr lang="en-US" dirty="0"/>
              <a:t>void main()</a:t>
            </a:r>
          </a:p>
          <a:p>
            <a:r>
              <a:rPr lang="en-US" dirty="0"/>
              <a:t>{</a:t>
            </a:r>
          </a:p>
          <a:p>
            <a:r>
              <a:rPr lang="en-US" dirty="0"/>
              <a:t>char </a:t>
            </a:r>
            <a:r>
              <a:rPr lang="en-US" dirty="0" err="1"/>
              <a:t>src</a:t>
            </a:r>
            <a:r>
              <a:rPr lang="en-US" dirty="0"/>
              <a:t>[15], </a:t>
            </a:r>
            <a:r>
              <a:rPr lang="en-US" dirty="0" err="1"/>
              <a:t>dest</a:t>
            </a:r>
            <a:r>
              <a:rPr lang="en-US" dirty="0"/>
              <a:t>[15]; </a:t>
            </a:r>
          </a:p>
          <a:p>
            <a:r>
              <a:rPr lang="en-US" dirty="0"/>
              <a:t>int n;</a:t>
            </a:r>
          </a:p>
          <a:p>
            <a:r>
              <a:rPr lang="en-US" dirty="0" err="1"/>
              <a:t>printf</a:t>
            </a:r>
            <a:r>
              <a:rPr lang="en-US" dirty="0"/>
              <a:t>(</a:t>
            </a:r>
            <a:r>
              <a:rPr lang="en-US" b="1" dirty="0"/>
              <a:t>“</a:t>
            </a:r>
            <a:r>
              <a:rPr lang="en-US" dirty="0"/>
              <a:t>Enter the source string\n</a:t>
            </a:r>
            <a:r>
              <a:rPr lang="en-US" b="1" dirty="0"/>
              <a:t>”</a:t>
            </a:r>
            <a:r>
              <a:rPr lang="en-US" dirty="0"/>
              <a:t>); </a:t>
            </a:r>
          </a:p>
          <a:p>
            <a:r>
              <a:rPr lang="en-US" dirty="0"/>
              <a:t>gets(</a:t>
            </a:r>
            <a:r>
              <a:rPr lang="en-US" dirty="0" err="1"/>
              <a:t>src</a:t>
            </a:r>
            <a:r>
              <a:rPr lang="en-US" dirty="0"/>
              <a:t>);</a:t>
            </a:r>
          </a:p>
          <a:p>
            <a:r>
              <a:rPr lang="en-US" dirty="0" err="1"/>
              <a:t>printf</a:t>
            </a:r>
            <a:r>
              <a:rPr lang="en-US" dirty="0"/>
              <a:t>(</a:t>
            </a:r>
            <a:r>
              <a:rPr lang="en-US" b="1" dirty="0"/>
              <a:t>“</a:t>
            </a:r>
            <a:r>
              <a:rPr lang="en-US" dirty="0"/>
              <a:t>Enter n</a:t>
            </a:r>
            <a:r>
              <a:rPr lang="en-US" b="1" dirty="0"/>
              <a:t>”</a:t>
            </a:r>
            <a:r>
              <a:rPr lang="en-US" dirty="0"/>
              <a:t>); </a:t>
            </a:r>
          </a:p>
          <a:p>
            <a:r>
              <a:rPr lang="en-US" dirty="0" err="1"/>
              <a:t>scanf</a:t>
            </a:r>
            <a:r>
              <a:rPr lang="en-US" dirty="0"/>
              <a:t>(</a:t>
            </a:r>
            <a:r>
              <a:rPr lang="en-US" b="1" dirty="0"/>
              <a:t>“</a:t>
            </a:r>
            <a:r>
              <a:rPr lang="en-US" dirty="0"/>
              <a:t>%</a:t>
            </a:r>
            <a:r>
              <a:rPr lang="en-US" dirty="0" err="1"/>
              <a:t>d</a:t>
            </a:r>
            <a:r>
              <a:rPr lang="en-US" b="1" dirty="0" err="1"/>
              <a:t>”</a:t>
            </a:r>
            <a:r>
              <a:rPr lang="en-US" dirty="0" err="1"/>
              <a:t>,&amp;n</a:t>
            </a:r>
            <a:r>
              <a:rPr lang="en-US" dirty="0"/>
              <a:t>); </a:t>
            </a:r>
          </a:p>
          <a:p>
            <a:r>
              <a:rPr lang="en-US" dirty="0" err="1"/>
              <a:t>strncpy</a:t>
            </a:r>
            <a:r>
              <a:rPr lang="en-US" dirty="0"/>
              <a:t>(</a:t>
            </a:r>
            <a:r>
              <a:rPr lang="en-US" dirty="0" err="1"/>
              <a:t>dest,src,n</a:t>
            </a:r>
            <a:r>
              <a:rPr lang="en-US" dirty="0"/>
              <a:t>);</a:t>
            </a:r>
          </a:p>
          <a:p>
            <a:r>
              <a:rPr lang="en-US" dirty="0" err="1"/>
              <a:t>printf</a:t>
            </a:r>
            <a:r>
              <a:rPr lang="en-US" dirty="0"/>
              <a:t>(</a:t>
            </a:r>
            <a:r>
              <a:rPr lang="en-US" b="1" dirty="0"/>
              <a:t>“</a:t>
            </a:r>
            <a:r>
              <a:rPr lang="en-US" dirty="0"/>
              <a:t>\n The copied string is \n</a:t>
            </a:r>
            <a:r>
              <a:rPr lang="en-US" b="1" dirty="0"/>
              <a:t>”</a:t>
            </a:r>
            <a:r>
              <a:rPr lang="en-US" dirty="0"/>
              <a:t>); puts(</a:t>
            </a:r>
            <a:r>
              <a:rPr lang="en-US" dirty="0" err="1"/>
              <a:t>dest</a:t>
            </a:r>
            <a:r>
              <a:rPr lang="en-US" dirty="0"/>
              <a:t>);</a:t>
            </a:r>
          </a:p>
          <a:p>
            <a:r>
              <a:rPr lang="en-US" dirty="0"/>
              <a:t>}</a:t>
            </a:r>
          </a:p>
        </p:txBody>
      </p:sp>
      <p:sp>
        <p:nvSpPr>
          <p:cNvPr id="6" name="TextBox 5"/>
          <p:cNvSpPr txBox="1"/>
          <p:nvPr/>
        </p:nvSpPr>
        <p:spPr>
          <a:xfrm>
            <a:off x="1460310" y="3916907"/>
            <a:ext cx="3507475" cy="1477328"/>
          </a:xfrm>
          <a:prstGeom prst="rect">
            <a:avLst/>
          </a:prstGeom>
          <a:noFill/>
        </p:spPr>
        <p:txBody>
          <a:bodyPr wrap="square" rtlCol="0">
            <a:spAutoFit/>
          </a:bodyPr>
          <a:lstStyle/>
          <a:p>
            <a:r>
              <a:rPr lang="en-US" b="1" u="heavy" dirty="0"/>
              <a:t>OUTPUT</a:t>
            </a:r>
            <a:endParaRPr lang="en-US" dirty="0"/>
          </a:p>
          <a:p>
            <a:r>
              <a:rPr lang="en-US" dirty="0"/>
              <a:t>Enter the source string COMPUTER</a:t>
            </a:r>
          </a:p>
          <a:p>
            <a:r>
              <a:rPr lang="en-US" dirty="0"/>
              <a:t>Enter n 3</a:t>
            </a:r>
          </a:p>
          <a:p>
            <a:r>
              <a:rPr lang="en-US" dirty="0"/>
              <a:t>The copied string is</a:t>
            </a:r>
          </a:p>
          <a:p>
            <a:r>
              <a:rPr lang="en-US" dirty="0"/>
              <a:t>COM</a:t>
            </a:r>
          </a:p>
        </p:txBody>
      </p:sp>
    </p:spTree>
    <p:extLst>
      <p:ext uri="{BB962C8B-B14F-4D97-AF65-F5344CB8AC3E}">
        <p14:creationId xmlns:p14="http://schemas.microsoft.com/office/powerpoint/2010/main" val="37841006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6603"/>
            <a:ext cx="10515600" cy="5890360"/>
          </a:xfrm>
        </p:spPr>
        <p:txBody>
          <a:bodyPr/>
          <a:lstStyle/>
          <a:p>
            <a:pPr marL="0" lvl="0" indent="0">
              <a:buNone/>
            </a:pPr>
            <a:r>
              <a:rPr lang="en-US" dirty="0"/>
              <a:t>2. </a:t>
            </a:r>
            <a:r>
              <a:rPr lang="en-US" b="1" dirty="0" err="1"/>
              <a:t>strncmp</a:t>
            </a:r>
            <a:r>
              <a:rPr lang="en-US" b="1" dirty="0"/>
              <a:t>( )</a:t>
            </a:r>
          </a:p>
          <a:p>
            <a:r>
              <a:rPr lang="en-US" dirty="0"/>
              <a:t>This function allows us to compare first 'n' characters from one string with those in another. </a:t>
            </a:r>
          </a:p>
          <a:p>
            <a:r>
              <a:rPr lang="en-US" dirty="0"/>
              <a:t>Syntax: </a:t>
            </a:r>
            <a:r>
              <a:rPr lang="en-US" b="1" dirty="0"/>
              <a:t>result= </a:t>
            </a:r>
            <a:r>
              <a:rPr lang="en-US" b="1" dirty="0" err="1"/>
              <a:t>strncmp</a:t>
            </a:r>
            <a:r>
              <a:rPr lang="en-US" b="1" dirty="0"/>
              <a:t>(string1, string2, n)</a:t>
            </a:r>
            <a:r>
              <a:rPr lang="en-US" dirty="0"/>
              <a:t>;</a:t>
            </a:r>
          </a:p>
          <a:p>
            <a:r>
              <a:rPr lang="en-US" dirty="0"/>
              <a:t>result=0 if </a:t>
            </a:r>
            <a:r>
              <a:rPr lang="en-US" dirty="0" err="1"/>
              <a:t>if</a:t>
            </a:r>
            <a:r>
              <a:rPr lang="en-US" dirty="0"/>
              <a:t> first n chars of strings are equal. </a:t>
            </a:r>
          </a:p>
          <a:p>
            <a:r>
              <a:rPr lang="en-US" dirty="0"/>
              <a:t>result&gt;0 if string1&gt;string2</a:t>
            </a:r>
          </a:p>
          <a:p>
            <a:r>
              <a:rPr lang="en-US" dirty="0"/>
              <a:t>result&lt;0 if string1&lt;string2 </a:t>
            </a:r>
          </a:p>
          <a:p>
            <a:r>
              <a:rPr lang="en-US" dirty="0" err="1"/>
              <a:t>Eg:strncmp</a:t>
            </a:r>
            <a:r>
              <a:rPr lang="en-US" dirty="0"/>
              <a:t>(s1,s2,3);</a:t>
            </a:r>
          </a:p>
          <a:p>
            <a:endParaRPr lang="en-US" dirty="0"/>
          </a:p>
        </p:txBody>
      </p:sp>
      <p:sp>
        <p:nvSpPr>
          <p:cNvPr id="4" name="TextBox 3"/>
          <p:cNvSpPr txBox="1"/>
          <p:nvPr/>
        </p:nvSpPr>
        <p:spPr>
          <a:xfrm>
            <a:off x="7642746" y="2743200"/>
            <a:ext cx="4235355" cy="3693319"/>
          </a:xfrm>
          <a:prstGeom prst="rect">
            <a:avLst/>
          </a:prstGeom>
          <a:noFill/>
        </p:spPr>
        <p:txBody>
          <a:bodyPr wrap="square" rtlCol="0">
            <a:spAutoFit/>
          </a:bodyPr>
          <a:lstStyle/>
          <a:p>
            <a:r>
              <a:rPr lang="en-US" dirty="0"/>
              <a:t>#include&lt;</a:t>
            </a:r>
            <a:r>
              <a:rPr lang="en-US" dirty="0" err="1"/>
              <a:t>stdio.h</a:t>
            </a:r>
            <a:r>
              <a:rPr lang="en-US" dirty="0"/>
              <a:t>&gt; #include&lt;</a:t>
            </a:r>
            <a:r>
              <a:rPr lang="en-US" dirty="0" err="1"/>
              <a:t>string.h</a:t>
            </a:r>
            <a:r>
              <a:rPr lang="en-US" dirty="0"/>
              <a:t>&gt;</a:t>
            </a:r>
          </a:p>
          <a:p>
            <a:r>
              <a:rPr lang="en-US" dirty="0"/>
              <a:t>void main()</a:t>
            </a:r>
          </a:p>
          <a:p>
            <a:r>
              <a:rPr lang="en-US" dirty="0"/>
              <a:t>{</a:t>
            </a:r>
          </a:p>
          <a:p>
            <a:r>
              <a:rPr lang="en-US" dirty="0"/>
              <a:t>char S1[15],char S2[15]; </a:t>
            </a:r>
          </a:p>
          <a:p>
            <a:r>
              <a:rPr lang="en-US" dirty="0" err="1"/>
              <a:t>printf</a:t>
            </a:r>
            <a:r>
              <a:rPr lang="en-US" dirty="0"/>
              <a:t>(</a:t>
            </a:r>
            <a:r>
              <a:rPr lang="en-US" b="1" dirty="0"/>
              <a:t>“</a:t>
            </a:r>
            <a:r>
              <a:rPr lang="en-US" dirty="0"/>
              <a:t>Enter the string 1\n</a:t>
            </a:r>
            <a:r>
              <a:rPr lang="en-US" b="1" dirty="0"/>
              <a:t>”</a:t>
            </a:r>
            <a:r>
              <a:rPr lang="en-US" dirty="0"/>
              <a:t>); </a:t>
            </a:r>
          </a:p>
          <a:p>
            <a:r>
              <a:rPr lang="en-US" dirty="0"/>
              <a:t>gets(S1);</a:t>
            </a:r>
          </a:p>
          <a:p>
            <a:r>
              <a:rPr lang="en-US" dirty="0" err="1"/>
              <a:t>printf</a:t>
            </a:r>
            <a:r>
              <a:rPr lang="en-US" dirty="0"/>
              <a:t>(</a:t>
            </a:r>
            <a:r>
              <a:rPr lang="en-US" b="1" dirty="0"/>
              <a:t>“</a:t>
            </a:r>
            <a:r>
              <a:rPr lang="en-US" dirty="0"/>
              <a:t>Enter the string 2\n</a:t>
            </a:r>
            <a:r>
              <a:rPr lang="en-US" b="1" dirty="0"/>
              <a:t>”</a:t>
            </a:r>
            <a:r>
              <a:rPr lang="en-US" dirty="0"/>
              <a:t>); </a:t>
            </a:r>
          </a:p>
          <a:p>
            <a:r>
              <a:rPr lang="en-US" dirty="0"/>
              <a:t>gets(S2);</a:t>
            </a:r>
          </a:p>
          <a:p>
            <a:r>
              <a:rPr lang="en-US" dirty="0" err="1"/>
              <a:t>strcat</a:t>
            </a:r>
            <a:r>
              <a:rPr lang="en-US" dirty="0"/>
              <a:t>(S1,S2,3);</a:t>
            </a:r>
          </a:p>
          <a:p>
            <a:r>
              <a:rPr lang="en-US" dirty="0" err="1"/>
              <a:t>printf</a:t>
            </a:r>
            <a:r>
              <a:rPr lang="en-US" dirty="0"/>
              <a:t>(</a:t>
            </a:r>
            <a:r>
              <a:rPr lang="en-US" b="1" dirty="0"/>
              <a:t>“</a:t>
            </a:r>
            <a:r>
              <a:rPr lang="en-US" dirty="0"/>
              <a:t>\n The Concatenated string is \n</a:t>
            </a:r>
            <a:r>
              <a:rPr lang="en-US" b="1" dirty="0"/>
              <a:t>”</a:t>
            </a:r>
            <a:r>
              <a:rPr lang="en-US" dirty="0"/>
              <a:t>);</a:t>
            </a:r>
          </a:p>
          <a:p>
            <a:r>
              <a:rPr lang="en-US" dirty="0"/>
              <a:t>puts(S1);</a:t>
            </a:r>
          </a:p>
          <a:p>
            <a:r>
              <a:rPr lang="en-US" dirty="0"/>
              <a:t>}</a:t>
            </a:r>
          </a:p>
          <a:p>
            <a:endParaRPr lang="en-US" dirty="0"/>
          </a:p>
        </p:txBody>
      </p:sp>
      <p:sp>
        <p:nvSpPr>
          <p:cNvPr id="5" name="TextBox 4"/>
          <p:cNvSpPr txBox="1"/>
          <p:nvPr/>
        </p:nvSpPr>
        <p:spPr>
          <a:xfrm>
            <a:off x="4626591" y="3998794"/>
            <a:ext cx="2374710" cy="2308324"/>
          </a:xfrm>
          <a:prstGeom prst="rect">
            <a:avLst/>
          </a:prstGeom>
          <a:noFill/>
        </p:spPr>
        <p:txBody>
          <a:bodyPr wrap="square" rtlCol="0">
            <a:spAutoFit/>
          </a:bodyPr>
          <a:lstStyle/>
          <a:p>
            <a:r>
              <a:rPr lang="en-US" b="1" u="heavy" dirty="0"/>
              <a:t>OUTPUT </a:t>
            </a:r>
            <a:endParaRPr lang="en-US" dirty="0"/>
          </a:p>
          <a:p>
            <a:r>
              <a:rPr lang="en-US" dirty="0"/>
              <a:t>Enter the string1 HELLO</a:t>
            </a:r>
          </a:p>
          <a:p>
            <a:r>
              <a:rPr lang="en-US" dirty="0"/>
              <a:t>Enter the string 2 ALL</a:t>
            </a:r>
          </a:p>
          <a:p>
            <a:r>
              <a:rPr lang="en-US" dirty="0"/>
              <a:t>The Concatenated string is</a:t>
            </a:r>
          </a:p>
          <a:p>
            <a:r>
              <a:rPr lang="en-US" dirty="0"/>
              <a:t>HELLOALL</a:t>
            </a:r>
          </a:p>
          <a:p>
            <a:endParaRPr lang="en-US" dirty="0"/>
          </a:p>
        </p:txBody>
      </p:sp>
    </p:spTree>
    <p:extLst>
      <p:ext uri="{BB962C8B-B14F-4D97-AF65-F5344CB8AC3E}">
        <p14:creationId xmlns:p14="http://schemas.microsoft.com/office/powerpoint/2010/main" val="16699615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6313" y="204716"/>
            <a:ext cx="10515600" cy="5849417"/>
          </a:xfrm>
        </p:spPr>
        <p:txBody>
          <a:bodyPr/>
          <a:lstStyle/>
          <a:p>
            <a:pPr marL="0" lvl="0" indent="0">
              <a:buNone/>
            </a:pPr>
            <a:r>
              <a:rPr lang="en-US" dirty="0"/>
              <a:t>3. </a:t>
            </a:r>
            <a:r>
              <a:rPr lang="en-US" b="1" dirty="0" err="1"/>
              <a:t>strncat</a:t>
            </a:r>
            <a:r>
              <a:rPr lang="en-US" b="1" dirty="0"/>
              <a:t>()</a:t>
            </a:r>
          </a:p>
          <a:p>
            <a:r>
              <a:rPr lang="en-US" dirty="0"/>
              <a:t>This function concatenates first n characters of string2 to string1. Syntax: </a:t>
            </a:r>
            <a:r>
              <a:rPr lang="en-US" dirty="0" err="1"/>
              <a:t>strncat</a:t>
            </a:r>
            <a:r>
              <a:rPr lang="en-US" dirty="0"/>
              <a:t>(string1,string2,n);</a:t>
            </a:r>
          </a:p>
          <a:p>
            <a:r>
              <a:rPr lang="en-US" dirty="0" err="1"/>
              <a:t>Eg:strncat</a:t>
            </a:r>
            <a:r>
              <a:rPr lang="en-US" dirty="0"/>
              <a:t>(s1,s2,3);</a:t>
            </a:r>
          </a:p>
          <a:p>
            <a:pPr marL="0" indent="0">
              <a:buNone/>
            </a:pPr>
            <a:endParaRPr lang="en-US" dirty="0"/>
          </a:p>
          <a:p>
            <a:pPr marL="0" indent="0">
              <a:buNone/>
            </a:pPr>
            <a:endParaRPr lang="en-US" dirty="0"/>
          </a:p>
        </p:txBody>
      </p:sp>
      <p:sp>
        <p:nvSpPr>
          <p:cNvPr id="4" name="TextBox 3"/>
          <p:cNvSpPr txBox="1"/>
          <p:nvPr/>
        </p:nvSpPr>
        <p:spPr>
          <a:xfrm>
            <a:off x="1187355" y="2129050"/>
            <a:ext cx="4585648" cy="4524315"/>
          </a:xfrm>
          <a:prstGeom prst="rect">
            <a:avLst/>
          </a:prstGeom>
          <a:noFill/>
        </p:spPr>
        <p:txBody>
          <a:bodyPr wrap="square" rtlCol="0">
            <a:spAutoFit/>
          </a:bodyPr>
          <a:lstStyle/>
          <a:p>
            <a:r>
              <a:rPr lang="en-US" dirty="0"/>
              <a:t>#include&lt;</a:t>
            </a:r>
            <a:r>
              <a:rPr lang="en-US" dirty="0" err="1"/>
              <a:t>stdio.h</a:t>
            </a:r>
            <a:r>
              <a:rPr lang="en-US" dirty="0"/>
              <a:t>&gt; </a:t>
            </a:r>
          </a:p>
          <a:p>
            <a:r>
              <a:rPr lang="en-US" dirty="0"/>
              <a:t>#include&lt;</a:t>
            </a:r>
            <a:r>
              <a:rPr lang="en-US" dirty="0" err="1"/>
              <a:t>string.h</a:t>
            </a:r>
            <a:r>
              <a:rPr lang="en-US" dirty="0"/>
              <a:t>&gt;</a:t>
            </a:r>
          </a:p>
          <a:p>
            <a:r>
              <a:rPr lang="en-US" dirty="0"/>
              <a:t>void main()</a:t>
            </a:r>
          </a:p>
          <a:p>
            <a:r>
              <a:rPr lang="en-US" dirty="0"/>
              <a:t>{</a:t>
            </a:r>
          </a:p>
          <a:p>
            <a:r>
              <a:rPr lang="en-US" dirty="0"/>
              <a:t>char S1[15],char S2[15]; </a:t>
            </a:r>
          </a:p>
          <a:p>
            <a:r>
              <a:rPr lang="en-US" dirty="0"/>
              <a:t>int n;</a:t>
            </a:r>
          </a:p>
          <a:p>
            <a:r>
              <a:rPr lang="en-US" dirty="0" err="1"/>
              <a:t>printf</a:t>
            </a:r>
            <a:r>
              <a:rPr lang="en-US" dirty="0"/>
              <a:t>(</a:t>
            </a:r>
            <a:r>
              <a:rPr lang="en-US" b="1" dirty="0"/>
              <a:t>“</a:t>
            </a:r>
            <a:r>
              <a:rPr lang="en-US" dirty="0"/>
              <a:t>Enter the string 1\n</a:t>
            </a:r>
            <a:r>
              <a:rPr lang="en-US" b="1" dirty="0"/>
              <a:t>”</a:t>
            </a:r>
            <a:r>
              <a:rPr lang="en-US" dirty="0"/>
              <a:t>); </a:t>
            </a:r>
          </a:p>
          <a:p>
            <a:r>
              <a:rPr lang="en-US" dirty="0"/>
              <a:t>gets(S1);</a:t>
            </a:r>
          </a:p>
          <a:p>
            <a:r>
              <a:rPr lang="en-US" dirty="0" err="1"/>
              <a:t>printf</a:t>
            </a:r>
            <a:r>
              <a:rPr lang="en-US" dirty="0"/>
              <a:t>(</a:t>
            </a:r>
            <a:r>
              <a:rPr lang="en-US" b="1" dirty="0"/>
              <a:t>“</a:t>
            </a:r>
            <a:r>
              <a:rPr lang="en-US" dirty="0"/>
              <a:t>Enter the string 2\n</a:t>
            </a:r>
            <a:r>
              <a:rPr lang="en-US" b="1" dirty="0"/>
              <a:t>”</a:t>
            </a:r>
            <a:r>
              <a:rPr lang="en-US" dirty="0"/>
              <a:t>);</a:t>
            </a:r>
          </a:p>
          <a:p>
            <a:r>
              <a:rPr lang="en-US" dirty="0"/>
              <a:t> gets(S2);</a:t>
            </a:r>
          </a:p>
          <a:p>
            <a:r>
              <a:rPr lang="en-US" dirty="0" err="1"/>
              <a:t>printf</a:t>
            </a:r>
            <a:r>
              <a:rPr lang="en-US" dirty="0"/>
              <a:t>(</a:t>
            </a:r>
            <a:r>
              <a:rPr lang="en-US" b="1" dirty="0"/>
              <a:t>“</a:t>
            </a:r>
            <a:r>
              <a:rPr lang="en-US" dirty="0"/>
              <a:t>Enter n</a:t>
            </a:r>
            <a:r>
              <a:rPr lang="en-US" b="1" dirty="0"/>
              <a:t>”</a:t>
            </a:r>
            <a:r>
              <a:rPr lang="en-US" dirty="0"/>
              <a:t>);</a:t>
            </a:r>
          </a:p>
          <a:p>
            <a:r>
              <a:rPr lang="en-US" dirty="0"/>
              <a:t> </a:t>
            </a:r>
            <a:r>
              <a:rPr lang="en-US" dirty="0" err="1"/>
              <a:t>scanf</a:t>
            </a:r>
            <a:r>
              <a:rPr lang="en-US" dirty="0"/>
              <a:t>(</a:t>
            </a:r>
            <a:r>
              <a:rPr lang="en-US" b="1" dirty="0"/>
              <a:t>“</a:t>
            </a:r>
            <a:r>
              <a:rPr lang="en-US" dirty="0"/>
              <a:t>%</a:t>
            </a:r>
            <a:r>
              <a:rPr lang="en-US" dirty="0" err="1"/>
              <a:t>d</a:t>
            </a:r>
            <a:r>
              <a:rPr lang="en-US" b="1" dirty="0" err="1"/>
              <a:t>”</a:t>
            </a:r>
            <a:r>
              <a:rPr lang="en-US" dirty="0" err="1"/>
              <a:t>,&amp;n</a:t>
            </a:r>
            <a:r>
              <a:rPr lang="en-US" dirty="0"/>
              <a:t>); </a:t>
            </a:r>
          </a:p>
          <a:p>
            <a:r>
              <a:rPr lang="en-US" dirty="0" err="1"/>
              <a:t>strncat</a:t>
            </a:r>
            <a:r>
              <a:rPr lang="en-US" dirty="0"/>
              <a:t>(S1,S2,n);</a:t>
            </a:r>
          </a:p>
          <a:p>
            <a:r>
              <a:rPr lang="en-US" dirty="0" err="1"/>
              <a:t>printf</a:t>
            </a:r>
            <a:r>
              <a:rPr lang="en-US" dirty="0"/>
              <a:t>(</a:t>
            </a:r>
            <a:r>
              <a:rPr lang="en-US" b="1" dirty="0"/>
              <a:t>“</a:t>
            </a:r>
            <a:r>
              <a:rPr lang="en-US" dirty="0"/>
              <a:t>\n The Concatenated string is \n</a:t>
            </a:r>
            <a:r>
              <a:rPr lang="en-US" b="1" dirty="0"/>
              <a:t>”</a:t>
            </a:r>
            <a:r>
              <a:rPr lang="en-US" dirty="0"/>
              <a:t>); </a:t>
            </a:r>
          </a:p>
          <a:p>
            <a:r>
              <a:rPr lang="en-US" dirty="0"/>
              <a:t>puts(S1);}</a:t>
            </a:r>
          </a:p>
          <a:p>
            <a:endParaRPr lang="en-US" dirty="0"/>
          </a:p>
        </p:txBody>
      </p:sp>
      <p:sp>
        <p:nvSpPr>
          <p:cNvPr id="5" name="TextBox 4"/>
          <p:cNvSpPr txBox="1"/>
          <p:nvPr/>
        </p:nvSpPr>
        <p:spPr>
          <a:xfrm>
            <a:off x="6864823" y="2265528"/>
            <a:ext cx="3616657" cy="1754326"/>
          </a:xfrm>
          <a:prstGeom prst="rect">
            <a:avLst/>
          </a:prstGeom>
          <a:noFill/>
        </p:spPr>
        <p:txBody>
          <a:bodyPr wrap="square" rtlCol="0">
            <a:spAutoFit/>
          </a:bodyPr>
          <a:lstStyle/>
          <a:p>
            <a:r>
              <a:rPr lang="en-US" b="1" u="heavy" dirty="0"/>
              <a:t>OUTPUT</a:t>
            </a:r>
            <a:endParaRPr lang="en-US" dirty="0"/>
          </a:p>
          <a:p>
            <a:r>
              <a:rPr lang="en-US" dirty="0"/>
              <a:t>Enter the string1 HELLO</a:t>
            </a:r>
          </a:p>
          <a:p>
            <a:r>
              <a:rPr lang="en-US" dirty="0"/>
              <a:t>Enter the string 2 MN</a:t>
            </a:r>
          </a:p>
          <a:p>
            <a:r>
              <a:rPr lang="en-US" dirty="0"/>
              <a:t>Enter n 2</a:t>
            </a:r>
          </a:p>
          <a:p>
            <a:r>
              <a:rPr lang="en-US" dirty="0"/>
              <a:t>The Concatenated string is</a:t>
            </a:r>
          </a:p>
          <a:p>
            <a:r>
              <a:rPr lang="en-US" dirty="0"/>
              <a:t>HELLOMN</a:t>
            </a:r>
          </a:p>
        </p:txBody>
      </p:sp>
    </p:spTree>
    <p:extLst>
      <p:ext uri="{BB962C8B-B14F-4D97-AF65-F5344CB8AC3E}">
        <p14:creationId xmlns:p14="http://schemas.microsoft.com/office/powerpoint/2010/main" val="31226675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3483" y="899401"/>
            <a:ext cx="10515600" cy="5958599"/>
          </a:xfrm>
        </p:spPr>
        <p:txBody>
          <a:bodyPr/>
          <a:lstStyle/>
          <a:p>
            <a:pPr marL="0" lvl="0" indent="0">
              <a:buNone/>
            </a:pPr>
            <a:r>
              <a:rPr lang="en-US" dirty="0"/>
              <a:t>4.</a:t>
            </a:r>
            <a:r>
              <a:rPr lang="en-US" b="1" dirty="0"/>
              <a:t> </a:t>
            </a:r>
            <a:r>
              <a:rPr lang="en-US" b="1" dirty="0" err="1"/>
              <a:t>strstr</a:t>
            </a:r>
            <a:r>
              <a:rPr lang="en-US" b="1" dirty="0"/>
              <a:t>()</a:t>
            </a:r>
          </a:p>
          <a:p>
            <a:r>
              <a:rPr lang="en-US" dirty="0"/>
              <a:t>It is used to locate substring in a string. </a:t>
            </a:r>
          </a:p>
          <a:p>
            <a:pPr marL="0" indent="0">
              <a:buNone/>
            </a:pPr>
            <a:r>
              <a:rPr lang="en-US" dirty="0"/>
              <a:t>Syntax: </a:t>
            </a:r>
            <a:r>
              <a:rPr lang="en-US" dirty="0" err="1"/>
              <a:t>strstr</a:t>
            </a:r>
            <a:r>
              <a:rPr lang="en-US" dirty="0"/>
              <a:t>(string1,string2); </a:t>
            </a:r>
          </a:p>
          <a:p>
            <a:pPr marL="0" indent="0">
              <a:buNone/>
            </a:pPr>
            <a:r>
              <a:rPr lang="en-US" dirty="0" err="1"/>
              <a:t>Eg:strstr</a:t>
            </a:r>
            <a:r>
              <a:rPr lang="en-US" dirty="0"/>
              <a:t>(s1,”ABC”);</a:t>
            </a:r>
          </a:p>
          <a:p>
            <a:r>
              <a:rPr lang="en-US" dirty="0"/>
              <a:t>This will search if “ABC” is present in s1. If yes, it returns the position of the first occurrence of the substring. Otherwise returns NULL. </a:t>
            </a:r>
          </a:p>
          <a:p>
            <a:endParaRPr lang="en-US" dirty="0"/>
          </a:p>
        </p:txBody>
      </p:sp>
    </p:spTree>
    <p:extLst>
      <p:ext uri="{BB962C8B-B14F-4D97-AF65-F5344CB8AC3E}">
        <p14:creationId xmlns:p14="http://schemas.microsoft.com/office/powerpoint/2010/main" val="897445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809"/>
          </a:xfrm>
        </p:spPr>
        <p:txBody>
          <a:bodyPr>
            <a:normAutofit/>
          </a:bodyPr>
          <a:lstStyle/>
          <a:p>
            <a:r>
              <a:rPr lang="en-US" sz="3200" dirty="0">
                <a:latin typeface="Times New Roman" panose="02020603050405020304" pitchFamily="18" charset="0"/>
                <a:cs typeface="Times New Roman" panose="02020603050405020304" pitchFamily="18" charset="0"/>
              </a:rPr>
              <a:t>Write a Program to count </a:t>
            </a:r>
            <a:r>
              <a:rPr lang="en-US" sz="3200" dirty="0" err="1">
                <a:latin typeface="Times New Roman" panose="02020603050405020304" pitchFamily="18" charset="0"/>
                <a:cs typeface="Times New Roman" panose="02020603050405020304" pitchFamily="18" charset="0"/>
              </a:rPr>
              <a:t>no.of</a:t>
            </a:r>
            <a:r>
              <a:rPr lang="en-US" sz="3200" dirty="0">
                <a:latin typeface="Times New Roman" panose="02020603050405020304" pitchFamily="18" charset="0"/>
                <a:cs typeface="Times New Roman" panose="02020603050405020304" pitchFamily="18" charset="0"/>
              </a:rPr>
              <a:t> vowels and consonants.</a:t>
            </a:r>
          </a:p>
        </p:txBody>
      </p:sp>
      <p:sp>
        <p:nvSpPr>
          <p:cNvPr id="4" name="TextBox 3"/>
          <p:cNvSpPr txBox="1"/>
          <p:nvPr/>
        </p:nvSpPr>
        <p:spPr>
          <a:xfrm>
            <a:off x="838200" y="1337481"/>
            <a:ext cx="4443484" cy="5355312"/>
          </a:xfrm>
          <a:prstGeom prst="rect">
            <a:avLst/>
          </a:prstGeom>
          <a:noFill/>
        </p:spPr>
        <p:txBody>
          <a:bodyPr wrap="square" rtlCol="0">
            <a:spAutoFit/>
          </a:bodyPr>
          <a:lstStyle/>
          <a:p>
            <a:r>
              <a:rPr lang="en-US" dirty="0"/>
              <a:t>#include&lt;</a:t>
            </a:r>
            <a:r>
              <a:rPr lang="en-US" dirty="0" err="1"/>
              <a:t>stdio.h</a:t>
            </a:r>
            <a:r>
              <a:rPr lang="en-US" dirty="0"/>
              <a:t>&gt; </a:t>
            </a:r>
          </a:p>
          <a:p>
            <a:r>
              <a:rPr lang="en-US" dirty="0"/>
              <a:t>void main()</a:t>
            </a:r>
          </a:p>
          <a:p>
            <a:r>
              <a:rPr lang="en-US" dirty="0"/>
              <a:t>{</a:t>
            </a:r>
          </a:p>
          <a:p>
            <a:r>
              <a:rPr lang="en-US" dirty="0"/>
              <a:t>char </a:t>
            </a:r>
            <a:r>
              <a:rPr lang="en-US" dirty="0" err="1"/>
              <a:t>str</a:t>
            </a:r>
            <a:r>
              <a:rPr lang="en-US" dirty="0"/>
              <a:t>[100];</a:t>
            </a:r>
          </a:p>
          <a:p>
            <a:r>
              <a:rPr lang="en-US" dirty="0"/>
              <a:t>int </a:t>
            </a:r>
            <a:r>
              <a:rPr lang="en-US" dirty="0" err="1"/>
              <a:t>i</a:t>
            </a:r>
            <a:r>
              <a:rPr lang="en-US" dirty="0"/>
              <a:t>=0, vowels=0,consonant=0;</a:t>
            </a:r>
          </a:p>
          <a:p>
            <a:r>
              <a:rPr lang="en-US" dirty="0" err="1"/>
              <a:t>printf</a:t>
            </a:r>
            <a:r>
              <a:rPr lang="en-US" dirty="0"/>
              <a:t>("Enter any string\n");</a:t>
            </a:r>
          </a:p>
          <a:p>
            <a:r>
              <a:rPr lang="en-US" dirty="0"/>
              <a:t>gets(</a:t>
            </a:r>
            <a:r>
              <a:rPr lang="en-US" dirty="0" err="1"/>
              <a:t>str</a:t>
            </a:r>
            <a:r>
              <a:rPr lang="en-US" dirty="0"/>
              <a:t>);</a:t>
            </a:r>
          </a:p>
          <a:p>
            <a:r>
              <a:rPr lang="en-US" b="1" dirty="0"/>
              <a:t>while(</a:t>
            </a:r>
            <a:r>
              <a:rPr lang="en-US" b="1" dirty="0" err="1"/>
              <a:t>str</a:t>
            </a:r>
            <a:r>
              <a:rPr lang="en-US" b="1" dirty="0"/>
              <a:t>[</a:t>
            </a:r>
            <a:r>
              <a:rPr lang="en-US" b="1" dirty="0" err="1"/>
              <a:t>i</a:t>
            </a:r>
            <a:r>
              <a:rPr lang="en-US" b="1" dirty="0"/>
              <a:t>]!='\0')</a:t>
            </a:r>
          </a:p>
          <a:p>
            <a:r>
              <a:rPr lang="en-US" b="1" dirty="0"/>
              <a:t>{</a:t>
            </a:r>
            <a:endParaRPr lang="en-US" dirty="0"/>
          </a:p>
          <a:p>
            <a:r>
              <a:rPr lang="en-US" b="1" dirty="0"/>
              <a:t>if(</a:t>
            </a:r>
            <a:r>
              <a:rPr lang="en-US" b="1" dirty="0" err="1"/>
              <a:t>str</a:t>
            </a:r>
            <a:r>
              <a:rPr lang="en-US" b="1" dirty="0"/>
              <a:t>[</a:t>
            </a:r>
            <a:r>
              <a:rPr lang="en-US" b="1" dirty="0" err="1"/>
              <a:t>i</a:t>
            </a:r>
            <a:r>
              <a:rPr lang="en-US" b="1" dirty="0"/>
              <a:t>]=='a' || </a:t>
            </a:r>
            <a:r>
              <a:rPr lang="en-US" b="1" dirty="0" err="1"/>
              <a:t>str</a:t>
            </a:r>
            <a:r>
              <a:rPr lang="en-US" b="1" dirty="0"/>
              <a:t>[</a:t>
            </a:r>
            <a:r>
              <a:rPr lang="en-US" b="1" dirty="0" err="1"/>
              <a:t>i</a:t>
            </a:r>
            <a:r>
              <a:rPr lang="en-US" b="1" dirty="0"/>
              <a:t>]=='e' || </a:t>
            </a:r>
            <a:r>
              <a:rPr lang="en-US" b="1" dirty="0" err="1"/>
              <a:t>str</a:t>
            </a:r>
            <a:r>
              <a:rPr lang="en-US" b="1" dirty="0"/>
              <a:t>[</a:t>
            </a:r>
            <a:r>
              <a:rPr lang="en-US" b="1" dirty="0" err="1"/>
              <a:t>i</a:t>
            </a:r>
            <a:r>
              <a:rPr lang="en-US" b="1" dirty="0"/>
              <a:t>]=='</a:t>
            </a:r>
            <a:r>
              <a:rPr lang="en-US" b="1" dirty="0" err="1"/>
              <a:t>i</a:t>
            </a:r>
            <a:r>
              <a:rPr lang="en-US" b="1" dirty="0"/>
              <a:t>'|| </a:t>
            </a:r>
            <a:r>
              <a:rPr lang="en-US" b="1" dirty="0" err="1"/>
              <a:t>str</a:t>
            </a:r>
            <a:r>
              <a:rPr lang="en-US" b="1" dirty="0"/>
              <a:t>[</a:t>
            </a:r>
            <a:r>
              <a:rPr lang="en-US" b="1" dirty="0" err="1"/>
              <a:t>i</a:t>
            </a:r>
            <a:r>
              <a:rPr lang="en-US" b="1" dirty="0"/>
              <a:t>]=='o' || </a:t>
            </a:r>
            <a:r>
              <a:rPr lang="en-US" b="1" dirty="0" err="1"/>
              <a:t>str</a:t>
            </a:r>
            <a:r>
              <a:rPr lang="en-US" b="1" dirty="0"/>
              <a:t>[</a:t>
            </a:r>
            <a:r>
              <a:rPr lang="en-US" b="1" dirty="0" err="1"/>
              <a:t>i</a:t>
            </a:r>
            <a:r>
              <a:rPr lang="en-US" b="1" dirty="0"/>
              <a:t>]=='u' || </a:t>
            </a:r>
            <a:r>
              <a:rPr lang="en-US" b="1" dirty="0" err="1"/>
              <a:t>str</a:t>
            </a:r>
            <a:r>
              <a:rPr lang="en-US" b="1" dirty="0"/>
              <a:t>[</a:t>
            </a:r>
            <a:r>
              <a:rPr lang="en-US" b="1" dirty="0" err="1"/>
              <a:t>i</a:t>
            </a:r>
            <a:r>
              <a:rPr lang="en-US" b="1" dirty="0"/>
              <a:t>]=='A' || </a:t>
            </a:r>
            <a:r>
              <a:rPr lang="en-US" b="1" dirty="0" err="1"/>
              <a:t>str</a:t>
            </a:r>
            <a:r>
              <a:rPr lang="en-US" b="1" dirty="0"/>
              <a:t>[</a:t>
            </a:r>
            <a:r>
              <a:rPr lang="en-US" b="1" dirty="0" err="1"/>
              <a:t>i</a:t>
            </a:r>
            <a:r>
              <a:rPr lang="en-US" b="1" dirty="0"/>
              <a:t>]=='E' || </a:t>
            </a:r>
            <a:r>
              <a:rPr lang="en-US" b="1" dirty="0" err="1"/>
              <a:t>str</a:t>
            </a:r>
            <a:r>
              <a:rPr lang="en-US" b="1" dirty="0"/>
              <a:t>[</a:t>
            </a:r>
            <a:r>
              <a:rPr lang="en-US" b="1" dirty="0" err="1"/>
              <a:t>i</a:t>
            </a:r>
            <a:r>
              <a:rPr lang="en-US" b="1" dirty="0"/>
              <a:t>]=='I‘||</a:t>
            </a:r>
            <a:r>
              <a:rPr lang="en-US" b="1" dirty="0" err="1"/>
              <a:t>str</a:t>
            </a:r>
            <a:r>
              <a:rPr lang="en-US" b="1" dirty="0"/>
              <a:t>[</a:t>
            </a:r>
            <a:r>
              <a:rPr lang="en-US" b="1" dirty="0" err="1"/>
              <a:t>i</a:t>
            </a:r>
            <a:r>
              <a:rPr lang="en-US" b="1" dirty="0"/>
              <a:t>]=='O'||	</a:t>
            </a:r>
            <a:r>
              <a:rPr lang="en-US" b="1" dirty="0" err="1"/>
              <a:t>str</a:t>
            </a:r>
            <a:r>
              <a:rPr lang="en-US" b="1" dirty="0"/>
              <a:t>[</a:t>
            </a:r>
            <a:r>
              <a:rPr lang="en-US" b="1" dirty="0" err="1"/>
              <a:t>i</a:t>
            </a:r>
            <a:r>
              <a:rPr lang="en-US" b="1" dirty="0"/>
              <a:t>]=='U') </a:t>
            </a:r>
          </a:p>
          <a:p>
            <a:r>
              <a:rPr lang="en-US" b="1" dirty="0"/>
              <a:t>vowels++;</a:t>
            </a:r>
            <a:endParaRPr lang="en-US" dirty="0"/>
          </a:p>
          <a:p>
            <a:r>
              <a:rPr lang="en-US" b="1" dirty="0"/>
              <a:t>else</a:t>
            </a:r>
            <a:endParaRPr lang="en-US" dirty="0"/>
          </a:p>
          <a:p>
            <a:r>
              <a:rPr lang="en-US" b="1" dirty="0"/>
              <a:t>consonant++;</a:t>
            </a:r>
            <a:endParaRPr lang="en-US" dirty="0"/>
          </a:p>
          <a:p>
            <a:r>
              <a:rPr lang="en-US" b="1" dirty="0"/>
              <a:t> </a:t>
            </a:r>
            <a:endParaRPr lang="en-US" dirty="0"/>
          </a:p>
          <a:p>
            <a:endParaRPr lang="en-US" dirty="0"/>
          </a:p>
          <a:p>
            <a:endParaRPr lang="en-US" dirty="0"/>
          </a:p>
        </p:txBody>
      </p:sp>
      <p:sp>
        <p:nvSpPr>
          <p:cNvPr id="5" name="TextBox 4"/>
          <p:cNvSpPr txBox="1"/>
          <p:nvPr/>
        </p:nvSpPr>
        <p:spPr>
          <a:xfrm>
            <a:off x="6252949" y="1337481"/>
            <a:ext cx="4692555" cy="1477328"/>
          </a:xfrm>
          <a:prstGeom prst="rect">
            <a:avLst/>
          </a:prstGeom>
          <a:noFill/>
        </p:spPr>
        <p:txBody>
          <a:bodyPr wrap="square" rtlCol="0">
            <a:spAutoFit/>
          </a:bodyPr>
          <a:lstStyle/>
          <a:p>
            <a:r>
              <a:rPr lang="en-US" b="1" dirty="0" err="1"/>
              <a:t>i</a:t>
            </a:r>
            <a:r>
              <a:rPr lang="en-US" b="1" dirty="0"/>
              <a:t>++;</a:t>
            </a:r>
            <a:endParaRPr lang="en-US" dirty="0"/>
          </a:p>
          <a:p>
            <a:r>
              <a:rPr lang="en-US" b="1" dirty="0"/>
              <a:t>}</a:t>
            </a:r>
            <a:endParaRPr lang="en-US" dirty="0"/>
          </a:p>
          <a:p>
            <a:r>
              <a:rPr lang="en-US" dirty="0" err="1"/>
              <a:t>printf</a:t>
            </a:r>
            <a:r>
              <a:rPr lang="en-US" dirty="0"/>
              <a:t>("</a:t>
            </a:r>
            <a:r>
              <a:rPr lang="en-US" dirty="0" err="1"/>
              <a:t>No.of</a:t>
            </a:r>
            <a:r>
              <a:rPr lang="en-US" dirty="0"/>
              <a:t> vowels is %d\</a:t>
            </a:r>
            <a:r>
              <a:rPr lang="en-US" dirty="0" err="1"/>
              <a:t>n",vowels</a:t>
            </a:r>
            <a:r>
              <a:rPr lang="en-US" dirty="0"/>
              <a:t>); </a:t>
            </a:r>
          </a:p>
          <a:p>
            <a:r>
              <a:rPr lang="en-US" dirty="0" err="1"/>
              <a:t>printf</a:t>
            </a:r>
            <a:r>
              <a:rPr lang="en-US" dirty="0"/>
              <a:t>("</a:t>
            </a:r>
            <a:r>
              <a:rPr lang="en-US" dirty="0" err="1"/>
              <a:t>No.of</a:t>
            </a:r>
            <a:r>
              <a:rPr lang="en-US" dirty="0"/>
              <a:t> consonant is %d\</a:t>
            </a:r>
            <a:r>
              <a:rPr lang="en-US" dirty="0" err="1"/>
              <a:t>n",consonant</a:t>
            </a:r>
            <a:r>
              <a:rPr lang="en-US" dirty="0"/>
              <a:t>);</a:t>
            </a:r>
          </a:p>
          <a:p>
            <a:r>
              <a:rPr lang="en-US" dirty="0"/>
              <a:t>}</a:t>
            </a:r>
          </a:p>
        </p:txBody>
      </p:sp>
      <p:graphicFrame>
        <p:nvGraphicFramePr>
          <p:cNvPr id="7" name="Table 6"/>
          <p:cNvGraphicFramePr>
            <a:graphicFrameLocks noGrp="1"/>
          </p:cNvGraphicFramePr>
          <p:nvPr>
            <p:extLst>
              <p:ext uri="{D42A27DB-BD31-4B8C-83A1-F6EECF244321}">
                <p14:modId xmlns:p14="http://schemas.microsoft.com/office/powerpoint/2010/main" val="4047789542"/>
              </p:ext>
            </p:extLst>
          </p:nvPr>
        </p:nvGraphicFramePr>
        <p:xfrm>
          <a:off x="7108967" y="3653934"/>
          <a:ext cx="3249684" cy="1188720"/>
        </p:xfrm>
        <a:graphic>
          <a:graphicData uri="http://schemas.openxmlformats.org/drawingml/2006/table">
            <a:tbl>
              <a:tblPr firstRow="1" bandRow="1">
                <a:tableStyleId>{5C22544A-7EE6-4342-B048-85BDC9FD1C3A}</a:tableStyleId>
              </a:tblPr>
              <a:tblGrid>
                <a:gridCol w="3249684">
                  <a:extLst>
                    <a:ext uri="{9D8B030D-6E8A-4147-A177-3AD203B41FA5}">
                      <a16:colId xmlns:a16="http://schemas.microsoft.com/office/drawing/2014/main" val="20000"/>
                    </a:ext>
                  </a:extLst>
                </a:gridCol>
              </a:tblGrid>
              <a:tr h="1109136">
                <a:tc>
                  <a:txBody>
                    <a:bodyPr/>
                    <a:lstStyle/>
                    <a:p>
                      <a:r>
                        <a:rPr lang="en-US" sz="1800" b="1" kern="1200" dirty="0">
                          <a:solidFill>
                            <a:schemeClr val="lt1"/>
                          </a:solidFill>
                          <a:effectLst/>
                          <a:latin typeface="+mn-lt"/>
                          <a:ea typeface="+mn-ea"/>
                          <a:cs typeface="+mn-cs"/>
                        </a:rPr>
                        <a:t>Output:</a:t>
                      </a:r>
                    </a:p>
                    <a:p>
                      <a:r>
                        <a:rPr lang="en-US" sz="1800" b="1" kern="1200" dirty="0">
                          <a:solidFill>
                            <a:schemeClr val="lt1"/>
                          </a:solidFill>
                          <a:effectLst/>
                          <a:latin typeface="+mn-lt"/>
                          <a:ea typeface="+mn-ea"/>
                          <a:cs typeface="+mn-cs"/>
                        </a:rPr>
                        <a:t>Enter a string Hello</a:t>
                      </a:r>
                    </a:p>
                    <a:p>
                      <a:r>
                        <a:rPr lang="en-US" sz="1800" b="1" kern="1200" dirty="0" err="1">
                          <a:solidFill>
                            <a:schemeClr val="lt1"/>
                          </a:solidFill>
                          <a:effectLst/>
                          <a:latin typeface="+mn-lt"/>
                          <a:ea typeface="+mn-ea"/>
                          <a:cs typeface="+mn-cs"/>
                        </a:rPr>
                        <a:t>No.of</a:t>
                      </a:r>
                      <a:r>
                        <a:rPr lang="en-US" sz="1800" b="1" kern="1200" dirty="0">
                          <a:solidFill>
                            <a:schemeClr val="lt1"/>
                          </a:solidFill>
                          <a:effectLst/>
                          <a:latin typeface="+mn-lt"/>
                          <a:ea typeface="+mn-ea"/>
                          <a:cs typeface="+mn-cs"/>
                        </a:rPr>
                        <a:t> vowels is 2</a:t>
                      </a:r>
                    </a:p>
                    <a:p>
                      <a:endParaRPr lang="en-US" dirty="0">
                        <a:solidFill>
                          <a:schemeClr val="bg1"/>
                        </a:solidFill>
                      </a:endParaRPr>
                    </a:p>
                  </a:txBody>
                  <a:tcPr>
                    <a:solidFill>
                      <a:schemeClr val="tx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2343434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Write a program to read two strings s1 and s2 and compare whether they are equal or not. If they are not, join them together. Then copy the contents of s1 to s3.Print and find the length of all the three strings</a:t>
            </a:r>
          </a:p>
        </p:txBody>
      </p:sp>
      <p:sp>
        <p:nvSpPr>
          <p:cNvPr id="4" name="TextBox 3"/>
          <p:cNvSpPr txBox="1"/>
          <p:nvPr/>
        </p:nvSpPr>
        <p:spPr>
          <a:xfrm>
            <a:off x="838200" y="1801504"/>
            <a:ext cx="4566313" cy="4801314"/>
          </a:xfrm>
          <a:prstGeom prst="rect">
            <a:avLst/>
          </a:prstGeom>
          <a:noFill/>
        </p:spPr>
        <p:txBody>
          <a:bodyPr wrap="square" rtlCol="0">
            <a:spAutoFit/>
          </a:bodyPr>
          <a:lstStyle/>
          <a:p>
            <a:pPr lvl="0"/>
            <a:r>
              <a:rPr lang="en-US" dirty="0"/>
              <a:t>#include&lt;</a:t>
            </a:r>
            <a:r>
              <a:rPr lang="en-US" dirty="0" err="1"/>
              <a:t>stdio.h</a:t>
            </a:r>
            <a:r>
              <a:rPr lang="en-US" dirty="0"/>
              <a:t>&gt;</a:t>
            </a:r>
            <a:endParaRPr lang="en-US" b="1" dirty="0"/>
          </a:p>
          <a:p>
            <a:r>
              <a:rPr lang="en-US" dirty="0"/>
              <a:t>#include&lt;</a:t>
            </a:r>
            <a:r>
              <a:rPr lang="en-US" dirty="0" err="1"/>
              <a:t>string.h</a:t>
            </a:r>
            <a:r>
              <a:rPr lang="en-US" dirty="0"/>
              <a:t>&gt;</a:t>
            </a:r>
          </a:p>
          <a:p>
            <a:r>
              <a:rPr lang="en-US" dirty="0"/>
              <a:t> void main()</a:t>
            </a:r>
          </a:p>
          <a:p>
            <a:r>
              <a:rPr lang="en-US" dirty="0"/>
              <a:t>{</a:t>
            </a:r>
          </a:p>
          <a:p>
            <a:r>
              <a:rPr lang="en-US" dirty="0"/>
              <a:t>char s1[100],s2[100],s3[100];</a:t>
            </a:r>
          </a:p>
          <a:p>
            <a:r>
              <a:rPr lang="en-US" dirty="0"/>
              <a:t>int result,l1,l2,l3; </a:t>
            </a:r>
          </a:p>
          <a:p>
            <a:r>
              <a:rPr lang="en-US" dirty="0" err="1"/>
              <a:t>printf</a:t>
            </a:r>
            <a:r>
              <a:rPr lang="en-US" dirty="0"/>
              <a:t>("Enter two strings\n"); </a:t>
            </a:r>
            <a:r>
              <a:rPr lang="en-US" dirty="0" err="1"/>
              <a:t>scanf</a:t>
            </a:r>
            <a:r>
              <a:rPr lang="en-US" dirty="0"/>
              <a:t>("%s%s",s1,s2);</a:t>
            </a:r>
          </a:p>
          <a:p>
            <a:r>
              <a:rPr lang="en-US" dirty="0"/>
              <a:t> result=</a:t>
            </a:r>
            <a:r>
              <a:rPr lang="en-US" dirty="0" err="1"/>
              <a:t>strcmp</a:t>
            </a:r>
            <a:r>
              <a:rPr lang="en-US" dirty="0"/>
              <a:t>(s1,s2); </a:t>
            </a:r>
          </a:p>
          <a:p>
            <a:r>
              <a:rPr lang="en-US" dirty="0"/>
              <a:t>if(result!=0)</a:t>
            </a:r>
          </a:p>
          <a:p>
            <a:r>
              <a:rPr lang="en-US" dirty="0"/>
              <a:t>{</a:t>
            </a:r>
          </a:p>
          <a:p>
            <a:r>
              <a:rPr lang="en-US" dirty="0" err="1"/>
              <a:t>printf</a:t>
            </a:r>
            <a:r>
              <a:rPr lang="en-US" dirty="0"/>
              <a:t>("Strings are not equal\n"); </a:t>
            </a:r>
          </a:p>
          <a:p>
            <a:r>
              <a:rPr lang="en-US" dirty="0" err="1"/>
              <a:t>strcat</a:t>
            </a:r>
            <a:r>
              <a:rPr lang="en-US" dirty="0"/>
              <a:t>(s1,s2);</a:t>
            </a:r>
          </a:p>
          <a:p>
            <a:r>
              <a:rPr lang="en-US" dirty="0"/>
              <a:t>}</a:t>
            </a:r>
          </a:p>
          <a:p>
            <a:r>
              <a:rPr lang="en-US" dirty="0"/>
              <a:t>else</a:t>
            </a:r>
          </a:p>
          <a:p>
            <a:r>
              <a:rPr lang="en-US" dirty="0" err="1"/>
              <a:t>printf</a:t>
            </a:r>
            <a:r>
              <a:rPr lang="en-US" dirty="0"/>
              <a:t>("Strings are equal\n");</a:t>
            </a:r>
          </a:p>
          <a:p>
            <a:endParaRPr lang="en-US" dirty="0"/>
          </a:p>
        </p:txBody>
      </p:sp>
      <p:sp>
        <p:nvSpPr>
          <p:cNvPr id="5" name="TextBox 4"/>
          <p:cNvSpPr txBox="1"/>
          <p:nvPr/>
        </p:nvSpPr>
        <p:spPr>
          <a:xfrm>
            <a:off x="5595582" y="1978925"/>
            <a:ext cx="4271749" cy="2031325"/>
          </a:xfrm>
          <a:prstGeom prst="rect">
            <a:avLst/>
          </a:prstGeom>
          <a:noFill/>
        </p:spPr>
        <p:txBody>
          <a:bodyPr wrap="square" rtlCol="0">
            <a:spAutoFit/>
          </a:bodyPr>
          <a:lstStyle/>
          <a:p>
            <a:r>
              <a:rPr lang="en-US" dirty="0" err="1"/>
              <a:t>strcpy</a:t>
            </a:r>
            <a:r>
              <a:rPr lang="en-US" dirty="0"/>
              <a:t>(s3,s1); l1=</a:t>
            </a:r>
            <a:r>
              <a:rPr lang="en-US" dirty="0" err="1"/>
              <a:t>strlen</a:t>
            </a:r>
            <a:r>
              <a:rPr lang="en-US" dirty="0"/>
              <a:t>(s1); l2=</a:t>
            </a:r>
            <a:r>
              <a:rPr lang="en-US" dirty="0" err="1"/>
              <a:t>strlen</a:t>
            </a:r>
            <a:r>
              <a:rPr lang="en-US" dirty="0"/>
              <a:t>(s2); l3=</a:t>
            </a:r>
            <a:r>
              <a:rPr lang="en-US" dirty="0" err="1"/>
              <a:t>strlen</a:t>
            </a:r>
            <a:r>
              <a:rPr lang="en-US" dirty="0"/>
              <a:t>(s3);</a:t>
            </a:r>
          </a:p>
          <a:p>
            <a:r>
              <a:rPr lang="en-US" dirty="0" err="1"/>
              <a:t>printf</a:t>
            </a:r>
            <a:r>
              <a:rPr lang="en-US" dirty="0"/>
              <a:t>("Length of %s is %d\n",s1,l1); </a:t>
            </a:r>
            <a:r>
              <a:rPr lang="en-US" dirty="0" err="1"/>
              <a:t>printf</a:t>
            </a:r>
            <a:r>
              <a:rPr lang="en-US" dirty="0"/>
              <a:t>("Length of %s is %d\n",s2,l2); </a:t>
            </a:r>
            <a:r>
              <a:rPr lang="en-US" dirty="0" err="1"/>
              <a:t>printf</a:t>
            </a:r>
            <a:r>
              <a:rPr lang="en-US" dirty="0"/>
              <a:t>("Length of %s is %d\n",s3,l3);</a:t>
            </a:r>
          </a:p>
          <a:p>
            <a:r>
              <a:rPr lang="en-US" dirty="0"/>
              <a:t>}</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233872854"/>
              </p:ext>
            </p:extLst>
          </p:nvPr>
        </p:nvGraphicFramePr>
        <p:xfrm>
          <a:off x="5730543" y="4107974"/>
          <a:ext cx="4464334" cy="2560320"/>
        </p:xfrm>
        <a:graphic>
          <a:graphicData uri="http://schemas.openxmlformats.org/drawingml/2006/table">
            <a:tbl>
              <a:tblPr firstRow="1" bandRow="1">
                <a:tableStyleId>{5C22544A-7EE6-4342-B048-85BDC9FD1C3A}</a:tableStyleId>
              </a:tblPr>
              <a:tblGrid>
                <a:gridCol w="4464334">
                  <a:extLst>
                    <a:ext uri="{9D8B030D-6E8A-4147-A177-3AD203B41FA5}">
                      <a16:colId xmlns:a16="http://schemas.microsoft.com/office/drawing/2014/main" val="20000"/>
                    </a:ext>
                  </a:extLst>
                </a:gridCol>
              </a:tblGrid>
              <a:tr h="24948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Output:</a:t>
                      </a:r>
                    </a:p>
                    <a:p>
                      <a:r>
                        <a:rPr lang="en-US" dirty="0"/>
                        <a:t>Enter two strings</a:t>
                      </a:r>
                    </a:p>
                    <a:p>
                      <a:r>
                        <a:rPr lang="en-US" dirty="0" err="1">
                          <a:solidFill>
                            <a:schemeClr val="bg1"/>
                          </a:solidFill>
                        </a:rPr>
                        <a:t>Avi</a:t>
                      </a:r>
                      <a:endParaRPr lang="en-US" dirty="0">
                        <a:solidFill>
                          <a:schemeClr val="bg1"/>
                        </a:solidFill>
                      </a:endParaRPr>
                    </a:p>
                    <a:p>
                      <a:r>
                        <a:rPr lang="en-US" dirty="0">
                          <a:solidFill>
                            <a:schemeClr val="bg1"/>
                          </a:solidFill>
                        </a:rPr>
                        <a:t>Ben</a:t>
                      </a:r>
                    </a:p>
                    <a:p>
                      <a:r>
                        <a:rPr lang="en-US" dirty="0"/>
                        <a:t>Strings are not equal</a:t>
                      </a:r>
                    </a:p>
                    <a:p>
                      <a:r>
                        <a:rPr lang="en-US" dirty="0"/>
                        <a:t>Length of </a:t>
                      </a:r>
                      <a:r>
                        <a:rPr lang="en-US" dirty="0" err="1"/>
                        <a:t>aviben</a:t>
                      </a:r>
                      <a:r>
                        <a:rPr lang="en-US" dirty="0"/>
                        <a:t> is 6</a:t>
                      </a:r>
                    </a:p>
                    <a:p>
                      <a:r>
                        <a:rPr lang="en-US" dirty="0"/>
                        <a:t>Length of ben is 3</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Length of </a:t>
                      </a:r>
                      <a:r>
                        <a:rPr lang="en-US" dirty="0" err="1"/>
                        <a:t>aviben</a:t>
                      </a:r>
                      <a:r>
                        <a:rPr lang="en-US" dirty="0"/>
                        <a:t> is 6</a:t>
                      </a:r>
                    </a:p>
                    <a:p>
                      <a:endParaRPr lang="en-US" dirty="0">
                        <a:solidFill>
                          <a:schemeClr val="bg1"/>
                        </a:solidFill>
                      </a:endParaRPr>
                    </a:p>
                  </a:txBody>
                  <a:tcPr>
                    <a:solidFill>
                      <a:schemeClr val="tx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96761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830</TotalTime>
  <Words>7592</Words>
  <Application>Microsoft Office PowerPoint</Application>
  <PresentationFormat>Widescreen</PresentationFormat>
  <Paragraphs>1121</Paragraphs>
  <Slides>71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Arial</vt:lpstr>
      <vt:lpstr>Calibri</vt:lpstr>
      <vt:lpstr>Calibri Light</vt:lpstr>
      <vt:lpstr>Times New Roman</vt:lpstr>
      <vt:lpstr>Wingdings</vt:lpstr>
      <vt:lpstr>Office Theme</vt:lpstr>
      <vt:lpstr>INTRODUCTION</vt:lpstr>
      <vt:lpstr>Single/One Dimensional Array </vt:lpstr>
      <vt:lpstr>PowerPoint Presentation</vt:lpstr>
      <vt:lpstr>Storing Values in Arrays </vt:lpstr>
      <vt:lpstr>Initialization of one-dimensional array</vt:lpstr>
      <vt:lpstr>PowerPoint Presentation</vt:lpstr>
      <vt:lpstr>PowerPoint Presentation</vt:lpstr>
      <vt:lpstr>PowerPoint Presentation</vt:lpstr>
      <vt:lpstr>1. Initializing all elements of array: </vt:lpstr>
      <vt:lpstr>2. Partial array initialization </vt:lpstr>
      <vt:lpstr>3. Initialization without size</vt:lpstr>
      <vt:lpstr>4. Initialize individual elements: </vt:lpstr>
      <vt:lpstr>2. Run time Initialization: </vt:lpstr>
      <vt:lpstr>Reading and writing single dimensional arrays. </vt:lpstr>
      <vt:lpstr>PowerPoint Presentation</vt:lpstr>
      <vt:lpstr>Write a program to read and print array elements. </vt:lpstr>
      <vt:lpstr>Assigning values to arrays</vt:lpstr>
      <vt:lpstr>Write a program to find sum and average of integers</vt:lpstr>
      <vt:lpstr>Write a C program to read n integers and display sum of even and odd integers.</vt:lpstr>
      <vt:lpstr>Write a C program to find the largest or biggest of n numbers using arrays.</vt:lpstr>
      <vt:lpstr>Write a program to find sum of 2 one dimensional arrays and store the result in another array</vt:lpstr>
      <vt:lpstr>Searching </vt:lpstr>
      <vt:lpstr>Linear Search</vt:lpstr>
      <vt:lpstr>PowerPoint Presentation</vt:lpstr>
      <vt:lpstr>Binary Search: </vt:lpstr>
      <vt:lpstr>PowerPoint Presentation</vt:lpstr>
      <vt:lpstr>Sorting </vt:lpstr>
      <vt:lpstr>PowerPoint Presentation</vt:lpstr>
      <vt:lpstr>Two-Dimensional Array</vt:lpstr>
      <vt:lpstr>Declaration of two dimensional array: </vt:lpstr>
      <vt:lpstr>PowerPoint Presentation</vt:lpstr>
      <vt:lpstr>Initialization of 2D Array</vt:lpstr>
      <vt:lpstr>PowerPoint Presentation</vt:lpstr>
      <vt:lpstr>PowerPoint Presentation</vt:lpstr>
      <vt:lpstr>Partial Array Initialization </vt:lpstr>
      <vt:lpstr>Write a program to read and display matrix </vt:lpstr>
      <vt:lpstr> Write a C program to find sum of two matrices or 2D array</vt:lpstr>
      <vt:lpstr>Write a program to find transpose of a matrix</vt:lpstr>
      <vt:lpstr>Write a program to copy elements of one matrix to another matrix</vt:lpstr>
      <vt:lpstr>Write a program to find sum of each row and sum of each column</vt:lpstr>
      <vt:lpstr>PowerPoint Presentation</vt:lpstr>
      <vt:lpstr>CHARACTER ARRAYS AND STRINGS:   </vt:lpstr>
      <vt:lpstr>Declaring and initializing string variables</vt:lpstr>
      <vt:lpstr>Initialization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STRING HANDLING/MANIPULATION FUNCTIONS:</vt:lpstr>
      <vt:lpstr>PowerPoint Presentation</vt:lpstr>
      <vt:lpstr>Write a program to find length of string without using built in function strlen. </vt:lpstr>
      <vt:lpstr>PowerPoint Presentation</vt:lpstr>
      <vt:lpstr>PowerPoint Presentation</vt:lpstr>
      <vt:lpstr>PowerPoint Presentation</vt:lpstr>
      <vt:lpstr>PowerPoint Presentation</vt:lpstr>
      <vt:lpstr>PowerPoint Presentation</vt:lpstr>
      <vt:lpstr>Example program using strcmp() </vt:lpstr>
      <vt:lpstr>Write a program to compare strings without using built in function strcmp</vt:lpstr>
      <vt:lpstr>PowerPoint Presentation</vt:lpstr>
      <vt:lpstr>Write a program to reverse a string without using built in function strrev and check for palindrome</vt:lpstr>
      <vt:lpstr>Other String Functions</vt:lpstr>
      <vt:lpstr>PowerPoint Presentation</vt:lpstr>
      <vt:lpstr>PowerPoint Presentation</vt:lpstr>
      <vt:lpstr>PowerPoint Presentation</vt:lpstr>
      <vt:lpstr>Write a Program to count no.of vowels and consonants.</vt:lpstr>
      <vt:lpstr>Write a program to read two strings s1 and s2 and compare whether they are equal or not. If they are not, join them together. Then copy the contents of s1 to s3.Print and find the length of all the three strings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Two-Dimensional Array</dc:title>
  <dc:creator>Faculty</dc:creator>
  <cp:lastModifiedBy>Pushpa latha</cp:lastModifiedBy>
  <cp:revision>28</cp:revision>
  <dcterms:created xsi:type="dcterms:W3CDTF">2023-02-09T09:22:58Z</dcterms:created>
  <dcterms:modified xsi:type="dcterms:W3CDTF">2023-02-16T05:27:00Z</dcterms:modified>
</cp:coreProperties>
</file>