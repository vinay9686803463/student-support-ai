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256" r:id="rId2"/>
    <p:sldId id="257" r:id="rId3"/>
    <p:sldId id="258" r:id="rId4"/>
    <p:sldId id="259" r:id="rId5"/>
    <p:sldId id="340" r:id="rId6"/>
    <p:sldId id="260" r:id="rId7"/>
    <p:sldId id="264" r:id="rId8"/>
    <p:sldId id="261" r:id="rId9"/>
    <p:sldId id="262" r:id="rId10"/>
    <p:sldId id="336" r:id="rId11"/>
    <p:sldId id="265" r:id="rId12"/>
    <p:sldId id="266" r:id="rId13"/>
    <p:sldId id="267" r:id="rId14"/>
    <p:sldId id="337" r:id="rId15"/>
    <p:sldId id="268" r:id="rId16"/>
    <p:sldId id="269" r:id="rId17"/>
    <p:sldId id="270" r:id="rId18"/>
    <p:sldId id="338" r:id="rId19"/>
    <p:sldId id="271" r:id="rId20"/>
    <p:sldId id="272" r:id="rId21"/>
    <p:sldId id="273" r:id="rId22"/>
    <p:sldId id="275" r:id="rId23"/>
    <p:sldId id="276" r:id="rId24"/>
    <p:sldId id="274"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39" r:id="rId52"/>
    <p:sldId id="303" r:id="rId53"/>
    <p:sldId id="304" r:id="rId54"/>
    <p:sldId id="305" r:id="rId55"/>
    <p:sldId id="306" r:id="rId56"/>
    <p:sldId id="307" r:id="rId57"/>
    <p:sldId id="308" r:id="rId58"/>
    <p:sldId id="309"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2" r:id="rId80"/>
    <p:sldId id="331" r:id="rId81"/>
    <p:sldId id="333" r:id="rId82"/>
    <p:sldId id="334" r:id="rId83"/>
    <p:sldId id="335" r:id="rId84"/>
    <p:sldId id="341" r:id="rId85"/>
    <p:sldId id="342" r:id="rId86"/>
    <p:sldId id="343" r:id="rId87"/>
    <p:sldId id="344" r:id="rId88"/>
    <p:sldId id="345" r:id="rId89"/>
    <p:sldId id="346" r:id="rId90"/>
    <p:sldId id="347" r:id="rId91"/>
    <p:sldId id="348" r:id="rId92"/>
    <p:sldId id="349" r:id="rId93"/>
    <p:sldId id="350" r:id="rId94"/>
    <p:sldId id="357" r:id="rId95"/>
    <p:sldId id="358" r:id="rId96"/>
    <p:sldId id="351" r:id="rId97"/>
    <p:sldId id="352" r:id="rId98"/>
    <p:sldId id="353" r:id="rId99"/>
    <p:sldId id="354" r:id="rId100"/>
    <p:sldId id="355" r:id="rId101"/>
    <p:sldId id="359" r:id="rId102"/>
    <p:sldId id="360" r:id="rId103"/>
    <p:sldId id="361" r:id="rId104"/>
    <p:sldId id="367" r:id="rId105"/>
    <p:sldId id="362" r:id="rId106"/>
    <p:sldId id="363" r:id="rId107"/>
    <p:sldId id="364" r:id="rId108"/>
    <p:sldId id="365" r:id="rId109"/>
    <p:sldId id="356" r:id="rId110"/>
    <p:sldId id="366" r:id="rId111"/>
    <p:sldId id="368" r:id="rId112"/>
    <p:sldId id="369" r:id="rId113"/>
    <p:sldId id="370" r:id="rId114"/>
    <p:sldId id="371" r:id="rId115"/>
    <p:sldId id="372" r:id="rId116"/>
    <p:sldId id="373" r:id="rId1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E479C1-7DFC-468F-B6A2-C45BA7ED8325}" type="datetimeFigureOut">
              <a:rPr lang="en-CA" smtClean="0"/>
              <a:t>2024-11-25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3A5CE-4056-4337-A68A-8E66CF81DDC7}" type="slidenum">
              <a:rPr lang="en-CA" smtClean="0"/>
              <a:t>‹#›</a:t>
            </a:fld>
            <a:endParaRPr lang="en-CA"/>
          </a:p>
        </p:txBody>
      </p:sp>
    </p:spTree>
    <p:extLst>
      <p:ext uri="{BB962C8B-B14F-4D97-AF65-F5344CB8AC3E}">
        <p14:creationId xmlns:p14="http://schemas.microsoft.com/office/powerpoint/2010/main" val="2514744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F63A5CE-4056-4337-A68A-8E66CF81DDC7}" type="slidenum">
              <a:rPr lang="en-CA" smtClean="0"/>
              <a:t>8</a:t>
            </a:fld>
            <a:endParaRPr lang="en-CA"/>
          </a:p>
        </p:txBody>
      </p:sp>
    </p:spTree>
    <p:extLst>
      <p:ext uri="{BB962C8B-B14F-4D97-AF65-F5344CB8AC3E}">
        <p14:creationId xmlns:p14="http://schemas.microsoft.com/office/powerpoint/2010/main" val="80865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F63A5CE-4056-4337-A68A-8E66CF81DDC7}" type="slidenum">
              <a:rPr lang="en-CA" smtClean="0"/>
              <a:t>9</a:t>
            </a:fld>
            <a:endParaRPr lang="en-CA"/>
          </a:p>
        </p:txBody>
      </p:sp>
    </p:spTree>
    <p:extLst>
      <p:ext uri="{BB962C8B-B14F-4D97-AF65-F5344CB8AC3E}">
        <p14:creationId xmlns:p14="http://schemas.microsoft.com/office/powerpoint/2010/main" val="1573931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F63A5CE-4056-4337-A68A-8E66CF81DDC7}" type="slidenum">
              <a:rPr lang="en-CA" smtClean="0"/>
              <a:t>50</a:t>
            </a:fld>
            <a:endParaRPr lang="en-CA"/>
          </a:p>
        </p:txBody>
      </p:sp>
    </p:spTree>
    <p:extLst>
      <p:ext uri="{BB962C8B-B14F-4D97-AF65-F5344CB8AC3E}">
        <p14:creationId xmlns:p14="http://schemas.microsoft.com/office/powerpoint/2010/main" val="4177923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C3E8E-CC47-2F55-E372-70739094FE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F9F9F530-EF81-AF63-BCD4-68FFF841B1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E2A8BCF-33AE-71AD-DEF9-163B065CBCDF}"/>
              </a:ext>
            </a:extLst>
          </p:cNvPr>
          <p:cNvSpPr>
            <a:spLocks noGrp="1"/>
          </p:cNvSpPr>
          <p:nvPr>
            <p:ph type="dt" sz="half" idx="10"/>
          </p:nvPr>
        </p:nvSpPr>
        <p:spPr/>
        <p:txBody>
          <a:bodyPr/>
          <a:lstStyle/>
          <a:p>
            <a:fld id="{435D6655-E9CE-4636-8EE1-3E04D25B5680}" type="datetime1">
              <a:rPr lang="en-CA" smtClean="0"/>
              <a:t>2024-11-25</a:t>
            </a:fld>
            <a:endParaRPr lang="en-CA"/>
          </a:p>
        </p:txBody>
      </p:sp>
      <p:sp>
        <p:nvSpPr>
          <p:cNvPr id="5" name="Footer Placeholder 4">
            <a:extLst>
              <a:ext uri="{FF2B5EF4-FFF2-40B4-BE49-F238E27FC236}">
                <a16:creationId xmlns:a16="http://schemas.microsoft.com/office/drawing/2014/main" id="{8CD69F4B-0DDF-C37C-F4A0-8CAF6A6B5198}"/>
              </a:ext>
            </a:extLst>
          </p:cNvPr>
          <p:cNvSpPr>
            <a:spLocks noGrp="1"/>
          </p:cNvSpPr>
          <p:nvPr>
            <p:ph type="ftr" sz="quarter" idx="11"/>
          </p:nvPr>
        </p:nvSpPr>
        <p:spPr/>
        <p:txBody>
          <a:bodyPr/>
          <a:lstStyle/>
          <a:p>
            <a:r>
              <a:rPr lang="en-US"/>
              <a:t>Padma T G, Dept of CSE,ACET</a:t>
            </a:r>
            <a:endParaRPr lang="en-CA"/>
          </a:p>
        </p:txBody>
      </p:sp>
      <p:sp>
        <p:nvSpPr>
          <p:cNvPr id="6" name="Slide Number Placeholder 5">
            <a:extLst>
              <a:ext uri="{FF2B5EF4-FFF2-40B4-BE49-F238E27FC236}">
                <a16:creationId xmlns:a16="http://schemas.microsoft.com/office/drawing/2014/main" id="{2AB34ED1-04C9-A952-925E-C2C4F262298C}"/>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3601683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3A9DF-D548-4E98-BB47-CC7C43B3CB2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80ACBB8-B8D2-9FBC-C745-5D91B9D228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80F8B42-9432-3CD1-F483-CBB22136EA29}"/>
              </a:ext>
            </a:extLst>
          </p:cNvPr>
          <p:cNvSpPr>
            <a:spLocks noGrp="1"/>
          </p:cNvSpPr>
          <p:nvPr>
            <p:ph type="dt" sz="half" idx="10"/>
          </p:nvPr>
        </p:nvSpPr>
        <p:spPr/>
        <p:txBody>
          <a:bodyPr/>
          <a:lstStyle/>
          <a:p>
            <a:fld id="{B4DC90D5-CDB4-4D59-9FF3-3DC8DCD9BCEE}" type="datetime1">
              <a:rPr lang="en-CA" smtClean="0"/>
              <a:t>2024-11-25</a:t>
            </a:fld>
            <a:endParaRPr lang="en-CA"/>
          </a:p>
        </p:txBody>
      </p:sp>
      <p:sp>
        <p:nvSpPr>
          <p:cNvPr id="5" name="Footer Placeholder 4">
            <a:extLst>
              <a:ext uri="{FF2B5EF4-FFF2-40B4-BE49-F238E27FC236}">
                <a16:creationId xmlns:a16="http://schemas.microsoft.com/office/drawing/2014/main" id="{0F0C9628-2107-7349-344E-B6E0C3AD87E4}"/>
              </a:ext>
            </a:extLst>
          </p:cNvPr>
          <p:cNvSpPr>
            <a:spLocks noGrp="1"/>
          </p:cNvSpPr>
          <p:nvPr>
            <p:ph type="ftr" sz="quarter" idx="11"/>
          </p:nvPr>
        </p:nvSpPr>
        <p:spPr/>
        <p:txBody>
          <a:bodyPr/>
          <a:lstStyle/>
          <a:p>
            <a:r>
              <a:rPr lang="en-US"/>
              <a:t>Padma T G, Dept of CSE,ACET</a:t>
            </a:r>
            <a:endParaRPr lang="en-CA"/>
          </a:p>
        </p:txBody>
      </p:sp>
      <p:sp>
        <p:nvSpPr>
          <p:cNvPr id="6" name="Slide Number Placeholder 5">
            <a:extLst>
              <a:ext uri="{FF2B5EF4-FFF2-40B4-BE49-F238E27FC236}">
                <a16:creationId xmlns:a16="http://schemas.microsoft.com/office/drawing/2014/main" id="{6534ECD2-73CB-3F08-5171-A5FAD7E84D05}"/>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235601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B943-B6C4-E9C3-490F-DD3501CDEA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FE71465A-CA04-31E3-3C32-630232C068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1AD68B-BB7B-81D3-96F1-73F2BA5CBDF5}"/>
              </a:ext>
            </a:extLst>
          </p:cNvPr>
          <p:cNvSpPr>
            <a:spLocks noGrp="1"/>
          </p:cNvSpPr>
          <p:nvPr>
            <p:ph type="dt" sz="half" idx="10"/>
          </p:nvPr>
        </p:nvSpPr>
        <p:spPr/>
        <p:txBody>
          <a:bodyPr/>
          <a:lstStyle/>
          <a:p>
            <a:fld id="{968A4BA7-C095-499B-A232-CFD5F82C0CCE}" type="datetime1">
              <a:rPr lang="en-CA" smtClean="0"/>
              <a:t>2024-11-25</a:t>
            </a:fld>
            <a:endParaRPr lang="en-CA"/>
          </a:p>
        </p:txBody>
      </p:sp>
      <p:sp>
        <p:nvSpPr>
          <p:cNvPr id="5" name="Footer Placeholder 4">
            <a:extLst>
              <a:ext uri="{FF2B5EF4-FFF2-40B4-BE49-F238E27FC236}">
                <a16:creationId xmlns:a16="http://schemas.microsoft.com/office/drawing/2014/main" id="{8CD2EAFE-92BA-C096-D350-213B44821A06}"/>
              </a:ext>
            </a:extLst>
          </p:cNvPr>
          <p:cNvSpPr>
            <a:spLocks noGrp="1"/>
          </p:cNvSpPr>
          <p:nvPr>
            <p:ph type="ftr" sz="quarter" idx="11"/>
          </p:nvPr>
        </p:nvSpPr>
        <p:spPr/>
        <p:txBody>
          <a:bodyPr/>
          <a:lstStyle/>
          <a:p>
            <a:r>
              <a:rPr lang="en-US"/>
              <a:t>Padma T G, Dept of CSE,ACET</a:t>
            </a:r>
            <a:endParaRPr lang="en-CA"/>
          </a:p>
        </p:txBody>
      </p:sp>
      <p:sp>
        <p:nvSpPr>
          <p:cNvPr id="6" name="Slide Number Placeholder 5">
            <a:extLst>
              <a:ext uri="{FF2B5EF4-FFF2-40B4-BE49-F238E27FC236}">
                <a16:creationId xmlns:a16="http://schemas.microsoft.com/office/drawing/2014/main" id="{A000A8FE-73E0-FE3D-3B44-F93B0CEA13D8}"/>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200413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F2993-EFC9-7AD5-8345-259AA4DE9E2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5C3F306-F4DB-C022-9917-8D4EE00385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4E1877FB-9D86-18B5-2C44-717142DF5A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CE19152-7E8F-BCE8-B0A6-E1CAEA4C4372}"/>
              </a:ext>
            </a:extLst>
          </p:cNvPr>
          <p:cNvSpPr>
            <a:spLocks noGrp="1"/>
          </p:cNvSpPr>
          <p:nvPr>
            <p:ph type="dt" sz="half" idx="10"/>
          </p:nvPr>
        </p:nvSpPr>
        <p:spPr/>
        <p:txBody>
          <a:bodyPr/>
          <a:lstStyle/>
          <a:p>
            <a:fld id="{66C02734-14A2-46E7-91AB-78CBA42B58B9}" type="datetime1">
              <a:rPr lang="en-CA" smtClean="0"/>
              <a:t>2024-11-25</a:t>
            </a:fld>
            <a:endParaRPr lang="en-CA"/>
          </a:p>
        </p:txBody>
      </p:sp>
      <p:sp>
        <p:nvSpPr>
          <p:cNvPr id="6" name="Footer Placeholder 5">
            <a:extLst>
              <a:ext uri="{FF2B5EF4-FFF2-40B4-BE49-F238E27FC236}">
                <a16:creationId xmlns:a16="http://schemas.microsoft.com/office/drawing/2014/main" id="{DDBD84F0-253D-1423-22FB-FA8737986C21}"/>
              </a:ext>
            </a:extLst>
          </p:cNvPr>
          <p:cNvSpPr>
            <a:spLocks noGrp="1"/>
          </p:cNvSpPr>
          <p:nvPr>
            <p:ph type="ftr" sz="quarter" idx="11"/>
          </p:nvPr>
        </p:nvSpPr>
        <p:spPr/>
        <p:txBody>
          <a:bodyPr/>
          <a:lstStyle/>
          <a:p>
            <a:r>
              <a:rPr lang="en-US"/>
              <a:t>Padma T G, Dept of CSE,ACET</a:t>
            </a:r>
            <a:endParaRPr lang="en-CA"/>
          </a:p>
        </p:txBody>
      </p:sp>
      <p:sp>
        <p:nvSpPr>
          <p:cNvPr id="7" name="Slide Number Placeholder 6">
            <a:extLst>
              <a:ext uri="{FF2B5EF4-FFF2-40B4-BE49-F238E27FC236}">
                <a16:creationId xmlns:a16="http://schemas.microsoft.com/office/drawing/2014/main" id="{5D67A47C-E11B-F694-E5A1-F292A53FCFDC}"/>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814598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7EC40-36D7-7932-6AE9-6ACD3341A10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437E5B1-634A-0F63-D92B-E681B90F0B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8ACDB4-2444-8826-7DF9-523DB6CB7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41C73CC-1219-A109-9660-C261C84051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798B91-4DAD-307E-5FB2-5DD1A5C02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AFDED34-F094-6942-DF15-97510797B3CF}"/>
              </a:ext>
            </a:extLst>
          </p:cNvPr>
          <p:cNvSpPr>
            <a:spLocks noGrp="1"/>
          </p:cNvSpPr>
          <p:nvPr>
            <p:ph type="dt" sz="half" idx="10"/>
          </p:nvPr>
        </p:nvSpPr>
        <p:spPr/>
        <p:txBody>
          <a:bodyPr/>
          <a:lstStyle/>
          <a:p>
            <a:fld id="{F6F66DB0-46A1-4333-99EE-F71EAB6126C3}" type="datetime1">
              <a:rPr lang="en-CA" smtClean="0"/>
              <a:t>2024-11-25</a:t>
            </a:fld>
            <a:endParaRPr lang="en-CA"/>
          </a:p>
        </p:txBody>
      </p:sp>
      <p:sp>
        <p:nvSpPr>
          <p:cNvPr id="8" name="Footer Placeholder 7">
            <a:extLst>
              <a:ext uri="{FF2B5EF4-FFF2-40B4-BE49-F238E27FC236}">
                <a16:creationId xmlns:a16="http://schemas.microsoft.com/office/drawing/2014/main" id="{07F41AAE-6EA6-9F6F-DEEB-EA2A208F6A19}"/>
              </a:ext>
            </a:extLst>
          </p:cNvPr>
          <p:cNvSpPr>
            <a:spLocks noGrp="1"/>
          </p:cNvSpPr>
          <p:nvPr>
            <p:ph type="ftr" sz="quarter" idx="11"/>
          </p:nvPr>
        </p:nvSpPr>
        <p:spPr/>
        <p:txBody>
          <a:bodyPr/>
          <a:lstStyle/>
          <a:p>
            <a:r>
              <a:rPr lang="en-US"/>
              <a:t>Padma T G, Dept of CSE,ACET</a:t>
            </a:r>
            <a:endParaRPr lang="en-CA"/>
          </a:p>
        </p:txBody>
      </p:sp>
      <p:sp>
        <p:nvSpPr>
          <p:cNvPr id="9" name="Slide Number Placeholder 8">
            <a:extLst>
              <a:ext uri="{FF2B5EF4-FFF2-40B4-BE49-F238E27FC236}">
                <a16:creationId xmlns:a16="http://schemas.microsoft.com/office/drawing/2014/main" id="{788B0721-6692-73FF-3EEA-A5A5A4E001EB}"/>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3272858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F1ACF-043C-6141-2E68-E5419EC4E4A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CE7C6D42-057E-3749-3499-032466157958}"/>
              </a:ext>
            </a:extLst>
          </p:cNvPr>
          <p:cNvSpPr>
            <a:spLocks noGrp="1"/>
          </p:cNvSpPr>
          <p:nvPr>
            <p:ph type="dt" sz="half" idx="10"/>
          </p:nvPr>
        </p:nvSpPr>
        <p:spPr/>
        <p:txBody>
          <a:bodyPr/>
          <a:lstStyle/>
          <a:p>
            <a:fld id="{910F64CD-D0FA-4BF8-9487-14B2FBB10348}" type="datetime1">
              <a:rPr lang="en-CA" smtClean="0"/>
              <a:t>2024-11-25</a:t>
            </a:fld>
            <a:endParaRPr lang="en-CA"/>
          </a:p>
        </p:txBody>
      </p:sp>
      <p:sp>
        <p:nvSpPr>
          <p:cNvPr id="4" name="Footer Placeholder 3">
            <a:extLst>
              <a:ext uri="{FF2B5EF4-FFF2-40B4-BE49-F238E27FC236}">
                <a16:creationId xmlns:a16="http://schemas.microsoft.com/office/drawing/2014/main" id="{CCBD7869-0293-094C-BB0B-86E2B075F877}"/>
              </a:ext>
            </a:extLst>
          </p:cNvPr>
          <p:cNvSpPr>
            <a:spLocks noGrp="1"/>
          </p:cNvSpPr>
          <p:nvPr>
            <p:ph type="ftr" sz="quarter" idx="11"/>
          </p:nvPr>
        </p:nvSpPr>
        <p:spPr/>
        <p:txBody>
          <a:bodyPr/>
          <a:lstStyle/>
          <a:p>
            <a:r>
              <a:rPr lang="en-US"/>
              <a:t>Padma T G, Dept of CSE,ACET</a:t>
            </a:r>
            <a:endParaRPr lang="en-CA"/>
          </a:p>
        </p:txBody>
      </p:sp>
      <p:sp>
        <p:nvSpPr>
          <p:cNvPr id="5" name="Slide Number Placeholder 4">
            <a:extLst>
              <a:ext uri="{FF2B5EF4-FFF2-40B4-BE49-F238E27FC236}">
                <a16:creationId xmlns:a16="http://schemas.microsoft.com/office/drawing/2014/main" id="{D4D8FBE8-0158-A2C9-CEFC-C4CDAEAB348E}"/>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3100128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A3B3B9-3F6D-B22E-5308-B2DEA2EACE89}"/>
              </a:ext>
            </a:extLst>
          </p:cNvPr>
          <p:cNvSpPr>
            <a:spLocks noGrp="1"/>
          </p:cNvSpPr>
          <p:nvPr>
            <p:ph type="dt" sz="half" idx="10"/>
          </p:nvPr>
        </p:nvSpPr>
        <p:spPr/>
        <p:txBody>
          <a:bodyPr/>
          <a:lstStyle/>
          <a:p>
            <a:fld id="{527E485B-3202-4BE3-BE31-7C5CAAEA1BD8}" type="datetime1">
              <a:rPr lang="en-CA" smtClean="0"/>
              <a:t>2024-11-25</a:t>
            </a:fld>
            <a:endParaRPr lang="en-CA"/>
          </a:p>
        </p:txBody>
      </p:sp>
      <p:sp>
        <p:nvSpPr>
          <p:cNvPr id="3" name="Footer Placeholder 2">
            <a:extLst>
              <a:ext uri="{FF2B5EF4-FFF2-40B4-BE49-F238E27FC236}">
                <a16:creationId xmlns:a16="http://schemas.microsoft.com/office/drawing/2014/main" id="{2E58CB6E-586D-C89E-366F-3A2A47C33208}"/>
              </a:ext>
            </a:extLst>
          </p:cNvPr>
          <p:cNvSpPr>
            <a:spLocks noGrp="1"/>
          </p:cNvSpPr>
          <p:nvPr>
            <p:ph type="ftr" sz="quarter" idx="11"/>
          </p:nvPr>
        </p:nvSpPr>
        <p:spPr/>
        <p:txBody>
          <a:bodyPr/>
          <a:lstStyle/>
          <a:p>
            <a:r>
              <a:rPr lang="en-US"/>
              <a:t>Padma T G, Dept of CSE,ACET</a:t>
            </a:r>
            <a:endParaRPr lang="en-CA"/>
          </a:p>
        </p:txBody>
      </p:sp>
      <p:sp>
        <p:nvSpPr>
          <p:cNvPr id="4" name="Slide Number Placeholder 3">
            <a:extLst>
              <a:ext uri="{FF2B5EF4-FFF2-40B4-BE49-F238E27FC236}">
                <a16:creationId xmlns:a16="http://schemas.microsoft.com/office/drawing/2014/main" id="{3D61E371-3668-9263-0DFF-A92B861FF444}"/>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2488376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1A6B8-C4AA-FD26-C8B0-C2BC7848D8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26901A5-14AD-9A72-231C-57A116589F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2BD7F0A-297C-6F5A-8C0C-44EDAB196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0CB3CC-0F02-E7AD-A721-840817A0BDCE}"/>
              </a:ext>
            </a:extLst>
          </p:cNvPr>
          <p:cNvSpPr>
            <a:spLocks noGrp="1"/>
          </p:cNvSpPr>
          <p:nvPr>
            <p:ph type="dt" sz="half" idx="10"/>
          </p:nvPr>
        </p:nvSpPr>
        <p:spPr/>
        <p:txBody>
          <a:bodyPr/>
          <a:lstStyle/>
          <a:p>
            <a:fld id="{C9FD6661-87AD-47A8-96F9-CA9F2AE745B4}" type="datetime1">
              <a:rPr lang="en-CA" smtClean="0"/>
              <a:t>2024-11-25</a:t>
            </a:fld>
            <a:endParaRPr lang="en-CA"/>
          </a:p>
        </p:txBody>
      </p:sp>
      <p:sp>
        <p:nvSpPr>
          <p:cNvPr id="6" name="Footer Placeholder 5">
            <a:extLst>
              <a:ext uri="{FF2B5EF4-FFF2-40B4-BE49-F238E27FC236}">
                <a16:creationId xmlns:a16="http://schemas.microsoft.com/office/drawing/2014/main" id="{CA17CE8A-1538-7B76-62E4-92048ADB053E}"/>
              </a:ext>
            </a:extLst>
          </p:cNvPr>
          <p:cNvSpPr>
            <a:spLocks noGrp="1"/>
          </p:cNvSpPr>
          <p:nvPr>
            <p:ph type="ftr" sz="quarter" idx="11"/>
          </p:nvPr>
        </p:nvSpPr>
        <p:spPr/>
        <p:txBody>
          <a:bodyPr/>
          <a:lstStyle/>
          <a:p>
            <a:r>
              <a:rPr lang="en-US"/>
              <a:t>Padma T G, Dept of CSE,ACET</a:t>
            </a:r>
            <a:endParaRPr lang="en-CA"/>
          </a:p>
        </p:txBody>
      </p:sp>
      <p:sp>
        <p:nvSpPr>
          <p:cNvPr id="7" name="Slide Number Placeholder 6">
            <a:extLst>
              <a:ext uri="{FF2B5EF4-FFF2-40B4-BE49-F238E27FC236}">
                <a16:creationId xmlns:a16="http://schemas.microsoft.com/office/drawing/2014/main" id="{03B48E5A-0A9E-D201-A856-AB5467C60F0C}"/>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3669077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2F37-5EA2-2A2F-9A59-2C1F71CB78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9B921BD-E39E-D5F3-4E51-CAA8A4B80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90DBCD3-08EF-AE0F-E934-0FAD480C8D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13DF87-6D13-B98D-A0C9-0E9EBA9DEAB7}"/>
              </a:ext>
            </a:extLst>
          </p:cNvPr>
          <p:cNvSpPr>
            <a:spLocks noGrp="1"/>
          </p:cNvSpPr>
          <p:nvPr>
            <p:ph type="dt" sz="half" idx="10"/>
          </p:nvPr>
        </p:nvSpPr>
        <p:spPr/>
        <p:txBody>
          <a:bodyPr/>
          <a:lstStyle/>
          <a:p>
            <a:fld id="{75C232A1-9833-45A7-8247-C6B8F67E1D99}" type="datetime1">
              <a:rPr lang="en-CA" smtClean="0"/>
              <a:t>2024-11-25</a:t>
            </a:fld>
            <a:endParaRPr lang="en-CA"/>
          </a:p>
        </p:txBody>
      </p:sp>
      <p:sp>
        <p:nvSpPr>
          <p:cNvPr id="6" name="Footer Placeholder 5">
            <a:extLst>
              <a:ext uri="{FF2B5EF4-FFF2-40B4-BE49-F238E27FC236}">
                <a16:creationId xmlns:a16="http://schemas.microsoft.com/office/drawing/2014/main" id="{6495BCBE-CDD3-DF11-C24C-AA0237E7FD78}"/>
              </a:ext>
            </a:extLst>
          </p:cNvPr>
          <p:cNvSpPr>
            <a:spLocks noGrp="1"/>
          </p:cNvSpPr>
          <p:nvPr>
            <p:ph type="ftr" sz="quarter" idx="11"/>
          </p:nvPr>
        </p:nvSpPr>
        <p:spPr/>
        <p:txBody>
          <a:bodyPr/>
          <a:lstStyle/>
          <a:p>
            <a:r>
              <a:rPr lang="en-US"/>
              <a:t>Padma T G, Dept of CSE,ACET</a:t>
            </a:r>
            <a:endParaRPr lang="en-CA"/>
          </a:p>
        </p:txBody>
      </p:sp>
      <p:sp>
        <p:nvSpPr>
          <p:cNvPr id="7" name="Slide Number Placeholder 6">
            <a:extLst>
              <a:ext uri="{FF2B5EF4-FFF2-40B4-BE49-F238E27FC236}">
                <a16:creationId xmlns:a16="http://schemas.microsoft.com/office/drawing/2014/main" id="{DDFCE686-F371-99F1-4B46-D851D63D1D6A}"/>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149336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E913-034C-2F89-43F6-E3F3C1D0A4E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7D44967-030B-8BF5-3F91-5B2E09E819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6389261-7495-9E2A-EAE3-4240BABC36A3}"/>
              </a:ext>
            </a:extLst>
          </p:cNvPr>
          <p:cNvSpPr>
            <a:spLocks noGrp="1"/>
          </p:cNvSpPr>
          <p:nvPr>
            <p:ph type="dt" sz="half" idx="10"/>
          </p:nvPr>
        </p:nvSpPr>
        <p:spPr/>
        <p:txBody>
          <a:bodyPr/>
          <a:lstStyle/>
          <a:p>
            <a:fld id="{D1187EE9-8892-4FAC-9CD8-24FDA4F9A6EB}" type="datetime1">
              <a:rPr lang="en-CA" smtClean="0"/>
              <a:t>2024-11-25</a:t>
            </a:fld>
            <a:endParaRPr lang="en-CA"/>
          </a:p>
        </p:txBody>
      </p:sp>
      <p:sp>
        <p:nvSpPr>
          <p:cNvPr id="5" name="Footer Placeholder 4">
            <a:extLst>
              <a:ext uri="{FF2B5EF4-FFF2-40B4-BE49-F238E27FC236}">
                <a16:creationId xmlns:a16="http://schemas.microsoft.com/office/drawing/2014/main" id="{F45E26BB-E3F1-E8E3-8757-D4004C34A19A}"/>
              </a:ext>
            </a:extLst>
          </p:cNvPr>
          <p:cNvSpPr>
            <a:spLocks noGrp="1"/>
          </p:cNvSpPr>
          <p:nvPr>
            <p:ph type="ftr" sz="quarter" idx="11"/>
          </p:nvPr>
        </p:nvSpPr>
        <p:spPr/>
        <p:txBody>
          <a:bodyPr/>
          <a:lstStyle/>
          <a:p>
            <a:r>
              <a:rPr lang="en-US"/>
              <a:t>Padma T G, Dept of CSE,ACET</a:t>
            </a:r>
            <a:endParaRPr lang="en-CA"/>
          </a:p>
        </p:txBody>
      </p:sp>
      <p:sp>
        <p:nvSpPr>
          <p:cNvPr id="6" name="Slide Number Placeholder 5">
            <a:extLst>
              <a:ext uri="{FF2B5EF4-FFF2-40B4-BE49-F238E27FC236}">
                <a16:creationId xmlns:a16="http://schemas.microsoft.com/office/drawing/2014/main" id="{14268670-84F9-097E-FA86-B4446140C907}"/>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2553717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5554EF-A096-2C96-229F-04000B2746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E0A5648-7DFF-C2E0-57F1-715E1D2D28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5623B0-2EC7-9360-84F4-0F343941A4CF}"/>
              </a:ext>
            </a:extLst>
          </p:cNvPr>
          <p:cNvSpPr>
            <a:spLocks noGrp="1"/>
          </p:cNvSpPr>
          <p:nvPr>
            <p:ph type="dt" sz="half" idx="10"/>
          </p:nvPr>
        </p:nvSpPr>
        <p:spPr/>
        <p:txBody>
          <a:bodyPr/>
          <a:lstStyle/>
          <a:p>
            <a:fld id="{F10C8962-C0A0-413A-8AAD-59D936E197FF}" type="datetime1">
              <a:rPr lang="en-CA" smtClean="0"/>
              <a:t>2024-11-25</a:t>
            </a:fld>
            <a:endParaRPr lang="en-CA"/>
          </a:p>
        </p:txBody>
      </p:sp>
      <p:sp>
        <p:nvSpPr>
          <p:cNvPr id="5" name="Footer Placeholder 4">
            <a:extLst>
              <a:ext uri="{FF2B5EF4-FFF2-40B4-BE49-F238E27FC236}">
                <a16:creationId xmlns:a16="http://schemas.microsoft.com/office/drawing/2014/main" id="{704FA0BD-6546-18B2-1FEE-E7C7B1D314E9}"/>
              </a:ext>
            </a:extLst>
          </p:cNvPr>
          <p:cNvSpPr>
            <a:spLocks noGrp="1"/>
          </p:cNvSpPr>
          <p:nvPr>
            <p:ph type="ftr" sz="quarter" idx="11"/>
          </p:nvPr>
        </p:nvSpPr>
        <p:spPr/>
        <p:txBody>
          <a:bodyPr/>
          <a:lstStyle/>
          <a:p>
            <a:r>
              <a:rPr lang="en-US"/>
              <a:t>Padma T G, Dept of CSE,ACET</a:t>
            </a:r>
            <a:endParaRPr lang="en-CA"/>
          </a:p>
        </p:txBody>
      </p:sp>
      <p:sp>
        <p:nvSpPr>
          <p:cNvPr id="6" name="Slide Number Placeholder 5">
            <a:extLst>
              <a:ext uri="{FF2B5EF4-FFF2-40B4-BE49-F238E27FC236}">
                <a16:creationId xmlns:a16="http://schemas.microsoft.com/office/drawing/2014/main" id="{D844145B-CD59-D368-FCA8-96694D2120E9}"/>
              </a:ext>
            </a:extLst>
          </p:cNvPr>
          <p:cNvSpPr>
            <a:spLocks noGrp="1"/>
          </p:cNvSpPr>
          <p:nvPr>
            <p:ph type="sldNum" sz="quarter" idx="12"/>
          </p:nvPr>
        </p:nvSpPr>
        <p:spPr/>
        <p:txBody>
          <a:bodyPr/>
          <a:lstStyle/>
          <a:p>
            <a:fld id="{1B30955D-932C-4854-A959-165FD093F99E}" type="slidenum">
              <a:rPr lang="en-CA" smtClean="0"/>
              <a:t>‹#›</a:t>
            </a:fld>
            <a:endParaRPr lang="en-CA"/>
          </a:p>
        </p:txBody>
      </p:sp>
    </p:spTree>
    <p:extLst>
      <p:ext uri="{BB962C8B-B14F-4D97-AF65-F5344CB8AC3E}">
        <p14:creationId xmlns:p14="http://schemas.microsoft.com/office/powerpoint/2010/main" val="27432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6CE51E-F84D-844D-2F83-D843B1690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E1E9E8F-61A7-18B2-54FB-259623036D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5055FEE-FA9D-B382-3C2E-416BFA3F37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B0C09A-A032-40B0-A93D-EF65A2D86B67}" type="datetime1">
              <a:rPr lang="en-CA" smtClean="0"/>
              <a:t>2024-11-25</a:t>
            </a:fld>
            <a:endParaRPr lang="en-CA"/>
          </a:p>
        </p:txBody>
      </p:sp>
      <p:sp>
        <p:nvSpPr>
          <p:cNvPr id="5" name="Footer Placeholder 4">
            <a:extLst>
              <a:ext uri="{FF2B5EF4-FFF2-40B4-BE49-F238E27FC236}">
                <a16:creationId xmlns:a16="http://schemas.microsoft.com/office/drawing/2014/main" id="{DA24C28D-8C1B-5D29-720C-D623BDA7D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Padma T G, Dept of CSE,ACET</a:t>
            </a:r>
            <a:endParaRPr lang="en-CA"/>
          </a:p>
        </p:txBody>
      </p:sp>
      <p:sp>
        <p:nvSpPr>
          <p:cNvPr id="6" name="Slide Number Placeholder 5">
            <a:extLst>
              <a:ext uri="{FF2B5EF4-FFF2-40B4-BE49-F238E27FC236}">
                <a16:creationId xmlns:a16="http://schemas.microsoft.com/office/drawing/2014/main" id="{07D6769C-3571-9BBB-ABD3-33398AC701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30955D-932C-4854-A959-165FD093F99E}" type="slidenum">
              <a:rPr lang="en-CA" smtClean="0"/>
              <a:t>‹#›</a:t>
            </a:fld>
            <a:endParaRPr lang="en-CA"/>
          </a:p>
        </p:txBody>
      </p:sp>
    </p:spTree>
    <p:extLst>
      <p:ext uri="{BB962C8B-B14F-4D97-AF65-F5344CB8AC3E}">
        <p14:creationId xmlns:p14="http://schemas.microsoft.com/office/powerpoint/2010/main" val="101077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3E6C-EFAD-6F5E-2D77-60AE6A3D0714}"/>
              </a:ext>
            </a:extLst>
          </p:cNvPr>
          <p:cNvSpPr>
            <a:spLocks noGrp="1"/>
          </p:cNvSpPr>
          <p:nvPr>
            <p:ph type="ctrTitle"/>
          </p:nvPr>
        </p:nvSpPr>
        <p:spPr/>
        <p:txBody>
          <a:bodyPr/>
          <a:lstStyle/>
          <a:p>
            <a:r>
              <a:rPr lang="en-CA" dirty="0"/>
              <a:t>C Programming </a:t>
            </a:r>
          </a:p>
        </p:txBody>
      </p:sp>
      <p:sp>
        <p:nvSpPr>
          <p:cNvPr id="3" name="Subtitle 2">
            <a:extLst>
              <a:ext uri="{FF2B5EF4-FFF2-40B4-BE49-F238E27FC236}">
                <a16:creationId xmlns:a16="http://schemas.microsoft.com/office/drawing/2014/main" id="{65EA105A-753F-E6B6-19C2-E60DF217FE60}"/>
              </a:ext>
            </a:extLst>
          </p:cNvPr>
          <p:cNvSpPr>
            <a:spLocks noGrp="1"/>
          </p:cNvSpPr>
          <p:nvPr>
            <p:ph type="subTitle" idx="1"/>
          </p:nvPr>
        </p:nvSpPr>
        <p:spPr/>
        <p:txBody>
          <a:bodyPr/>
          <a:lstStyle/>
          <a:p>
            <a:r>
              <a:rPr lang="en-CA" dirty="0"/>
              <a:t>Padma T G</a:t>
            </a:r>
          </a:p>
          <a:p>
            <a:r>
              <a:rPr lang="en-CA" dirty="0"/>
              <a:t>Department of CSE,ACET</a:t>
            </a:r>
          </a:p>
        </p:txBody>
      </p:sp>
      <p:sp>
        <p:nvSpPr>
          <p:cNvPr id="4" name="Footer Placeholder 3">
            <a:extLst>
              <a:ext uri="{FF2B5EF4-FFF2-40B4-BE49-F238E27FC236}">
                <a16:creationId xmlns:a16="http://schemas.microsoft.com/office/drawing/2014/main" id="{C3E8FBED-74A4-2052-8405-1B7985046863}"/>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513611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86C7C-BC94-DD7A-8F3F-308D6BF4EEA1}"/>
              </a:ext>
            </a:extLst>
          </p:cNvPr>
          <p:cNvSpPr>
            <a:spLocks noGrp="1"/>
          </p:cNvSpPr>
          <p:nvPr>
            <p:ph type="title"/>
          </p:nvPr>
        </p:nvSpPr>
        <p:spPr/>
        <p:txBody>
          <a:bodyPr/>
          <a:lstStyle/>
          <a:p>
            <a:pPr algn="ctr"/>
            <a:r>
              <a:rPr lang="en-US" dirty="0"/>
              <a:t>History and Importance of C Programming</a:t>
            </a:r>
            <a:endParaRPr lang="en-CA" dirty="0"/>
          </a:p>
        </p:txBody>
      </p:sp>
      <p:sp>
        <p:nvSpPr>
          <p:cNvPr id="3" name="Content Placeholder 2">
            <a:extLst>
              <a:ext uri="{FF2B5EF4-FFF2-40B4-BE49-F238E27FC236}">
                <a16:creationId xmlns:a16="http://schemas.microsoft.com/office/drawing/2014/main" id="{D1DDFA4A-31F1-76C0-1D62-170B02C28280}"/>
              </a:ext>
            </a:extLst>
          </p:cNvPr>
          <p:cNvSpPr>
            <a:spLocks noGrp="1"/>
          </p:cNvSpPr>
          <p:nvPr>
            <p:ph idx="1"/>
          </p:nvPr>
        </p:nvSpPr>
        <p:spPr/>
        <p:txBody>
          <a:bodyPr>
            <a:normAutofit fontScale="92500" lnSpcReduction="10000"/>
          </a:bodyPr>
          <a:lstStyle/>
          <a:p>
            <a:r>
              <a:rPr lang="en-US" dirty="0"/>
              <a:t>Origin of C Language:</a:t>
            </a:r>
          </a:p>
          <a:p>
            <a:endParaRPr lang="en-US" dirty="0"/>
          </a:p>
          <a:p>
            <a:r>
              <a:rPr lang="en-US" dirty="0"/>
              <a:t>    Developed in the early 1970s by Dennis Ritchie at Bell Labs.</a:t>
            </a:r>
          </a:p>
          <a:p>
            <a:r>
              <a:rPr lang="en-US" dirty="0"/>
              <a:t>    Created to write the UNIX operating system.</a:t>
            </a:r>
          </a:p>
          <a:p>
            <a:endParaRPr lang="en-US" dirty="0"/>
          </a:p>
          <a:p>
            <a:r>
              <a:rPr lang="en-US" dirty="0"/>
              <a:t>Foundation for Modern Languages:</a:t>
            </a:r>
          </a:p>
          <a:p>
            <a:pPr marL="0" indent="0">
              <a:buNone/>
            </a:pPr>
            <a:endParaRPr lang="en-US" dirty="0"/>
          </a:p>
          <a:p>
            <a:r>
              <a:rPr lang="en-US" dirty="0"/>
              <a:t>    C is the "mother" of many modern languages like C++, Java, and C#.</a:t>
            </a:r>
          </a:p>
          <a:p>
            <a:r>
              <a:rPr lang="en-US" dirty="0"/>
              <a:t>    Learning C provides a strong foundation for understanding these languages.</a:t>
            </a:r>
            <a:endParaRPr lang="en-CA" dirty="0"/>
          </a:p>
        </p:txBody>
      </p:sp>
      <p:sp>
        <p:nvSpPr>
          <p:cNvPr id="4" name="Footer Placeholder 3">
            <a:extLst>
              <a:ext uri="{FF2B5EF4-FFF2-40B4-BE49-F238E27FC236}">
                <a16:creationId xmlns:a16="http://schemas.microsoft.com/office/drawing/2014/main" id="{D21D082E-771F-A7B0-FD1F-A7163B679BF0}"/>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187472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6F555-0661-15AF-C621-2EA12BC0984E}"/>
              </a:ext>
            </a:extLst>
          </p:cNvPr>
          <p:cNvSpPr>
            <a:spLocks noGrp="1"/>
          </p:cNvSpPr>
          <p:nvPr>
            <p:ph type="title"/>
          </p:nvPr>
        </p:nvSpPr>
        <p:spPr/>
        <p:txBody>
          <a:bodyPr/>
          <a:lstStyle/>
          <a:p>
            <a:pPr algn="ctr"/>
            <a:r>
              <a:rPr lang="en-US" dirty="0"/>
              <a:t>Advantages and Disadvantages of C</a:t>
            </a:r>
            <a:endParaRPr lang="en-CA" dirty="0"/>
          </a:p>
        </p:txBody>
      </p:sp>
      <p:sp>
        <p:nvSpPr>
          <p:cNvPr id="3" name="Content Placeholder 2">
            <a:extLst>
              <a:ext uri="{FF2B5EF4-FFF2-40B4-BE49-F238E27FC236}">
                <a16:creationId xmlns:a16="http://schemas.microsoft.com/office/drawing/2014/main" id="{A302F99C-B901-A537-3F26-54C86BED4EF6}"/>
              </a:ext>
            </a:extLst>
          </p:cNvPr>
          <p:cNvSpPr>
            <a:spLocks noGrp="1"/>
          </p:cNvSpPr>
          <p:nvPr>
            <p:ph idx="1"/>
          </p:nvPr>
        </p:nvSpPr>
        <p:spPr>
          <a:xfrm>
            <a:off x="478971" y="1825625"/>
            <a:ext cx="11146972" cy="4667250"/>
          </a:xfrm>
        </p:spPr>
        <p:txBody>
          <a:bodyPr>
            <a:normAutofit fontScale="92500"/>
          </a:bodyPr>
          <a:lstStyle/>
          <a:p>
            <a:r>
              <a:rPr lang="en-US" dirty="0"/>
              <a:t>Advantages:</a:t>
            </a:r>
          </a:p>
          <a:p>
            <a:r>
              <a:rPr lang="en-US" dirty="0"/>
              <a:t>    Portability: Easily transferred across machines.</a:t>
            </a:r>
          </a:p>
          <a:p>
            <a:r>
              <a:rPr lang="en-US" dirty="0"/>
              <a:t>    Efficiency: Ideal for system software.</a:t>
            </a:r>
          </a:p>
          <a:p>
            <a:r>
              <a:rPr lang="en-US" dirty="0"/>
              <a:t>    Versatility: Used in OS development, embedded systems, game development, etc.</a:t>
            </a:r>
          </a:p>
          <a:p>
            <a:r>
              <a:rPr lang="en-US" dirty="0"/>
              <a:t>Disadvantages:</a:t>
            </a:r>
          </a:p>
          <a:p>
            <a:r>
              <a:rPr lang="en-US" dirty="0"/>
              <a:t>C does not provide built-in support for concurrency, making it more difficult to write multithreaded applications compared to languages like Java or Go.</a:t>
            </a:r>
          </a:p>
          <a:p>
            <a:r>
              <a:rPr lang="en-US" dirty="0"/>
              <a:t>Lack of memory management and object-oriented programming support.</a:t>
            </a:r>
          </a:p>
          <a:p>
            <a:r>
              <a:rPr lang="en-US" dirty="0"/>
              <a:t>    Security vulnerabilities.</a:t>
            </a:r>
            <a:endParaRPr lang="en-CA" dirty="0"/>
          </a:p>
        </p:txBody>
      </p:sp>
      <p:sp>
        <p:nvSpPr>
          <p:cNvPr id="4" name="Footer Placeholder 3">
            <a:extLst>
              <a:ext uri="{FF2B5EF4-FFF2-40B4-BE49-F238E27FC236}">
                <a16:creationId xmlns:a16="http://schemas.microsoft.com/office/drawing/2014/main" id="{95FE3189-E422-4C22-F62E-F943A2AC6B0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042667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1B8E-7AC2-428F-A4F8-7B7621ADEEF9}"/>
              </a:ext>
            </a:extLst>
          </p:cNvPr>
          <p:cNvSpPr>
            <a:spLocks noGrp="1"/>
          </p:cNvSpPr>
          <p:nvPr>
            <p:ph type="title"/>
          </p:nvPr>
        </p:nvSpPr>
        <p:spPr/>
        <p:txBody>
          <a:bodyPr/>
          <a:lstStyle/>
          <a:p>
            <a:pPr algn="ctr"/>
            <a:r>
              <a:rPr lang="en-CA" dirty="0"/>
              <a:t>Real-World Applications of C</a:t>
            </a:r>
          </a:p>
        </p:txBody>
      </p:sp>
      <p:sp>
        <p:nvSpPr>
          <p:cNvPr id="3" name="Content Placeholder 2">
            <a:extLst>
              <a:ext uri="{FF2B5EF4-FFF2-40B4-BE49-F238E27FC236}">
                <a16:creationId xmlns:a16="http://schemas.microsoft.com/office/drawing/2014/main" id="{83BF9323-EF7B-A5D6-F38A-F807D5701CA0}"/>
              </a:ext>
            </a:extLst>
          </p:cNvPr>
          <p:cNvSpPr>
            <a:spLocks noGrp="1"/>
          </p:cNvSpPr>
          <p:nvPr>
            <p:ph idx="1"/>
          </p:nvPr>
        </p:nvSpPr>
        <p:spPr/>
        <p:txBody>
          <a:bodyPr/>
          <a:lstStyle/>
          <a:p>
            <a:r>
              <a:rPr lang="en-CA" dirty="0"/>
              <a:t>Operating Systems: Unix, Linux, Windows.</a:t>
            </a:r>
          </a:p>
          <a:p>
            <a:r>
              <a:rPr lang="en-CA" dirty="0"/>
              <a:t>Embedded Systems: Microcontrollers, microprocessors.</a:t>
            </a:r>
          </a:p>
          <a:p>
            <a:r>
              <a:rPr lang="en-CA" dirty="0"/>
              <a:t>System Software: Device drivers, compilers, assemblers.</a:t>
            </a:r>
          </a:p>
          <a:p>
            <a:r>
              <a:rPr lang="en-CA" dirty="0"/>
              <a:t>Others: Networking applications, database systems, gaming, AI, and scientific applications.</a:t>
            </a:r>
          </a:p>
        </p:txBody>
      </p:sp>
      <p:sp>
        <p:nvSpPr>
          <p:cNvPr id="4" name="Footer Placeholder 3">
            <a:extLst>
              <a:ext uri="{FF2B5EF4-FFF2-40B4-BE49-F238E27FC236}">
                <a16:creationId xmlns:a16="http://schemas.microsoft.com/office/drawing/2014/main" id="{0630F129-BCD7-5214-4FDA-C325160F966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577146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3463DD-C8E8-40DE-493B-795301A23614}"/>
              </a:ext>
            </a:extLst>
          </p:cNvPr>
          <p:cNvSpPr>
            <a:spLocks noGrp="1"/>
          </p:cNvSpPr>
          <p:nvPr>
            <p:ph idx="1"/>
          </p:nvPr>
        </p:nvSpPr>
        <p:spPr>
          <a:xfrm>
            <a:off x="838200" y="619432"/>
            <a:ext cx="10515600" cy="5557531"/>
          </a:xfrm>
        </p:spPr>
        <p:txBody>
          <a:bodyPr/>
          <a:lstStyle/>
          <a:p>
            <a:r>
              <a:rPr lang="en-CA" b="1" dirty="0"/>
              <a:t>Google</a:t>
            </a:r>
          </a:p>
          <a:p>
            <a:r>
              <a:rPr lang="en-CA" b="1" dirty="0"/>
              <a:t>Microsoft</a:t>
            </a:r>
          </a:p>
          <a:p>
            <a:r>
              <a:rPr lang="en-CA" dirty="0"/>
              <a:t>Apple</a:t>
            </a:r>
            <a:endParaRPr lang="en-CA" b="1" dirty="0"/>
          </a:p>
          <a:p>
            <a:r>
              <a:rPr lang="en-CA" b="1" dirty="0"/>
              <a:t>Amazon</a:t>
            </a:r>
          </a:p>
          <a:p>
            <a:r>
              <a:rPr lang="en-CA" dirty="0"/>
              <a:t>NVIDIA</a:t>
            </a:r>
            <a:endParaRPr lang="en-CA" b="1" dirty="0"/>
          </a:p>
          <a:p>
            <a:r>
              <a:rPr lang="en-CA" b="1" dirty="0"/>
              <a:t>Qualcomm</a:t>
            </a:r>
          </a:p>
          <a:p>
            <a:r>
              <a:rPr lang="en-CA" b="1" dirty="0"/>
              <a:t>Intel</a:t>
            </a:r>
          </a:p>
          <a:p>
            <a:r>
              <a:rPr lang="en-CA" dirty="0"/>
              <a:t>Electronic Arts</a:t>
            </a:r>
            <a:endParaRPr lang="en-CA" b="1" dirty="0"/>
          </a:p>
          <a:p>
            <a:r>
              <a:rPr lang="en-CA" b="1" dirty="0"/>
              <a:t>Ubisoft</a:t>
            </a:r>
          </a:p>
          <a:p>
            <a:r>
              <a:rPr lang="en-CA" b="1" dirty="0"/>
              <a:t>Epic Games</a:t>
            </a:r>
            <a:endParaRPr lang="en-CA" dirty="0"/>
          </a:p>
        </p:txBody>
      </p:sp>
      <p:sp>
        <p:nvSpPr>
          <p:cNvPr id="5" name="TextBox 4">
            <a:extLst>
              <a:ext uri="{FF2B5EF4-FFF2-40B4-BE49-F238E27FC236}">
                <a16:creationId xmlns:a16="http://schemas.microsoft.com/office/drawing/2014/main" id="{3273209A-4547-9D61-D304-5C1DB844502C}"/>
              </a:ext>
            </a:extLst>
          </p:cNvPr>
          <p:cNvSpPr txBox="1"/>
          <p:nvPr/>
        </p:nvSpPr>
        <p:spPr>
          <a:xfrm>
            <a:off x="5594555" y="1506483"/>
            <a:ext cx="5260258" cy="369332"/>
          </a:xfrm>
          <a:prstGeom prst="rect">
            <a:avLst/>
          </a:prstGeom>
          <a:noFill/>
        </p:spPr>
        <p:txBody>
          <a:bodyPr wrap="square">
            <a:spAutoFit/>
          </a:bodyPr>
          <a:lstStyle/>
          <a:p>
            <a:r>
              <a:rPr lang="en-US" b="1" dirty="0"/>
              <a:t>"Aim for the moon. If you miss, you may hit a star."</a:t>
            </a:r>
            <a:endParaRPr lang="en-CA" b="1" dirty="0"/>
          </a:p>
        </p:txBody>
      </p:sp>
      <p:sp>
        <p:nvSpPr>
          <p:cNvPr id="2" name="Footer Placeholder 1">
            <a:extLst>
              <a:ext uri="{FF2B5EF4-FFF2-40B4-BE49-F238E27FC236}">
                <a16:creationId xmlns:a16="http://schemas.microsoft.com/office/drawing/2014/main" id="{8AAC995B-9AEC-88CC-9367-85E386AAAEA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264598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CA70-572F-0454-43C9-1C73C9F523E2}"/>
              </a:ext>
            </a:extLst>
          </p:cNvPr>
          <p:cNvSpPr>
            <a:spLocks noGrp="1"/>
          </p:cNvSpPr>
          <p:nvPr>
            <p:ph type="title"/>
          </p:nvPr>
        </p:nvSpPr>
        <p:spPr/>
        <p:txBody>
          <a:bodyPr/>
          <a:lstStyle/>
          <a:p>
            <a:pPr algn="ctr"/>
            <a:r>
              <a:rPr lang="en-US" dirty="0"/>
              <a:t>Structure of a C Program</a:t>
            </a:r>
            <a:endParaRPr lang="en-CA" dirty="0"/>
          </a:p>
        </p:txBody>
      </p:sp>
      <p:sp>
        <p:nvSpPr>
          <p:cNvPr id="3" name="Content Placeholder 2">
            <a:extLst>
              <a:ext uri="{FF2B5EF4-FFF2-40B4-BE49-F238E27FC236}">
                <a16:creationId xmlns:a16="http://schemas.microsoft.com/office/drawing/2014/main" id="{F446F76A-6088-33AD-1987-233BCA9EDF33}"/>
              </a:ext>
            </a:extLst>
          </p:cNvPr>
          <p:cNvSpPr>
            <a:spLocks noGrp="1"/>
          </p:cNvSpPr>
          <p:nvPr>
            <p:ph idx="1"/>
          </p:nvPr>
        </p:nvSpPr>
        <p:spPr/>
        <p:txBody>
          <a:bodyPr>
            <a:normAutofit/>
          </a:bodyPr>
          <a:lstStyle/>
          <a:p>
            <a:r>
              <a:rPr lang="en-US" sz="2000" dirty="0"/>
              <a:t>Components of a C Program:</a:t>
            </a:r>
          </a:p>
          <a:p>
            <a:r>
              <a:rPr lang="en-US" sz="2000" dirty="0"/>
              <a:t>    Header Files Inclusion: #include &lt;</a:t>
            </a:r>
            <a:r>
              <a:rPr lang="en-US" sz="2000" dirty="0" err="1"/>
              <a:t>stdio.h</a:t>
            </a:r>
            <a:r>
              <a:rPr lang="en-US" sz="2000" dirty="0"/>
              <a:t>&gt;</a:t>
            </a:r>
          </a:p>
          <a:p>
            <a:r>
              <a:rPr lang="en-US" sz="2000" dirty="0"/>
              <a:t>    Main Method Declaration: int main()</a:t>
            </a:r>
          </a:p>
          <a:p>
            <a:r>
              <a:rPr lang="en-US" sz="2000" dirty="0"/>
              <a:t>    Body of Main Method: Code within { }</a:t>
            </a:r>
          </a:p>
          <a:p>
            <a:r>
              <a:rPr lang="en-US" sz="2000" dirty="0"/>
              <a:t>    Statements: Instructions like </a:t>
            </a:r>
            <a:r>
              <a:rPr lang="en-US" sz="2000" dirty="0" err="1"/>
              <a:t>printf</a:t>
            </a:r>
            <a:r>
              <a:rPr lang="en-US" sz="2000" dirty="0"/>
              <a:t>()</a:t>
            </a:r>
          </a:p>
          <a:p>
            <a:r>
              <a:rPr lang="en-US" sz="2000" dirty="0"/>
              <a:t>    Return Statement: return 0;</a:t>
            </a:r>
            <a:endParaRPr lang="en-CA" sz="2000" dirty="0"/>
          </a:p>
        </p:txBody>
      </p:sp>
      <p:pic>
        <p:nvPicPr>
          <p:cNvPr id="5" name="Picture 4" descr="structure of c program">
            <a:extLst>
              <a:ext uri="{FF2B5EF4-FFF2-40B4-BE49-F238E27FC236}">
                <a16:creationId xmlns:a16="http://schemas.microsoft.com/office/drawing/2014/main" id="{A7947D60-7130-9001-1735-6346DEE8F0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09187" y="1356390"/>
            <a:ext cx="5444613" cy="4486275"/>
          </a:xfrm>
          <a:prstGeom prst="rect">
            <a:avLst/>
          </a:prstGeom>
          <a:noFill/>
          <a:ln>
            <a:noFill/>
          </a:ln>
        </p:spPr>
      </p:pic>
      <p:sp>
        <p:nvSpPr>
          <p:cNvPr id="4" name="Footer Placeholder 3">
            <a:extLst>
              <a:ext uri="{FF2B5EF4-FFF2-40B4-BE49-F238E27FC236}">
                <a16:creationId xmlns:a16="http://schemas.microsoft.com/office/drawing/2014/main" id="{20E26658-75D6-7C56-D3BF-A1E426E8BE6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867199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8E6C-8D29-82D6-918E-03CDCB50437B}"/>
              </a:ext>
            </a:extLst>
          </p:cNvPr>
          <p:cNvSpPr>
            <a:spLocks noGrp="1"/>
          </p:cNvSpPr>
          <p:nvPr>
            <p:ph type="title"/>
          </p:nvPr>
        </p:nvSpPr>
        <p:spPr/>
        <p:txBody>
          <a:bodyPr/>
          <a:lstStyle/>
          <a:p>
            <a:pPr algn="ctr"/>
            <a:r>
              <a:rPr lang="en-CA" dirty="0"/>
              <a:t>Example </a:t>
            </a:r>
          </a:p>
        </p:txBody>
      </p:sp>
      <p:sp>
        <p:nvSpPr>
          <p:cNvPr id="3" name="Content Placeholder 2">
            <a:extLst>
              <a:ext uri="{FF2B5EF4-FFF2-40B4-BE49-F238E27FC236}">
                <a16:creationId xmlns:a16="http://schemas.microsoft.com/office/drawing/2014/main" id="{5EA1E809-90AD-61FC-FF11-4F70A3B6F2F5}"/>
              </a:ext>
            </a:extLst>
          </p:cNvPr>
          <p:cNvSpPr>
            <a:spLocks noGrp="1"/>
          </p:cNvSpPr>
          <p:nvPr>
            <p:ph idx="1"/>
          </p:nvPr>
        </p:nvSpPr>
        <p:spPr/>
        <p:txBody>
          <a:bodyPr/>
          <a:lstStyle/>
          <a:p>
            <a:pPr marL="0" indent="0">
              <a:buNone/>
            </a:pPr>
            <a:r>
              <a:rPr lang="en-US" dirty="0"/>
              <a:t>#include &lt;</a:t>
            </a:r>
            <a:r>
              <a:rPr lang="en-US" dirty="0" err="1"/>
              <a:t>stdio.h</a:t>
            </a:r>
            <a:r>
              <a:rPr lang="en-US" dirty="0"/>
              <a:t>&gt;</a:t>
            </a:r>
          </a:p>
          <a:p>
            <a:pPr marL="0" indent="0">
              <a:buNone/>
            </a:pPr>
            <a:r>
              <a:rPr lang="en-US" dirty="0"/>
              <a:t>int main() {</a:t>
            </a:r>
          </a:p>
          <a:p>
            <a:pPr marL="0" indent="0">
              <a:buNone/>
            </a:pPr>
            <a:r>
              <a:rPr lang="en-US" dirty="0"/>
              <a:t>  int a = 10;</a:t>
            </a:r>
          </a:p>
          <a:p>
            <a:pPr marL="0" indent="0">
              <a:buNone/>
            </a:pPr>
            <a:r>
              <a:rPr lang="en-US" dirty="0"/>
              <a:t>  </a:t>
            </a:r>
            <a:r>
              <a:rPr lang="en-US" dirty="0" err="1"/>
              <a:t>printf</a:t>
            </a:r>
            <a:r>
              <a:rPr lang="en-US" dirty="0"/>
              <a:t>("%d", a);  </a:t>
            </a:r>
          </a:p>
          <a:p>
            <a:pPr marL="0" indent="0">
              <a:buNone/>
            </a:pPr>
            <a:r>
              <a:rPr lang="en-US" dirty="0"/>
              <a:t>  return 0;  </a:t>
            </a:r>
          </a:p>
          <a:p>
            <a:pPr marL="0" indent="0">
              <a:buNone/>
            </a:pPr>
            <a:r>
              <a:rPr lang="en-US" dirty="0"/>
              <a:t>}</a:t>
            </a:r>
          </a:p>
          <a:p>
            <a:pPr marL="0" indent="0">
              <a:buNone/>
            </a:pPr>
            <a:r>
              <a:rPr lang="en-US" dirty="0"/>
              <a:t>Output: 10</a:t>
            </a:r>
          </a:p>
          <a:p>
            <a:endParaRPr lang="en-CA" dirty="0"/>
          </a:p>
        </p:txBody>
      </p:sp>
      <p:sp>
        <p:nvSpPr>
          <p:cNvPr id="4" name="Footer Placeholder 3">
            <a:extLst>
              <a:ext uri="{FF2B5EF4-FFF2-40B4-BE49-F238E27FC236}">
                <a16:creationId xmlns:a16="http://schemas.microsoft.com/office/drawing/2014/main" id="{52E620F8-C6FB-CD9F-FCF0-AF0CFCB666C7}"/>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632189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6DB122-29C9-25A9-DEA2-F297A603921D}"/>
              </a:ext>
            </a:extLst>
          </p:cNvPr>
          <p:cNvSpPr>
            <a:spLocks noGrp="1"/>
          </p:cNvSpPr>
          <p:nvPr>
            <p:ph idx="1"/>
          </p:nvPr>
        </p:nvSpPr>
        <p:spPr>
          <a:xfrm>
            <a:off x="838200" y="353961"/>
            <a:ext cx="10515600" cy="5823002"/>
          </a:xfrm>
        </p:spPr>
        <p:txBody>
          <a:bodyPr>
            <a:normAutofit lnSpcReduction="10000"/>
          </a:bodyPr>
          <a:lstStyle/>
          <a:p>
            <a:r>
              <a:rPr lang="en-US" sz="2400" dirty="0"/>
              <a:t>A header file is a file with extension .h which contains C function declarations and macro definitions to be shared between several source files. </a:t>
            </a:r>
          </a:p>
          <a:p>
            <a:r>
              <a:rPr lang="en-US" sz="2400" dirty="0"/>
              <a:t>All lines that start with # are processed by a preprocessor which is a program invoked by the compiler. </a:t>
            </a:r>
          </a:p>
          <a:p>
            <a:r>
              <a:rPr lang="en-US" sz="2400" dirty="0"/>
              <a:t>In the above example, the preprocessor copies the preprocessed code of </a:t>
            </a:r>
            <a:r>
              <a:rPr lang="en-US" sz="2400" dirty="0" err="1"/>
              <a:t>stdio.h</a:t>
            </a:r>
            <a:r>
              <a:rPr lang="en-US" sz="2400" dirty="0"/>
              <a:t> to our file. The .h files are called header files in C.</a:t>
            </a:r>
          </a:p>
          <a:p>
            <a:r>
              <a:rPr lang="en-US" sz="2400" dirty="0"/>
              <a:t>Some of the C Header files:</a:t>
            </a:r>
          </a:p>
          <a:p>
            <a:pPr marL="0" indent="0">
              <a:buNone/>
            </a:pPr>
            <a:r>
              <a:rPr lang="en-US" sz="2400" dirty="0"/>
              <a:t>•	</a:t>
            </a:r>
            <a:r>
              <a:rPr lang="en-US" sz="2400" dirty="0" err="1"/>
              <a:t>stddef.h</a:t>
            </a:r>
            <a:r>
              <a:rPr lang="en-US" sz="2400" dirty="0"/>
              <a:t> – Defines several useful types and macros.</a:t>
            </a:r>
          </a:p>
          <a:p>
            <a:pPr marL="0" indent="0">
              <a:buNone/>
            </a:pPr>
            <a:r>
              <a:rPr lang="en-US" sz="2400" dirty="0"/>
              <a:t>•	</a:t>
            </a:r>
            <a:r>
              <a:rPr lang="en-US" sz="2400" dirty="0" err="1"/>
              <a:t>stdint.h</a:t>
            </a:r>
            <a:r>
              <a:rPr lang="en-US" sz="2400" dirty="0"/>
              <a:t> – Defines exact width integer types.</a:t>
            </a:r>
          </a:p>
          <a:p>
            <a:pPr marL="0" indent="0">
              <a:buNone/>
            </a:pPr>
            <a:r>
              <a:rPr lang="en-US" sz="2400" dirty="0"/>
              <a:t>•	</a:t>
            </a:r>
            <a:r>
              <a:rPr lang="en-US" sz="2400" dirty="0" err="1"/>
              <a:t>stdio.h</a:t>
            </a:r>
            <a:r>
              <a:rPr lang="en-US" sz="2400" dirty="0"/>
              <a:t> – Defines core input and output functions</a:t>
            </a:r>
          </a:p>
          <a:p>
            <a:pPr marL="0" indent="0">
              <a:buNone/>
            </a:pPr>
            <a:r>
              <a:rPr lang="en-US" sz="2400" dirty="0"/>
              <a:t>•	</a:t>
            </a:r>
            <a:r>
              <a:rPr lang="en-US" sz="2400" dirty="0" err="1"/>
              <a:t>stdlib.h</a:t>
            </a:r>
            <a:r>
              <a:rPr lang="en-US" sz="2400" dirty="0"/>
              <a:t> – Defines numeric conversion functions, pseudo-random number generator, and memory allocation</a:t>
            </a:r>
          </a:p>
          <a:p>
            <a:pPr marL="0" indent="0">
              <a:buNone/>
            </a:pPr>
            <a:r>
              <a:rPr lang="en-US" sz="2400" dirty="0"/>
              <a:t>•	</a:t>
            </a:r>
            <a:r>
              <a:rPr lang="en-US" sz="2400" dirty="0" err="1"/>
              <a:t>string.h</a:t>
            </a:r>
            <a:r>
              <a:rPr lang="en-US" sz="2400" dirty="0"/>
              <a:t> – Defines string handling functions</a:t>
            </a:r>
          </a:p>
          <a:p>
            <a:pPr marL="0" indent="0">
              <a:buNone/>
            </a:pPr>
            <a:r>
              <a:rPr lang="en-US" sz="2400" dirty="0"/>
              <a:t>•	</a:t>
            </a:r>
            <a:r>
              <a:rPr lang="en-US" sz="2400" dirty="0" err="1"/>
              <a:t>math.h</a:t>
            </a:r>
            <a:r>
              <a:rPr lang="en-US" sz="2400" dirty="0"/>
              <a:t> – Defines common mathematical functions.</a:t>
            </a:r>
          </a:p>
          <a:p>
            <a:pPr marL="0" indent="0">
              <a:buNone/>
            </a:pPr>
            <a:endParaRPr lang="en-US" sz="2400" dirty="0"/>
          </a:p>
          <a:p>
            <a:endParaRPr lang="en-CA" dirty="0"/>
          </a:p>
        </p:txBody>
      </p:sp>
      <p:sp>
        <p:nvSpPr>
          <p:cNvPr id="2" name="Footer Placeholder 1">
            <a:extLst>
              <a:ext uri="{FF2B5EF4-FFF2-40B4-BE49-F238E27FC236}">
                <a16:creationId xmlns:a16="http://schemas.microsoft.com/office/drawing/2014/main" id="{C0DFD9D7-7E9C-E477-E2B3-852428DA33A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976576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81771-146E-187B-0755-2081A5DE38AD}"/>
              </a:ext>
            </a:extLst>
          </p:cNvPr>
          <p:cNvSpPr>
            <a:spLocks noGrp="1"/>
          </p:cNvSpPr>
          <p:nvPr>
            <p:ph type="title"/>
          </p:nvPr>
        </p:nvSpPr>
        <p:spPr/>
        <p:txBody>
          <a:bodyPr/>
          <a:lstStyle/>
          <a:p>
            <a:pPr algn="ctr"/>
            <a:r>
              <a:rPr lang="en-CA" dirty="0"/>
              <a:t>Compilation Process</a:t>
            </a:r>
          </a:p>
        </p:txBody>
      </p:sp>
      <p:sp>
        <p:nvSpPr>
          <p:cNvPr id="3" name="Content Placeholder 2">
            <a:extLst>
              <a:ext uri="{FF2B5EF4-FFF2-40B4-BE49-F238E27FC236}">
                <a16:creationId xmlns:a16="http://schemas.microsoft.com/office/drawing/2014/main" id="{16B62E4C-E806-F66C-AA0B-3ED10DD832BA}"/>
              </a:ext>
            </a:extLst>
          </p:cNvPr>
          <p:cNvSpPr>
            <a:spLocks noGrp="1"/>
          </p:cNvSpPr>
          <p:nvPr>
            <p:ph idx="1"/>
          </p:nvPr>
        </p:nvSpPr>
        <p:spPr>
          <a:xfrm>
            <a:off x="838200" y="1371600"/>
            <a:ext cx="10951029" cy="5121275"/>
          </a:xfrm>
        </p:spPr>
        <p:txBody>
          <a:bodyPr>
            <a:normAutofit lnSpcReduction="10000"/>
          </a:bodyPr>
          <a:lstStyle/>
          <a:p>
            <a:endParaRPr lang="en-US" sz="2400" dirty="0"/>
          </a:p>
          <a:p>
            <a:pPr marL="0" indent="0">
              <a:buNone/>
            </a:pPr>
            <a:r>
              <a:rPr lang="en-US" sz="2400" dirty="0"/>
              <a:t>Four Phases:</a:t>
            </a:r>
          </a:p>
          <a:p>
            <a:r>
              <a:rPr lang="en-US" sz="2400" b="1" dirty="0"/>
              <a:t>    Pre-processing: </a:t>
            </a:r>
            <a:r>
              <a:rPr lang="en-US" sz="2400" dirty="0"/>
              <a:t>Removal of comments, expansion of macros, Expansion of the included files. The preprocessed output is stored in the </a:t>
            </a:r>
            <a:r>
              <a:rPr lang="en-US" sz="2400" dirty="0" err="1"/>
              <a:t>filename.i</a:t>
            </a:r>
            <a:r>
              <a:rPr lang="en-US" sz="2400" dirty="0"/>
              <a:t>. </a:t>
            </a:r>
          </a:p>
          <a:p>
            <a:r>
              <a:rPr lang="en-US" sz="2400" dirty="0"/>
              <a:t>    </a:t>
            </a:r>
            <a:r>
              <a:rPr lang="en-US" sz="2400" b="1" dirty="0"/>
              <a:t>Compilation:</a:t>
            </a:r>
            <a:r>
              <a:rPr lang="en-US" sz="2400" dirty="0"/>
              <a:t> </a:t>
            </a:r>
            <a:r>
              <a:rPr lang="en-CA" sz="2400" dirty="0">
                <a:effectLst/>
                <a:latin typeface="Times New Roman" panose="02020603050405020304" pitchFamily="18" charset="0"/>
                <a:ea typeface="Calibri" panose="020F0502020204030204" pitchFamily="34" charset="0"/>
              </a:rPr>
              <a:t>The next step is to compile </a:t>
            </a:r>
            <a:r>
              <a:rPr lang="en-CA" sz="2400" dirty="0" err="1">
                <a:effectLst/>
                <a:latin typeface="Times New Roman" panose="02020603050405020304" pitchFamily="18" charset="0"/>
                <a:ea typeface="Calibri" panose="020F0502020204030204" pitchFamily="34" charset="0"/>
              </a:rPr>
              <a:t>filename.i</a:t>
            </a:r>
            <a:r>
              <a:rPr lang="en-CA" sz="2400" dirty="0">
                <a:effectLst/>
                <a:latin typeface="Times New Roman" panose="02020603050405020304" pitchFamily="18" charset="0"/>
                <a:ea typeface="Calibri" panose="020F0502020204030204" pitchFamily="34" charset="0"/>
              </a:rPr>
              <a:t> and produce an</a:t>
            </a:r>
            <a:r>
              <a:rPr lang="en-CA" sz="2400" dirty="0">
                <a:latin typeface="Times New Roman" panose="02020603050405020304" pitchFamily="18" charset="0"/>
                <a:ea typeface="Calibri" panose="020F0502020204030204" pitchFamily="34" charset="0"/>
              </a:rPr>
              <a:t> </a:t>
            </a:r>
            <a:r>
              <a:rPr lang="en-CA" sz="2400" dirty="0">
                <a:effectLst/>
                <a:latin typeface="Times New Roman" panose="02020603050405020304" pitchFamily="18" charset="0"/>
                <a:ea typeface="Calibri" panose="020F0502020204030204" pitchFamily="34" charset="0"/>
              </a:rPr>
              <a:t>intermediate compiled output file </a:t>
            </a:r>
            <a:r>
              <a:rPr lang="en-CA" sz="2400" dirty="0" err="1">
                <a:effectLst/>
                <a:latin typeface="Times New Roman" panose="02020603050405020304" pitchFamily="18" charset="0"/>
                <a:ea typeface="Calibri" panose="020F0502020204030204" pitchFamily="34" charset="0"/>
              </a:rPr>
              <a:t>filename.s</a:t>
            </a:r>
            <a:r>
              <a:rPr lang="en-CA" sz="2400" dirty="0">
                <a:effectLst/>
                <a:latin typeface="Times New Roman" panose="02020603050405020304" pitchFamily="18" charset="0"/>
                <a:ea typeface="Calibri" panose="020F0502020204030204" pitchFamily="34" charset="0"/>
              </a:rPr>
              <a:t>. This file is in assembly-level instructions. </a:t>
            </a:r>
            <a:endParaRPr lang="en-US" sz="2400" dirty="0"/>
          </a:p>
          <a:p>
            <a:r>
              <a:rPr lang="en-US" sz="2400" dirty="0"/>
              <a:t>    </a:t>
            </a:r>
            <a:r>
              <a:rPr lang="en-US" sz="2400" b="1" dirty="0"/>
              <a:t>Assembly: </a:t>
            </a:r>
            <a:r>
              <a:rPr lang="en-US" sz="2400" dirty="0"/>
              <a:t>Conversion to machine-level instructions. In this phase the </a:t>
            </a:r>
            <a:r>
              <a:rPr lang="en-US" sz="2400" dirty="0" err="1"/>
              <a:t>filename.s</a:t>
            </a:r>
            <a:r>
              <a:rPr lang="en-US" sz="2400" dirty="0"/>
              <a:t> is taken as input and turned into </a:t>
            </a:r>
            <a:r>
              <a:rPr lang="en-US" sz="2400" dirty="0" err="1"/>
              <a:t>filename.o</a:t>
            </a:r>
            <a:r>
              <a:rPr lang="en-US" sz="2400" dirty="0"/>
              <a:t> by the assembler.</a:t>
            </a:r>
          </a:p>
          <a:p>
            <a:r>
              <a:rPr lang="en-US" sz="2400" dirty="0"/>
              <a:t>    </a:t>
            </a:r>
            <a:r>
              <a:rPr lang="en-US" sz="2400" b="1" dirty="0"/>
              <a:t>Linking: </a:t>
            </a:r>
            <a:r>
              <a:rPr lang="en-US" sz="2400" dirty="0"/>
              <a:t>Linking function calls with their definitions. Linker knows where all these functions are implemented. Linker does some extra work also, it adds some extra code to our program which is required when the program starts and ends. </a:t>
            </a:r>
          </a:p>
          <a:p>
            <a:r>
              <a:rPr lang="en-US" sz="2400" dirty="0"/>
              <a:t>GCC by default does dynamic linking, so </a:t>
            </a:r>
            <a:r>
              <a:rPr lang="en-US" sz="2400" dirty="0" err="1"/>
              <a:t>printf</a:t>
            </a:r>
            <a:r>
              <a:rPr lang="en-US" sz="2400" dirty="0"/>
              <a:t>() is dynamically linked in above program.</a:t>
            </a:r>
            <a:endParaRPr lang="en-CA" sz="2400" dirty="0"/>
          </a:p>
        </p:txBody>
      </p:sp>
      <p:sp>
        <p:nvSpPr>
          <p:cNvPr id="4" name="Footer Placeholder 3">
            <a:extLst>
              <a:ext uri="{FF2B5EF4-FFF2-40B4-BE49-F238E27FC236}">
                <a16:creationId xmlns:a16="http://schemas.microsoft.com/office/drawing/2014/main" id="{CAB3DE73-32F4-8110-E1DE-8ED64F7CC50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4244932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14DD40-C574-7167-3237-90D4AB6FA2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1946" y="999715"/>
            <a:ext cx="4545759" cy="4351338"/>
          </a:xfrm>
        </p:spPr>
      </p:pic>
      <p:sp>
        <p:nvSpPr>
          <p:cNvPr id="2" name="Footer Placeholder 1">
            <a:extLst>
              <a:ext uri="{FF2B5EF4-FFF2-40B4-BE49-F238E27FC236}">
                <a16:creationId xmlns:a16="http://schemas.microsoft.com/office/drawing/2014/main" id="{FB5B08EA-8F87-AD30-D0A8-F14272402E24}"/>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210982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027BE-301B-2187-2556-49AECB60647B}"/>
              </a:ext>
            </a:extLst>
          </p:cNvPr>
          <p:cNvSpPr>
            <a:spLocks noGrp="1"/>
          </p:cNvSpPr>
          <p:nvPr>
            <p:ph type="title"/>
          </p:nvPr>
        </p:nvSpPr>
        <p:spPr/>
        <p:txBody>
          <a:bodyPr/>
          <a:lstStyle/>
          <a:p>
            <a:r>
              <a:rPr lang="en-US" dirty="0"/>
              <a:t>How to Execute a C Program</a:t>
            </a:r>
            <a:endParaRPr lang="en-CA" dirty="0"/>
          </a:p>
        </p:txBody>
      </p:sp>
      <p:sp>
        <p:nvSpPr>
          <p:cNvPr id="3" name="Content Placeholder 2">
            <a:extLst>
              <a:ext uri="{FF2B5EF4-FFF2-40B4-BE49-F238E27FC236}">
                <a16:creationId xmlns:a16="http://schemas.microsoft.com/office/drawing/2014/main" id="{813D24E8-ED15-07F5-5E56-018324915AE0}"/>
              </a:ext>
            </a:extLst>
          </p:cNvPr>
          <p:cNvSpPr>
            <a:spLocks noGrp="1"/>
          </p:cNvSpPr>
          <p:nvPr>
            <p:ph idx="1"/>
          </p:nvPr>
        </p:nvSpPr>
        <p:spPr>
          <a:xfrm>
            <a:off x="838200" y="1825625"/>
            <a:ext cx="5138057" cy="4351338"/>
          </a:xfrm>
        </p:spPr>
        <p:txBody>
          <a:bodyPr/>
          <a:lstStyle/>
          <a:p>
            <a:r>
              <a:rPr lang="en-US" dirty="0"/>
              <a:t>Windows: Use IDEs like Code Blocks or Dev-CPP.</a:t>
            </a:r>
          </a:p>
          <a:p>
            <a:r>
              <a:rPr lang="en-US" dirty="0"/>
              <a:t>Linux: Use GCC compiler or IDEs like Code Blocks.</a:t>
            </a:r>
          </a:p>
          <a:p>
            <a:r>
              <a:rPr lang="en-US" dirty="0"/>
              <a:t>macOS: Use the built-in text editor.</a:t>
            </a:r>
            <a:endParaRPr lang="en-CA" dirty="0"/>
          </a:p>
        </p:txBody>
      </p:sp>
      <p:pic>
        <p:nvPicPr>
          <p:cNvPr id="5" name="Content Placeholder 3">
            <a:extLst>
              <a:ext uri="{FF2B5EF4-FFF2-40B4-BE49-F238E27FC236}">
                <a16:creationId xmlns:a16="http://schemas.microsoft.com/office/drawing/2014/main" id="{3C894EF6-9CF2-733C-D6C9-C13A97A82724}"/>
              </a:ext>
            </a:extLst>
          </p:cNvPr>
          <p:cNvPicPr>
            <a:picLocks noChangeAspect="1"/>
          </p:cNvPicPr>
          <p:nvPr/>
        </p:nvPicPr>
        <p:blipFill>
          <a:blip r:embed="rId2"/>
          <a:stretch>
            <a:fillRect/>
          </a:stretch>
        </p:blipFill>
        <p:spPr>
          <a:xfrm>
            <a:off x="6096000" y="1437367"/>
            <a:ext cx="5712335" cy="4790850"/>
          </a:xfrm>
          <a:prstGeom prst="rect">
            <a:avLst/>
          </a:prstGeom>
        </p:spPr>
      </p:pic>
      <p:sp>
        <p:nvSpPr>
          <p:cNvPr id="4" name="Footer Placeholder 3">
            <a:extLst>
              <a:ext uri="{FF2B5EF4-FFF2-40B4-BE49-F238E27FC236}">
                <a16:creationId xmlns:a16="http://schemas.microsoft.com/office/drawing/2014/main" id="{7F217B4A-C277-1DFE-0AF3-981429B37B8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43908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603A2-55F9-430F-D75E-A0B1E56920B9}"/>
              </a:ext>
            </a:extLst>
          </p:cNvPr>
          <p:cNvSpPr>
            <a:spLocks noGrp="1"/>
          </p:cNvSpPr>
          <p:nvPr>
            <p:ph type="title"/>
          </p:nvPr>
        </p:nvSpPr>
        <p:spPr/>
        <p:txBody>
          <a:bodyPr/>
          <a:lstStyle/>
          <a:p>
            <a:pPr algn="ctr"/>
            <a:r>
              <a:rPr lang="en-CA" dirty="0"/>
              <a:t>Comments in C</a:t>
            </a:r>
          </a:p>
        </p:txBody>
      </p:sp>
      <p:sp>
        <p:nvSpPr>
          <p:cNvPr id="3" name="Content Placeholder 2">
            <a:extLst>
              <a:ext uri="{FF2B5EF4-FFF2-40B4-BE49-F238E27FC236}">
                <a16:creationId xmlns:a16="http://schemas.microsoft.com/office/drawing/2014/main" id="{23F6D443-9B1E-42FB-29B5-2D015546DC8D}"/>
              </a:ext>
            </a:extLst>
          </p:cNvPr>
          <p:cNvSpPr>
            <a:spLocks noGrp="1"/>
          </p:cNvSpPr>
          <p:nvPr>
            <p:ph idx="1"/>
          </p:nvPr>
        </p:nvSpPr>
        <p:spPr/>
        <p:txBody>
          <a:bodyPr/>
          <a:lstStyle/>
          <a:p>
            <a:r>
              <a:rPr lang="en-CA" dirty="0"/>
              <a:t>Types of Comments:</a:t>
            </a:r>
          </a:p>
          <a:p>
            <a:r>
              <a:rPr lang="en-CA" dirty="0"/>
              <a:t>    Single-line comment: // comment</a:t>
            </a:r>
          </a:p>
          <a:p>
            <a:r>
              <a:rPr lang="en-CA" dirty="0"/>
              <a:t>    Multi-line comment: /* comment */</a:t>
            </a:r>
          </a:p>
        </p:txBody>
      </p:sp>
      <p:pic>
        <p:nvPicPr>
          <p:cNvPr id="5" name="Picture 4" descr="comments in c">
            <a:extLst>
              <a:ext uri="{FF2B5EF4-FFF2-40B4-BE49-F238E27FC236}">
                <a16:creationId xmlns:a16="http://schemas.microsoft.com/office/drawing/2014/main" id="{802A84EE-6C71-38D8-98CA-70C669ED55F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97102" y="2555874"/>
            <a:ext cx="3534184" cy="2995839"/>
          </a:xfrm>
          <a:prstGeom prst="rect">
            <a:avLst/>
          </a:prstGeom>
          <a:noFill/>
          <a:ln>
            <a:noFill/>
          </a:ln>
        </p:spPr>
      </p:pic>
      <p:sp>
        <p:nvSpPr>
          <p:cNvPr id="4" name="Footer Placeholder 3">
            <a:extLst>
              <a:ext uri="{FF2B5EF4-FFF2-40B4-BE49-F238E27FC236}">
                <a16:creationId xmlns:a16="http://schemas.microsoft.com/office/drawing/2014/main" id="{3EB36DD4-94FC-9FAD-89E2-814D74CC060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380254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D7440-F5C6-0157-D6CA-86C4CF2FA9E2}"/>
              </a:ext>
            </a:extLst>
          </p:cNvPr>
          <p:cNvSpPr>
            <a:spLocks noGrp="1"/>
          </p:cNvSpPr>
          <p:nvPr>
            <p:ph type="title"/>
          </p:nvPr>
        </p:nvSpPr>
        <p:spPr/>
        <p:txBody>
          <a:bodyPr/>
          <a:lstStyle/>
          <a:p>
            <a:pPr algn="ctr"/>
            <a:r>
              <a:rPr lang="en-CA" dirty="0"/>
              <a:t>Tokens in C</a:t>
            </a:r>
          </a:p>
        </p:txBody>
      </p:sp>
      <p:sp>
        <p:nvSpPr>
          <p:cNvPr id="3" name="Content Placeholder 2">
            <a:extLst>
              <a:ext uri="{FF2B5EF4-FFF2-40B4-BE49-F238E27FC236}">
                <a16:creationId xmlns:a16="http://schemas.microsoft.com/office/drawing/2014/main" id="{F4F60176-C5FB-1A95-1AAF-1FF31F5DC048}"/>
              </a:ext>
            </a:extLst>
          </p:cNvPr>
          <p:cNvSpPr>
            <a:spLocks noGrp="1"/>
          </p:cNvSpPr>
          <p:nvPr>
            <p:ph idx="1"/>
          </p:nvPr>
        </p:nvSpPr>
        <p:spPr>
          <a:xfrm>
            <a:off x="838200" y="1491343"/>
            <a:ext cx="10515600" cy="4685620"/>
          </a:xfrm>
        </p:spPr>
        <p:txBody>
          <a:bodyPr>
            <a:normAutofit lnSpcReduction="10000"/>
          </a:bodyPr>
          <a:lstStyle/>
          <a:p>
            <a:r>
              <a:rPr lang="en-US" dirty="0"/>
              <a:t>A token in C can be defined as the smallest individual element of the C programming language that is meaningful to the compiler. </a:t>
            </a:r>
          </a:p>
          <a:p>
            <a:r>
              <a:rPr lang="en-US" dirty="0"/>
              <a:t>It is the </a:t>
            </a:r>
            <a:r>
              <a:rPr lang="en-US" b="1" dirty="0"/>
              <a:t>basic component </a:t>
            </a:r>
            <a:r>
              <a:rPr lang="en-US" dirty="0"/>
              <a:t>of a C program.</a:t>
            </a:r>
          </a:p>
          <a:p>
            <a:r>
              <a:rPr lang="en-US" dirty="0"/>
              <a:t> Types of Tokens:</a:t>
            </a:r>
          </a:p>
          <a:p>
            <a:r>
              <a:rPr lang="en-US" dirty="0"/>
              <a:t>    Keywords: Reserved words like int, return.</a:t>
            </a:r>
          </a:p>
          <a:p>
            <a:r>
              <a:rPr lang="en-US" dirty="0"/>
              <a:t>    Identifiers: Names for variables, functions.</a:t>
            </a:r>
          </a:p>
          <a:p>
            <a:r>
              <a:rPr lang="en-US" dirty="0"/>
              <a:t>    Constants: Fixed values like const int c = 20;</a:t>
            </a:r>
          </a:p>
          <a:p>
            <a:r>
              <a:rPr lang="en-US" dirty="0"/>
              <a:t>    Literals: Fixed values assigned to variables.</a:t>
            </a:r>
          </a:p>
          <a:p>
            <a:r>
              <a:rPr lang="en-US" dirty="0"/>
              <a:t>    Operators: Symbols triggering actions like +, -.</a:t>
            </a:r>
          </a:p>
          <a:p>
            <a:r>
              <a:rPr lang="en-CA" dirty="0"/>
              <a:t>    Special Symbols</a:t>
            </a:r>
          </a:p>
        </p:txBody>
      </p:sp>
      <p:sp>
        <p:nvSpPr>
          <p:cNvPr id="4" name="Footer Placeholder 3">
            <a:extLst>
              <a:ext uri="{FF2B5EF4-FFF2-40B4-BE49-F238E27FC236}">
                <a16:creationId xmlns:a16="http://schemas.microsoft.com/office/drawing/2014/main" id="{7E2B3B46-E879-C6C3-D5F5-842475E38D2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900569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D7F9A-8C59-4AE5-33CC-5F98640E6095}"/>
              </a:ext>
            </a:extLst>
          </p:cNvPr>
          <p:cNvSpPr>
            <a:spLocks noGrp="1"/>
          </p:cNvSpPr>
          <p:nvPr>
            <p:ph idx="1"/>
          </p:nvPr>
        </p:nvSpPr>
        <p:spPr>
          <a:xfrm>
            <a:off x="838200" y="462116"/>
            <a:ext cx="10515600" cy="6086168"/>
          </a:xfrm>
        </p:spPr>
        <p:txBody>
          <a:bodyPr>
            <a:normAutofit lnSpcReduction="10000"/>
          </a:bodyPr>
          <a:lstStyle/>
          <a:p>
            <a:pPr marL="0" indent="0">
              <a:buNone/>
            </a:pPr>
            <a:r>
              <a:rPr lang="en-US" dirty="0"/>
              <a:t>#include &lt;</a:t>
            </a:r>
            <a:r>
              <a:rPr lang="en-US" dirty="0" err="1"/>
              <a:t>stdio.h</a:t>
            </a:r>
            <a:r>
              <a:rPr lang="en-US" dirty="0"/>
              <a:t>&gt;</a:t>
            </a:r>
          </a:p>
          <a:p>
            <a:pPr marL="0" indent="0">
              <a:buNone/>
            </a:pPr>
            <a:r>
              <a:rPr lang="en-US" dirty="0"/>
              <a:t>int main() {</a:t>
            </a:r>
          </a:p>
          <a:p>
            <a:pPr marL="0" indent="0">
              <a:buNone/>
            </a:pPr>
            <a:r>
              <a:rPr lang="en-US" dirty="0"/>
              <a:t>  int a = 10;</a:t>
            </a:r>
          </a:p>
          <a:p>
            <a:pPr marL="0" indent="0">
              <a:buNone/>
            </a:pPr>
            <a:r>
              <a:rPr lang="en-US" dirty="0"/>
              <a:t>Int b, c;</a:t>
            </a:r>
          </a:p>
          <a:p>
            <a:pPr marL="0" indent="0">
              <a:buNone/>
            </a:pPr>
            <a:r>
              <a:rPr lang="en-US" dirty="0"/>
              <a:t>b= 20;</a:t>
            </a:r>
          </a:p>
          <a:p>
            <a:pPr marL="0" indent="0">
              <a:buNone/>
            </a:pPr>
            <a:r>
              <a:rPr lang="en-US" dirty="0"/>
              <a:t>c=</a:t>
            </a:r>
            <a:r>
              <a:rPr lang="en-US" dirty="0" err="1"/>
              <a:t>a+b</a:t>
            </a:r>
            <a:endParaRPr lang="en-US" dirty="0"/>
          </a:p>
          <a:p>
            <a:pPr marL="0" indent="0">
              <a:buNone/>
            </a:pPr>
            <a:r>
              <a:rPr lang="en-US" dirty="0"/>
              <a:t> </a:t>
            </a:r>
            <a:r>
              <a:rPr lang="en-US" dirty="0" err="1"/>
              <a:t>printf</a:t>
            </a:r>
            <a:r>
              <a:rPr lang="en-US" dirty="0"/>
              <a:t>("%d", c);  </a:t>
            </a:r>
          </a:p>
          <a:p>
            <a:pPr marL="0" indent="0">
              <a:buNone/>
            </a:pPr>
            <a:r>
              <a:rPr lang="en-US" dirty="0"/>
              <a:t>  </a:t>
            </a:r>
            <a:r>
              <a:rPr lang="en-US" dirty="0" err="1"/>
              <a:t>printf</a:t>
            </a:r>
            <a:r>
              <a:rPr lang="en-US" dirty="0"/>
              <a:t>("%d", a);  </a:t>
            </a:r>
          </a:p>
          <a:p>
            <a:pPr marL="0" indent="0">
              <a:buNone/>
            </a:pPr>
            <a:r>
              <a:rPr lang="en-US" dirty="0"/>
              <a:t>  return 0;  </a:t>
            </a:r>
          </a:p>
          <a:p>
            <a:pPr marL="0" indent="0">
              <a:buNone/>
            </a:pPr>
            <a:r>
              <a:rPr lang="en-US" dirty="0"/>
              <a:t>}</a:t>
            </a:r>
          </a:p>
          <a:p>
            <a:pPr marL="0" indent="0">
              <a:buNone/>
            </a:pPr>
            <a:r>
              <a:rPr lang="en-US" dirty="0"/>
              <a:t>Output: 30</a:t>
            </a:r>
          </a:p>
          <a:p>
            <a:pPr marL="0" indent="0">
              <a:buNone/>
            </a:pPr>
            <a:r>
              <a:rPr lang="en-US" dirty="0"/>
              <a:t>	10</a:t>
            </a:r>
          </a:p>
          <a:p>
            <a:pPr marL="0" indent="0">
              <a:buNone/>
            </a:pPr>
            <a:endParaRPr lang="en-CA" dirty="0"/>
          </a:p>
        </p:txBody>
      </p:sp>
      <p:sp>
        <p:nvSpPr>
          <p:cNvPr id="2" name="Footer Placeholder 1">
            <a:extLst>
              <a:ext uri="{FF2B5EF4-FFF2-40B4-BE49-F238E27FC236}">
                <a16:creationId xmlns:a16="http://schemas.microsoft.com/office/drawing/2014/main" id="{7AD2F634-D896-134F-76F8-4A04FE38159A}"/>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4050421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FD39-1178-3372-63D6-C56F56237D66}"/>
              </a:ext>
            </a:extLst>
          </p:cNvPr>
          <p:cNvSpPr>
            <a:spLocks noGrp="1"/>
          </p:cNvSpPr>
          <p:nvPr>
            <p:ph type="title"/>
          </p:nvPr>
        </p:nvSpPr>
        <p:spPr/>
        <p:txBody>
          <a:bodyPr/>
          <a:lstStyle/>
          <a:p>
            <a:pPr algn="ctr"/>
            <a:r>
              <a:rPr lang="en-CA" dirty="0"/>
              <a:t>1.	Keywords</a:t>
            </a:r>
          </a:p>
        </p:txBody>
      </p:sp>
      <p:sp>
        <p:nvSpPr>
          <p:cNvPr id="3" name="Content Placeholder 2">
            <a:extLst>
              <a:ext uri="{FF2B5EF4-FFF2-40B4-BE49-F238E27FC236}">
                <a16:creationId xmlns:a16="http://schemas.microsoft.com/office/drawing/2014/main" id="{CA02B8F0-20F7-242A-33E4-6FD81DF433B8}"/>
              </a:ext>
            </a:extLst>
          </p:cNvPr>
          <p:cNvSpPr>
            <a:spLocks noGrp="1"/>
          </p:cNvSpPr>
          <p:nvPr>
            <p:ph idx="1"/>
          </p:nvPr>
        </p:nvSpPr>
        <p:spPr>
          <a:xfrm>
            <a:off x="838200" y="1690688"/>
            <a:ext cx="10515600" cy="4486275"/>
          </a:xfrm>
        </p:spPr>
        <p:txBody>
          <a:bodyPr/>
          <a:lstStyle/>
          <a:p>
            <a:r>
              <a:rPr lang="en-US" dirty="0"/>
              <a:t>Are </a:t>
            </a:r>
            <a:r>
              <a:rPr lang="en-US" b="1" dirty="0"/>
              <a:t>pre-defined or reserved words </a:t>
            </a:r>
            <a:r>
              <a:rPr lang="en-US" dirty="0"/>
              <a:t>in a programming language. Each keyword is meant to perform a </a:t>
            </a:r>
            <a:r>
              <a:rPr lang="en-US" b="1" dirty="0"/>
              <a:t>specific function in a program</a:t>
            </a:r>
            <a:r>
              <a:rPr lang="en-US" dirty="0"/>
              <a:t>. </a:t>
            </a:r>
          </a:p>
          <a:p>
            <a:r>
              <a:rPr lang="en-US" dirty="0"/>
              <a:t>Since keywords are referred names for a compiler, they can’t be used as variable names because by doing so, we are trying to assign a new meaning to the keyword which is not allowed. </a:t>
            </a:r>
          </a:p>
          <a:p>
            <a:r>
              <a:rPr lang="en-US" dirty="0"/>
              <a:t>You cannot </a:t>
            </a:r>
            <a:r>
              <a:rPr lang="en-US" b="1" dirty="0"/>
              <a:t>redefine keywords</a:t>
            </a:r>
            <a:r>
              <a:rPr lang="en-US" dirty="0"/>
              <a:t>. However, you can specify the text to be substituted for keywords before compilation by using C preprocessor directives. </a:t>
            </a:r>
          </a:p>
          <a:p>
            <a:r>
              <a:rPr lang="en-US" dirty="0"/>
              <a:t>C language supports 32 keywords which are given below: </a:t>
            </a:r>
            <a:endParaRPr lang="en-CA" dirty="0"/>
          </a:p>
        </p:txBody>
      </p:sp>
      <p:sp>
        <p:nvSpPr>
          <p:cNvPr id="4" name="Footer Placeholder 3">
            <a:extLst>
              <a:ext uri="{FF2B5EF4-FFF2-40B4-BE49-F238E27FC236}">
                <a16:creationId xmlns:a16="http://schemas.microsoft.com/office/drawing/2014/main" id="{9524F9ED-3A29-767E-CBD6-76443BDAC38A}"/>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629705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8FDB821-7943-A7CC-51F5-77FE07E411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95561" y="1143001"/>
            <a:ext cx="4503810" cy="4125686"/>
          </a:xfrm>
          <a:prstGeom prst="rect">
            <a:avLst/>
          </a:prstGeom>
        </p:spPr>
      </p:pic>
      <p:sp>
        <p:nvSpPr>
          <p:cNvPr id="6" name="TextBox 5">
            <a:extLst>
              <a:ext uri="{FF2B5EF4-FFF2-40B4-BE49-F238E27FC236}">
                <a16:creationId xmlns:a16="http://schemas.microsoft.com/office/drawing/2014/main" id="{878ED038-57D0-3AB1-339F-75E180E49458}"/>
              </a:ext>
            </a:extLst>
          </p:cNvPr>
          <p:cNvSpPr txBox="1"/>
          <p:nvPr/>
        </p:nvSpPr>
        <p:spPr>
          <a:xfrm>
            <a:off x="478972" y="1839474"/>
            <a:ext cx="6096000" cy="3338799"/>
          </a:xfrm>
          <a:prstGeom prst="rect">
            <a:avLst/>
          </a:prstGeom>
          <a:noFill/>
        </p:spPr>
        <p:txBody>
          <a:bodyPr wrap="square">
            <a:spAutoFit/>
          </a:bodyPr>
          <a:lstStyle/>
          <a:p>
            <a:pPr marL="571500" indent="-342900">
              <a:lnSpc>
                <a:spcPct val="107000"/>
              </a:lnSpc>
              <a:spcAft>
                <a:spcPts val="800"/>
              </a:spcAft>
              <a:buFont typeface="Arial" panose="020B0604020202020204" pitchFamily="34" charset="0"/>
              <a:buChar char="•"/>
            </a:pPr>
            <a:r>
              <a:rPr lang="en-CA" sz="2400" kern="100" dirty="0">
                <a:latin typeface="Times New Roman" panose="02020603050405020304" pitchFamily="18" charset="0"/>
                <a:ea typeface="Calibri" panose="020F0502020204030204" pitchFamily="34" charset="0"/>
                <a:cs typeface="Times New Roman" panose="02020603050405020304" pitchFamily="18" charset="0"/>
              </a:rPr>
              <a:t>T</a:t>
            </a: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he number of keywords may change depending on the version of C you are using. For example, keywords present in ANSI C are 32 while in C11, it was increased to 44. Moreover, in the latest c23, it is increased to around 54.</a:t>
            </a:r>
          </a:p>
          <a:p>
            <a:pPr marL="571500" indent="-342900">
              <a:lnSpc>
                <a:spcPct val="107000"/>
              </a:lnSpc>
              <a:spcAft>
                <a:spcPts val="800"/>
              </a:spcAft>
              <a:buFont typeface="Arial" panose="020B0604020202020204" pitchFamily="34" charset="0"/>
              <a:buChar char="•"/>
            </a:pPr>
            <a:r>
              <a:rPr lang="en-CA" sz="2400" kern="100" dirty="0">
                <a:latin typeface="Times New Roman" panose="02020603050405020304" pitchFamily="18" charset="0"/>
                <a:ea typeface="Calibri" panose="020F0502020204030204" pitchFamily="34" charset="0"/>
                <a:cs typeface="Times New Roman" panose="02020603050405020304" pitchFamily="18" charset="0"/>
              </a:rPr>
              <a:t>Current version is </a:t>
            </a:r>
            <a:r>
              <a:rPr lang="en-CA" sz="2400" b="1" dirty="0"/>
              <a:t>C17</a:t>
            </a:r>
            <a:r>
              <a:rPr lang="en-CA" sz="2400" dirty="0"/>
              <a:t>. Published in June 2018</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B91FB386-805A-CFA2-8E87-523AEB2D224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957053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6B7AC-D75C-F23E-15F9-86819680F94A}"/>
              </a:ext>
            </a:extLst>
          </p:cNvPr>
          <p:cNvSpPr>
            <a:spLocks noGrp="1"/>
          </p:cNvSpPr>
          <p:nvPr>
            <p:ph type="title"/>
          </p:nvPr>
        </p:nvSpPr>
        <p:spPr/>
        <p:txBody>
          <a:bodyPr/>
          <a:lstStyle/>
          <a:p>
            <a:pPr algn="ctr"/>
            <a:r>
              <a:rPr lang="en-CA" dirty="0"/>
              <a:t>2.	Identifiers: </a:t>
            </a:r>
          </a:p>
        </p:txBody>
      </p:sp>
      <p:sp>
        <p:nvSpPr>
          <p:cNvPr id="3" name="Content Placeholder 2">
            <a:extLst>
              <a:ext uri="{FF2B5EF4-FFF2-40B4-BE49-F238E27FC236}">
                <a16:creationId xmlns:a16="http://schemas.microsoft.com/office/drawing/2014/main" id="{C4E2E322-C2E6-6C67-1B06-B6B6C986EDB1}"/>
              </a:ext>
            </a:extLst>
          </p:cNvPr>
          <p:cNvSpPr>
            <a:spLocks noGrp="1"/>
          </p:cNvSpPr>
          <p:nvPr>
            <p:ph idx="1"/>
          </p:nvPr>
        </p:nvSpPr>
        <p:spPr>
          <a:xfrm>
            <a:off x="337457" y="1469571"/>
            <a:ext cx="11582399" cy="5105400"/>
          </a:xfrm>
        </p:spPr>
        <p:txBody>
          <a:bodyPr>
            <a:normAutofit lnSpcReduction="10000"/>
          </a:bodyPr>
          <a:lstStyle/>
          <a:p>
            <a:pPr marL="0" lvl="0" indent="0">
              <a:lnSpc>
                <a:spcPct val="107000"/>
              </a:lnSpc>
              <a:spcAft>
                <a:spcPts val="800"/>
              </a:spcAft>
              <a:buNone/>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Identifiers are used as the general terminology </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for the naming of variables, functions, and arrays</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lvl="0" indent="0">
              <a:lnSpc>
                <a:spcPct val="107000"/>
              </a:lnSpc>
              <a:spcAft>
                <a:spcPts val="800"/>
              </a:spcAft>
              <a:buNone/>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These </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are user-defined names.</a:t>
            </a:r>
            <a:endParaRPr lang="en-CA"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Rules for Naming Identifiers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Certain rules should be followed while naming c identifiers which are as follows: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They must begin with a letter or underscore (_).</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They must consist of only letters, digits, or underscore. No other special character is allowed.</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It should not be a keyword.</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It must not contain white space.</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It should be up to 31 characters long as only the first 31 characters are significant.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Identifiers are case-sensitive so names like variable and Variable will be treated as different.</a:t>
            </a:r>
            <a:endParaRPr lang="en-CA" sz="1800" b="1"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5611F0AD-9B09-2D80-DA1A-B33F6793459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842722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699613-AED6-7EDA-70D2-B32FDB95AAE7}"/>
              </a:ext>
            </a:extLst>
          </p:cNvPr>
          <p:cNvSpPr>
            <a:spLocks noGrp="1"/>
          </p:cNvSpPr>
          <p:nvPr>
            <p:ph idx="1"/>
          </p:nvPr>
        </p:nvSpPr>
        <p:spPr>
          <a:xfrm>
            <a:off x="661220" y="1113656"/>
            <a:ext cx="4825181" cy="4353079"/>
          </a:xfrm>
        </p:spPr>
        <p:txBody>
          <a:bodyPr/>
          <a:lstStyle/>
          <a:p>
            <a:r>
              <a:rPr lang="en-US" dirty="0"/>
              <a:t>age: Contains only letters.</a:t>
            </a:r>
          </a:p>
          <a:p>
            <a:r>
              <a:rPr lang="en-US" dirty="0"/>
              <a:t>_total: Starts with an underscore.</a:t>
            </a:r>
          </a:p>
          <a:p>
            <a:r>
              <a:rPr lang="en-US" dirty="0" err="1"/>
              <a:t>sum_of_marks</a:t>
            </a:r>
            <a:r>
              <a:rPr lang="en-US" dirty="0"/>
              <a:t>: Contains letters and underscores.</a:t>
            </a:r>
          </a:p>
          <a:p>
            <a:r>
              <a:rPr lang="en-US" dirty="0"/>
              <a:t>Max123: Starts with a letter and includes digits.</a:t>
            </a:r>
          </a:p>
          <a:p>
            <a:r>
              <a:rPr lang="en-US" dirty="0"/>
              <a:t>count2: Starts with a letter and includes digits.</a:t>
            </a:r>
            <a:endParaRPr lang="en-CA" dirty="0"/>
          </a:p>
          <a:p>
            <a:pPr marL="0" indent="0">
              <a:buNone/>
            </a:pPr>
            <a:endParaRPr lang="en-CA" dirty="0"/>
          </a:p>
          <a:p>
            <a:pPr marL="0" indent="0">
              <a:buNone/>
            </a:pPr>
            <a:endParaRPr lang="en-US" dirty="0"/>
          </a:p>
        </p:txBody>
      </p:sp>
      <p:sp>
        <p:nvSpPr>
          <p:cNvPr id="7" name="Rectangle 4">
            <a:extLst>
              <a:ext uri="{FF2B5EF4-FFF2-40B4-BE49-F238E27FC236}">
                <a16:creationId xmlns:a16="http://schemas.microsoft.com/office/drawing/2014/main" id="{4BC9E9A8-7FD5-DDE6-144C-E5A592200DA9}"/>
              </a:ext>
            </a:extLst>
          </p:cNvPr>
          <p:cNvSpPr>
            <a:spLocks noChangeArrowheads="1"/>
          </p:cNvSpPr>
          <p:nvPr/>
        </p:nvSpPr>
        <p:spPr bwMode="auto">
          <a:xfrm>
            <a:off x="6420463" y="1028037"/>
            <a:ext cx="482518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Unicode MS"/>
              </a:rPr>
              <a:t>2count</a:t>
            </a:r>
            <a:r>
              <a:rPr kumimoji="0" lang="en-US" altLang="en-US" sz="2400" b="0" i="0" u="none" strike="noStrike" cap="none" normalizeH="0" baseline="0" dirty="0">
                <a:ln>
                  <a:noFill/>
                </a:ln>
                <a:solidFill>
                  <a:schemeClr val="tx1"/>
                </a:solidFill>
                <a:effectLst/>
              </a:rPr>
              <a:t>: Starts with a digit, which is not allowed.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chemeClr val="tx1"/>
                </a:solidFill>
                <a:effectLst/>
                <a:latin typeface="Arial Unicode MS"/>
              </a:rPr>
              <a:t>total#marks</a:t>
            </a:r>
            <a:r>
              <a:rPr kumimoji="0" lang="en-US" altLang="en-US" sz="2400" b="0" i="0" u="none" strike="noStrike" cap="none" normalizeH="0" baseline="0" dirty="0">
                <a:ln>
                  <a:noFill/>
                </a:ln>
                <a:solidFill>
                  <a:schemeClr val="tx1"/>
                </a:solidFill>
                <a:effectLst/>
              </a:rPr>
              <a:t>: Contains a special character (</a:t>
            </a:r>
            <a:r>
              <a:rPr kumimoji="0" lang="en-US" altLang="en-US" sz="2400" b="0" i="0" u="none" strike="noStrike" cap="none" normalizeH="0" baseline="0" dirty="0">
                <a:ln>
                  <a:noFill/>
                </a:ln>
                <a:solidFill>
                  <a:schemeClr val="tx1"/>
                </a:solidFill>
                <a:effectLst/>
                <a:latin typeface="Arial Unicode MS"/>
              </a:rPr>
              <a:t>#</a:t>
            </a:r>
            <a:r>
              <a:rPr kumimoji="0" lang="en-US" altLang="en-US" sz="2400" b="0" i="0" u="none" strike="noStrike" cap="none" normalizeH="0" baseline="0" dirty="0">
                <a:ln>
                  <a:noFill/>
                </a:ln>
                <a:solidFill>
                  <a:schemeClr val="tx1"/>
                </a:solidFill>
                <a:effectLst/>
              </a:rPr>
              <a:t>), which is not allowed.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Unicode MS"/>
              </a:rPr>
              <a:t>int</a:t>
            </a:r>
            <a:r>
              <a:rPr kumimoji="0" lang="en-US" altLang="en-US" sz="2400" b="0" i="0" u="none" strike="noStrike" cap="none" normalizeH="0" baseline="0" dirty="0">
                <a:ln>
                  <a:noFill/>
                </a:ln>
                <a:solidFill>
                  <a:schemeClr val="tx1"/>
                </a:solidFill>
                <a:effectLst/>
              </a:rPr>
              <a:t>: This is a reserved keyword in C, so it cannot be used as an identifier.</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Arial Unicode MS"/>
              </a:rPr>
              <a:t>total marks</a:t>
            </a:r>
            <a:r>
              <a:rPr kumimoji="0" lang="en-US" altLang="en-US" sz="2400" b="0" i="0" u="none" strike="noStrike" cap="none" normalizeH="0" baseline="0" dirty="0">
                <a:ln>
                  <a:noFill/>
                </a:ln>
                <a:solidFill>
                  <a:schemeClr val="tx1"/>
                </a:solidFill>
                <a:effectLst/>
              </a:rPr>
              <a:t>: Contains a space, which is not allowed.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err="1">
                <a:ln>
                  <a:noFill/>
                </a:ln>
                <a:solidFill>
                  <a:schemeClr val="tx1"/>
                </a:solidFill>
                <a:effectLst/>
                <a:latin typeface="Arial Unicode MS"/>
              </a:rPr>
              <a:t>float!rate</a:t>
            </a:r>
            <a:r>
              <a:rPr kumimoji="0" lang="en-US" altLang="en-US" sz="2400" b="0" i="0" u="none" strike="noStrike" cap="none" normalizeH="0" baseline="0" dirty="0">
                <a:ln>
                  <a:noFill/>
                </a:ln>
                <a:solidFill>
                  <a:schemeClr val="tx1"/>
                </a:solidFill>
                <a:effectLst/>
              </a:rPr>
              <a:t>: Contains a special character (</a:t>
            </a:r>
            <a:r>
              <a:rPr kumimoji="0" lang="en-US" altLang="en-US" sz="2400" b="0" i="0" u="none" strike="noStrike" cap="none" normalizeH="0" baseline="0" dirty="0">
                <a:ln>
                  <a:noFill/>
                </a:ln>
                <a:solidFill>
                  <a:schemeClr val="tx1"/>
                </a:solidFill>
                <a:effectLst/>
                <a:latin typeface="Arial Unicode MS"/>
              </a:rPr>
              <a:t>!</a:t>
            </a:r>
            <a:r>
              <a:rPr kumimoji="0" lang="en-US" altLang="en-US" sz="2400" b="0" i="0" u="none" strike="noStrike" cap="none" normalizeH="0" baseline="0" dirty="0">
                <a:ln>
                  <a:noFill/>
                </a:ln>
                <a:solidFill>
                  <a:schemeClr val="tx1"/>
                </a:solidFill>
                <a:effectLst/>
              </a:rPr>
              <a:t>), which is not allowed.</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
        <p:nvSpPr>
          <p:cNvPr id="2" name="Footer Placeholder 1">
            <a:extLst>
              <a:ext uri="{FF2B5EF4-FFF2-40B4-BE49-F238E27FC236}">
                <a16:creationId xmlns:a16="http://schemas.microsoft.com/office/drawing/2014/main" id="{12320979-B84C-6F44-552E-C7FBB95A411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045869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5CEB3-3C94-976D-50B9-19A4BF95037C}"/>
              </a:ext>
            </a:extLst>
          </p:cNvPr>
          <p:cNvSpPr>
            <a:spLocks noGrp="1"/>
          </p:cNvSpPr>
          <p:nvPr>
            <p:ph type="title"/>
          </p:nvPr>
        </p:nvSpPr>
        <p:spPr/>
        <p:txBody>
          <a:bodyPr/>
          <a:lstStyle/>
          <a:p>
            <a:pPr algn="ctr"/>
            <a:r>
              <a:rPr lang="en-CA" dirty="0"/>
              <a:t>3.	Constants</a:t>
            </a:r>
          </a:p>
        </p:txBody>
      </p:sp>
      <p:sp>
        <p:nvSpPr>
          <p:cNvPr id="3" name="Content Placeholder 2">
            <a:extLst>
              <a:ext uri="{FF2B5EF4-FFF2-40B4-BE49-F238E27FC236}">
                <a16:creationId xmlns:a16="http://schemas.microsoft.com/office/drawing/2014/main" id="{5397C442-BF2F-093F-5C20-84996C257352}"/>
              </a:ext>
            </a:extLst>
          </p:cNvPr>
          <p:cNvSpPr>
            <a:spLocks noGrp="1"/>
          </p:cNvSpPr>
          <p:nvPr>
            <p:ph idx="1"/>
          </p:nvPr>
        </p:nvSpPr>
        <p:spPr/>
        <p:txBody>
          <a:bodyPr>
            <a:normAutofit/>
          </a:bodyPr>
          <a:lstStyle/>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constants </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refer to the variables with fixed values.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They are like normal variables but with the difference that their values can not be modified in the program once they are defined.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Constants may belong to any of the data types.</a:t>
            </a:r>
          </a:p>
          <a:p>
            <a:pPr marL="228600">
              <a:lnSpc>
                <a:spcPct val="107000"/>
              </a:lnSpc>
              <a:spcAft>
                <a:spcPts val="800"/>
              </a:spcAft>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One thing to note here is that we have to initialize the constant variables at declaration. Otherwise, the variable will store some garbage value and we won’t be able to change it. </a:t>
            </a:r>
            <a:endParaRPr lang="en-CA"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const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data_type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var_name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value;</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const int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c_var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20;</a:t>
            </a:r>
            <a:b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const int* const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ptr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&amp;</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c_var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pic>
        <p:nvPicPr>
          <p:cNvPr id="4" name="Picture 3" descr="Lightbox">
            <a:extLst>
              <a:ext uri="{FF2B5EF4-FFF2-40B4-BE49-F238E27FC236}">
                <a16:creationId xmlns:a16="http://schemas.microsoft.com/office/drawing/2014/main" id="{073F19BA-DE56-FE24-02F1-74F0A6B053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67976" y="3801026"/>
            <a:ext cx="4192452" cy="2375937"/>
          </a:xfrm>
          <a:prstGeom prst="rect">
            <a:avLst/>
          </a:prstGeom>
          <a:noFill/>
          <a:ln>
            <a:noFill/>
          </a:ln>
        </p:spPr>
      </p:pic>
      <p:sp>
        <p:nvSpPr>
          <p:cNvPr id="5" name="Footer Placeholder 4">
            <a:extLst>
              <a:ext uri="{FF2B5EF4-FFF2-40B4-BE49-F238E27FC236}">
                <a16:creationId xmlns:a16="http://schemas.microsoft.com/office/drawing/2014/main" id="{EED85AF2-70DB-C3C8-4471-8DF070845AC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45985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B2B6-A49B-6C25-B410-1E46A6FB7891}"/>
              </a:ext>
            </a:extLst>
          </p:cNvPr>
          <p:cNvSpPr>
            <a:spLocks noGrp="1"/>
          </p:cNvSpPr>
          <p:nvPr>
            <p:ph type="title"/>
          </p:nvPr>
        </p:nvSpPr>
        <p:spPr/>
        <p:txBody>
          <a:bodyPr/>
          <a:lstStyle/>
          <a:p>
            <a:r>
              <a:rPr lang="en-US" dirty="0"/>
              <a:t>Types of Constants in C</a:t>
            </a:r>
            <a:endParaRPr lang="en-CA" dirty="0"/>
          </a:p>
        </p:txBody>
      </p:sp>
      <p:sp>
        <p:nvSpPr>
          <p:cNvPr id="3" name="Content Placeholder 2">
            <a:extLst>
              <a:ext uri="{FF2B5EF4-FFF2-40B4-BE49-F238E27FC236}">
                <a16:creationId xmlns:a16="http://schemas.microsoft.com/office/drawing/2014/main" id="{41CAFC4B-589C-06BD-4683-D7EAACDA127C}"/>
              </a:ext>
            </a:extLst>
          </p:cNvPr>
          <p:cNvSpPr>
            <a:spLocks noGrp="1"/>
          </p:cNvSpPr>
          <p:nvPr>
            <p:ph idx="1"/>
          </p:nvPr>
        </p:nvSpPr>
        <p:spPr/>
        <p:txBody>
          <a:bodyPr/>
          <a:lstStyle/>
          <a:p>
            <a:pPr marL="228600">
              <a:lnSpc>
                <a:spcPct val="107000"/>
              </a:lnSpc>
              <a:spcAft>
                <a:spcPts val="800"/>
              </a:spcAf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The type of the constant is the same as the data type of the variables. Following is the list of the types of constants</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Integer Constant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Character Constant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Floating Point Constant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Double Precision Floating Point Constant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Array Constant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Structure Constant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84C292CF-71B2-1B44-B5C8-6E04B1E6379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71144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C8E7D8-7983-0414-2142-CC01596588C7}"/>
              </a:ext>
            </a:extLst>
          </p:cNvPr>
          <p:cNvSpPr>
            <a:spLocks noGrp="1"/>
          </p:cNvSpPr>
          <p:nvPr>
            <p:ph idx="1"/>
          </p:nvPr>
        </p:nvSpPr>
        <p:spPr>
          <a:xfrm>
            <a:off x="794657" y="695387"/>
            <a:ext cx="4724400" cy="3766457"/>
          </a:xfrm>
        </p:spPr>
        <p:txBody>
          <a:bodyPr>
            <a:normAutofit/>
          </a:bodyPr>
          <a:lstStyle/>
          <a:p>
            <a:pPr marL="0" indent="0">
              <a:buNone/>
            </a:pPr>
            <a:r>
              <a:rPr lang="en-CA" sz="1800" dirty="0"/>
              <a:t>int main()</a:t>
            </a:r>
          </a:p>
          <a:p>
            <a:pPr marL="0" indent="0">
              <a:buNone/>
            </a:pPr>
            <a:r>
              <a:rPr lang="en-CA" sz="1800" dirty="0"/>
              <a:t>{</a:t>
            </a:r>
          </a:p>
          <a:p>
            <a:pPr marL="0" indent="0">
              <a:buNone/>
            </a:pPr>
            <a:endParaRPr lang="en-CA" sz="1800" dirty="0"/>
          </a:p>
          <a:p>
            <a:pPr marL="0" indent="0">
              <a:buNone/>
            </a:pPr>
            <a:r>
              <a:rPr lang="en-CA" sz="1800" dirty="0"/>
              <a:t>    // defining integer constant using const keyword</a:t>
            </a:r>
          </a:p>
          <a:p>
            <a:pPr marL="0" indent="0">
              <a:buNone/>
            </a:pPr>
            <a:r>
              <a:rPr lang="en-CA" sz="1800" dirty="0"/>
              <a:t>    const int </a:t>
            </a:r>
            <a:r>
              <a:rPr lang="en-CA" sz="1800" dirty="0" err="1"/>
              <a:t>int_const</a:t>
            </a:r>
            <a:r>
              <a:rPr lang="en-CA" sz="1800" dirty="0"/>
              <a:t> = 25;</a:t>
            </a:r>
          </a:p>
          <a:p>
            <a:pPr marL="0" indent="0">
              <a:buNone/>
            </a:pPr>
            <a:endParaRPr lang="en-CA" sz="1800" dirty="0"/>
          </a:p>
          <a:p>
            <a:pPr marL="0" indent="0">
              <a:buNone/>
            </a:pPr>
            <a:r>
              <a:rPr lang="en-CA" sz="1800" dirty="0"/>
              <a:t>    // defining character constant using const keyword</a:t>
            </a:r>
          </a:p>
          <a:p>
            <a:pPr marL="0" indent="0">
              <a:buNone/>
            </a:pPr>
            <a:r>
              <a:rPr lang="en-CA" sz="1800" dirty="0"/>
              <a:t>    const char </a:t>
            </a:r>
            <a:r>
              <a:rPr lang="en-CA" sz="1800" dirty="0" err="1"/>
              <a:t>char_const</a:t>
            </a:r>
            <a:r>
              <a:rPr lang="en-CA" sz="1800" dirty="0"/>
              <a:t> = 'A';</a:t>
            </a:r>
          </a:p>
          <a:p>
            <a:pPr marL="0" indent="0">
              <a:buNone/>
            </a:pPr>
            <a:endParaRPr lang="en-CA" sz="1800" dirty="0"/>
          </a:p>
          <a:p>
            <a:endParaRPr lang="en-CA" sz="1800" dirty="0"/>
          </a:p>
        </p:txBody>
      </p:sp>
      <p:sp>
        <p:nvSpPr>
          <p:cNvPr id="5" name="TextBox 4">
            <a:extLst>
              <a:ext uri="{FF2B5EF4-FFF2-40B4-BE49-F238E27FC236}">
                <a16:creationId xmlns:a16="http://schemas.microsoft.com/office/drawing/2014/main" id="{3A12B7B3-AB60-59CA-DD82-87B921801459}"/>
              </a:ext>
            </a:extLst>
          </p:cNvPr>
          <p:cNvSpPr txBox="1"/>
          <p:nvPr/>
        </p:nvSpPr>
        <p:spPr>
          <a:xfrm>
            <a:off x="5682344" y="870455"/>
            <a:ext cx="6379028" cy="3416320"/>
          </a:xfrm>
          <a:prstGeom prst="rect">
            <a:avLst/>
          </a:prstGeom>
          <a:noFill/>
        </p:spPr>
        <p:txBody>
          <a:bodyPr wrap="square">
            <a:spAutoFit/>
          </a:bodyPr>
          <a:lstStyle/>
          <a:p>
            <a:r>
              <a:rPr lang="en-CA" dirty="0"/>
              <a:t> // defining float constant using const keyword</a:t>
            </a:r>
          </a:p>
          <a:p>
            <a:r>
              <a:rPr lang="en-CA" dirty="0"/>
              <a:t>    const float </a:t>
            </a:r>
            <a:r>
              <a:rPr lang="en-CA" dirty="0" err="1"/>
              <a:t>float_const</a:t>
            </a:r>
            <a:r>
              <a:rPr lang="en-CA" dirty="0"/>
              <a:t> = 15.66;</a:t>
            </a:r>
          </a:p>
          <a:p>
            <a:endParaRPr lang="en-CA" dirty="0"/>
          </a:p>
          <a:p>
            <a:r>
              <a:rPr lang="en-CA" dirty="0"/>
              <a:t>    </a:t>
            </a:r>
            <a:r>
              <a:rPr lang="en-CA" dirty="0" err="1"/>
              <a:t>printf</a:t>
            </a:r>
            <a:r>
              <a:rPr lang="en-CA" dirty="0"/>
              <a:t>("Printing value of Integer Constant: %d\n",</a:t>
            </a:r>
          </a:p>
          <a:p>
            <a:r>
              <a:rPr lang="en-CA" dirty="0"/>
              <a:t>           </a:t>
            </a:r>
            <a:r>
              <a:rPr lang="en-CA" dirty="0" err="1"/>
              <a:t>int_const</a:t>
            </a:r>
            <a:r>
              <a:rPr lang="en-CA" dirty="0"/>
              <a:t>);</a:t>
            </a:r>
          </a:p>
          <a:p>
            <a:r>
              <a:rPr lang="en-CA" dirty="0"/>
              <a:t>    </a:t>
            </a:r>
            <a:r>
              <a:rPr lang="en-CA" dirty="0" err="1"/>
              <a:t>printf</a:t>
            </a:r>
            <a:r>
              <a:rPr lang="en-CA" dirty="0"/>
              <a:t>("Printing value of Character Constant: %c\n",</a:t>
            </a:r>
          </a:p>
          <a:p>
            <a:r>
              <a:rPr lang="en-CA" dirty="0"/>
              <a:t>           </a:t>
            </a:r>
            <a:r>
              <a:rPr lang="en-CA" dirty="0" err="1"/>
              <a:t>char_const</a:t>
            </a:r>
            <a:r>
              <a:rPr lang="en-CA" dirty="0"/>
              <a:t>);</a:t>
            </a:r>
          </a:p>
          <a:p>
            <a:r>
              <a:rPr lang="en-CA" dirty="0"/>
              <a:t>    </a:t>
            </a:r>
            <a:r>
              <a:rPr lang="en-CA" dirty="0" err="1"/>
              <a:t>printf</a:t>
            </a:r>
            <a:r>
              <a:rPr lang="en-CA" dirty="0"/>
              <a:t>("Printing value of Float Constant: %f",</a:t>
            </a:r>
          </a:p>
          <a:p>
            <a:r>
              <a:rPr lang="en-CA" dirty="0"/>
              <a:t>           </a:t>
            </a:r>
            <a:r>
              <a:rPr lang="en-CA" dirty="0" err="1"/>
              <a:t>float_const</a:t>
            </a:r>
            <a:r>
              <a:rPr lang="en-CA" dirty="0"/>
              <a:t>);</a:t>
            </a:r>
          </a:p>
          <a:p>
            <a:endParaRPr lang="en-CA" dirty="0"/>
          </a:p>
          <a:p>
            <a:r>
              <a:rPr lang="en-CA" dirty="0"/>
              <a:t>    return 0;</a:t>
            </a:r>
          </a:p>
          <a:p>
            <a:r>
              <a:rPr lang="en-CA" dirty="0"/>
              <a:t>}</a:t>
            </a:r>
          </a:p>
        </p:txBody>
      </p:sp>
      <p:sp>
        <p:nvSpPr>
          <p:cNvPr id="7" name="TextBox 6">
            <a:extLst>
              <a:ext uri="{FF2B5EF4-FFF2-40B4-BE49-F238E27FC236}">
                <a16:creationId xmlns:a16="http://schemas.microsoft.com/office/drawing/2014/main" id="{62F91E7D-BF90-BDFA-1743-229785F9E047}"/>
              </a:ext>
            </a:extLst>
          </p:cNvPr>
          <p:cNvSpPr txBox="1"/>
          <p:nvPr/>
        </p:nvSpPr>
        <p:spPr>
          <a:xfrm>
            <a:off x="2471057" y="4591670"/>
            <a:ext cx="6096000" cy="1570943"/>
          </a:xfrm>
          <a:prstGeom prst="rect">
            <a:avLst/>
          </a:prstGeom>
          <a:noFill/>
        </p:spPr>
        <p:txBody>
          <a:bodyPr wrap="square">
            <a:spAutoFit/>
          </a:bodyPr>
          <a:lstStyle/>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Printing value of Integer Constant: 25</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Printing value of Character Constant: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Printing value of Float Constant: 15.660000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B49F3068-2332-7ADE-1F65-05825144F804}"/>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20211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09EAA-E587-FBA1-01AB-60E6144D3E75}"/>
              </a:ext>
            </a:extLst>
          </p:cNvPr>
          <p:cNvSpPr>
            <a:spLocks noGrp="1"/>
          </p:cNvSpPr>
          <p:nvPr>
            <p:ph type="title"/>
          </p:nvPr>
        </p:nvSpPr>
        <p:spPr/>
        <p:txBody>
          <a:bodyPr/>
          <a:lstStyle/>
          <a:p>
            <a:pPr marL="742950" indent="-742950" algn="ctr">
              <a:buFont typeface="+mj-lt"/>
              <a:buAutoNum type="arabicPeriod" startAt="4"/>
            </a:pPr>
            <a:r>
              <a:rPr lang="en-CA" dirty="0"/>
              <a:t>Literals in C</a:t>
            </a:r>
          </a:p>
        </p:txBody>
      </p:sp>
      <p:sp>
        <p:nvSpPr>
          <p:cNvPr id="3" name="Content Placeholder 2">
            <a:extLst>
              <a:ext uri="{FF2B5EF4-FFF2-40B4-BE49-F238E27FC236}">
                <a16:creationId xmlns:a16="http://schemas.microsoft.com/office/drawing/2014/main" id="{A22F46D8-6AF6-D0AF-384D-B14E7FFA61D6}"/>
              </a:ext>
            </a:extLst>
          </p:cNvPr>
          <p:cNvSpPr>
            <a:spLocks noGrp="1"/>
          </p:cNvSpPr>
          <p:nvPr>
            <p:ph idx="1"/>
          </p:nvPr>
        </p:nvSpPr>
        <p:spPr/>
        <p:txBody>
          <a:bodyPr/>
          <a:lstStyle/>
          <a:p>
            <a:pPr>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Literals are the constant values that are assigned to the variables.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Literals represent fixed values that cannot be modified. Literals contain memory but they do not have references as variables. Generally, both terms, constants, and literals are used interchangeably.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For example, </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“const int = 5;“,</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is a constant expression and the value 5 is referred to as a constant integer literal.</a:t>
            </a:r>
          </a:p>
          <a:p>
            <a:pPr>
              <a:lnSpc>
                <a:spcPct val="107000"/>
              </a:lnSpc>
              <a:spcAft>
                <a:spcPts val="800"/>
              </a:spcAft>
            </a:pP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pic>
        <p:nvPicPr>
          <p:cNvPr id="4" name="Picture 3" descr="Lightbox">
            <a:extLst>
              <a:ext uri="{FF2B5EF4-FFF2-40B4-BE49-F238E27FC236}">
                <a16:creationId xmlns:a16="http://schemas.microsoft.com/office/drawing/2014/main" id="{2F60CB20-5069-F138-0A39-DA92C71450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18657" y="3656602"/>
            <a:ext cx="7217229" cy="2655298"/>
          </a:xfrm>
          <a:prstGeom prst="rect">
            <a:avLst/>
          </a:prstGeom>
          <a:noFill/>
          <a:ln>
            <a:noFill/>
          </a:ln>
        </p:spPr>
      </p:pic>
      <p:sp>
        <p:nvSpPr>
          <p:cNvPr id="5" name="Footer Placeholder 4">
            <a:extLst>
              <a:ext uri="{FF2B5EF4-FFF2-40B4-BE49-F238E27FC236}">
                <a16:creationId xmlns:a16="http://schemas.microsoft.com/office/drawing/2014/main" id="{AAB4CDAE-AFEB-74E0-36DB-D2C3F592BBA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393992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01548-1DE5-AF40-97D0-D4A3B72ABB22}"/>
              </a:ext>
            </a:extLst>
          </p:cNvPr>
          <p:cNvSpPr>
            <a:spLocks noGrp="1"/>
          </p:cNvSpPr>
          <p:nvPr>
            <p:ph type="title"/>
          </p:nvPr>
        </p:nvSpPr>
        <p:spPr/>
        <p:txBody>
          <a:bodyPr/>
          <a:lstStyle/>
          <a:p>
            <a:pPr algn="ctr"/>
            <a:r>
              <a:rPr lang="en-CA" dirty="0"/>
              <a:t>Types of C Literals</a:t>
            </a:r>
          </a:p>
        </p:txBody>
      </p:sp>
      <p:sp>
        <p:nvSpPr>
          <p:cNvPr id="3" name="Content Placeholder 2">
            <a:extLst>
              <a:ext uri="{FF2B5EF4-FFF2-40B4-BE49-F238E27FC236}">
                <a16:creationId xmlns:a16="http://schemas.microsoft.com/office/drawing/2014/main" id="{08F26973-64A2-96AE-C78E-6354BE24BD17}"/>
              </a:ext>
            </a:extLst>
          </p:cNvPr>
          <p:cNvSpPr>
            <a:spLocks noGrp="1"/>
          </p:cNvSpPr>
          <p:nvPr>
            <p:ph idx="1"/>
          </p:nvPr>
        </p:nvSpPr>
        <p:spPr>
          <a:xfrm>
            <a:off x="838200" y="1825625"/>
            <a:ext cx="3929743" cy="4351338"/>
          </a:xfrm>
        </p:spPr>
        <p:txBody>
          <a:bodyPr>
            <a:normAutofit/>
          </a:bodyPr>
          <a:lstStyle/>
          <a:p>
            <a:pPr>
              <a:lnSpc>
                <a:spcPct val="107000"/>
              </a:lnSpc>
              <a:spcAft>
                <a:spcPts val="800"/>
              </a:spcAft>
            </a:pP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There are 4 types of literal in C:</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400" b="1" kern="100" dirty="0">
                <a:effectLst/>
                <a:latin typeface="Times New Roman" panose="02020603050405020304" pitchFamily="18" charset="0"/>
                <a:ea typeface="Calibri" panose="020F0502020204030204" pitchFamily="34" charset="0"/>
                <a:cs typeface="Times New Roman" panose="02020603050405020304" pitchFamily="18" charset="0"/>
              </a:rPr>
              <a:t>Integer Literal</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const int = 5</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400" b="1" kern="100" dirty="0">
                <a:effectLst/>
                <a:latin typeface="Times New Roman" panose="02020603050405020304" pitchFamily="18" charset="0"/>
                <a:ea typeface="Calibri" panose="020F0502020204030204" pitchFamily="34" charset="0"/>
                <a:cs typeface="Times New Roman" panose="02020603050405020304" pitchFamily="18" charset="0"/>
              </a:rPr>
              <a:t>Float Literal</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const float </a:t>
            </a:r>
            <a:r>
              <a:rPr lang="en-CA" sz="2400" kern="100" dirty="0" err="1">
                <a:effectLst/>
                <a:latin typeface="Times New Roman" panose="02020603050405020304" pitchFamily="18" charset="0"/>
                <a:ea typeface="Calibri" panose="020F0502020204030204" pitchFamily="34" charset="0"/>
                <a:cs typeface="Times New Roman" panose="02020603050405020304" pitchFamily="18" charset="0"/>
              </a:rPr>
              <a:t>floatVal</a:t>
            </a: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 = 4.14;</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6" name="TextBox 5">
            <a:extLst>
              <a:ext uri="{FF2B5EF4-FFF2-40B4-BE49-F238E27FC236}">
                <a16:creationId xmlns:a16="http://schemas.microsoft.com/office/drawing/2014/main" id="{71B086D2-5536-A50E-A806-D25BA925FFAF}"/>
              </a:ext>
            </a:extLst>
          </p:cNvPr>
          <p:cNvSpPr txBox="1"/>
          <p:nvPr/>
        </p:nvSpPr>
        <p:spPr>
          <a:xfrm>
            <a:off x="5442857" y="2012158"/>
            <a:ext cx="4669971" cy="1961371"/>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CA" sz="2400" b="1" kern="100" dirty="0">
                <a:effectLst/>
                <a:latin typeface="Times New Roman" panose="02020603050405020304" pitchFamily="18" charset="0"/>
                <a:ea typeface="Calibri" panose="020F0502020204030204" pitchFamily="34" charset="0"/>
                <a:cs typeface="Times New Roman" panose="02020603050405020304" pitchFamily="18" charset="0"/>
              </a:rPr>
              <a:t>Character Literal</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char chr = 'G';</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2400" b="1" kern="100" dirty="0">
                <a:effectLst/>
                <a:latin typeface="Times New Roman" panose="02020603050405020304" pitchFamily="18" charset="0"/>
                <a:ea typeface="Calibri" panose="020F0502020204030204" pitchFamily="34" charset="0"/>
                <a:cs typeface="Times New Roman" panose="02020603050405020304" pitchFamily="18" charset="0"/>
              </a:rPr>
              <a:t>String Literal</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char </a:t>
            </a:r>
            <a:r>
              <a:rPr lang="en-CA" sz="2400" kern="100" dirty="0" err="1">
                <a:effectLst/>
                <a:latin typeface="Times New Roman" panose="02020603050405020304" pitchFamily="18" charset="0"/>
                <a:ea typeface="Calibri" panose="020F0502020204030204" pitchFamily="34" charset="0"/>
                <a:cs typeface="Times New Roman" panose="02020603050405020304" pitchFamily="18" charset="0"/>
              </a:rPr>
              <a:t>stringVal</a:t>
            </a: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CA" sz="2400" kern="100" dirty="0" err="1">
                <a:effectLst/>
                <a:latin typeface="Times New Roman" panose="02020603050405020304" pitchFamily="18" charset="0"/>
                <a:ea typeface="Calibri" panose="020F0502020204030204" pitchFamily="34" charset="0"/>
                <a:cs typeface="Times New Roman" panose="02020603050405020304" pitchFamily="18" charset="0"/>
              </a:rPr>
              <a:t>LearnC</a:t>
            </a:r>
            <a:r>
              <a:rPr lang="en-CA" sz="2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AC6465F-8C8D-D2F5-1C29-AF28FAFE6B1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935990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D86A959-1DBC-D0D4-F5D5-FCC959C080C3}"/>
              </a:ext>
            </a:extLst>
          </p:cNvPr>
          <p:cNvGraphicFramePr>
            <a:graphicFrameLocks noGrp="1"/>
          </p:cNvGraphicFramePr>
          <p:nvPr>
            <p:ph idx="1"/>
            <p:extLst>
              <p:ext uri="{D42A27DB-BD31-4B8C-83A1-F6EECF244321}">
                <p14:modId xmlns:p14="http://schemas.microsoft.com/office/powerpoint/2010/main" val="1202125413"/>
              </p:ext>
            </p:extLst>
          </p:nvPr>
        </p:nvGraphicFramePr>
        <p:xfrm>
          <a:off x="1426028" y="1099457"/>
          <a:ext cx="9557658" cy="4574668"/>
        </p:xfrm>
        <a:graphic>
          <a:graphicData uri="http://schemas.openxmlformats.org/drawingml/2006/table">
            <a:tbl>
              <a:tblPr firstRow="1" firstCol="1" bandRow="1">
                <a:tableStyleId>{3C2FFA5D-87B4-456A-9821-1D502468CF0F}</a:tableStyleId>
              </a:tblPr>
              <a:tblGrid>
                <a:gridCol w="4778829">
                  <a:extLst>
                    <a:ext uri="{9D8B030D-6E8A-4147-A177-3AD203B41FA5}">
                      <a16:colId xmlns:a16="http://schemas.microsoft.com/office/drawing/2014/main" val="225436016"/>
                    </a:ext>
                  </a:extLst>
                </a:gridCol>
                <a:gridCol w="4778829">
                  <a:extLst>
                    <a:ext uri="{9D8B030D-6E8A-4147-A177-3AD203B41FA5}">
                      <a16:colId xmlns:a16="http://schemas.microsoft.com/office/drawing/2014/main" val="2817439161"/>
                    </a:ext>
                  </a:extLst>
                </a:gridCol>
              </a:tblGrid>
              <a:tr h="498077">
                <a:tc>
                  <a:txBody>
                    <a:bodyPr/>
                    <a:lstStyle/>
                    <a:p>
                      <a:pPr marL="228600">
                        <a:lnSpc>
                          <a:spcPct val="107000"/>
                        </a:lnSpc>
                        <a:spcAft>
                          <a:spcPts val="800"/>
                        </a:spcAft>
                      </a:pPr>
                      <a:r>
                        <a:rPr lang="en-CA" sz="2000" kern="100" dirty="0">
                          <a:effectLst/>
                        </a:rPr>
                        <a:t>Constant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lnSpc>
                          <a:spcPct val="107000"/>
                        </a:lnSpc>
                        <a:spcAft>
                          <a:spcPts val="800"/>
                        </a:spcAft>
                      </a:pPr>
                      <a:r>
                        <a:rPr lang="en-CA" sz="2000" kern="100">
                          <a:effectLst/>
                        </a:rPr>
                        <a:t>Literals</a:t>
                      </a:r>
                      <a:endParaRPr lang="en-CA"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6936918"/>
                  </a:ext>
                </a:extLst>
              </a:tr>
              <a:tr h="1019148">
                <a:tc>
                  <a:txBody>
                    <a:bodyPr/>
                    <a:lstStyle/>
                    <a:p>
                      <a:pPr marL="228600">
                        <a:lnSpc>
                          <a:spcPct val="107000"/>
                        </a:lnSpc>
                        <a:spcAft>
                          <a:spcPts val="800"/>
                        </a:spcAft>
                      </a:pPr>
                      <a:r>
                        <a:rPr lang="en-CA" sz="2000" kern="100" dirty="0">
                          <a:effectLst/>
                        </a:rPr>
                        <a:t>Constants are variables that cannot be modified once declared.</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lnSpc>
                          <a:spcPct val="107000"/>
                        </a:lnSpc>
                        <a:spcAft>
                          <a:spcPts val="800"/>
                        </a:spcAft>
                      </a:pPr>
                      <a:r>
                        <a:rPr lang="en-CA" sz="2000" kern="100">
                          <a:effectLst/>
                        </a:rPr>
                        <a:t>Literals are the fixed values that define themselves.</a:t>
                      </a:r>
                      <a:endParaRPr lang="en-CA"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8989098"/>
                  </a:ext>
                </a:extLst>
              </a:tr>
              <a:tr h="1540218">
                <a:tc>
                  <a:txBody>
                    <a:bodyPr/>
                    <a:lstStyle/>
                    <a:p>
                      <a:pPr marL="228600">
                        <a:lnSpc>
                          <a:spcPct val="107000"/>
                        </a:lnSpc>
                        <a:spcAft>
                          <a:spcPts val="800"/>
                        </a:spcAft>
                      </a:pPr>
                      <a:r>
                        <a:rPr lang="en-CA" sz="2000" kern="100" dirty="0">
                          <a:effectLst/>
                        </a:rPr>
                        <a:t>Constants are defined by using the const keyword in C. They store literal values in themselves.</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lnSpc>
                          <a:spcPct val="107000"/>
                        </a:lnSpc>
                        <a:spcAft>
                          <a:spcPts val="800"/>
                        </a:spcAft>
                      </a:pPr>
                      <a:r>
                        <a:rPr lang="en-CA" sz="2000" kern="100" dirty="0">
                          <a:effectLst/>
                        </a:rPr>
                        <a:t>They themselves are the values that are assigned to the variables or constants.</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02747813"/>
                  </a:ext>
                </a:extLst>
              </a:tr>
              <a:tr h="1019148">
                <a:tc>
                  <a:txBody>
                    <a:bodyPr/>
                    <a:lstStyle/>
                    <a:p>
                      <a:pPr marL="228600">
                        <a:lnSpc>
                          <a:spcPct val="107000"/>
                        </a:lnSpc>
                        <a:spcAft>
                          <a:spcPts val="800"/>
                        </a:spcAft>
                      </a:pPr>
                      <a:r>
                        <a:rPr lang="en-CA" sz="2000" kern="100" dirty="0">
                          <a:effectLst/>
                        </a:rPr>
                        <a:t>We can determine the address of constants.</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lnSpc>
                          <a:spcPct val="107000"/>
                        </a:lnSpc>
                        <a:spcAft>
                          <a:spcPts val="800"/>
                        </a:spcAft>
                      </a:pPr>
                      <a:r>
                        <a:rPr lang="en-CA" sz="2000" kern="100">
                          <a:effectLst/>
                        </a:rPr>
                        <a:t>We cannot determine the address of a literal except string literal.</a:t>
                      </a:r>
                      <a:endParaRPr lang="en-CA"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29567671"/>
                  </a:ext>
                </a:extLst>
              </a:tr>
              <a:tr h="498077">
                <a:tc>
                  <a:txBody>
                    <a:bodyPr/>
                    <a:lstStyle/>
                    <a:p>
                      <a:pPr marL="228600">
                        <a:lnSpc>
                          <a:spcPct val="107000"/>
                        </a:lnSpc>
                        <a:spcAft>
                          <a:spcPts val="800"/>
                        </a:spcAft>
                      </a:pPr>
                      <a:r>
                        <a:rPr lang="en-CA" sz="2000" kern="100">
                          <a:effectLst/>
                        </a:rPr>
                        <a:t>Example: const int c = 20.</a:t>
                      </a:r>
                      <a:endParaRPr lang="en-CA"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lnSpc>
                          <a:spcPct val="107000"/>
                        </a:lnSpc>
                        <a:spcAft>
                          <a:spcPts val="800"/>
                        </a:spcAft>
                      </a:pPr>
                      <a:r>
                        <a:rPr lang="en-CA" sz="2000" kern="100" dirty="0">
                          <a:effectLst/>
                        </a:rPr>
                        <a:t>Example: 24,15.5, ‘a’, etc.</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89898511"/>
                  </a:ext>
                </a:extLst>
              </a:tr>
            </a:tbl>
          </a:graphicData>
        </a:graphic>
      </p:graphicFrame>
      <p:sp>
        <p:nvSpPr>
          <p:cNvPr id="2" name="Footer Placeholder 1">
            <a:extLst>
              <a:ext uri="{FF2B5EF4-FFF2-40B4-BE49-F238E27FC236}">
                <a16:creationId xmlns:a16="http://schemas.microsoft.com/office/drawing/2014/main" id="{AEBD77ED-769B-A35D-4CAF-EBB7D576862A}"/>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691107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0DDCF-9F78-BA25-8CDD-2072F4397B4F}"/>
              </a:ext>
            </a:extLst>
          </p:cNvPr>
          <p:cNvSpPr>
            <a:spLocks noGrp="1"/>
          </p:cNvSpPr>
          <p:nvPr>
            <p:ph type="title"/>
          </p:nvPr>
        </p:nvSpPr>
        <p:spPr/>
        <p:txBody>
          <a:bodyPr/>
          <a:lstStyle/>
          <a:p>
            <a:pPr algn="ctr"/>
            <a:r>
              <a:rPr lang="en-CA" dirty="0"/>
              <a:t>4.	Strings</a:t>
            </a:r>
          </a:p>
        </p:txBody>
      </p:sp>
      <p:sp>
        <p:nvSpPr>
          <p:cNvPr id="3" name="Content Placeholder 2">
            <a:extLst>
              <a:ext uri="{FF2B5EF4-FFF2-40B4-BE49-F238E27FC236}">
                <a16:creationId xmlns:a16="http://schemas.microsoft.com/office/drawing/2014/main" id="{4BF17BD3-33A4-824E-37BE-2C917B21ADB7}"/>
              </a:ext>
            </a:extLst>
          </p:cNvPr>
          <p:cNvSpPr>
            <a:spLocks noGrp="1"/>
          </p:cNvSpPr>
          <p:nvPr>
            <p:ph idx="1"/>
          </p:nvPr>
        </p:nvSpPr>
        <p:spPr/>
        <p:txBody>
          <a:bodyPr/>
          <a:lstStyle/>
          <a:p>
            <a:pPr marL="0" lvl="0" indent="0">
              <a:lnSpc>
                <a:spcPct val="107000"/>
              </a:lnSpc>
              <a:spcAft>
                <a:spcPts val="800"/>
              </a:spcAft>
              <a:buNone/>
              <a:tabLst>
                <a:tab pos="457200" algn="l"/>
              </a:tabLs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Strings are nothing but an array of characters ended with a null character (‘\0’). This null character indicates the end of the string. Strings are always enclosed in double quotes. Whereas, a character is enclosed in single quotes in C and C++.</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char string[20] = {‘g’, ’e’, ‘e’, ‘k’, ‘s’, ‘f’, ‘o’, ‘r’, ‘g’, ’e’, ‘e’, ‘k’, ‘s’, ‘\0’};</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char string[20] = “</a:t>
            </a:r>
            <a:r>
              <a:rPr lang="en-CA" sz="2000" kern="100" dirty="0" err="1">
                <a:effectLst/>
                <a:latin typeface="Times New Roman" panose="02020603050405020304" pitchFamily="18" charset="0"/>
                <a:ea typeface="Calibri" panose="020F0502020204030204" pitchFamily="34" charset="0"/>
                <a:cs typeface="Times New Roman" panose="02020603050405020304" pitchFamily="18" charset="0"/>
              </a:rPr>
              <a:t>LearnC</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char string [] = “</a:t>
            </a:r>
            <a:r>
              <a:rPr lang="en-CA" sz="2000" kern="100" dirty="0" err="1">
                <a:effectLst/>
                <a:latin typeface="Times New Roman" panose="02020603050405020304" pitchFamily="18" charset="0"/>
                <a:ea typeface="Calibri" panose="020F0502020204030204" pitchFamily="34" charset="0"/>
                <a:cs typeface="Times New Roman" panose="02020603050405020304" pitchFamily="18" charset="0"/>
              </a:rPr>
              <a:t>LearnC</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66CFFAE9-B5EB-4545-AAC5-474D343AA7E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384091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48D7C-C0AA-B41E-BE72-86647B45B71B}"/>
              </a:ext>
            </a:extLst>
          </p:cNvPr>
          <p:cNvSpPr>
            <a:spLocks noGrp="1"/>
          </p:cNvSpPr>
          <p:nvPr>
            <p:ph type="title"/>
          </p:nvPr>
        </p:nvSpPr>
        <p:spPr/>
        <p:txBody>
          <a:bodyPr/>
          <a:lstStyle/>
          <a:p>
            <a:pPr algn="ctr"/>
            <a:r>
              <a:rPr lang="en-CA" dirty="0"/>
              <a:t>5.	Special Symbols</a:t>
            </a:r>
          </a:p>
        </p:txBody>
      </p:sp>
      <p:sp>
        <p:nvSpPr>
          <p:cNvPr id="3" name="Content Placeholder 2">
            <a:extLst>
              <a:ext uri="{FF2B5EF4-FFF2-40B4-BE49-F238E27FC236}">
                <a16:creationId xmlns:a16="http://schemas.microsoft.com/office/drawing/2014/main" id="{EAA8DE63-A2D7-681E-5E0E-DAD00EDD6C00}"/>
              </a:ext>
            </a:extLst>
          </p:cNvPr>
          <p:cNvSpPr>
            <a:spLocks noGrp="1"/>
          </p:cNvSpPr>
          <p:nvPr>
            <p:ph idx="1"/>
          </p:nvPr>
        </p:nvSpPr>
        <p:spPr>
          <a:xfrm>
            <a:off x="838200" y="1513114"/>
            <a:ext cx="10515600" cy="5094515"/>
          </a:xfrm>
        </p:spPr>
        <p:txBody>
          <a:bodyPr/>
          <a:lstStyle/>
          <a:p>
            <a:pPr marL="228600">
              <a:lnSpc>
                <a:spcPct val="107000"/>
              </a:lnSpc>
              <a:spcAft>
                <a:spcPts val="800"/>
              </a:spcAft>
            </a:pPr>
            <a:endParaRPr lang="en-C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following special symbols are used in C having some special meaning and thus, cannot be used for some other purpose. Some of these are listed below:</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Brackets[]:</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Opening and closing brackets are used as array element references. These indicate single and multidimensional subscripts.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Parentheses():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These special symbols are used to indicate function calls and function parameters.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Braces{}:</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These opening and ending curly braces mark the start and end of a block of code containing more than one executable statement.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Comma (, ):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It is used to separate more than one statement like for separating parameters in function calls.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Colon(:):</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It is an operator that essentially invokes something called an initialization list.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C15405C7-4292-5AAF-4C5C-9CE69A504FB0}"/>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22299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3D64F-AA70-80E8-6A7F-E3006568C467}"/>
              </a:ext>
            </a:extLst>
          </p:cNvPr>
          <p:cNvSpPr>
            <a:spLocks noGrp="1"/>
          </p:cNvSpPr>
          <p:nvPr>
            <p:ph idx="1"/>
          </p:nvPr>
        </p:nvSpPr>
        <p:spPr>
          <a:xfrm>
            <a:off x="838200" y="685800"/>
            <a:ext cx="10515600" cy="5491163"/>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Semicolon(;):</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It is known as a statement terminator.  It indicates the end of one logical entity. That’s why each individual statement must be ended with a semicolon.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Asterisk (*):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It is used to create a pointer variable and for the multiplication of variables.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Assignment operator(=):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It is used to assign values and for logical operation validation.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Pre-processor (#):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preprocessor is a macro processor that is used automatically by the compiler to transform your program before actual compilation.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Period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Used to access members of a structure or union.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Tilde(~):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Bitwise One’s Complement Operator.</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2" name="Footer Placeholder 1">
            <a:extLst>
              <a:ext uri="{FF2B5EF4-FFF2-40B4-BE49-F238E27FC236}">
                <a16:creationId xmlns:a16="http://schemas.microsoft.com/office/drawing/2014/main" id="{E3D51A80-12A5-0FE2-1CAC-6760451DAD2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964876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3E51D-6E74-BB8C-6914-577FA89ED6BD}"/>
              </a:ext>
            </a:extLst>
          </p:cNvPr>
          <p:cNvSpPr>
            <a:spLocks noGrp="1"/>
          </p:cNvSpPr>
          <p:nvPr>
            <p:ph type="title"/>
          </p:nvPr>
        </p:nvSpPr>
        <p:spPr/>
        <p:txBody>
          <a:bodyPr/>
          <a:lstStyle/>
          <a:p>
            <a:pPr algn="ctr"/>
            <a:r>
              <a:rPr lang="en-CA" dirty="0"/>
              <a:t>6.	Operators</a:t>
            </a:r>
          </a:p>
        </p:txBody>
      </p:sp>
      <p:sp>
        <p:nvSpPr>
          <p:cNvPr id="3" name="Content Placeholder 2">
            <a:extLst>
              <a:ext uri="{FF2B5EF4-FFF2-40B4-BE49-F238E27FC236}">
                <a16:creationId xmlns:a16="http://schemas.microsoft.com/office/drawing/2014/main" id="{4662212E-1204-4340-12F2-222144AE343E}"/>
              </a:ext>
            </a:extLst>
          </p:cNvPr>
          <p:cNvSpPr>
            <a:spLocks noGrp="1"/>
          </p:cNvSpPr>
          <p:nvPr>
            <p:ph idx="1"/>
          </p:nvPr>
        </p:nvSpPr>
        <p:spPr>
          <a:xfrm>
            <a:off x="838199" y="1825625"/>
            <a:ext cx="5083629" cy="4520746"/>
          </a:xfrm>
        </p:spPr>
        <p:txBody>
          <a:bodyPr>
            <a:normAutofit lnSpcReduction="10000"/>
          </a:bodyPr>
          <a:lstStyle/>
          <a:p>
            <a:r>
              <a:rPr lang="en-CA" sz="2000" b="1" kern="100" dirty="0">
                <a:effectLst/>
                <a:latin typeface="Times New Roman" panose="02020603050405020304" pitchFamily="18" charset="0"/>
                <a:ea typeface="Calibri" panose="020F0502020204030204" pitchFamily="34" charset="0"/>
                <a:cs typeface="Times New Roman" panose="02020603050405020304" pitchFamily="18" charset="0"/>
              </a:rPr>
              <a:t>Operators</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are symbols that trigger an action when applied to C variables and other objects. The data items on which operators act are called operands. </a:t>
            </a:r>
            <a:b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Depending on the number of operands that an operator can act upon, operators can be classified as follows: </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CA" sz="2000" b="1" kern="100" dirty="0">
                <a:effectLst/>
                <a:latin typeface="Times New Roman" panose="02020603050405020304" pitchFamily="18" charset="0"/>
                <a:ea typeface="Calibri" panose="020F0502020204030204" pitchFamily="34" charset="0"/>
                <a:cs typeface="Times New Roman" panose="02020603050405020304" pitchFamily="18" charset="0"/>
              </a:rPr>
              <a:t>Unary Operators:</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Those operators that require only a single operand to act upon are known as unary operators.</a:t>
            </a:r>
          </a:p>
          <a:p>
            <a:r>
              <a:rPr lang="en-CA" sz="2000" b="1" kern="100" dirty="0">
                <a:effectLst/>
                <a:latin typeface="Times New Roman" panose="02020603050405020304" pitchFamily="18" charset="0"/>
                <a:ea typeface="Calibri" panose="020F0502020204030204" pitchFamily="34" charset="0"/>
                <a:cs typeface="Times New Roman" panose="02020603050405020304" pitchFamily="18" charset="0"/>
              </a:rPr>
              <a:t>For Example increment and decrement operators, </a:t>
            </a:r>
            <a:r>
              <a:rPr lang="en-CA" sz="2000" b="1" kern="1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CA" sz="2000" b="1" kern="100" dirty="0">
                <a:latin typeface="Times New Roman" panose="02020603050405020304" pitchFamily="18" charset="0"/>
                <a:ea typeface="Calibri" panose="020F0502020204030204" pitchFamily="34" charset="0"/>
                <a:cs typeface="Times New Roman" panose="02020603050405020304" pitchFamily="18" charset="0"/>
              </a:rPr>
              <a:t>++, </a:t>
            </a:r>
            <a:r>
              <a:rPr lang="en-CA" sz="2000" b="1" kern="100" dirty="0" err="1">
                <a:latin typeface="Times New Roman" panose="02020603050405020304" pitchFamily="18" charset="0"/>
                <a:ea typeface="Calibri" panose="020F0502020204030204" pitchFamily="34" charset="0"/>
                <a:cs typeface="Times New Roman" panose="02020603050405020304" pitchFamily="18" charset="0"/>
              </a:rPr>
              <a:t>i</a:t>
            </a:r>
            <a:r>
              <a:rPr lang="en-CA" sz="2000" b="1" kern="100" dirty="0">
                <a:latin typeface="Times New Roman" panose="02020603050405020304" pitchFamily="18" charset="0"/>
                <a:ea typeface="Calibri" panose="020F0502020204030204" pitchFamily="34" charset="0"/>
                <a:cs typeface="Times New Roman" panose="02020603050405020304" pitchFamily="18" charset="0"/>
              </a:rPr>
              <a:t>--.</a:t>
            </a:r>
            <a:endParaRPr lang="en-CA" sz="2000" b="1"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CA" sz="2000" b="1" kern="100" dirty="0">
                <a:effectLst/>
                <a:latin typeface="Times New Roman" panose="02020603050405020304" pitchFamily="18" charset="0"/>
                <a:ea typeface="Calibri" panose="020F0502020204030204" pitchFamily="34" charset="0"/>
                <a:cs typeface="Times New Roman" panose="02020603050405020304" pitchFamily="18" charset="0"/>
              </a:rPr>
              <a:t>Ternary Operator</a:t>
            </a:r>
            <a:r>
              <a:rPr lang="en-CA" sz="2000" kern="100" dirty="0">
                <a:effectLst/>
                <a:latin typeface="Times New Roman" panose="02020603050405020304" pitchFamily="18" charset="0"/>
                <a:ea typeface="Calibri" panose="020F0502020204030204" pitchFamily="34" charset="0"/>
                <a:cs typeface="Times New Roman" panose="02020603050405020304" pitchFamily="18" charset="0"/>
              </a:rPr>
              <a:t>: The operator that requires three operands to act upon is called the ternary operator. Conditional Operator(?) is also called the ternary operator.</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CA" dirty="0"/>
          </a:p>
        </p:txBody>
      </p:sp>
      <p:sp>
        <p:nvSpPr>
          <p:cNvPr id="5" name="TextBox 4">
            <a:extLst>
              <a:ext uri="{FF2B5EF4-FFF2-40B4-BE49-F238E27FC236}">
                <a16:creationId xmlns:a16="http://schemas.microsoft.com/office/drawing/2014/main" id="{A225CD59-B2F2-72DF-BF7F-E204BC34481B}"/>
              </a:ext>
            </a:extLst>
          </p:cNvPr>
          <p:cNvSpPr txBox="1"/>
          <p:nvPr/>
        </p:nvSpPr>
        <p:spPr>
          <a:xfrm>
            <a:off x="6792684" y="1711822"/>
            <a:ext cx="4724402" cy="3257943"/>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CA" b="1" kern="100" dirty="0">
                <a:effectLst/>
                <a:latin typeface="Times New Roman" panose="02020603050405020304" pitchFamily="18" charset="0"/>
                <a:ea typeface="Calibri" panose="020F0502020204030204" pitchFamily="34" charset="0"/>
                <a:cs typeface="Times New Roman" panose="02020603050405020304" pitchFamily="18" charset="0"/>
              </a:rPr>
              <a:t>Binary Operators:</a:t>
            </a:r>
            <a:r>
              <a:rPr lang="en-CA" kern="100" dirty="0">
                <a:effectLst/>
                <a:latin typeface="Times New Roman" panose="02020603050405020304" pitchFamily="18" charset="0"/>
                <a:ea typeface="Calibri" panose="020F0502020204030204" pitchFamily="34" charset="0"/>
                <a:cs typeface="Times New Roman" panose="02020603050405020304" pitchFamily="18" charset="0"/>
              </a:rPr>
              <a:t> Those operators that require two operands to act upon are called binary operators.</a:t>
            </a:r>
            <a:r>
              <a:rPr lang="en-CA"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kern="100" dirty="0">
                <a:effectLst/>
                <a:latin typeface="Times New Roman" panose="02020603050405020304" pitchFamily="18" charset="0"/>
                <a:ea typeface="Calibri" panose="020F0502020204030204" pitchFamily="34" charset="0"/>
                <a:cs typeface="Times New Roman" panose="02020603050405020304" pitchFamily="18" charset="0"/>
              </a:rPr>
              <a:t>Binary operators can further are classified into:  </a:t>
            </a:r>
            <a:endParaRPr lang="en-CA"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startAt="2"/>
              <a:tabLst>
                <a:tab pos="914400" algn="l"/>
              </a:tabLst>
            </a:pPr>
            <a:r>
              <a:rPr lang="en-CA" kern="100" dirty="0">
                <a:effectLst/>
                <a:latin typeface="Times New Roman" panose="02020603050405020304" pitchFamily="18" charset="0"/>
                <a:ea typeface="Calibri" panose="020F0502020204030204" pitchFamily="34" charset="0"/>
                <a:cs typeface="Times New Roman" panose="02020603050405020304" pitchFamily="18" charset="0"/>
              </a:rPr>
              <a:t>Arithmetic operators</a:t>
            </a:r>
            <a:endParaRPr lang="en-CA"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startAt="2"/>
              <a:tabLst>
                <a:tab pos="914400" algn="l"/>
              </a:tabLst>
            </a:pPr>
            <a:r>
              <a:rPr lang="en-CA" kern="100" dirty="0">
                <a:effectLst/>
                <a:latin typeface="Times New Roman" panose="02020603050405020304" pitchFamily="18" charset="0"/>
                <a:ea typeface="Calibri" panose="020F0502020204030204" pitchFamily="34" charset="0"/>
                <a:cs typeface="Times New Roman" panose="02020603050405020304" pitchFamily="18" charset="0"/>
              </a:rPr>
              <a:t>Relational Operators</a:t>
            </a:r>
            <a:endParaRPr lang="en-CA"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startAt="2"/>
              <a:tabLst>
                <a:tab pos="914400" algn="l"/>
              </a:tabLst>
            </a:pPr>
            <a:r>
              <a:rPr lang="en-CA" kern="100" dirty="0">
                <a:effectLst/>
                <a:latin typeface="Times New Roman" panose="02020603050405020304" pitchFamily="18" charset="0"/>
                <a:ea typeface="Calibri" panose="020F0502020204030204" pitchFamily="34" charset="0"/>
                <a:cs typeface="Times New Roman" panose="02020603050405020304" pitchFamily="18" charset="0"/>
              </a:rPr>
              <a:t>Logical Operators</a:t>
            </a:r>
            <a:endParaRPr lang="en-CA"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startAt="2"/>
              <a:tabLst>
                <a:tab pos="914400" algn="l"/>
              </a:tabLst>
            </a:pPr>
            <a:r>
              <a:rPr lang="en-CA" kern="100" dirty="0">
                <a:effectLst/>
                <a:latin typeface="Times New Roman" panose="02020603050405020304" pitchFamily="18" charset="0"/>
                <a:ea typeface="Calibri" panose="020F0502020204030204" pitchFamily="34" charset="0"/>
                <a:cs typeface="Times New Roman" panose="02020603050405020304" pitchFamily="18" charset="0"/>
              </a:rPr>
              <a:t>Assignment Operators</a:t>
            </a:r>
            <a:endParaRPr lang="en-CA"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rabicPeriod" startAt="2"/>
              <a:tabLst>
                <a:tab pos="914400" algn="l"/>
              </a:tabLst>
            </a:pPr>
            <a:r>
              <a:rPr lang="en-CA" kern="100" dirty="0">
                <a:effectLst/>
                <a:latin typeface="Times New Roman" panose="02020603050405020304" pitchFamily="18" charset="0"/>
                <a:ea typeface="Calibri" panose="020F0502020204030204" pitchFamily="34" charset="0"/>
                <a:cs typeface="Times New Roman" panose="02020603050405020304" pitchFamily="18" charset="0"/>
              </a:rPr>
              <a:t>Bitwise Operator</a:t>
            </a:r>
            <a:endParaRPr lang="en-CA"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A934A5B-9310-A0B6-F8D4-1279D7636837}"/>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682722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445B-0C82-E8CF-9456-1698A413A931}"/>
              </a:ext>
            </a:extLst>
          </p:cNvPr>
          <p:cNvSpPr>
            <a:spLocks noGrp="1"/>
          </p:cNvSpPr>
          <p:nvPr>
            <p:ph type="title"/>
          </p:nvPr>
        </p:nvSpPr>
        <p:spPr/>
        <p:txBody>
          <a:bodyPr/>
          <a:lstStyle/>
          <a:p>
            <a:pPr algn="ctr"/>
            <a:r>
              <a:rPr lang="en-CA" dirty="0"/>
              <a:t>C Variables</a:t>
            </a:r>
          </a:p>
        </p:txBody>
      </p:sp>
      <p:sp>
        <p:nvSpPr>
          <p:cNvPr id="3" name="Content Placeholder 2">
            <a:extLst>
              <a:ext uri="{FF2B5EF4-FFF2-40B4-BE49-F238E27FC236}">
                <a16:creationId xmlns:a16="http://schemas.microsoft.com/office/drawing/2014/main" id="{1ADE05C8-E699-7596-9D46-A5FCF73F7390}"/>
              </a:ext>
            </a:extLst>
          </p:cNvPr>
          <p:cNvSpPr>
            <a:spLocks noGrp="1"/>
          </p:cNvSpPr>
          <p:nvPr>
            <p:ph idx="1"/>
          </p:nvPr>
        </p:nvSpPr>
        <p:spPr>
          <a:xfrm>
            <a:off x="838200" y="1825625"/>
            <a:ext cx="10515600" cy="4667250"/>
          </a:xfrm>
        </p:spPr>
        <p:txBody>
          <a:bodyPr/>
          <a:lstStyle/>
          <a:p>
            <a:r>
              <a:rPr lang="en-CA" sz="1800" dirty="0">
                <a:effectLst/>
                <a:latin typeface="Times New Roman" panose="02020603050405020304" pitchFamily="18" charset="0"/>
                <a:ea typeface="Times New Roman" panose="02020603050405020304" pitchFamily="18" charset="0"/>
              </a:rPr>
              <a:t>A </a:t>
            </a:r>
            <a:r>
              <a:rPr lang="en-CA" sz="1800" b="1" dirty="0">
                <a:effectLst/>
                <a:latin typeface="Times New Roman" panose="02020603050405020304" pitchFamily="18" charset="0"/>
                <a:ea typeface="Times New Roman" panose="02020603050405020304" pitchFamily="18" charset="0"/>
              </a:rPr>
              <a:t>variable in C </a:t>
            </a:r>
            <a:r>
              <a:rPr lang="en-CA" sz="1800" dirty="0">
                <a:effectLst/>
                <a:latin typeface="Times New Roman" panose="02020603050405020304" pitchFamily="18" charset="0"/>
                <a:ea typeface="Times New Roman" panose="02020603050405020304" pitchFamily="18" charset="0"/>
              </a:rPr>
              <a:t>is a memory location with some name that helps store some form of data and retrieves it when required. We can store different types of data in the variable and reuse the same variable for storing some other data any number of times.</a:t>
            </a:r>
          </a:p>
          <a:p>
            <a:r>
              <a:rPr lang="en-CA" sz="1800" dirty="0">
                <a:effectLst/>
                <a:latin typeface="Times New Roman" panose="02020603050405020304" pitchFamily="18" charset="0"/>
                <a:ea typeface="Times New Roman" panose="02020603050405020304" pitchFamily="18" charset="0"/>
              </a:rPr>
              <a:t>C is a strongly typed language so all the variables types must be specified before using them.</a:t>
            </a:r>
          </a:p>
          <a:p>
            <a:r>
              <a:rPr lang="en-CA" sz="1800" b="1" dirty="0">
                <a:effectLst/>
                <a:latin typeface="Times New Roman" panose="02020603050405020304" pitchFamily="18" charset="0"/>
                <a:ea typeface="Times New Roman" panose="02020603050405020304" pitchFamily="18" charset="0"/>
              </a:rPr>
              <a:t>C Variable Syntax</a:t>
            </a:r>
            <a:endParaRPr lang="en-CA" sz="1800" dirty="0">
              <a:effectLst/>
              <a:latin typeface="Times New Roman" panose="02020603050405020304" pitchFamily="18" charset="0"/>
              <a:ea typeface="Times New Roman" panose="02020603050405020304" pitchFamily="18" charset="0"/>
            </a:endParaRPr>
          </a:p>
          <a:p>
            <a:pPr marL="0" indent="0">
              <a:buNone/>
            </a:pPr>
            <a:r>
              <a:rPr lang="en-CA" sz="1800" dirty="0" err="1">
                <a:effectLst/>
                <a:latin typeface="Times New Roman" panose="02020603050405020304" pitchFamily="18" charset="0"/>
                <a:ea typeface="Times New Roman" panose="02020603050405020304" pitchFamily="18" charset="0"/>
              </a:rPr>
              <a:t>data_type</a:t>
            </a:r>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variable_name</a:t>
            </a:r>
            <a:r>
              <a:rPr lang="en-CA" sz="1800" dirty="0">
                <a:effectLst/>
                <a:latin typeface="Times New Roman" panose="02020603050405020304" pitchFamily="18" charset="0"/>
                <a:ea typeface="Times New Roman" panose="02020603050405020304" pitchFamily="18" charset="0"/>
              </a:rPr>
              <a:t> = value;    // defining single variable</a:t>
            </a:r>
          </a:p>
          <a:p>
            <a:pPr marL="0" indent="0">
              <a:buNone/>
            </a:pPr>
            <a:r>
              <a:rPr lang="en-CA" sz="1800" dirty="0">
                <a:effectLst/>
                <a:latin typeface="Times New Roman" panose="02020603050405020304" pitchFamily="18" charset="0"/>
                <a:ea typeface="Times New Roman" panose="02020603050405020304" pitchFamily="18" charset="0"/>
              </a:rPr>
              <a:t>            or</a:t>
            </a:r>
          </a:p>
          <a:p>
            <a:pPr marL="0" indent="0">
              <a:buNone/>
            </a:pPr>
            <a:r>
              <a:rPr lang="en-CA" sz="1800" dirty="0" err="1">
                <a:effectLst/>
                <a:latin typeface="Times New Roman" panose="02020603050405020304" pitchFamily="18" charset="0"/>
                <a:ea typeface="Times New Roman" panose="02020603050405020304" pitchFamily="18" charset="0"/>
              </a:rPr>
              <a:t>data_type</a:t>
            </a:r>
            <a:r>
              <a:rPr lang="en-CA" sz="1800" dirty="0">
                <a:effectLst/>
                <a:latin typeface="Times New Roman" panose="02020603050405020304" pitchFamily="18" charset="0"/>
                <a:ea typeface="Times New Roman" panose="02020603050405020304" pitchFamily="18" charset="0"/>
              </a:rPr>
              <a:t> variable_name1, variable_name2;    // defining multiple variable</a:t>
            </a:r>
          </a:p>
          <a:p>
            <a:r>
              <a:rPr lang="en-CA" sz="1800" b="1" dirty="0">
                <a:effectLst/>
                <a:latin typeface="Times New Roman" panose="02020603050405020304" pitchFamily="18" charset="0"/>
                <a:ea typeface="Times New Roman" panose="02020603050405020304" pitchFamily="18" charset="0"/>
              </a:rPr>
              <a:t>Example</a:t>
            </a:r>
            <a:endParaRPr lang="en-CA" sz="1800" dirty="0">
              <a:effectLst/>
              <a:latin typeface="Times New Roman" panose="02020603050405020304" pitchFamily="18" charset="0"/>
              <a:ea typeface="Times New Roman" panose="02020603050405020304" pitchFamily="18" charset="0"/>
            </a:endParaRPr>
          </a:p>
          <a:p>
            <a:pPr marL="0" indent="0">
              <a:buNone/>
            </a:pPr>
            <a:r>
              <a:rPr lang="en-CA" sz="1800" dirty="0">
                <a:effectLst/>
                <a:latin typeface="Times New Roman" panose="02020603050405020304" pitchFamily="18" charset="0"/>
                <a:ea typeface="Times New Roman" panose="02020603050405020304" pitchFamily="18" charset="0"/>
              </a:rPr>
              <a:t>int var;    // integer variable</a:t>
            </a:r>
          </a:p>
          <a:p>
            <a:pPr marL="0" indent="0">
              <a:buNone/>
            </a:pPr>
            <a:r>
              <a:rPr lang="en-CA" sz="1800" dirty="0">
                <a:effectLst/>
                <a:latin typeface="Times New Roman" panose="02020603050405020304" pitchFamily="18" charset="0"/>
                <a:ea typeface="Times New Roman" panose="02020603050405020304" pitchFamily="18" charset="0"/>
              </a:rPr>
              <a:t>char a;     // character variable</a:t>
            </a:r>
          </a:p>
          <a:p>
            <a:pPr marL="0" indent="0">
              <a:buNone/>
            </a:pPr>
            <a:r>
              <a:rPr lang="en-CA" sz="1800" dirty="0">
                <a:effectLst/>
                <a:latin typeface="Times New Roman" panose="02020603050405020304" pitchFamily="18" charset="0"/>
                <a:ea typeface="Times New Roman" panose="02020603050405020304" pitchFamily="18" charset="0"/>
              </a:rPr>
              <a:t>float </a:t>
            </a:r>
            <a:r>
              <a:rPr lang="en-CA" sz="1800" dirty="0" err="1">
                <a:effectLst/>
                <a:latin typeface="Times New Roman" panose="02020603050405020304" pitchFamily="18" charset="0"/>
                <a:ea typeface="Times New Roman" panose="02020603050405020304" pitchFamily="18" charset="0"/>
              </a:rPr>
              <a:t>fff</a:t>
            </a:r>
            <a:r>
              <a:rPr lang="en-CA" sz="1800" dirty="0">
                <a:effectLst/>
                <a:latin typeface="Times New Roman" panose="02020603050405020304" pitchFamily="18" charset="0"/>
                <a:ea typeface="Times New Roman" panose="02020603050405020304" pitchFamily="18" charset="0"/>
              </a:rPr>
              <a:t>;  // float variables</a:t>
            </a:r>
          </a:p>
          <a:p>
            <a:endParaRPr lang="en-CA" dirty="0"/>
          </a:p>
        </p:txBody>
      </p:sp>
      <p:sp>
        <p:nvSpPr>
          <p:cNvPr id="4" name="Footer Placeholder 3">
            <a:extLst>
              <a:ext uri="{FF2B5EF4-FFF2-40B4-BE49-F238E27FC236}">
                <a16:creationId xmlns:a16="http://schemas.microsoft.com/office/drawing/2014/main" id="{75F85E80-38DC-8BB9-EF7E-C65AA9AA380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802390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0C7B8-6A8C-B49C-58C2-D463362B6A8B}"/>
              </a:ext>
            </a:extLst>
          </p:cNvPr>
          <p:cNvSpPr>
            <a:spLocks noGrp="1"/>
          </p:cNvSpPr>
          <p:nvPr>
            <p:ph type="title"/>
          </p:nvPr>
        </p:nvSpPr>
        <p:spPr/>
        <p:txBody>
          <a:bodyPr/>
          <a:lstStyle/>
          <a:p>
            <a:pPr algn="ctr"/>
            <a:r>
              <a:rPr lang="en-US" dirty="0"/>
              <a:t>3 aspects of defining a variable:</a:t>
            </a:r>
            <a:endParaRPr lang="en-CA" dirty="0"/>
          </a:p>
        </p:txBody>
      </p:sp>
      <p:sp>
        <p:nvSpPr>
          <p:cNvPr id="3" name="Content Placeholder 2">
            <a:extLst>
              <a:ext uri="{FF2B5EF4-FFF2-40B4-BE49-F238E27FC236}">
                <a16:creationId xmlns:a16="http://schemas.microsoft.com/office/drawing/2014/main" id="{EDF0324C-71B4-EB07-C46C-F17EFF26B615}"/>
              </a:ext>
            </a:extLst>
          </p:cNvPr>
          <p:cNvSpPr>
            <a:spLocks noGrp="1"/>
          </p:cNvSpPr>
          <p:nvPr>
            <p:ph idx="1"/>
          </p:nvPr>
        </p:nvSpPr>
        <p:spPr/>
        <p:txBody>
          <a:bodyPr/>
          <a:lstStyle/>
          <a:p>
            <a:pPr marL="342900" lvl="0" indent="-342900">
              <a:buFont typeface="+mj-lt"/>
              <a:buAutoNum type="arabicPeriod"/>
              <a:tabLst>
                <a:tab pos="457200" algn="l"/>
              </a:tabLst>
            </a:pPr>
            <a:r>
              <a:rPr lang="en-CA" sz="1800" b="1" dirty="0">
                <a:effectLst/>
                <a:latin typeface="Times New Roman" panose="02020603050405020304" pitchFamily="18" charset="0"/>
                <a:ea typeface="Times New Roman" panose="02020603050405020304" pitchFamily="18" charset="0"/>
              </a:rPr>
              <a:t>Variable Declaration:</a:t>
            </a:r>
            <a:r>
              <a:rPr lang="en-CA" sz="1800" dirty="0">
                <a:effectLst/>
                <a:latin typeface="Times New Roman" panose="02020603050405020304" pitchFamily="18" charset="0"/>
                <a:ea typeface="Times New Roman" panose="02020603050405020304" pitchFamily="18" charset="0"/>
              </a:rPr>
              <a:t> </a:t>
            </a:r>
            <a:r>
              <a:rPr lang="en-CA" sz="1800" b="1" dirty="0">
                <a:effectLst/>
                <a:latin typeface="Times New Roman" panose="02020603050405020304" pitchFamily="18" charset="0"/>
                <a:ea typeface="Times New Roman" panose="02020603050405020304" pitchFamily="18" charset="0"/>
              </a:rPr>
              <a:t>Variable declaration in C tells the compiler about the existence of the variable with the given name and data type.  </a:t>
            </a:r>
            <a:r>
              <a:rPr lang="en-CA" sz="1800" dirty="0">
                <a:effectLst/>
                <a:latin typeface="Times New Roman" panose="02020603050405020304" pitchFamily="18" charset="0"/>
                <a:ea typeface="Times New Roman" panose="02020603050405020304" pitchFamily="18" charset="0"/>
              </a:rPr>
              <a:t>When the variable is declared, an entry in symbol table is created and memory will be allocated at the time of initialization of the variable.</a:t>
            </a:r>
          </a:p>
          <a:p>
            <a:pPr marL="342900" lvl="0" indent="-342900">
              <a:buFont typeface="+mj-lt"/>
              <a:buAutoNum type="arabicPeriod"/>
              <a:tabLst>
                <a:tab pos="457200" algn="l"/>
              </a:tabLst>
            </a:pPr>
            <a:r>
              <a:rPr lang="en-CA" sz="1800" b="1" dirty="0">
                <a:effectLst/>
                <a:latin typeface="Times New Roman" panose="02020603050405020304" pitchFamily="18" charset="0"/>
                <a:ea typeface="Times New Roman" panose="02020603050405020304" pitchFamily="18" charset="0"/>
              </a:rPr>
              <a:t>Variable Definition:</a:t>
            </a:r>
            <a:r>
              <a:rPr lang="en-CA" sz="1800" dirty="0">
                <a:effectLst/>
                <a:latin typeface="Times New Roman" panose="02020603050405020304" pitchFamily="18" charset="0"/>
                <a:ea typeface="Times New Roman" panose="02020603050405020304" pitchFamily="18" charset="0"/>
              </a:rPr>
              <a:t> In the definition of a C variable</a:t>
            </a:r>
            <a:r>
              <a:rPr lang="en-CA" sz="1800" b="1" dirty="0">
                <a:effectLst/>
                <a:latin typeface="Times New Roman" panose="02020603050405020304" pitchFamily="18" charset="0"/>
                <a:ea typeface="Times New Roman" panose="02020603050405020304" pitchFamily="18" charset="0"/>
              </a:rPr>
              <a:t>, the compiler allocates some memory and some value to it. A defined variable will contain some random garbage value till it is not initialized.</a:t>
            </a:r>
          </a:p>
          <a:p>
            <a:pPr marL="0" indent="0">
              <a:buNone/>
            </a:pPr>
            <a:r>
              <a:rPr lang="en-CA" sz="1800" dirty="0">
                <a:effectLst/>
                <a:latin typeface="Times New Roman" panose="02020603050405020304" pitchFamily="18" charset="0"/>
                <a:ea typeface="Times New Roman" panose="02020603050405020304" pitchFamily="18" charset="0"/>
              </a:rPr>
              <a:t>int var;</a:t>
            </a:r>
          </a:p>
          <a:p>
            <a:pPr marL="0" indent="0">
              <a:buNone/>
            </a:pPr>
            <a:r>
              <a:rPr lang="en-CA" sz="1800" dirty="0">
                <a:effectLst/>
                <a:latin typeface="Times New Roman" panose="02020603050405020304" pitchFamily="18" charset="0"/>
                <a:ea typeface="Times New Roman" panose="02020603050405020304" pitchFamily="18" charset="0"/>
              </a:rPr>
              <a:t>char var2;</a:t>
            </a:r>
          </a:p>
          <a:p>
            <a:pPr marL="342900" indent="-342900">
              <a:buFont typeface="+mj-lt"/>
              <a:buAutoNum type="arabicPeriod" startAt="3"/>
            </a:pPr>
            <a:r>
              <a:rPr lang="en-CA" sz="1800" b="1" dirty="0">
                <a:effectLst/>
                <a:latin typeface="Times New Roman" panose="02020603050405020304" pitchFamily="18" charset="0"/>
                <a:ea typeface="Times New Roman" panose="02020603050405020304" pitchFamily="18" charset="0"/>
              </a:rPr>
              <a:t>Variable Initialization:</a:t>
            </a:r>
            <a:r>
              <a:rPr lang="en-CA" sz="1800" dirty="0">
                <a:effectLst/>
                <a:latin typeface="Times New Roman" panose="02020603050405020304" pitchFamily="18" charset="0"/>
                <a:ea typeface="Times New Roman" panose="02020603050405020304" pitchFamily="18" charset="0"/>
              </a:rPr>
              <a:t> Initialization of a variable is the process where the user assigns some meaningful value to the variable when creating the variable.</a:t>
            </a:r>
          </a:p>
          <a:p>
            <a:pPr marL="0" indent="0">
              <a:buNone/>
            </a:pPr>
            <a:r>
              <a:rPr lang="en-CA" sz="1800" dirty="0">
                <a:effectLst/>
                <a:latin typeface="Times New Roman" panose="02020603050405020304" pitchFamily="18" charset="0"/>
                <a:ea typeface="Times New Roman" panose="02020603050405020304" pitchFamily="18" charset="0"/>
              </a:rPr>
              <a:t>int var = 10;    // variable declaration and definition (i.e. </a:t>
            </a:r>
            <a:r>
              <a:rPr lang="en-CA" sz="1800" dirty="0" err="1">
                <a:effectLst/>
                <a:latin typeface="Times New Roman" panose="02020603050405020304" pitchFamily="18" charset="0"/>
                <a:ea typeface="Times New Roman" panose="02020603050405020304" pitchFamily="18" charset="0"/>
              </a:rPr>
              <a:t>Vairable</a:t>
            </a:r>
            <a:r>
              <a:rPr lang="en-CA" sz="1800" dirty="0">
                <a:effectLst/>
                <a:latin typeface="Times New Roman" panose="02020603050405020304" pitchFamily="18" charset="0"/>
                <a:ea typeface="Times New Roman" panose="02020603050405020304" pitchFamily="18" charset="0"/>
              </a:rPr>
              <a:t> Initialization)</a:t>
            </a:r>
          </a:p>
          <a:p>
            <a:endParaRPr lang="en-CA" dirty="0"/>
          </a:p>
        </p:txBody>
      </p:sp>
      <p:sp>
        <p:nvSpPr>
          <p:cNvPr id="4" name="Footer Placeholder 3">
            <a:extLst>
              <a:ext uri="{FF2B5EF4-FFF2-40B4-BE49-F238E27FC236}">
                <a16:creationId xmlns:a16="http://schemas.microsoft.com/office/drawing/2014/main" id="{6603E56A-20B8-DB07-1BC0-7921B61F11D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663364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6A39D-0BC1-F355-E4E8-435E44CFD5BE}"/>
              </a:ext>
            </a:extLst>
          </p:cNvPr>
          <p:cNvSpPr>
            <a:spLocks noGrp="1"/>
          </p:cNvSpPr>
          <p:nvPr>
            <p:ph idx="1"/>
          </p:nvPr>
        </p:nvSpPr>
        <p:spPr>
          <a:xfrm>
            <a:off x="838200" y="457200"/>
            <a:ext cx="10515600" cy="6096000"/>
          </a:xfrm>
        </p:spPr>
        <p:txBody>
          <a:bodyPr/>
          <a:lstStyle/>
          <a:p>
            <a:r>
              <a:rPr lang="en-CA" sz="2000" b="1" dirty="0">
                <a:effectLst/>
                <a:latin typeface="Times New Roman" panose="02020603050405020304" pitchFamily="18" charset="0"/>
                <a:ea typeface="Times New Roman" panose="02020603050405020304" pitchFamily="18" charset="0"/>
              </a:rPr>
              <a:t>Difference between Variable Initialization and Assignment</a:t>
            </a:r>
            <a:endParaRPr lang="en-CA" sz="2000" dirty="0">
              <a:effectLst/>
              <a:latin typeface="Times New Roman" panose="02020603050405020304" pitchFamily="18" charset="0"/>
              <a:ea typeface="Times New Roman" panose="02020603050405020304" pitchFamily="18" charset="0"/>
            </a:endParaRPr>
          </a:p>
          <a:p>
            <a:pPr indent="0">
              <a:buNone/>
            </a:pPr>
            <a:r>
              <a:rPr lang="en-CA" sz="2000" dirty="0">
                <a:effectLst/>
                <a:latin typeface="Times New Roman" panose="02020603050405020304" pitchFamily="18" charset="0"/>
                <a:ea typeface="Times New Roman" panose="02020603050405020304" pitchFamily="18" charset="0"/>
              </a:rPr>
              <a:t>Initialization occurs when a variable is first declared and assigned an initial value. This usually happens during the declaration of the variable. On the other hand, assignment involves setting or updating the value of an already declared variable, and this can happen multiple times after the initial initialization.</a:t>
            </a:r>
          </a:p>
          <a:p>
            <a:pPr marL="0" indent="0">
              <a:buNone/>
            </a:pPr>
            <a:r>
              <a:rPr lang="en-CA" sz="2000" dirty="0">
                <a:effectLst/>
                <a:latin typeface="Times New Roman" panose="02020603050405020304" pitchFamily="18" charset="0"/>
                <a:ea typeface="Times New Roman" panose="02020603050405020304" pitchFamily="18" charset="0"/>
              </a:rPr>
              <a:t>int a=10;        //Variable initialization</a:t>
            </a:r>
          </a:p>
          <a:p>
            <a:pPr marL="0" indent="0">
              <a:buNone/>
            </a:pPr>
            <a:r>
              <a:rPr lang="en-CA" sz="2000" dirty="0">
                <a:effectLst/>
                <a:latin typeface="Calibri" panose="020F0502020204030204" pitchFamily="34" charset="0"/>
                <a:ea typeface="Calibri" panose="020F0502020204030204" pitchFamily="34" charset="0"/>
                <a:cs typeface="Times New Roman" panose="02020603050405020304" pitchFamily="18" charset="0"/>
              </a:rPr>
              <a:t>a=10;             //assignment</a:t>
            </a:r>
          </a:p>
          <a:p>
            <a:r>
              <a:rPr lang="en-CA" sz="2000" b="1" dirty="0">
                <a:effectLst/>
                <a:latin typeface="Times New Roman" panose="02020603050405020304" pitchFamily="18" charset="0"/>
                <a:ea typeface="Times New Roman" panose="02020603050405020304" pitchFamily="18" charset="0"/>
              </a:rPr>
              <a:t>Rules for Naming Variables in C</a:t>
            </a:r>
            <a:endParaRPr lang="en-CA" sz="2000" dirty="0">
              <a:effectLst/>
              <a:latin typeface="Times New Roman" panose="02020603050405020304" pitchFamily="18" charset="0"/>
              <a:ea typeface="Times New Roman" panose="02020603050405020304" pitchFamily="18" charset="0"/>
            </a:endParaRPr>
          </a:p>
          <a:p>
            <a:r>
              <a:rPr lang="en-CA" sz="2000" b="1" dirty="0">
                <a:effectLst/>
                <a:latin typeface="Times New Roman" panose="02020603050405020304" pitchFamily="18" charset="0"/>
                <a:ea typeface="Times New Roman" panose="02020603050405020304" pitchFamily="18" charset="0"/>
              </a:rPr>
              <a:t>You can assign any name to the variable as long as it follows the following rules:</a:t>
            </a:r>
            <a:endParaRPr lang="en-CA" sz="2000" dirty="0">
              <a:effectLst/>
              <a:latin typeface="Times New Roman" panose="02020603050405020304" pitchFamily="18" charset="0"/>
              <a:ea typeface="Times New Roman" panose="02020603050405020304" pitchFamily="18" charset="0"/>
            </a:endParaRPr>
          </a:p>
          <a:p>
            <a:pPr>
              <a:tabLst>
                <a:tab pos="457200" algn="l"/>
              </a:tabLst>
            </a:pPr>
            <a:r>
              <a:rPr lang="en-CA" sz="2000" dirty="0">
                <a:effectLst/>
                <a:latin typeface="Times New Roman" panose="02020603050405020304" pitchFamily="18" charset="0"/>
                <a:ea typeface="Times New Roman" panose="02020603050405020304" pitchFamily="18" charset="0"/>
              </a:rPr>
              <a:t>A variable name must only contain alphabets, digits, and underscore.</a:t>
            </a:r>
          </a:p>
          <a:p>
            <a:pPr>
              <a:tabLst>
                <a:tab pos="457200" algn="l"/>
              </a:tabLst>
            </a:pPr>
            <a:r>
              <a:rPr lang="en-CA" sz="2000" dirty="0">
                <a:effectLst/>
                <a:latin typeface="Times New Roman" panose="02020603050405020304" pitchFamily="18" charset="0"/>
                <a:ea typeface="Times New Roman" panose="02020603050405020304" pitchFamily="18" charset="0"/>
              </a:rPr>
              <a:t>A variable name must start with an alphabet or an underscore only. It cannot start with a digit.</a:t>
            </a:r>
          </a:p>
          <a:p>
            <a:pPr>
              <a:tabLst>
                <a:tab pos="457200" algn="l"/>
              </a:tabLst>
            </a:pPr>
            <a:r>
              <a:rPr lang="en-CA" sz="2000" dirty="0">
                <a:effectLst/>
                <a:latin typeface="Times New Roman" panose="02020603050405020304" pitchFamily="18" charset="0"/>
                <a:ea typeface="Times New Roman" panose="02020603050405020304" pitchFamily="18" charset="0"/>
              </a:rPr>
              <a:t>No white space is allowed within the variable name.</a:t>
            </a:r>
          </a:p>
          <a:p>
            <a:pPr>
              <a:tabLst>
                <a:tab pos="457200" algn="l"/>
              </a:tabLst>
            </a:pPr>
            <a:r>
              <a:rPr lang="en-CA" sz="2000" dirty="0">
                <a:effectLst/>
                <a:latin typeface="Times New Roman" panose="02020603050405020304" pitchFamily="18" charset="0"/>
                <a:ea typeface="Times New Roman" panose="02020603050405020304" pitchFamily="18" charset="0"/>
              </a:rPr>
              <a:t>A variable name must not be any reserved word or keyword.</a:t>
            </a:r>
          </a:p>
          <a:p>
            <a:endParaRPr lang="en-CA" dirty="0"/>
          </a:p>
        </p:txBody>
      </p:sp>
      <p:sp>
        <p:nvSpPr>
          <p:cNvPr id="2" name="Footer Placeholder 1">
            <a:extLst>
              <a:ext uri="{FF2B5EF4-FFF2-40B4-BE49-F238E27FC236}">
                <a16:creationId xmlns:a16="http://schemas.microsoft.com/office/drawing/2014/main" id="{0CEE05B1-4AA2-99D1-1138-5B2CCBE4D3A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699217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EB54E0-50DF-6591-68E7-7DE786BE031C}"/>
              </a:ext>
            </a:extLst>
          </p:cNvPr>
          <p:cNvSpPr>
            <a:spLocks noGrp="1"/>
          </p:cNvSpPr>
          <p:nvPr>
            <p:ph idx="1"/>
          </p:nvPr>
        </p:nvSpPr>
        <p:spPr>
          <a:xfrm>
            <a:off x="489858" y="601775"/>
            <a:ext cx="5050971" cy="5654449"/>
          </a:xfrm>
        </p:spPr>
        <p:txBody>
          <a:bodyPr>
            <a:normAutofit/>
          </a:bodyPr>
          <a:lstStyle/>
          <a:p>
            <a:pPr marL="0" indent="0">
              <a:buNone/>
            </a:pPr>
            <a:r>
              <a:rPr lang="en-CA" sz="1800" dirty="0">
                <a:effectLst/>
                <a:latin typeface="Times New Roman" panose="02020603050405020304" pitchFamily="18" charset="0"/>
                <a:ea typeface="Times New Roman" panose="02020603050405020304" pitchFamily="18" charset="0"/>
              </a:rPr>
              <a:t>// C program to demonstrate the</a:t>
            </a:r>
          </a:p>
          <a:p>
            <a:pPr marL="0" indent="0">
              <a:buNone/>
            </a:pPr>
            <a:r>
              <a:rPr lang="en-CA" sz="1800" dirty="0">
                <a:effectLst/>
                <a:latin typeface="Times New Roman" panose="02020603050405020304" pitchFamily="18" charset="0"/>
                <a:ea typeface="Times New Roman" panose="02020603050405020304" pitchFamily="18" charset="0"/>
              </a:rPr>
              <a:t>// declaration, definition and</a:t>
            </a:r>
          </a:p>
          <a:p>
            <a:pPr marL="0" indent="0">
              <a:buNone/>
            </a:pPr>
            <a:r>
              <a:rPr lang="en-CA" sz="1800" dirty="0">
                <a:effectLst/>
                <a:latin typeface="Times New Roman" panose="02020603050405020304" pitchFamily="18" charset="0"/>
                <a:ea typeface="Times New Roman" panose="02020603050405020304" pitchFamily="18" charset="0"/>
              </a:rPr>
              <a:t>// initialization</a:t>
            </a:r>
          </a:p>
          <a:p>
            <a:pPr marL="0" indent="0">
              <a:buNone/>
            </a:pPr>
            <a:r>
              <a:rPr lang="en-CA" sz="1800" dirty="0">
                <a:effectLst/>
                <a:latin typeface="Times New Roman" panose="02020603050405020304" pitchFamily="18" charset="0"/>
                <a:ea typeface="Times New Roman" panose="02020603050405020304" pitchFamily="18" charset="0"/>
              </a:rPr>
              <a:t>#include &lt;</a:t>
            </a:r>
            <a:r>
              <a:rPr lang="en-CA" sz="1800" dirty="0" err="1">
                <a:effectLst/>
                <a:latin typeface="Times New Roman" panose="02020603050405020304" pitchFamily="18" charset="0"/>
                <a:ea typeface="Times New Roman" panose="02020603050405020304" pitchFamily="18" charset="0"/>
              </a:rPr>
              <a:t>stdio.h</a:t>
            </a:r>
            <a:r>
              <a:rPr lang="en-CA" sz="1800" dirty="0">
                <a:effectLst/>
                <a:latin typeface="Times New Roman" panose="02020603050405020304" pitchFamily="18" charset="0"/>
                <a:ea typeface="Times New Roman" panose="02020603050405020304" pitchFamily="18" charset="0"/>
              </a:rPr>
              <a:t>&gt;</a:t>
            </a:r>
          </a:p>
          <a:p>
            <a:pPr marL="0" indent="0">
              <a:buNone/>
            </a:pPr>
            <a:r>
              <a:rPr lang="en-CA" sz="1800" dirty="0">
                <a:effectLst/>
                <a:latin typeface="Times New Roman" panose="02020603050405020304" pitchFamily="18" charset="0"/>
                <a:ea typeface="Times New Roman" panose="02020603050405020304" pitchFamily="18" charset="0"/>
              </a:rPr>
              <a:t>int main()</a:t>
            </a:r>
          </a:p>
          <a:p>
            <a:pPr marL="0" indent="0">
              <a:buNone/>
            </a:pPr>
            <a:r>
              <a:rPr lang="en-CA" sz="1800" dirty="0">
                <a:effectLst/>
                <a:latin typeface="Times New Roman" panose="02020603050405020304" pitchFamily="18" charset="0"/>
                <a:ea typeface="Times New Roman" panose="02020603050405020304" pitchFamily="18" charset="0"/>
              </a:rPr>
              <a:t>{</a:t>
            </a:r>
          </a:p>
          <a:p>
            <a:pPr marL="0" indent="0">
              <a:buNone/>
            </a:pPr>
            <a:r>
              <a:rPr lang="en-CA" sz="1800" dirty="0">
                <a:effectLst/>
                <a:latin typeface="Times New Roman" panose="02020603050405020304" pitchFamily="18" charset="0"/>
                <a:ea typeface="Times New Roman" panose="02020603050405020304" pitchFamily="18" charset="0"/>
              </a:rPr>
              <a:t>    // declaration with definition</a:t>
            </a:r>
          </a:p>
          <a:p>
            <a:pPr marL="0" indent="0">
              <a:buNone/>
            </a:pPr>
            <a:r>
              <a:rPr lang="en-CA" sz="1800" dirty="0">
                <a:effectLst/>
                <a:latin typeface="Times New Roman" panose="02020603050405020304" pitchFamily="18" charset="0"/>
                <a:ea typeface="Times New Roman" panose="02020603050405020304" pitchFamily="18" charset="0"/>
              </a:rPr>
              <a:t>    int </a:t>
            </a:r>
            <a:r>
              <a:rPr lang="en-CA" sz="1800" dirty="0" err="1">
                <a:effectLst/>
                <a:latin typeface="Times New Roman" panose="02020603050405020304" pitchFamily="18" charset="0"/>
                <a:ea typeface="Times New Roman" panose="02020603050405020304" pitchFamily="18" charset="0"/>
              </a:rPr>
              <a:t>defined_var</a:t>
            </a:r>
            <a:r>
              <a:rPr lang="en-CA" sz="1800" dirty="0">
                <a:effectLst/>
                <a:latin typeface="Times New Roman" panose="02020603050405020304" pitchFamily="18" charset="0"/>
                <a:ea typeface="Times New Roman" panose="02020603050405020304" pitchFamily="18" charset="0"/>
              </a:rPr>
              <a:t>;</a:t>
            </a:r>
          </a:p>
          <a:p>
            <a:pPr marL="0" indent="0">
              <a:buNone/>
            </a:pPr>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printf</a:t>
            </a:r>
            <a:r>
              <a:rPr lang="en-CA" sz="1800" dirty="0">
                <a:effectLst/>
                <a:latin typeface="Times New Roman" panose="02020603050405020304" pitchFamily="18" charset="0"/>
                <a:ea typeface="Times New Roman" panose="02020603050405020304" pitchFamily="18" charset="0"/>
              </a:rPr>
              <a:t>("</a:t>
            </a:r>
            <a:r>
              <a:rPr lang="en-CA" sz="1800" dirty="0" err="1">
                <a:effectLst/>
                <a:latin typeface="Times New Roman" panose="02020603050405020304" pitchFamily="18" charset="0"/>
                <a:ea typeface="Times New Roman" panose="02020603050405020304" pitchFamily="18" charset="0"/>
              </a:rPr>
              <a:t>Defined_var</a:t>
            </a:r>
            <a:r>
              <a:rPr lang="en-CA" sz="1800" dirty="0">
                <a:effectLst/>
                <a:latin typeface="Times New Roman" panose="02020603050405020304" pitchFamily="18" charset="0"/>
                <a:ea typeface="Times New Roman" panose="02020603050405020304" pitchFamily="18" charset="0"/>
              </a:rPr>
              <a:t>: %d\n", </a:t>
            </a:r>
            <a:r>
              <a:rPr lang="en-CA" sz="1800" dirty="0" err="1">
                <a:effectLst/>
                <a:latin typeface="Times New Roman" panose="02020603050405020304" pitchFamily="18" charset="0"/>
                <a:ea typeface="Times New Roman" panose="02020603050405020304" pitchFamily="18" charset="0"/>
              </a:rPr>
              <a:t>defined_var</a:t>
            </a:r>
            <a:r>
              <a:rPr lang="en-CA" sz="1800" dirty="0">
                <a:effectLst/>
                <a:latin typeface="Times New Roman" panose="02020603050405020304" pitchFamily="18" charset="0"/>
                <a:ea typeface="Times New Roman" panose="02020603050405020304" pitchFamily="18" charset="0"/>
              </a:rPr>
              <a:t>);</a:t>
            </a:r>
          </a:p>
          <a:p>
            <a:pPr marL="0" indent="0">
              <a:buNone/>
            </a:pPr>
            <a:r>
              <a:rPr lang="en-CA" sz="1800" dirty="0">
                <a:effectLst/>
                <a:latin typeface="Times New Roman" panose="02020603050405020304" pitchFamily="18" charset="0"/>
                <a:ea typeface="Times New Roman" panose="02020603050405020304" pitchFamily="18" charset="0"/>
              </a:rPr>
              <a:t> </a:t>
            </a:r>
          </a:p>
          <a:p>
            <a:pPr marL="0" indent="0">
              <a:buNone/>
            </a:pPr>
            <a:r>
              <a:rPr lang="en-CA" sz="1800" dirty="0">
                <a:effectLst/>
                <a:latin typeface="Times New Roman" panose="02020603050405020304" pitchFamily="18" charset="0"/>
                <a:ea typeface="Times New Roman" panose="02020603050405020304" pitchFamily="18" charset="0"/>
              </a:rPr>
              <a:t>    // assignment</a:t>
            </a:r>
          </a:p>
          <a:p>
            <a:pPr marL="0" indent="0">
              <a:buNone/>
            </a:pPr>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defined_var</a:t>
            </a:r>
            <a:r>
              <a:rPr lang="en-CA" sz="1800" dirty="0">
                <a:effectLst/>
                <a:latin typeface="Times New Roman" panose="02020603050405020304" pitchFamily="18" charset="0"/>
                <a:ea typeface="Times New Roman" panose="02020603050405020304" pitchFamily="18" charset="0"/>
              </a:rPr>
              <a:t> = 12;</a:t>
            </a:r>
          </a:p>
        </p:txBody>
      </p:sp>
      <p:sp>
        <p:nvSpPr>
          <p:cNvPr id="5" name="TextBox 4">
            <a:extLst>
              <a:ext uri="{FF2B5EF4-FFF2-40B4-BE49-F238E27FC236}">
                <a16:creationId xmlns:a16="http://schemas.microsoft.com/office/drawing/2014/main" id="{821E8B4E-9D65-F88E-A1C7-2BEFA36349EA}"/>
              </a:ext>
            </a:extLst>
          </p:cNvPr>
          <p:cNvSpPr txBox="1"/>
          <p:nvPr/>
        </p:nvSpPr>
        <p:spPr>
          <a:xfrm>
            <a:off x="6248400" y="1940397"/>
            <a:ext cx="5290457" cy="3416320"/>
          </a:xfrm>
          <a:prstGeom prst="rect">
            <a:avLst/>
          </a:prstGeom>
          <a:noFill/>
        </p:spPr>
        <p:txBody>
          <a:bodyPr wrap="square">
            <a:spAutoFit/>
          </a:bodyPr>
          <a:lstStyle/>
          <a:p>
            <a:r>
              <a:rPr lang="en-CA" sz="1800" dirty="0">
                <a:effectLst/>
                <a:latin typeface="Times New Roman" panose="02020603050405020304" pitchFamily="18" charset="0"/>
                <a:ea typeface="Times New Roman" panose="02020603050405020304" pitchFamily="18" charset="0"/>
              </a:rPr>
              <a:t> // declaration + definition + initialization</a:t>
            </a:r>
            <a:endParaRPr lang="en-CA" dirty="0"/>
          </a:p>
          <a:p>
            <a:endParaRPr lang="en-CA" dirty="0"/>
          </a:p>
          <a:p>
            <a:r>
              <a:rPr lang="en-CA" dirty="0"/>
              <a:t> int </a:t>
            </a:r>
            <a:r>
              <a:rPr lang="en-CA" dirty="0" err="1"/>
              <a:t>ini_var</a:t>
            </a:r>
            <a:r>
              <a:rPr lang="en-CA" dirty="0"/>
              <a:t> = 25;</a:t>
            </a:r>
          </a:p>
          <a:p>
            <a:r>
              <a:rPr lang="en-CA" dirty="0"/>
              <a:t>    </a:t>
            </a:r>
            <a:r>
              <a:rPr lang="en-CA" dirty="0" err="1"/>
              <a:t>printf</a:t>
            </a:r>
            <a:r>
              <a:rPr lang="en-CA" dirty="0"/>
              <a:t>("Value of </a:t>
            </a:r>
            <a:r>
              <a:rPr lang="en-CA" dirty="0" err="1"/>
              <a:t>defined_var</a:t>
            </a:r>
            <a:r>
              <a:rPr lang="en-CA" dirty="0"/>
              <a:t> after assignment: %d\n", </a:t>
            </a:r>
            <a:r>
              <a:rPr lang="en-CA" dirty="0" err="1"/>
              <a:t>defined_var</a:t>
            </a:r>
            <a:r>
              <a:rPr lang="en-CA" dirty="0"/>
              <a:t>);</a:t>
            </a:r>
          </a:p>
          <a:p>
            <a:endParaRPr lang="en-CA" dirty="0"/>
          </a:p>
          <a:p>
            <a:r>
              <a:rPr lang="en-CA" dirty="0"/>
              <a:t>    </a:t>
            </a:r>
            <a:r>
              <a:rPr lang="en-CA" dirty="0" err="1"/>
              <a:t>printf</a:t>
            </a:r>
            <a:r>
              <a:rPr lang="en-CA" dirty="0"/>
              <a:t>("Value of </a:t>
            </a:r>
            <a:r>
              <a:rPr lang="en-CA" dirty="0" err="1"/>
              <a:t>ini_var</a:t>
            </a:r>
            <a:r>
              <a:rPr lang="en-CA" dirty="0"/>
              <a:t>: %d", </a:t>
            </a:r>
            <a:r>
              <a:rPr lang="en-CA" dirty="0" err="1"/>
              <a:t>ini_var</a:t>
            </a:r>
            <a:r>
              <a:rPr lang="en-CA" dirty="0"/>
              <a:t>);</a:t>
            </a:r>
          </a:p>
          <a:p>
            <a:r>
              <a:rPr lang="en-CA" dirty="0"/>
              <a:t>    return 0;</a:t>
            </a:r>
          </a:p>
          <a:p>
            <a:r>
              <a:rPr lang="en-CA" dirty="0"/>
              <a:t>}</a:t>
            </a:r>
          </a:p>
          <a:p>
            <a:r>
              <a:rPr lang="en-CA" dirty="0" err="1"/>
              <a:t>Defined_var</a:t>
            </a:r>
            <a:r>
              <a:rPr lang="en-CA" dirty="0"/>
              <a:t>: 0</a:t>
            </a:r>
          </a:p>
          <a:p>
            <a:r>
              <a:rPr lang="en-CA" dirty="0"/>
              <a:t>Value of </a:t>
            </a:r>
            <a:r>
              <a:rPr lang="en-CA" dirty="0" err="1"/>
              <a:t>defined_var</a:t>
            </a:r>
            <a:r>
              <a:rPr lang="en-CA" dirty="0"/>
              <a:t> after assignment: 12</a:t>
            </a:r>
          </a:p>
          <a:p>
            <a:r>
              <a:rPr lang="en-CA" dirty="0"/>
              <a:t>Value of </a:t>
            </a:r>
            <a:r>
              <a:rPr lang="en-CA" dirty="0" err="1"/>
              <a:t>ini_var</a:t>
            </a:r>
            <a:r>
              <a:rPr lang="en-CA" dirty="0"/>
              <a:t>: 25</a:t>
            </a:r>
          </a:p>
        </p:txBody>
      </p:sp>
      <p:sp>
        <p:nvSpPr>
          <p:cNvPr id="2" name="Footer Placeholder 1">
            <a:extLst>
              <a:ext uri="{FF2B5EF4-FFF2-40B4-BE49-F238E27FC236}">
                <a16:creationId xmlns:a16="http://schemas.microsoft.com/office/drawing/2014/main" id="{34FDBA2D-DA39-BB70-1EDD-FF524A5E9354}"/>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874520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1108-21BC-5F6F-3ED8-A54E45250322}"/>
              </a:ext>
            </a:extLst>
          </p:cNvPr>
          <p:cNvSpPr>
            <a:spLocks noGrp="1"/>
          </p:cNvSpPr>
          <p:nvPr>
            <p:ph type="title"/>
          </p:nvPr>
        </p:nvSpPr>
        <p:spPr/>
        <p:txBody>
          <a:bodyPr/>
          <a:lstStyle/>
          <a:p>
            <a:pPr algn="ctr"/>
            <a:r>
              <a:rPr lang="en-CA" dirty="0"/>
              <a:t>C Variable Types</a:t>
            </a:r>
          </a:p>
        </p:txBody>
      </p:sp>
      <p:sp>
        <p:nvSpPr>
          <p:cNvPr id="3" name="Content Placeholder 2">
            <a:extLst>
              <a:ext uri="{FF2B5EF4-FFF2-40B4-BE49-F238E27FC236}">
                <a16:creationId xmlns:a16="http://schemas.microsoft.com/office/drawing/2014/main" id="{11E4CE9E-0163-7F6E-E1F1-A1ACD5B42D2E}"/>
              </a:ext>
            </a:extLst>
          </p:cNvPr>
          <p:cNvSpPr>
            <a:spLocks noGrp="1"/>
          </p:cNvSpPr>
          <p:nvPr>
            <p:ph idx="1"/>
          </p:nvPr>
        </p:nvSpPr>
        <p:spPr>
          <a:xfrm>
            <a:off x="838200" y="1480457"/>
            <a:ext cx="4702629" cy="4696506"/>
          </a:xfrm>
        </p:spPr>
        <p:txBody>
          <a:bodyPr/>
          <a:lstStyle/>
          <a:p>
            <a:pPr marL="0" indent="0">
              <a:buNone/>
            </a:pPr>
            <a:r>
              <a:rPr lang="en-CA" sz="1800" dirty="0">
                <a:effectLst/>
                <a:latin typeface="Times New Roman" panose="02020603050405020304" pitchFamily="18" charset="0"/>
                <a:ea typeface="Times New Roman" panose="02020603050405020304" pitchFamily="18" charset="0"/>
              </a:rPr>
              <a:t>The C variables can be classified into the following types:</a:t>
            </a:r>
          </a:p>
          <a:p>
            <a:pPr marL="0" lvl="0" indent="0">
              <a:buNone/>
              <a:tabLst>
                <a:tab pos="457200" algn="l"/>
              </a:tabLst>
            </a:pPr>
            <a:r>
              <a:rPr lang="en-CA" sz="1800" b="1" dirty="0">
                <a:effectLst/>
                <a:latin typeface="Times New Roman" panose="02020603050405020304" pitchFamily="18" charset="0"/>
                <a:ea typeface="Times New Roman" panose="02020603050405020304" pitchFamily="18" charset="0"/>
              </a:rPr>
              <a:t>Local Variables and </a:t>
            </a:r>
            <a:r>
              <a:rPr lang="en-CA" sz="1800" dirty="0">
                <a:effectLst/>
                <a:latin typeface="Times New Roman" panose="02020603050405020304" pitchFamily="18" charset="0"/>
                <a:ea typeface="Times New Roman" panose="02020603050405020304" pitchFamily="18" charset="0"/>
              </a:rPr>
              <a:t> </a:t>
            </a:r>
            <a:r>
              <a:rPr lang="en-CA" sz="1800" b="1" dirty="0">
                <a:effectLst/>
                <a:latin typeface="Times New Roman" panose="02020603050405020304" pitchFamily="18" charset="0"/>
                <a:ea typeface="Times New Roman" panose="02020603050405020304" pitchFamily="18" charset="0"/>
              </a:rPr>
              <a:t>Global Variables</a:t>
            </a:r>
            <a:endParaRPr lang="en-CA" sz="1800" dirty="0">
              <a:effectLst/>
              <a:latin typeface="Times New Roman" panose="02020603050405020304" pitchFamily="18" charset="0"/>
              <a:ea typeface="Times New Roman" panose="02020603050405020304" pitchFamily="18" charset="0"/>
            </a:endParaRPr>
          </a:p>
          <a:p>
            <a:pPr marL="0" indent="0">
              <a:buNone/>
            </a:pPr>
            <a:r>
              <a:rPr lang="en-CA" sz="1800" dirty="0">
                <a:effectLst/>
                <a:latin typeface="Times New Roman" panose="02020603050405020304" pitchFamily="18" charset="0"/>
                <a:ea typeface="Times New Roman" panose="02020603050405020304" pitchFamily="18" charset="0"/>
              </a:rPr>
              <a:t>// C program to demonstrate use of global variable</a:t>
            </a:r>
          </a:p>
          <a:p>
            <a:pPr marL="0" indent="0">
              <a:buNone/>
            </a:pPr>
            <a:r>
              <a:rPr lang="en-CA" sz="1800" dirty="0">
                <a:effectLst/>
                <a:latin typeface="Times New Roman" panose="02020603050405020304" pitchFamily="18" charset="0"/>
                <a:ea typeface="Times New Roman" panose="02020603050405020304" pitchFamily="18" charset="0"/>
              </a:rPr>
              <a:t>#include &lt;</a:t>
            </a:r>
            <a:r>
              <a:rPr lang="en-CA" sz="1800" dirty="0" err="1">
                <a:effectLst/>
                <a:latin typeface="Times New Roman" panose="02020603050405020304" pitchFamily="18" charset="0"/>
                <a:ea typeface="Times New Roman" panose="02020603050405020304" pitchFamily="18" charset="0"/>
              </a:rPr>
              <a:t>stdio.h</a:t>
            </a:r>
            <a:r>
              <a:rPr lang="en-CA" sz="1800" dirty="0">
                <a:effectLst/>
                <a:latin typeface="Times New Roman" panose="02020603050405020304" pitchFamily="18" charset="0"/>
                <a:ea typeface="Times New Roman" panose="02020603050405020304" pitchFamily="18" charset="0"/>
              </a:rPr>
              <a:t>&gt;</a:t>
            </a:r>
          </a:p>
          <a:p>
            <a:pPr marL="0" indent="0">
              <a:buNone/>
            </a:pPr>
            <a:r>
              <a:rPr lang="en-CA" sz="1800" dirty="0">
                <a:effectLst/>
                <a:latin typeface="Times New Roman" panose="02020603050405020304" pitchFamily="18" charset="0"/>
                <a:ea typeface="Times New Roman" panose="02020603050405020304" pitchFamily="18" charset="0"/>
              </a:rPr>
              <a:t>int x = 20; // global variable</a:t>
            </a:r>
          </a:p>
          <a:p>
            <a:pPr marL="0" indent="0">
              <a:buNone/>
            </a:pPr>
            <a:r>
              <a:rPr lang="en-CA" sz="1800" dirty="0">
                <a:effectLst/>
                <a:latin typeface="Times New Roman" panose="02020603050405020304" pitchFamily="18" charset="0"/>
                <a:ea typeface="Times New Roman" panose="02020603050405020304" pitchFamily="18" charset="0"/>
              </a:rPr>
              <a:t> </a:t>
            </a:r>
          </a:p>
          <a:p>
            <a:pPr marL="0" indent="0">
              <a:buNone/>
            </a:pPr>
            <a:r>
              <a:rPr lang="en-CA" sz="1800" dirty="0">
                <a:effectLst/>
                <a:latin typeface="Times New Roman" panose="02020603050405020304" pitchFamily="18" charset="0"/>
                <a:ea typeface="Times New Roman" panose="02020603050405020304" pitchFamily="18" charset="0"/>
              </a:rPr>
              <a:t>void function1() { </a:t>
            </a:r>
          </a:p>
          <a:p>
            <a:pPr marL="0" indent="0">
              <a:buNone/>
            </a:pPr>
            <a:r>
              <a:rPr lang="en-CA" sz="1800" dirty="0">
                <a:effectLst/>
                <a:latin typeface="Times New Roman" panose="02020603050405020304" pitchFamily="18" charset="0"/>
                <a:ea typeface="Times New Roman" panose="02020603050405020304" pitchFamily="18" charset="0"/>
              </a:rPr>
              <a:t>    int x = 30;</a:t>
            </a:r>
          </a:p>
          <a:p>
            <a:pPr marL="0" indent="0">
              <a:buNone/>
            </a:pPr>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printf</a:t>
            </a:r>
            <a:r>
              <a:rPr lang="en-CA" sz="1800" dirty="0">
                <a:effectLst/>
                <a:latin typeface="Times New Roman" panose="02020603050405020304" pitchFamily="18" charset="0"/>
                <a:ea typeface="Times New Roman" panose="02020603050405020304" pitchFamily="18" charset="0"/>
              </a:rPr>
              <a:t>("Function 1: %d\n", x); </a:t>
            </a:r>
          </a:p>
          <a:p>
            <a:pPr marL="0" indent="0">
              <a:buNone/>
            </a:pPr>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printf</a:t>
            </a:r>
            <a:r>
              <a:rPr lang="en-CA" sz="1800" dirty="0">
                <a:effectLst/>
                <a:latin typeface="Times New Roman" panose="02020603050405020304" pitchFamily="18" charset="0"/>
                <a:ea typeface="Times New Roman" panose="02020603050405020304" pitchFamily="18" charset="0"/>
              </a:rPr>
              <a:t>("Function 1: %d\n", x);  </a:t>
            </a:r>
          </a:p>
          <a:p>
            <a:endParaRPr lang="en-CA" dirty="0"/>
          </a:p>
        </p:txBody>
      </p:sp>
      <p:sp>
        <p:nvSpPr>
          <p:cNvPr id="5" name="TextBox 4">
            <a:extLst>
              <a:ext uri="{FF2B5EF4-FFF2-40B4-BE49-F238E27FC236}">
                <a16:creationId xmlns:a16="http://schemas.microsoft.com/office/drawing/2014/main" id="{027C40DC-0EC4-C053-4FFA-8A212F2028D7}"/>
              </a:ext>
            </a:extLst>
          </p:cNvPr>
          <p:cNvSpPr txBox="1"/>
          <p:nvPr/>
        </p:nvSpPr>
        <p:spPr>
          <a:xfrm>
            <a:off x="6096001" y="1843551"/>
            <a:ext cx="5159828" cy="3970318"/>
          </a:xfrm>
          <a:prstGeom prst="rect">
            <a:avLst/>
          </a:prstGeom>
          <a:noFill/>
        </p:spPr>
        <p:txBody>
          <a:bodyPr wrap="square">
            <a:spAutoFit/>
          </a:bodyPr>
          <a:lstStyle/>
          <a:p>
            <a:r>
              <a:rPr lang="en-CA" dirty="0"/>
              <a:t>}</a:t>
            </a:r>
          </a:p>
          <a:p>
            <a:r>
              <a:rPr lang="en-CA" dirty="0"/>
              <a:t>void function2() { </a:t>
            </a:r>
            <a:r>
              <a:rPr lang="en-CA" dirty="0" err="1"/>
              <a:t>printf</a:t>
            </a:r>
            <a:r>
              <a:rPr lang="en-CA" dirty="0"/>
              <a:t>("Function 2: %d\n", x); }</a:t>
            </a:r>
          </a:p>
          <a:p>
            <a:r>
              <a:rPr lang="en-CA" dirty="0"/>
              <a:t>int main()</a:t>
            </a:r>
          </a:p>
          <a:p>
            <a:r>
              <a:rPr lang="en-CA" dirty="0"/>
              <a:t>{</a:t>
            </a:r>
          </a:p>
          <a:p>
            <a:r>
              <a:rPr lang="en-CA" dirty="0" err="1"/>
              <a:t>printf</a:t>
            </a:r>
            <a:r>
              <a:rPr lang="en-CA" dirty="0"/>
              <a:t>("Function 1: %d\n", x); </a:t>
            </a:r>
          </a:p>
          <a:p>
            <a:r>
              <a:rPr lang="en-CA" dirty="0"/>
              <a:t>    function1();</a:t>
            </a:r>
          </a:p>
          <a:p>
            <a:r>
              <a:rPr lang="en-CA" dirty="0"/>
              <a:t>    function2();</a:t>
            </a:r>
          </a:p>
          <a:p>
            <a:r>
              <a:rPr lang="en-CA" dirty="0"/>
              <a:t>    return 0;</a:t>
            </a:r>
          </a:p>
          <a:p>
            <a:r>
              <a:rPr lang="en-CA" dirty="0"/>
              <a:t>}</a:t>
            </a:r>
          </a:p>
          <a:p>
            <a:r>
              <a:rPr lang="en-CA" dirty="0"/>
              <a:t>Output:</a:t>
            </a:r>
          </a:p>
          <a:p>
            <a:r>
              <a:rPr lang="en-CA" dirty="0"/>
              <a:t>Function 1: 20</a:t>
            </a:r>
          </a:p>
          <a:p>
            <a:r>
              <a:rPr lang="en-CA" dirty="0"/>
              <a:t>Function 1: 30</a:t>
            </a:r>
          </a:p>
          <a:p>
            <a:r>
              <a:rPr lang="en-CA" dirty="0"/>
              <a:t>Function 1: 30</a:t>
            </a:r>
          </a:p>
          <a:p>
            <a:r>
              <a:rPr lang="en-CA" dirty="0"/>
              <a:t>Function 2: 20</a:t>
            </a:r>
          </a:p>
        </p:txBody>
      </p:sp>
      <p:sp>
        <p:nvSpPr>
          <p:cNvPr id="4" name="Footer Placeholder 3">
            <a:extLst>
              <a:ext uri="{FF2B5EF4-FFF2-40B4-BE49-F238E27FC236}">
                <a16:creationId xmlns:a16="http://schemas.microsoft.com/office/drawing/2014/main" id="{8929747E-10B3-3C99-DEF5-AB5B805483C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528920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76397B-E711-5A93-E1D3-75782CB85484}"/>
              </a:ext>
            </a:extLst>
          </p:cNvPr>
          <p:cNvSpPr txBox="1"/>
          <p:nvPr/>
        </p:nvSpPr>
        <p:spPr>
          <a:xfrm>
            <a:off x="685800" y="641313"/>
            <a:ext cx="5246914" cy="5632311"/>
          </a:xfrm>
          <a:prstGeom prst="rect">
            <a:avLst/>
          </a:prstGeom>
          <a:noFill/>
        </p:spPr>
        <p:txBody>
          <a:bodyPr wrap="square">
            <a:spAutoFit/>
          </a:bodyPr>
          <a:lstStyle/>
          <a:p>
            <a:pPr marL="342900" lvl="0" indent="-342900">
              <a:buFont typeface="+mj-lt"/>
              <a:buAutoNum type="arabicPeriod" startAt="3"/>
              <a:tabLst>
                <a:tab pos="457200" algn="l"/>
              </a:tabLst>
            </a:pPr>
            <a:r>
              <a:rPr lang="en-CA" sz="2000" b="1" dirty="0">
                <a:effectLst/>
                <a:latin typeface="Times New Roman" panose="02020603050405020304" pitchFamily="18" charset="0"/>
                <a:ea typeface="Times New Roman" panose="02020603050405020304" pitchFamily="18" charset="0"/>
              </a:rPr>
              <a:t>Static Variables</a:t>
            </a:r>
            <a:r>
              <a:rPr lang="en-CA" sz="2000" dirty="0">
                <a:effectLst/>
                <a:latin typeface="Times New Roman" panose="02020603050405020304" pitchFamily="18" charset="0"/>
                <a:ea typeface="Times New Roman" panose="02020603050405020304" pitchFamily="18" charset="0"/>
              </a:rPr>
              <a:t> is a variable that is defined using the static keyword. It can be defined only once in a C program and its scope depends upon the region where it is declared (can be global or local). </a:t>
            </a:r>
            <a:r>
              <a:rPr lang="en-CA" sz="2000" b="1" dirty="0">
                <a:effectLst/>
                <a:latin typeface="Times New Roman" panose="02020603050405020304" pitchFamily="18" charset="0"/>
                <a:ea typeface="Times New Roman" panose="02020603050405020304" pitchFamily="18" charset="0"/>
              </a:rPr>
              <a:t>The default value of static variables is zero.</a:t>
            </a:r>
          </a:p>
          <a:p>
            <a:pPr marL="228600"/>
            <a:r>
              <a:rPr lang="en-CA" sz="2000" dirty="0">
                <a:effectLst/>
                <a:latin typeface="Times New Roman" panose="02020603050405020304" pitchFamily="18" charset="0"/>
                <a:ea typeface="Times New Roman" panose="02020603050405020304" pitchFamily="18" charset="0"/>
              </a:rPr>
              <a:t>static </a:t>
            </a:r>
            <a:r>
              <a:rPr lang="en-CA" sz="2000" dirty="0" err="1">
                <a:effectLst/>
                <a:latin typeface="Times New Roman" panose="02020603050405020304" pitchFamily="18" charset="0"/>
                <a:ea typeface="Times New Roman" panose="02020603050405020304" pitchFamily="18" charset="0"/>
              </a:rPr>
              <a:t>data_type</a:t>
            </a:r>
            <a:r>
              <a:rPr lang="en-CA" sz="2000" dirty="0">
                <a:effectLst/>
                <a:latin typeface="Times New Roman" panose="02020603050405020304" pitchFamily="18" charset="0"/>
                <a:ea typeface="Times New Roman" panose="02020603050405020304" pitchFamily="18" charset="0"/>
              </a:rPr>
              <a:t> </a:t>
            </a:r>
            <a:r>
              <a:rPr lang="en-CA" sz="2000" dirty="0" err="1">
                <a:effectLst/>
                <a:latin typeface="Times New Roman" panose="02020603050405020304" pitchFamily="18" charset="0"/>
                <a:ea typeface="Times New Roman" panose="02020603050405020304" pitchFamily="18" charset="0"/>
              </a:rPr>
              <a:t>variable_name</a:t>
            </a:r>
            <a:r>
              <a:rPr lang="en-CA" sz="2000" dirty="0">
                <a:effectLst/>
                <a:latin typeface="Times New Roman" panose="02020603050405020304" pitchFamily="18" charset="0"/>
                <a:ea typeface="Times New Roman" panose="02020603050405020304" pitchFamily="18" charset="0"/>
              </a:rPr>
              <a:t> = </a:t>
            </a:r>
            <a:r>
              <a:rPr lang="en-CA" sz="2000" dirty="0" err="1">
                <a:effectLst/>
                <a:latin typeface="Times New Roman" panose="02020603050405020304" pitchFamily="18" charset="0"/>
                <a:ea typeface="Times New Roman" panose="02020603050405020304" pitchFamily="18" charset="0"/>
              </a:rPr>
              <a:t>initial_value</a:t>
            </a:r>
            <a:r>
              <a:rPr lang="en-CA" sz="2000" dirty="0">
                <a:effectLst/>
                <a:latin typeface="Times New Roman" panose="02020603050405020304" pitchFamily="18" charset="0"/>
                <a:ea typeface="Times New Roman" panose="02020603050405020304" pitchFamily="18" charset="0"/>
              </a:rPr>
              <a:t>;</a:t>
            </a:r>
          </a:p>
          <a:p>
            <a:pPr marL="228600"/>
            <a:r>
              <a:rPr lang="en-CA" sz="2000" dirty="0">
                <a:effectLst/>
                <a:latin typeface="Times New Roman" panose="02020603050405020304" pitchFamily="18" charset="0"/>
                <a:ea typeface="Times New Roman" panose="02020603050405020304" pitchFamily="18" charset="0"/>
              </a:rPr>
              <a:t>// C program to demonstrate use of static variable</a:t>
            </a:r>
          </a:p>
          <a:p>
            <a:pPr marL="228600"/>
            <a:r>
              <a:rPr lang="en-CA" sz="2000" dirty="0">
                <a:effectLst/>
                <a:latin typeface="Times New Roman" panose="02020603050405020304" pitchFamily="18" charset="0"/>
                <a:ea typeface="Times New Roman" panose="02020603050405020304" pitchFamily="18" charset="0"/>
              </a:rPr>
              <a:t>#include &lt;</a:t>
            </a:r>
            <a:r>
              <a:rPr lang="en-CA" sz="2000" dirty="0" err="1">
                <a:effectLst/>
                <a:latin typeface="Times New Roman" panose="02020603050405020304" pitchFamily="18" charset="0"/>
                <a:ea typeface="Times New Roman" panose="02020603050405020304" pitchFamily="18" charset="0"/>
              </a:rPr>
              <a:t>stdio.h</a:t>
            </a:r>
            <a:r>
              <a:rPr lang="en-CA" sz="2000" dirty="0">
                <a:effectLst/>
                <a:latin typeface="Times New Roman" panose="02020603050405020304" pitchFamily="18" charset="0"/>
                <a:ea typeface="Times New Roman" panose="02020603050405020304" pitchFamily="18" charset="0"/>
              </a:rPr>
              <a:t>&gt;</a:t>
            </a:r>
          </a:p>
          <a:p>
            <a:pPr marL="228600"/>
            <a:r>
              <a:rPr lang="en-CA" sz="2000" dirty="0">
                <a:effectLst/>
                <a:latin typeface="Times New Roman" panose="02020603050405020304" pitchFamily="18" charset="0"/>
                <a:ea typeface="Times New Roman" panose="02020603050405020304" pitchFamily="18" charset="0"/>
              </a:rPr>
              <a:t>void function()</a:t>
            </a:r>
          </a:p>
          <a:p>
            <a:pPr marL="228600"/>
            <a:r>
              <a:rPr lang="en-CA" sz="2000" dirty="0">
                <a:effectLst/>
                <a:latin typeface="Times New Roman" panose="02020603050405020304" pitchFamily="18" charset="0"/>
                <a:ea typeface="Times New Roman" panose="02020603050405020304" pitchFamily="18" charset="0"/>
              </a:rPr>
              <a:t>{</a:t>
            </a:r>
          </a:p>
          <a:p>
            <a:pPr marL="228600"/>
            <a:r>
              <a:rPr lang="en-CA" sz="2000" dirty="0">
                <a:effectLst/>
                <a:latin typeface="Times New Roman" panose="02020603050405020304" pitchFamily="18" charset="0"/>
                <a:ea typeface="Times New Roman" panose="02020603050405020304" pitchFamily="18" charset="0"/>
              </a:rPr>
              <a:t>    int x = 20; // local variable</a:t>
            </a:r>
          </a:p>
          <a:p>
            <a:pPr marL="228600"/>
            <a:r>
              <a:rPr lang="en-CA" sz="2000" dirty="0">
                <a:effectLst/>
                <a:latin typeface="Times New Roman" panose="02020603050405020304" pitchFamily="18" charset="0"/>
                <a:ea typeface="Times New Roman" panose="02020603050405020304" pitchFamily="18" charset="0"/>
              </a:rPr>
              <a:t>    static int y = 30; // static variable</a:t>
            </a:r>
          </a:p>
          <a:p>
            <a:pPr marL="228600"/>
            <a:r>
              <a:rPr lang="en-CA" sz="2000" dirty="0">
                <a:effectLst/>
                <a:latin typeface="Times New Roman" panose="02020603050405020304" pitchFamily="18" charset="0"/>
                <a:ea typeface="Times New Roman" panose="02020603050405020304" pitchFamily="18" charset="0"/>
              </a:rPr>
              <a:t>    x = x + 10;</a:t>
            </a:r>
          </a:p>
          <a:p>
            <a:pPr marL="228600"/>
            <a:r>
              <a:rPr lang="en-CA" sz="2000" dirty="0">
                <a:effectLst/>
                <a:latin typeface="Times New Roman" panose="02020603050405020304" pitchFamily="18" charset="0"/>
                <a:ea typeface="Times New Roman" panose="02020603050405020304" pitchFamily="18" charset="0"/>
              </a:rPr>
              <a:t>    y = y + 10;</a:t>
            </a:r>
          </a:p>
          <a:p>
            <a:pPr marL="228600"/>
            <a:r>
              <a:rPr lang="en-CA" sz="2000" dirty="0">
                <a:effectLst/>
                <a:latin typeface="Times New Roman" panose="02020603050405020304" pitchFamily="18" charset="0"/>
                <a:ea typeface="Times New Roman" panose="02020603050405020304" pitchFamily="18" charset="0"/>
              </a:rPr>
              <a:t>    </a:t>
            </a:r>
            <a:r>
              <a:rPr lang="en-CA" sz="2000" dirty="0" err="1">
                <a:effectLst/>
                <a:latin typeface="Times New Roman" panose="02020603050405020304" pitchFamily="18" charset="0"/>
                <a:ea typeface="Times New Roman" panose="02020603050405020304" pitchFamily="18" charset="0"/>
              </a:rPr>
              <a:t>printf</a:t>
            </a:r>
            <a:r>
              <a:rPr lang="en-CA" sz="2000" dirty="0">
                <a:effectLst/>
                <a:latin typeface="Times New Roman" panose="02020603050405020304" pitchFamily="18" charset="0"/>
                <a:ea typeface="Times New Roman" panose="02020603050405020304" pitchFamily="18" charset="0"/>
              </a:rPr>
              <a:t>("\</a:t>
            </a:r>
            <a:r>
              <a:rPr lang="en-CA" sz="2000" dirty="0" err="1">
                <a:effectLst/>
                <a:latin typeface="Times New Roman" panose="02020603050405020304" pitchFamily="18" charset="0"/>
                <a:ea typeface="Times New Roman" panose="02020603050405020304" pitchFamily="18" charset="0"/>
              </a:rPr>
              <a:t>tLocal</a:t>
            </a:r>
            <a:r>
              <a:rPr lang="en-CA" sz="2000" dirty="0">
                <a:effectLst/>
                <a:latin typeface="Times New Roman" panose="02020603050405020304" pitchFamily="18" charset="0"/>
                <a:ea typeface="Times New Roman" panose="02020603050405020304" pitchFamily="18" charset="0"/>
              </a:rPr>
              <a:t>: %d\n\</a:t>
            </a:r>
            <a:r>
              <a:rPr lang="en-CA" sz="2000" dirty="0" err="1">
                <a:effectLst/>
                <a:latin typeface="Times New Roman" panose="02020603050405020304" pitchFamily="18" charset="0"/>
                <a:ea typeface="Times New Roman" panose="02020603050405020304" pitchFamily="18" charset="0"/>
              </a:rPr>
              <a:t>tStatic</a:t>
            </a:r>
            <a:r>
              <a:rPr lang="en-CA" sz="2000" dirty="0">
                <a:effectLst/>
                <a:latin typeface="Times New Roman" panose="02020603050405020304" pitchFamily="18" charset="0"/>
                <a:ea typeface="Times New Roman" panose="02020603050405020304" pitchFamily="18" charset="0"/>
              </a:rPr>
              <a:t>: %d\n", x, y);</a:t>
            </a:r>
          </a:p>
          <a:p>
            <a:pPr marL="228600"/>
            <a:r>
              <a:rPr lang="en-CA" sz="2000" dirty="0">
                <a:effectLst/>
                <a:latin typeface="Times New Roman" panose="02020603050405020304" pitchFamily="18" charset="0"/>
                <a:ea typeface="Times New Roman" panose="02020603050405020304" pitchFamily="18" charset="0"/>
              </a:rPr>
              <a:t>}</a:t>
            </a:r>
          </a:p>
        </p:txBody>
      </p:sp>
      <p:sp>
        <p:nvSpPr>
          <p:cNvPr id="7" name="TextBox 6">
            <a:extLst>
              <a:ext uri="{FF2B5EF4-FFF2-40B4-BE49-F238E27FC236}">
                <a16:creationId xmlns:a16="http://schemas.microsoft.com/office/drawing/2014/main" id="{DF372182-6A63-506C-90A1-5992DCB6CFD5}"/>
              </a:ext>
            </a:extLst>
          </p:cNvPr>
          <p:cNvSpPr txBox="1"/>
          <p:nvPr/>
        </p:nvSpPr>
        <p:spPr>
          <a:xfrm>
            <a:off x="6096000" y="612844"/>
            <a:ext cx="3429000" cy="5632311"/>
          </a:xfrm>
          <a:prstGeom prst="rect">
            <a:avLst/>
          </a:prstGeom>
          <a:noFill/>
        </p:spPr>
        <p:txBody>
          <a:bodyPr wrap="square">
            <a:spAutoFit/>
          </a:bodyPr>
          <a:lstStyle/>
          <a:p>
            <a:pPr marL="228600"/>
            <a:r>
              <a:rPr lang="en-CA" sz="1800" dirty="0">
                <a:effectLst/>
                <a:latin typeface="Times New Roman" panose="02020603050405020304" pitchFamily="18" charset="0"/>
                <a:ea typeface="Times New Roman" panose="02020603050405020304" pitchFamily="18" charset="0"/>
              </a:rPr>
              <a:t>int main()</a:t>
            </a:r>
          </a:p>
          <a:p>
            <a:pPr marL="228600"/>
            <a:r>
              <a:rPr lang="en-CA" sz="1800" dirty="0">
                <a:effectLst/>
                <a:latin typeface="Times New Roman" panose="02020603050405020304" pitchFamily="18" charset="0"/>
                <a:ea typeface="Times New Roman" panose="02020603050405020304" pitchFamily="18" charset="0"/>
              </a:rPr>
              <a:t>{</a:t>
            </a:r>
          </a:p>
          <a:p>
            <a:pPr marL="228600"/>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printf</a:t>
            </a:r>
            <a:r>
              <a:rPr lang="en-CA" sz="1800" dirty="0">
                <a:effectLst/>
                <a:latin typeface="Times New Roman" panose="02020603050405020304" pitchFamily="18" charset="0"/>
                <a:ea typeface="Times New Roman" panose="02020603050405020304" pitchFamily="18" charset="0"/>
              </a:rPr>
              <a:t>("First Call\n");</a:t>
            </a:r>
          </a:p>
          <a:p>
            <a:pPr marL="228600"/>
            <a:r>
              <a:rPr lang="en-CA" sz="1800" dirty="0">
                <a:effectLst/>
                <a:latin typeface="Times New Roman" panose="02020603050405020304" pitchFamily="18" charset="0"/>
                <a:ea typeface="Times New Roman" panose="02020603050405020304" pitchFamily="18" charset="0"/>
              </a:rPr>
              <a:t>    function();</a:t>
            </a:r>
          </a:p>
          <a:p>
            <a:pPr marL="228600"/>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printf</a:t>
            </a:r>
            <a:r>
              <a:rPr lang="en-CA" sz="1800" dirty="0">
                <a:effectLst/>
                <a:latin typeface="Times New Roman" panose="02020603050405020304" pitchFamily="18" charset="0"/>
                <a:ea typeface="Times New Roman" panose="02020603050405020304" pitchFamily="18" charset="0"/>
              </a:rPr>
              <a:t>("Second Call\n");</a:t>
            </a:r>
          </a:p>
          <a:p>
            <a:pPr marL="228600"/>
            <a:r>
              <a:rPr lang="en-CA" sz="1800" dirty="0">
                <a:effectLst/>
                <a:latin typeface="Times New Roman" panose="02020603050405020304" pitchFamily="18" charset="0"/>
                <a:ea typeface="Times New Roman" panose="02020603050405020304" pitchFamily="18" charset="0"/>
              </a:rPr>
              <a:t>    function();</a:t>
            </a:r>
          </a:p>
          <a:p>
            <a:pPr marL="228600"/>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printf</a:t>
            </a:r>
            <a:r>
              <a:rPr lang="en-CA" sz="1800" dirty="0">
                <a:effectLst/>
                <a:latin typeface="Times New Roman" panose="02020603050405020304" pitchFamily="18" charset="0"/>
                <a:ea typeface="Times New Roman" panose="02020603050405020304" pitchFamily="18" charset="0"/>
              </a:rPr>
              <a:t>("Third Call\n");</a:t>
            </a:r>
          </a:p>
          <a:p>
            <a:pPr marL="228600"/>
            <a:r>
              <a:rPr lang="en-CA" sz="1800" dirty="0">
                <a:effectLst/>
                <a:latin typeface="Times New Roman" panose="02020603050405020304" pitchFamily="18" charset="0"/>
                <a:ea typeface="Times New Roman" panose="02020603050405020304" pitchFamily="18" charset="0"/>
              </a:rPr>
              <a:t>    function();</a:t>
            </a:r>
          </a:p>
          <a:p>
            <a:pPr marL="228600"/>
            <a:r>
              <a:rPr lang="en-CA" sz="1800" dirty="0">
                <a:effectLst/>
                <a:latin typeface="Times New Roman" panose="02020603050405020304" pitchFamily="18" charset="0"/>
                <a:ea typeface="Times New Roman" panose="02020603050405020304" pitchFamily="18" charset="0"/>
              </a:rPr>
              <a:t>    return 0;</a:t>
            </a:r>
          </a:p>
          <a:p>
            <a:pPr marL="228600"/>
            <a:r>
              <a:rPr lang="en-CA" sz="1800" dirty="0">
                <a:effectLst/>
                <a:latin typeface="Times New Roman" panose="02020603050405020304" pitchFamily="18" charset="0"/>
                <a:ea typeface="Times New Roman" panose="02020603050405020304" pitchFamily="18" charset="0"/>
              </a:rPr>
              <a:t>}</a:t>
            </a:r>
          </a:p>
          <a:p>
            <a:pPr marL="228600"/>
            <a:r>
              <a:rPr lang="en-CA" sz="1800" dirty="0">
                <a:effectLst/>
                <a:latin typeface="Times New Roman" panose="02020603050405020304" pitchFamily="18" charset="0"/>
                <a:ea typeface="Times New Roman" panose="02020603050405020304" pitchFamily="18" charset="0"/>
              </a:rPr>
              <a:t>Output:</a:t>
            </a:r>
          </a:p>
          <a:p>
            <a:pPr marL="228600"/>
            <a:r>
              <a:rPr lang="en-CA" sz="1800" dirty="0">
                <a:effectLst/>
                <a:latin typeface="Times New Roman" panose="02020603050405020304" pitchFamily="18" charset="0"/>
                <a:ea typeface="Times New Roman" panose="02020603050405020304" pitchFamily="18" charset="0"/>
              </a:rPr>
              <a:t>First Call</a:t>
            </a:r>
          </a:p>
          <a:p>
            <a:pPr marL="228600"/>
            <a:r>
              <a:rPr lang="en-CA" sz="1800" dirty="0">
                <a:effectLst/>
                <a:latin typeface="Times New Roman" panose="02020603050405020304" pitchFamily="18" charset="0"/>
                <a:ea typeface="Times New Roman" panose="02020603050405020304" pitchFamily="18" charset="0"/>
              </a:rPr>
              <a:t>    Local: 30</a:t>
            </a:r>
          </a:p>
          <a:p>
            <a:pPr marL="228600"/>
            <a:r>
              <a:rPr lang="en-CA" sz="1800" dirty="0">
                <a:effectLst/>
                <a:latin typeface="Times New Roman" panose="02020603050405020304" pitchFamily="18" charset="0"/>
                <a:ea typeface="Times New Roman" panose="02020603050405020304" pitchFamily="18" charset="0"/>
              </a:rPr>
              <a:t>    Static: 40</a:t>
            </a:r>
          </a:p>
          <a:p>
            <a:pPr marL="228600"/>
            <a:r>
              <a:rPr lang="en-CA" sz="1800" dirty="0">
                <a:effectLst/>
                <a:latin typeface="Times New Roman" panose="02020603050405020304" pitchFamily="18" charset="0"/>
                <a:ea typeface="Times New Roman" panose="02020603050405020304" pitchFamily="18" charset="0"/>
              </a:rPr>
              <a:t>Second Call</a:t>
            </a:r>
          </a:p>
          <a:p>
            <a:pPr marL="228600"/>
            <a:r>
              <a:rPr lang="en-CA" sz="1800" dirty="0">
                <a:effectLst/>
                <a:latin typeface="Times New Roman" panose="02020603050405020304" pitchFamily="18" charset="0"/>
                <a:ea typeface="Times New Roman" panose="02020603050405020304" pitchFamily="18" charset="0"/>
              </a:rPr>
              <a:t>    Local: 30</a:t>
            </a:r>
          </a:p>
          <a:p>
            <a:pPr marL="228600"/>
            <a:r>
              <a:rPr lang="en-CA" sz="1800" dirty="0">
                <a:effectLst/>
                <a:latin typeface="Times New Roman" panose="02020603050405020304" pitchFamily="18" charset="0"/>
                <a:ea typeface="Times New Roman" panose="02020603050405020304" pitchFamily="18" charset="0"/>
              </a:rPr>
              <a:t>    Static: 50</a:t>
            </a:r>
          </a:p>
          <a:p>
            <a:pPr marL="228600"/>
            <a:r>
              <a:rPr lang="en-CA" sz="1800" dirty="0">
                <a:effectLst/>
                <a:latin typeface="Times New Roman" panose="02020603050405020304" pitchFamily="18" charset="0"/>
                <a:ea typeface="Times New Roman" panose="02020603050405020304" pitchFamily="18" charset="0"/>
              </a:rPr>
              <a:t>Third Call</a:t>
            </a:r>
          </a:p>
          <a:p>
            <a:pPr marL="228600"/>
            <a:r>
              <a:rPr lang="en-CA" sz="1800" dirty="0">
                <a:effectLst/>
                <a:latin typeface="Times New Roman" panose="02020603050405020304" pitchFamily="18" charset="0"/>
                <a:ea typeface="Times New Roman" panose="02020603050405020304" pitchFamily="18" charset="0"/>
              </a:rPr>
              <a:t>    Local: 30</a:t>
            </a:r>
          </a:p>
          <a:p>
            <a:pPr marL="228600"/>
            <a:r>
              <a:rPr lang="en-CA" sz="1800" dirty="0">
                <a:effectLst/>
                <a:latin typeface="Times New Roman" panose="02020603050405020304" pitchFamily="18" charset="0"/>
                <a:ea typeface="Times New Roman" panose="02020603050405020304" pitchFamily="18" charset="0"/>
              </a:rPr>
              <a:t>    Static: 60</a:t>
            </a:r>
          </a:p>
        </p:txBody>
      </p:sp>
      <p:sp>
        <p:nvSpPr>
          <p:cNvPr id="9" name="TextBox 8">
            <a:extLst>
              <a:ext uri="{FF2B5EF4-FFF2-40B4-BE49-F238E27FC236}">
                <a16:creationId xmlns:a16="http://schemas.microsoft.com/office/drawing/2014/main" id="{A78711C0-30BC-0495-AB0B-80CED4215D90}"/>
              </a:ext>
            </a:extLst>
          </p:cNvPr>
          <p:cNvSpPr txBox="1"/>
          <p:nvPr/>
        </p:nvSpPr>
        <p:spPr>
          <a:xfrm>
            <a:off x="8311243" y="3286036"/>
            <a:ext cx="2754086" cy="2585323"/>
          </a:xfrm>
          <a:prstGeom prst="rect">
            <a:avLst/>
          </a:prstGeom>
          <a:noFill/>
        </p:spPr>
        <p:txBody>
          <a:bodyPr wrap="square">
            <a:spAutoFit/>
          </a:bodyPr>
          <a:lstStyle/>
          <a:p>
            <a:pPr marL="228600"/>
            <a:r>
              <a:rPr lang="en-CA" sz="1800" dirty="0">
                <a:effectLst/>
                <a:latin typeface="Times New Roman" panose="02020603050405020304" pitchFamily="18" charset="0"/>
                <a:ea typeface="Times New Roman" panose="02020603050405020304" pitchFamily="18" charset="0"/>
              </a:rPr>
              <a:t>In the above example, we can see that the local variable will always print the same value whenever the function will be called whereas the static variable will print the incremented value in each function call.</a:t>
            </a:r>
          </a:p>
        </p:txBody>
      </p:sp>
      <p:sp>
        <p:nvSpPr>
          <p:cNvPr id="2" name="Footer Placeholder 1">
            <a:extLst>
              <a:ext uri="{FF2B5EF4-FFF2-40B4-BE49-F238E27FC236}">
                <a16:creationId xmlns:a16="http://schemas.microsoft.com/office/drawing/2014/main" id="{E9640544-772D-BE80-CB20-E064162C3DF2}"/>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740243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E23E4-97A4-8E54-7D1F-BDC7CFFDE526}"/>
              </a:ext>
            </a:extLst>
          </p:cNvPr>
          <p:cNvSpPr>
            <a:spLocks noGrp="1"/>
          </p:cNvSpPr>
          <p:nvPr>
            <p:ph idx="1"/>
          </p:nvPr>
        </p:nvSpPr>
        <p:spPr>
          <a:xfrm>
            <a:off x="838200" y="892629"/>
            <a:ext cx="10515600" cy="5284334"/>
          </a:xfrm>
        </p:spPr>
        <p:txBody>
          <a:bodyPr/>
          <a:lstStyle/>
          <a:p>
            <a:pPr marL="0" lvl="0" indent="0">
              <a:buNone/>
              <a:tabLst>
                <a:tab pos="457200" algn="l"/>
              </a:tabLst>
            </a:pPr>
            <a:r>
              <a:rPr lang="en-CA" sz="1800" b="1" dirty="0">
                <a:effectLst/>
                <a:latin typeface="Times New Roman" panose="02020603050405020304" pitchFamily="18" charset="0"/>
                <a:ea typeface="Times New Roman" panose="02020603050405020304" pitchFamily="18" charset="0"/>
              </a:rPr>
              <a:t>Automatic Variables</a:t>
            </a:r>
            <a:endParaRPr lang="en-CA" sz="1800" dirty="0">
              <a:effectLst/>
              <a:latin typeface="Times New Roman" panose="02020603050405020304" pitchFamily="18" charset="0"/>
              <a:ea typeface="Times New Roman" panose="02020603050405020304" pitchFamily="18" charset="0"/>
            </a:endParaRPr>
          </a:p>
          <a:p>
            <a:pPr marL="228600"/>
            <a:r>
              <a:rPr lang="en-CA" sz="1800" b="1" dirty="0">
                <a:effectLst/>
                <a:latin typeface="Times New Roman" panose="02020603050405020304" pitchFamily="18" charset="0"/>
                <a:ea typeface="Times New Roman" panose="02020603050405020304" pitchFamily="18" charset="0"/>
              </a:rPr>
              <a:t>All the local variables are automatic variables by default. </a:t>
            </a:r>
            <a:r>
              <a:rPr lang="en-CA" sz="1800" dirty="0">
                <a:effectLst/>
                <a:latin typeface="Times New Roman" panose="02020603050405020304" pitchFamily="18" charset="0"/>
                <a:ea typeface="Times New Roman" panose="02020603050405020304" pitchFamily="18" charset="0"/>
              </a:rPr>
              <a:t>They are also known as auto variables. Their scope is local and their lifetime is till the end of the block. If we need, we can use the auto keyword to define the auto variables. The default value of the auto variables is a garbage value.</a:t>
            </a:r>
          </a:p>
          <a:p>
            <a:pPr marL="228600"/>
            <a:r>
              <a:rPr lang="en-CA" sz="1800" dirty="0">
                <a:effectLst/>
                <a:latin typeface="Times New Roman" panose="02020603050405020304" pitchFamily="18" charset="0"/>
                <a:ea typeface="Times New Roman" panose="02020603050405020304" pitchFamily="18" charset="0"/>
              </a:rPr>
              <a:t>auto </a:t>
            </a:r>
            <a:r>
              <a:rPr lang="en-CA" sz="1800" dirty="0" err="1">
                <a:effectLst/>
                <a:latin typeface="Times New Roman" panose="02020603050405020304" pitchFamily="18" charset="0"/>
                <a:ea typeface="Times New Roman" panose="02020603050405020304" pitchFamily="18" charset="0"/>
              </a:rPr>
              <a:t>data_type</a:t>
            </a:r>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variable_name</a:t>
            </a:r>
            <a:r>
              <a:rPr lang="en-CA" sz="1800" dirty="0">
                <a:effectLst/>
                <a:latin typeface="Times New Roman" panose="02020603050405020304" pitchFamily="18" charset="0"/>
                <a:ea typeface="Times New Roman" panose="02020603050405020304" pitchFamily="18" charset="0"/>
              </a:rPr>
              <a:t>;</a:t>
            </a:r>
          </a:p>
          <a:p>
            <a:pPr marL="228600"/>
            <a:r>
              <a:rPr lang="en-CA" sz="1800" dirty="0">
                <a:effectLst/>
                <a:latin typeface="Times New Roman" panose="02020603050405020304" pitchFamily="18" charset="0"/>
                <a:ea typeface="Times New Roman" panose="02020603050405020304" pitchFamily="18" charset="0"/>
              </a:rPr>
              <a:t>        or</a:t>
            </a:r>
          </a:p>
          <a:p>
            <a:pPr marL="228600"/>
            <a:r>
              <a:rPr lang="en-CA" sz="1800" dirty="0" err="1">
                <a:effectLst/>
                <a:latin typeface="Times New Roman" panose="02020603050405020304" pitchFamily="18" charset="0"/>
                <a:ea typeface="Times New Roman" panose="02020603050405020304" pitchFamily="18" charset="0"/>
              </a:rPr>
              <a:t>data_type</a:t>
            </a:r>
            <a:r>
              <a:rPr lang="en-CA" sz="1800" dirty="0">
                <a:effectLst/>
                <a:latin typeface="Times New Roman" panose="02020603050405020304" pitchFamily="18" charset="0"/>
                <a:ea typeface="Times New Roman" panose="02020603050405020304" pitchFamily="18" charset="0"/>
              </a:rPr>
              <a:t> variable name;    (in local scope)</a:t>
            </a:r>
          </a:p>
          <a:p>
            <a:pPr marL="0" lvl="0" indent="0">
              <a:buNone/>
              <a:tabLst>
                <a:tab pos="457200" algn="l"/>
              </a:tabLst>
            </a:pPr>
            <a:r>
              <a:rPr lang="en-CA" sz="1800" b="1" dirty="0">
                <a:effectLst/>
                <a:latin typeface="Times New Roman" panose="02020603050405020304" pitchFamily="18" charset="0"/>
                <a:ea typeface="Times New Roman" panose="02020603050405020304" pitchFamily="18" charset="0"/>
              </a:rPr>
              <a:t>Extern Variables</a:t>
            </a:r>
            <a:r>
              <a:rPr lang="en-CA" sz="1800" dirty="0">
                <a:effectLst/>
                <a:latin typeface="Times New Roman" panose="02020603050405020304" pitchFamily="18" charset="0"/>
                <a:ea typeface="Times New Roman" panose="02020603050405020304" pitchFamily="18" charset="0"/>
              </a:rPr>
              <a:t> </a:t>
            </a:r>
            <a:r>
              <a:rPr lang="en-CA" sz="1800" b="1" dirty="0">
                <a:effectLst/>
                <a:latin typeface="Times New Roman" panose="02020603050405020304" pitchFamily="18" charset="0"/>
                <a:ea typeface="Times New Roman" panose="02020603050405020304" pitchFamily="18" charset="0"/>
              </a:rPr>
              <a:t>: External variables in C can be shared between multiple C files. </a:t>
            </a:r>
            <a:r>
              <a:rPr lang="en-CA" sz="1800" dirty="0">
                <a:effectLst/>
                <a:latin typeface="Times New Roman" panose="02020603050405020304" pitchFamily="18" charset="0"/>
                <a:ea typeface="Times New Roman" panose="02020603050405020304" pitchFamily="18" charset="0"/>
              </a:rPr>
              <a:t>We can declare an external variable using the extern keyword.</a:t>
            </a:r>
          </a:p>
          <a:p>
            <a:pPr marL="228600"/>
            <a:r>
              <a:rPr lang="en-CA" sz="1800" b="1" dirty="0">
                <a:effectLst/>
                <a:latin typeface="Times New Roman" panose="02020603050405020304" pitchFamily="18" charset="0"/>
                <a:ea typeface="Times New Roman" panose="02020603050405020304" pitchFamily="18" charset="0"/>
              </a:rPr>
              <a:t>Their scope is global </a:t>
            </a:r>
            <a:r>
              <a:rPr lang="en-CA" sz="1800" dirty="0">
                <a:effectLst/>
                <a:latin typeface="Times New Roman" panose="02020603050405020304" pitchFamily="18" charset="0"/>
                <a:ea typeface="Times New Roman" panose="02020603050405020304" pitchFamily="18" charset="0"/>
              </a:rPr>
              <a:t>and they exist between multiple C files.</a:t>
            </a:r>
          </a:p>
          <a:p>
            <a:pPr marL="0" indent="0">
              <a:buNone/>
            </a:pPr>
            <a:r>
              <a:rPr lang="en-CA" sz="1800" b="1" dirty="0">
                <a:effectLst/>
                <a:latin typeface="Times New Roman" panose="02020603050405020304" pitchFamily="18" charset="0"/>
                <a:ea typeface="Times New Roman" panose="02020603050405020304" pitchFamily="18" charset="0"/>
              </a:rPr>
              <a:t>Register Variables</a:t>
            </a:r>
            <a:endParaRPr lang="en-CA" sz="1800" dirty="0">
              <a:effectLst/>
              <a:latin typeface="Times New Roman" panose="02020603050405020304" pitchFamily="18" charset="0"/>
              <a:ea typeface="Times New Roman" panose="02020603050405020304" pitchFamily="18" charset="0"/>
            </a:endParaRPr>
          </a:p>
          <a:p>
            <a:r>
              <a:rPr lang="en-CA" sz="1800" dirty="0">
                <a:effectLst/>
                <a:latin typeface="Times New Roman" panose="02020603050405020304" pitchFamily="18" charset="0"/>
                <a:ea typeface="Times New Roman" panose="02020603050405020304" pitchFamily="18" charset="0"/>
              </a:rPr>
              <a:t>Register variables in C are those variables </a:t>
            </a:r>
            <a:r>
              <a:rPr lang="en-CA" sz="1800" b="1" dirty="0">
                <a:effectLst/>
                <a:latin typeface="Times New Roman" panose="02020603050405020304" pitchFamily="18" charset="0"/>
                <a:ea typeface="Times New Roman" panose="02020603050405020304" pitchFamily="18" charset="0"/>
              </a:rPr>
              <a:t>that are stored in the CPU register instead of the conventional storage place like RAM. </a:t>
            </a:r>
            <a:r>
              <a:rPr lang="en-CA" sz="1800" dirty="0">
                <a:effectLst/>
                <a:latin typeface="Times New Roman" panose="02020603050405020304" pitchFamily="18" charset="0"/>
                <a:ea typeface="Times New Roman" panose="02020603050405020304" pitchFamily="18" charset="0"/>
              </a:rPr>
              <a:t>Their scope is local and exists till the end of the block or a function. These variables are declared using the register keyword. </a:t>
            </a:r>
            <a:r>
              <a:rPr lang="en-CA" sz="1800" b="1" dirty="0">
                <a:effectLst/>
                <a:latin typeface="Times New Roman" panose="02020603050405020304" pitchFamily="18" charset="0"/>
                <a:ea typeface="Times New Roman" panose="02020603050405020304" pitchFamily="18" charset="0"/>
              </a:rPr>
              <a:t>The default value of register variables is a garbage value.</a:t>
            </a:r>
          </a:p>
          <a:p>
            <a:r>
              <a:rPr lang="en-CA" sz="1800" dirty="0">
                <a:effectLst/>
                <a:latin typeface="Times New Roman" panose="02020603050405020304" pitchFamily="18" charset="0"/>
                <a:ea typeface="Times New Roman" panose="02020603050405020304" pitchFamily="18" charset="0"/>
              </a:rPr>
              <a:t>register </a:t>
            </a:r>
            <a:r>
              <a:rPr lang="en-CA" sz="1800" dirty="0" err="1">
                <a:effectLst/>
                <a:latin typeface="Times New Roman" panose="02020603050405020304" pitchFamily="18" charset="0"/>
                <a:ea typeface="Times New Roman" panose="02020603050405020304" pitchFamily="18" charset="0"/>
              </a:rPr>
              <a:t>data_type</a:t>
            </a:r>
            <a:r>
              <a:rPr lang="en-CA" sz="1800" dirty="0">
                <a:effectLst/>
                <a:latin typeface="Times New Roman" panose="02020603050405020304" pitchFamily="18" charset="0"/>
                <a:ea typeface="Times New Roman" panose="02020603050405020304" pitchFamily="18" charset="0"/>
              </a:rPr>
              <a:t> </a:t>
            </a:r>
            <a:r>
              <a:rPr lang="en-CA" sz="1800" dirty="0" err="1">
                <a:effectLst/>
                <a:latin typeface="Times New Roman" panose="02020603050405020304" pitchFamily="18" charset="0"/>
                <a:ea typeface="Times New Roman" panose="02020603050405020304" pitchFamily="18" charset="0"/>
              </a:rPr>
              <a:t>variable_name</a:t>
            </a:r>
            <a:r>
              <a:rPr lang="en-CA" sz="1800" dirty="0">
                <a:effectLst/>
                <a:latin typeface="Times New Roman" panose="02020603050405020304" pitchFamily="18" charset="0"/>
                <a:ea typeface="Times New Roman" panose="02020603050405020304" pitchFamily="18" charset="0"/>
              </a:rPr>
              <a:t> = </a:t>
            </a:r>
            <a:r>
              <a:rPr lang="en-CA" sz="1800" dirty="0" err="1">
                <a:effectLst/>
                <a:latin typeface="Times New Roman" panose="02020603050405020304" pitchFamily="18" charset="0"/>
                <a:ea typeface="Times New Roman" panose="02020603050405020304" pitchFamily="18" charset="0"/>
              </a:rPr>
              <a:t>initial_value</a:t>
            </a:r>
            <a:r>
              <a:rPr lang="en-CA" sz="1800" dirty="0">
                <a:effectLst/>
                <a:latin typeface="Times New Roman" panose="02020603050405020304" pitchFamily="18" charset="0"/>
                <a:ea typeface="Times New Roman" panose="02020603050405020304" pitchFamily="18" charset="0"/>
              </a:rPr>
              <a:t>;</a:t>
            </a:r>
          </a:p>
          <a:p>
            <a:endParaRPr lang="en-CA" dirty="0"/>
          </a:p>
        </p:txBody>
      </p:sp>
      <p:sp>
        <p:nvSpPr>
          <p:cNvPr id="2" name="Footer Placeholder 1">
            <a:extLst>
              <a:ext uri="{FF2B5EF4-FFF2-40B4-BE49-F238E27FC236}">
                <a16:creationId xmlns:a16="http://schemas.microsoft.com/office/drawing/2014/main" id="{E76A6037-7EDE-0D1E-BAAD-E3D9C985B5B6}"/>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539196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D05D7-1DBF-B1C3-433B-A4F9E54018F6}"/>
              </a:ext>
            </a:extLst>
          </p:cNvPr>
          <p:cNvSpPr>
            <a:spLocks noGrp="1"/>
          </p:cNvSpPr>
          <p:nvPr>
            <p:ph type="title"/>
          </p:nvPr>
        </p:nvSpPr>
        <p:spPr/>
        <p:txBody>
          <a:bodyPr/>
          <a:lstStyle/>
          <a:p>
            <a:pPr algn="ctr"/>
            <a:r>
              <a:rPr lang="en-CA" dirty="0"/>
              <a:t>Scope rules in C</a:t>
            </a:r>
          </a:p>
        </p:txBody>
      </p:sp>
      <p:sp>
        <p:nvSpPr>
          <p:cNvPr id="3" name="Content Placeholder 2">
            <a:extLst>
              <a:ext uri="{FF2B5EF4-FFF2-40B4-BE49-F238E27FC236}">
                <a16:creationId xmlns:a16="http://schemas.microsoft.com/office/drawing/2014/main" id="{F74A407F-3F4B-B7BD-0A68-6888861BC05F}"/>
              </a:ext>
            </a:extLst>
          </p:cNvPr>
          <p:cNvSpPr>
            <a:spLocks noGrp="1"/>
          </p:cNvSpPr>
          <p:nvPr>
            <p:ph idx="1"/>
          </p:nvPr>
        </p:nvSpPr>
        <p:spPr>
          <a:xfrm>
            <a:off x="838200" y="1513114"/>
            <a:ext cx="10515600" cy="4979761"/>
          </a:xfrm>
        </p:spPr>
        <p:txBody>
          <a:bodyPr/>
          <a:lstStyle/>
          <a:p>
            <a:r>
              <a:rPr lang="en-CA" sz="1800" dirty="0">
                <a:effectLst/>
                <a:latin typeface="Times New Roman" panose="02020603050405020304" pitchFamily="18" charset="0"/>
                <a:ea typeface="Times New Roman" panose="02020603050405020304" pitchFamily="18" charset="0"/>
              </a:rPr>
              <a:t>The scope of a variable in C is the block or the region in the program where a variable is declared, defined, and used. Outside this region, we cannot access the variable and it is treated as an undeclared identifier.</a:t>
            </a:r>
          </a:p>
          <a:p>
            <a:r>
              <a:rPr lang="en-CA" sz="1800" b="1" dirty="0">
                <a:effectLst/>
                <a:latin typeface="Times New Roman" panose="02020603050405020304" pitchFamily="18" charset="0"/>
                <a:ea typeface="Times New Roman" panose="02020603050405020304" pitchFamily="18" charset="0"/>
              </a:rPr>
              <a:t>Types of Scope Rules in C</a:t>
            </a:r>
            <a:endParaRPr lang="en-CA" sz="1800" dirty="0">
              <a:effectLst/>
              <a:latin typeface="Times New Roman" panose="02020603050405020304" pitchFamily="18" charset="0"/>
              <a:ea typeface="Times New Roman" panose="02020603050405020304" pitchFamily="18" charset="0"/>
            </a:endParaRPr>
          </a:p>
          <a:p>
            <a:r>
              <a:rPr lang="en-CA" sz="1800" dirty="0">
                <a:effectLst/>
                <a:latin typeface="Times New Roman" panose="02020603050405020304" pitchFamily="18" charset="0"/>
                <a:ea typeface="Times New Roman" panose="02020603050405020304" pitchFamily="18" charset="0"/>
              </a:rPr>
              <a:t>C scope rules can be covered under the following two categories:</a:t>
            </a:r>
          </a:p>
          <a:p>
            <a:pPr marL="342900" lvl="0" indent="-342900">
              <a:tabLst>
                <a:tab pos="457200" algn="l"/>
              </a:tabLst>
            </a:pPr>
            <a:r>
              <a:rPr lang="en-CA" sz="1800" b="1" dirty="0">
                <a:effectLst/>
                <a:latin typeface="Times New Roman" panose="02020603050405020304" pitchFamily="18" charset="0"/>
                <a:ea typeface="Times New Roman" panose="02020603050405020304" pitchFamily="18" charset="0"/>
              </a:rPr>
              <a:t>Global Scope</a:t>
            </a:r>
            <a:endParaRPr lang="en-CA" sz="1800" dirty="0">
              <a:effectLst/>
              <a:latin typeface="Times New Roman" panose="02020603050405020304" pitchFamily="18" charset="0"/>
              <a:ea typeface="Times New Roman" panose="02020603050405020304" pitchFamily="18" charset="0"/>
            </a:endParaRPr>
          </a:p>
          <a:p>
            <a:r>
              <a:rPr lang="en-CA" sz="1800" dirty="0">
                <a:effectLst/>
                <a:latin typeface="Times New Roman" panose="02020603050405020304" pitchFamily="18" charset="0"/>
                <a:ea typeface="Times New Roman" panose="02020603050405020304" pitchFamily="18" charset="0"/>
              </a:rPr>
              <a:t>The global scope refers to the region outside any block or function.</a:t>
            </a:r>
          </a:p>
          <a:p>
            <a:r>
              <a:rPr lang="en-CA" sz="1800" dirty="0">
                <a:effectLst/>
                <a:latin typeface="Times New Roman" panose="02020603050405020304" pitchFamily="18" charset="0"/>
                <a:ea typeface="Times New Roman" panose="02020603050405020304" pitchFamily="18" charset="0"/>
              </a:rPr>
              <a:t> The variables declared in the global scope are called global variables.</a:t>
            </a:r>
          </a:p>
          <a:p>
            <a:r>
              <a:rPr lang="en-CA" sz="1800" dirty="0">
                <a:effectLst/>
                <a:latin typeface="Times New Roman" panose="02020603050405020304" pitchFamily="18" charset="0"/>
                <a:ea typeface="Times New Roman" panose="02020603050405020304" pitchFamily="18" charset="0"/>
              </a:rPr>
              <a:t> Global variables are visible in every part of the program.</a:t>
            </a:r>
          </a:p>
          <a:p>
            <a:r>
              <a:rPr lang="en-CA" sz="1800" dirty="0">
                <a:effectLst/>
                <a:latin typeface="Times New Roman" panose="02020603050405020304" pitchFamily="18" charset="0"/>
                <a:ea typeface="Times New Roman" panose="02020603050405020304" pitchFamily="18" charset="0"/>
              </a:rPr>
              <a:t>  Global is also called File Scope as the scope of an identifier starts at the beginning of the file and ends at the end of the file.</a:t>
            </a:r>
          </a:p>
          <a:p>
            <a:endParaRPr lang="en-CA" dirty="0"/>
          </a:p>
        </p:txBody>
      </p:sp>
      <p:sp>
        <p:nvSpPr>
          <p:cNvPr id="4" name="Footer Placeholder 3">
            <a:extLst>
              <a:ext uri="{FF2B5EF4-FFF2-40B4-BE49-F238E27FC236}">
                <a16:creationId xmlns:a16="http://schemas.microsoft.com/office/drawing/2014/main" id="{840E8020-790A-79BB-FC0F-C4EE2F8170B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031155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40DF2C-229F-550C-603A-A7D052A18C8B}"/>
              </a:ext>
            </a:extLst>
          </p:cNvPr>
          <p:cNvSpPr>
            <a:spLocks noGrp="1"/>
          </p:cNvSpPr>
          <p:nvPr>
            <p:ph idx="1"/>
          </p:nvPr>
        </p:nvSpPr>
        <p:spPr>
          <a:xfrm>
            <a:off x="838200" y="762000"/>
            <a:ext cx="10515600" cy="5414963"/>
          </a:xfrm>
        </p:spPr>
        <p:txBody>
          <a:bodyPr/>
          <a:lstStyle/>
          <a:p>
            <a:pPr marL="342900" lvl="0" indent="-342900">
              <a:buFont typeface="+mj-lt"/>
              <a:buAutoNum type="arabicPeriod" startAt="2"/>
              <a:tabLst>
                <a:tab pos="457200" algn="l"/>
              </a:tabLst>
            </a:pPr>
            <a:r>
              <a:rPr lang="en-CA" sz="1800" b="1" dirty="0">
                <a:effectLst/>
                <a:latin typeface="Times New Roman" panose="02020603050405020304" pitchFamily="18" charset="0"/>
                <a:ea typeface="Times New Roman" panose="02020603050405020304" pitchFamily="18" charset="0"/>
              </a:rPr>
              <a:t>Local Scope</a:t>
            </a:r>
            <a:endParaRPr lang="en-CA" sz="1800" dirty="0">
              <a:effectLst/>
              <a:latin typeface="Times New Roman" panose="02020603050405020304" pitchFamily="18" charset="0"/>
              <a:ea typeface="Times New Roman" panose="02020603050405020304" pitchFamily="18" charset="0"/>
            </a:endParaRPr>
          </a:p>
          <a:p>
            <a:r>
              <a:rPr lang="en-CA" sz="1800" dirty="0">
                <a:effectLst/>
                <a:latin typeface="Times New Roman" panose="02020603050405020304" pitchFamily="18" charset="0"/>
                <a:ea typeface="Times New Roman" panose="02020603050405020304" pitchFamily="18" charset="0"/>
              </a:rPr>
              <a:t>The local scope refers to the region inside a block or a function. It is the space enclosed between the { } braces.</a:t>
            </a:r>
          </a:p>
          <a:p>
            <a:r>
              <a:rPr lang="en-CA" sz="1800" dirty="0">
                <a:effectLst/>
                <a:latin typeface="Times New Roman" panose="02020603050405020304" pitchFamily="18" charset="0"/>
                <a:ea typeface="Times New Roman" panose="02020603050405020304" pitchFamily="18" charset="0"/>
              </a:rPr>
              <a:t> The variables declared within the local scope are called local variables.</a:t>
            </a:r>
          </a:p>
          <a:p>
            <a:r>
              <a:rPr lang="en-CA" sz="1800" dirty="0">
                <a:effectLst/>
                <a:latin typeface="Times New Roman" panose="02020603050405020304" pitchFamily="18" charset="0"/>
                <a:ea typeface="Times New Roman" panose="02020603050405020304" pitchFamily="18" charset="0"/>
              </a:rPr>
              <a:t>  Local variables are visible in the block they are declared in and other blocks nested inside that block.</a:t>
            </a:r>
          </a:p>
          <a:p>
            <a:r>
              <a:rPr lang="en-CA" sz="1800" dirty="0">
                <a:effectLst/>
                <a:latin typeface="Times New Roman" panose="02020603050405020304" pitchFamily="18" charset="0"/>
                <a:ea typeface="Times New Roman" panose="02020603050405020304" pitchFamily="18" charset="0"/>
              </a:rPr>
              <a:t>  Local scope is also called Block scope.</a:t>
            </a:r>
          </a:p>
          <a:p>
            <a:r>
              <a:rPr lang="en-CA" sz="1800" dirty="0">
                <a:effectLst/>
                <a:latin typeface="Times New Roman" panose="02020603050405020304" pitchFamily="18" charset="0"/>
                <a:ea typeface="Times New Roman" panose="02020603050405020304" pitchFamily="18" charset="0"/>
              </a:rPr>
              <a:t>  Local variables have internal linkage.</a:t>
            </a:r>
          </a:p>
          <a:p>
            <a:pPr marL="0" indent="0">
              <a:buNone/>
            </a:pPr>
            <a:endParaRPr lang="en-CA" dirty="0"/>
          </a:p>
        </p:txBody>
      </p:sp>
      <p:sp>
        <p:nvSpPr>
          <p:cNvPr id="2" name="Footer Placeholder 1">
            <a:extLst>
              <a:ext uri="{FF2B5EF4-FFF2-40B4-BE49-F238E27FC236}">
                <a16:creationId xmlns:a16="http://schemas.microsoft.com/office/drawing/2014/main" id="{3EF6950F-07EB-2D7C-2639-C78C589057B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2682471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15BE7-DAE3-40F6-674A-51554D4DEC97}"/>
              </a:ext>
            </a:extLst>
          </p:cNvPr>
          <p:cNvSpPr>
            <a:spLocks noGrp="1"/>
          </p:cNvSpPr>
          <p:nvPr>
            <p:ph type="title"/>
          </p:nvPr>
        </p:nvSpPr>
        <p:spPr/>
        <p:txBody>
          <a:bodyPr/>
          <a:lstStyle/>
          <a:p>
            <a:pPr algn="ctr"/>
            <a:r>
              <a:rPr lang="en-CA" dirty="0"/>
              <a:t>Data Types in C</a:t>
            </a:r>
          </a:p>
        </p:txBody>
      </p:sp>
      <p:graphicFrame>
        <p:nvGraphicFramePr>
          <p:cNvPr id="4" name="Content Placeholder 3">
            <a:extLst>
              <a:ext uri="{FF2B5EF4-FFF2-40B4-BE49-F238E27FC236}">
                <a16:creationId xmlns:a16="http://schemas.microsoft.com/office/drawing/2014/main" id="{7898E541-ABAD-124B-A547-1EE1C12D341F}"/>
              </a:ext>
            </a:extLst>
          </p:cNvPr>
          <p:cNvGraphicFramePr>
            <a:graphicFrameLocks noGrp="1"/>
          </p:cNvGraphicFramePr>
          <p:nvPr>
            <p:ph idx="1"/>
            <p:extLst>
              <p:ext uri="{D42A27DB-BD31-4B8C-83A1-F6EECF244321}">
                <p14:modId xmlns:p14="http://schemas.microsoft.com/office/powerpoint/2010/main" val="649225627"/>
              </p:ext>
            </p:extLst>
          </p:nvPr>
        </p:nvGraphicFramePr>
        <p:xfrm>
          <a:off x="925285" y="1690688"/>
          <a:ext cx="5040086" cy="4548553"/>
        </p:xfrm>
        <a:graphic>
          <a:graphicData uri="http://schemas.openxmlformats.org/drawingml/2006/table">
            <a:tbl>
              <a:tblPr firstRow="1" firstCol="1" bandRow="1">
                <a:tableStyleId>{5C22544A-7EE6-4342-B048-85BDC9FD1C3A}</a:tableStyleId>
              </a:tblPr>
              <a:tblGrid>
                <a:gridCol w="2520043">
                  <a:extLst>
                    <a:ext uri="{9D8B030D-6E8A-4147-A177-3AD203B41FA5}">
                      <a16:colId xmlns:a16="http://schemas.microsoft.com/office/drawing/2014/main" val="3187621767"/>
                    </a:ext>
                  </a:extLst>
                </a:gridCol>
                <a:gridCol w="2520043">
                  <a:extLst>
                    <a:ext uri="{9D8B030D-6E8A-4147-A177-3AD203B41FA5}">
                      <a16:colId xmlns:a16="http://schemas.microsoft.com/office/drawing/2014/main" val="590621993"/>
                    </a:ext>
                  </a:extLst>
                </a:gridCol>
              </a:tblGrid>
              <a:tr h="393102">
                <a:tc>
                  <a:txBody>
                    <a:bodyPr/>
                    <a:lstStyle/>
                    <a:p>
                      <a:pPr>
                        <a:lnSpc>
                          <a:spcPct val="107000"/>
                        </a:lnSpc>
                        <a:spcAft>
                          <a:spcPts val="800"/>
                        </a:spcAft>
                      </a:pPr>
                      <a:r>
                        <a:rPr lang="en-CA" sz="1800" kern="100" dirty="0">
                          <a:effectLst/>
                        </a:rPr>
                        <a:t>Types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1800" kern="100">
                          <a:effectLst/>
                        </a:rPr>
                        <a:t>Description</a:t>
                      </a:r>
                      <a:endParaRPr lang="en-CA"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6267008"/>
                  </a:ext>
                </a:extLst>
              </a:tr>
              <a:tr h="1540012">
                <a:tc>
                  <a:txBody>
                    <a:bodyPr/>
                    <a:lstStyle/>
                    <a:p>
                      <a:pPr>
                        <a:lnSpc>
                          <a:spcPct val="107000"/>
                        </a:lnSpc>
                        <a:spcAft>
                          <a:spcPts val="800"/>
                        </a:spcAft>
                      </a:pPr>
                      <a:r>
                        <a:rPr lang="en-CA" sz="1800" kern="100" dirty="0">
                          <a:effectLst/>
                        </a:rPr>
                        <a:t>Primitive Data Types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1800" kern="100">
                          <a:effectLst/>
                        </a:rPr>
                        <a:t>Primitive data types are the most basic data types that are used for representing simple values such as integers, float, characters, etc.</a:t>
                      </a:r>
                      <a:endParaRPr lang="en-CA"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3320967"/>
                  </a:ext>
                </a:extLst>
              </a:tr>
              <a:tr h="761417">
                <a:tc>
                  <a:txBody>
                    <a:bodyPr/>
                    <a:lstStyle/>
                    <a:p>
                      <a:pPr>
                        <a:lnSpc>
                          <a:spcPct val="107000"/>
                        </a:lnSpc>
                        <a:spcAft>
                          <a:spcPts val="800"/>
                        </a:spcAft>
                      </a:pPr>
                      <a:r>
                        <a:rPr lang="en-CA" sz="1800" kern="100">
                          <a:effectLst/>
                        </a:rPr>
                        <a:t>User Defined Data Types</a:t>
                      </a:r>
                      <a:endParaRPr lang="en-CA"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1800" kern="100">
                          <a:effectLst/>
                        </a:rPr>
                        <a:t>The user-defined data types are defined by the user himself.</a:t>
                      </a:r>
                      <a:endParaRPr lang="en-CA"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3213949"/>
                  </a:ext>
                </a:extLst>
              </a:tr>
              <a:tr h="1540012">
                <a:tc>
                  <a:txBody>
                    <a:bodyPr/>
                    <a:lstStyle/>
                    <a:p>
                      <a:pPr>
                        <a:lnSpc>
                          <a:spcPct val="107000"/>
                        </a:lnSpc>
                        <a:spcAft>
                          <a:spcPts val="800"/>
                        </a:spcAft>
                      </a:pPr>
                      <a:r>
                        <a:rPr lang="en-CA" sz="1800" kern="100">
                          <a:effectLst/>
                        </a:rPr>
                        <a:t>Derived Types</a:t>
                      </a:r>
                      <a:endParaRPr lang="en-CA"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1800" kern="100" dirty="0">
                          <a:effectLst/>
                        </a:rPr>
                        <a:t>The data types that are derived from the primitive or built-in datatypes are referred to as Derived Data Types.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2424606"/>
                  </a:ext>
                </a:extLst>
              </a:tr>
            </a:tbl>
          </a:graphicData>
        </a:graphic>
      </p:graphicFrame>
      <p:pic>
        <p:nvPicPr>
          <p:cNvPr id="5" name="Picture 4" descr="Data Types in C">
            <a:extLst>
              <a:ext uri="{FF2B5EF4-FFF2-40B4-BE49-F238E27FC236}">
                <a16:creationId xmlns:a16="http://schemas.microsoft.com/office/drawing/2014/main" id="{72A267C2-5198-D8B4-7B35-6691800C2A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11698" y="1985417"/>
            <a:ext cx="4918302" cy="3860212"/>
          </a:xfrm>
          <a:prstGeom prst="rect">
            <a:avLst/>
          </a:prstGeom>
          <a:noFill/>
          <a:ln>
            <a:noFill/>
          </a:ln>
        </p:spPr>
      </p:pic>
      <p:sp>
        <p:nvSpPr>
          <p:cNvPr id="3" name="Footer Placeholder 2">
            <a:extLst>
              <a:ext uri="{FF2B5EF4-FFF2-40B4-BE49-F238E27FC236}">
                <a16:creationId xmlns:a16="http://schemas.microsoft.com/office/drawing/2014/main" id="{4E1224EE-0731-2DF4-C9EB-0A4AB7053E7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918662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19EA1-1CC1-A243-8C63-B004B056489B}"/>
              </a:ext>
            </a:extLst>
          </p:cNvPr>
          <p:cNvSpPr>
            <a:spLocks noGrp="1"/>
          </p:cNvSpPr>
          <p:nvPr>
            <p:ph type="title"/>
          </p:nvPr>
        </p:nvSpPr>
        <p:spPr/>
        <p:txBody>
          <a:bodyPr/>
          <a:lstStyle/>
          <a:p>
            <a:pPr algn="ctr"/>
            <a:r>
              <a:rPr lang="en-CA" dirty="0"/>
              <a:t>Integer Data Type</a:t>
            </a:r>
          </a:p>
        </p:txBody>
      </p:sp>
      <p:sp>
        <p:nvSpPr>
          <p:cNvPr id="3" name="Content Placeholder 2">
            <a:extLst>
              <a:ext uri="{FF2B5EF4-FFF2-40B4-BE49-F238E27FC236}">
                <a16:creationId xmlns:a16="http://schemas.microsoft.com/office/drawing/2014/main" id="{08B3B644-DA98-D48B-D75D-81B263D2CE6C}"/>
              </a:ext>
            </a:extLst>
          </p:cNvPr>
          <p:cNvSpPr>
            <a:spLocks noGrp="1"/>
          </p:cNvSpPr>
          <p:nvPr>
            <p:ph idx="1"/>
          </p:nvPr>
        </p:nvSpPr>
        <p:spPr/>
        <p:txBody>
          <a:bodyPr/>
          <a:lstStyle/>
          <a:p>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integer datatype in C is used to store the integer numbers(any number including positive, negative and zero without decimal part). Octal values, hexadecimal values, and decimal values can be stored in int data type in C.</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int</a:t>
            </a:r>
            <a:r>
              <a:rPr lang="en-CA" sz="1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i="1" kern="100" dirty="0" err="1">
                <a:effectLst/>
                <a:latin typeface="Times New Roman" panose="02020603050405020304" pitchFamily="18" charset="0"/>
                <a:ea typeface="Calibri" panose="020F0502020204030204" pitchFamily="34" charset="0"/>
                <a:cs typeface="Times New Roman" panose="02020603050405020304" pitchFamily="18" charset="0"/>
              </a:rPr>
              <a:t>var_name</a:t>
            </a:r>
            <a:r>
              <a:rPr lang="en-CA" sz="1800" i="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integer data type can also be used as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2"/>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unsigned int: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Unsigned int data type in C is used to store the data values from zero to positive numbers but it can’t store negative values like signed int.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2"/>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short int: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It is lesser in size than the int by 2 bytes so can only store values from -32,768 to 32,767.</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2"/>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long int: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Larger version of the int datatype so can store values greater than int.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2"/>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unsigned short int: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Similar in relationship with short int as unsigned int with int.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CA" dirty="0"/>
          </a:p>
        </p:txBody>
      </p:sp>
      <p:sp>
        <p:nvSpPr>
          <p:cNvPr id="4" name="Footer Placeholder 3">
            <a:extLst>
              <a:ext uri="{FF2B5EF4-FFF2-40B4-BE49-F238E27FC236}">
                <a16:creationId xmlns:a16="http://schemas.microsoft.com/office/drawing/2014/main" id="{3D61E5A3-3240-F389-3463-8C052520D26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07311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503FE8-BE58-EC5D-3C70-B8E82B77FD42}"/>
              </a:ext>
            </a:extLst>
          </p:cNvPr>
          <p:cNvSpPr txBox="1"/>
          <p:nvPr/>
        </p:nvSpPr>
        <p:spPr>
          <a:xfrm>
            <a:off x="936171" y="848229"/>
            <a:ext cx="4659086" cy="5161541"/>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program to print Integer data types.</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Integer value with positive data.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a = 9;</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integer value with negative data.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b = -9;</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U or u is Used for Unsigned int in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c = 89U;</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L or l is used for long int in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long int d = 99998L;</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822EE01-6E53-FD05-4546-4158553E3367}"/>
              </a:ext>
            </a:extLst>
          </p:cNvPr>
          <p:cNvSpPr txBox="1"/>
          <p:nvPr/>
        </p:nvSpPr>
        <p:spPr>
          <a:xfrm>
            <a:off x="5595257" y="953271"/>
            <a:ext cx="6400800" cy="4363630"/>
          </a:xfrm>
          <a:prstGeom prst="rect">
            <a:avLst/>
          </a:prstGeom>
          <a:noFill/>
        </p:spPr>
        <p:txBody>
          <a:bodyPr wrap="square">
            <a:spAutoFit/>
          </a:bodyPr>
          <a:lstStyle/>
          <a:p>
            <a:pPr>
              <a:lnSpc>
                <a:spcPct val="107000"/>
              </a:lnSpc>
              <a:spcAft>
                <a:spcPts val="800"/>
              </a:spcAf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positive data: %d\n",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negative data: %d\n", b);</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an unsigned int data: %u\n",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an long int data: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ld</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positive data: 9</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negative data: -9</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an unsigned int data: 89</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 value with an long int data: 99998</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44F41A26-3635-9171-1B16-04636091DD22}"/>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6959744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E0856-623A-5D2E-2E5A-4DC98717107F}"/>
              </a:ext>
            </a:extLst>
          </p:cNvPr>
          <p:cNvSpPr>
            <a:spLocks noGrp="1"/>
          </p:cNvSpPr>
          <p:nvPr>
            <p:ph type="title"/>
          </p:nvPr>
        </p:nvSpPr>
        <p:spPr/>
        <p:txBody>
          <a:bodyPr/>
          <a:lstStyle/>
          <a:p>
            <a:r>
              <a:rPr lang="en-CA" dirty="0"/>
              <a:t>Character Data Type</a:t>
            </a:r>
          </a:p>
        </p:txBody>
      </p:sp>
      <p:sp>
        <p:nvSpPr>
          <p:cNvPr id="3" name="Content Placeholder 2">
            <a:extLst>
              <a:ext uri="{FF2B5EF4-FFF2-40B4-BE49-F238E27FC236}">
                <a16:creationId xmlns:a16="http://schemas.microsoft.com/office/drawing/2014/main" id="{7471622A-695B-17AF-7C9E-636FABB85B29}"/>
              </a:ext>
            </a:extLst>
          </p:cNvPr>
          <p:cNvSpPr>
            <a:spLocks noGrp="1"/>
          </p:cNvSpPr>
          <p:nvPr>
            <p:ph idx="1"/>
          </p:nvPr>
        </p:nvSpPr>
        <p:spPr/>
        <p:txBody>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Character data type allows its variable to store only a single character. The size of the character is 1 byte. It is the most basic data type in C. It stores a single character and requires a single byte of memory in almost all compilers.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Range: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(-128 to 127) or (0 to 255)</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Size: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1 byte</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Format Specifier: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a:t>
            </a:r>
          </a:p>
          <a:p>
            <a:pPr marL="342900" indent="-342900">
              <a:lnSpc>
                <a:spcPct val="107000"/>
              </a:lnSpc>
              <a:spcAft>
                <a:spcPts val="800"/>
              </a:spcAft>
              <a:buSzPts val="1000"/>
              <a:buFont typeface="Symbol" panose="05050102010706020507" pitchFamily="18" charset="2"/>
              <a:buChar char=""/>
              <a:tabLst>
                <a:tab pos="457200" algn="l"/>
              </a:tabLs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char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var_name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70F57779-2C60-64F7-A1C9-CB720A000164}"/>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9794120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0EF73E-9508-F867-ADEC-DF4934BF4023}"/>
              </a:ext>
            </a:extLst>
          </p:cNvPr>
          <p:cNvSpPr txBox="1"/>
          <p:nvPr/>
        </p:nvSpPr>
        <p:spPr>
          <a:xfrm>
            <a:off x="609600" y="971226"/>
            <a:ext cx="5486400" cy="3565720"/>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program to print Integer data types.</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char a =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char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("Value of a: %c\n",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("Value of a after increment is: %c\n",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23575BE-1497-4B4A-43FF-BED7D945CBB6}"/>
              </a:ext>
            </a:extLst>
          </p:cNvPr>
          <p:cNvSpPr txBox="1"/>
          <p:nvPr/>
        </p:nvSpPr>
        <p:spPr>
          <a:xfrm>
            <a:off x="6193971" y="717601"/>
            <a:ext cx="6096000" cy="5161541"/>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is assigned ASCII values</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which corresponds to the</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character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a--&gt;97 b--&gt;98 c--&gt;99</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here c will be printed</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 99;</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("Value of c: %c",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Output: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Value of a: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Value of a after increment is: b</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Value of c: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EA12586C-6479-DFAD-F4D7-C888762F8F76}"/>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941076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BFC47-8F03-1B53-CC55-E7A9DE913309}"/>
              </a:ext>
            </a:extLst>
          </p:cNvPr>
          <p:cNvSpPr>
            <a:spLocks noGrp="1"/>
          </p:cNvSpPr>
          <p:nvPr>
            <p:ph type="title"/>
          </p:nvPr>
        </p:nvSpPr>
        <p:spPr/>
        <p:txBody>
          <a:bodyPr/>
          <a:lstStyle/>
          <a:p>
            <a:pPr algn="ctr"/>
            <a:r>
              <a:rPr lang="en-CA" dirty="0"/>
              <a:t>Float Data Type </a:t>
            </a:r>
          </a:p>
        </p:txBody>
      </p:sp>
      <p:sp>
        <p:nvSpPr>
          <p:cNvPr id="3" name="Content Placeholder 2">
            <a:extLst>
              <a:ext uri="{FF2B5EF4-FFF2-40B4-BE49-F238E27FC236}">
                <a16:creationId xmlns:a16="http://schemas.microsoft.com/office/drawing/2014/main" id="{04AE4AFC-CA81-740D-0EC1-124E5D703E68}"/>
              </a:ext>
            </a:extLst>
          </p:cNvPr>
          <p:cNvSpPr>
            <a:spLocks noGrp="1"/>
          </p:cNvSpPr>
          <p:nvPr>
            <p:ph idx="1"/>
          </p:nvPr>
        </p:nvSpPr>
        <p:spPr/>
        <p:txBody>
          <a:bodyPr/>
          <a:lstStyle/>
          <a:p>
            <a:pPr>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Float Data Type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is used to store floating-point values. Float in C is used to store decimal and exponential values. It is used to store decimal numbers (numbers with floating point values) with single precision.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Range: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1.2E-38 to 3.4E+38</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Size: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4 bytes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Format Specifier: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%f</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float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var_name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CA" dirty="0"/>
          </a:p>
        </p:txBody>
      </p:sp>
      <p:sp>
        <p:nvSpPr>
          <p:cNvPr id="4" name="Footer Placeholder 3">
            <a:extLst>
              <a:ext uri="{FF2B5EF4-FFF2-40B4-BE49-F238E27FC236}">
                <a16:creationId xmlns:a16="http://schemas.microsoft.com/office/drawing/2014/main" id="{525927CD-5491-6F39-1845-54C73DEE663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319569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529C0A-45CA-A3D3-6102-C5F4D1E67395}"/>
              </a:ext>
            </a:extLst>
          </p:cNvPr>
          <p:cNvSpPr>
            <a:spLocks noGrp="1"/>
          </p:cNvSpPr>
          <p:nvPr>
            <p:ph idx="1"/>
          </p:nvPr>
        </p:nvSpPr>
        <p:spPr>
          <a:xfrm>
            <a:off x="3135085" y="435429"/>
            <a:ext cx="5257800" cy="5719763"/>
          </a:xfrm>
        </p:spPr>
        <p:txBody>
          <a:bodyPr>
            <a:normAutofit fontScale="62500" lnSpcReduction="20000"/>
          </a:bodyPr>
          <a:lstStyle/>
          <a:p>
            <a:pPr marL="0" indent="0">
              <a:buNone/>
            </a:pPr>
            <a:r>
              <a:rPr lang="en-CA" dirty="0"/>
              <a:t>// C Program to demonstrate use</a:t>
            </a:r>
          </a:p>
          <a:p>
            <a:pPr marL="0" indent="0">
              <a:buNone/>
            </a:pPr>
            <a:r>
              <a:rPr lang="en-CA" dirty="0"/>
              <a:t>// of Floating types</a:t>
            </a:r>
          </a:p>
          <a:p>
            <a:pPr marL="0" indent="0">
              <a:buNone/>
            </a:pPr>
            <a:r>
              <a:rPr lang="en-CA" dirty="0"/>
              <a:t>#include &lt;</a:t>
            </a:r>
            <a:r>
              <a:rPr lang="en-CA" dirty="0" err="1"/>
              <a:t>stdio.h</a:t>
            </a:r>
            <a:r>
              <a:rPr lang="en-CA" dirty="0"/>
              <a:t>&gt;</a:t>
            </a:r>
          </a:p>
          <a:p>
            <a:pPr marL="0" indent="0">
              <a:buNone/>
            </a:pPr>
            <a:r>
              <a:rPr lang="en-CA" dirty="0"/>
              <a:t>int main()</a:t>
            </a:r>
          </a:p>
          <a:p>
            <a:pPr marL="0" indent="0">
              <a:buNone/>
            </a:pPr>
            <a:r>
              <a:rPr lang="en-CA" dirty="0"/>
              <a:t>{</a:t>
            </a:r>
          </a:p>
          <a:p>
            <a:pPr marL="0" indent="0">
              <a:buNone/>
            </a:pPr>
            <a:r>
              <a:rPr lang="en-CA" dirty="0"/>
              <a:t>	float a = 9.0f;</a:t>
            </a:r>
          </a:p>
          <a:p>
            <a:pPr marL="0" indent="0">
              <a:buNone/>
            </a:pPr>
            <a:r>
              <a:rPr lang="en-CA" dirty="0"/>
              <a:t>	float b = 2.5f;</a:t>
            </a:r>
          </a:p>
          <a:p>
            <a:pPr marL="0" indent="0">
              <a:buNone/>
            </a:pPr>
            <a:r>
              <a:rPr lang="en-CA" dirty="0"/>
              <a:t>	// 2x10^-4</a:t>
            </a:r>
          </a:p>
          <a:p>
            <a:pPr marL="0" indent="0">
              <a:buNone/>
            </a:pPr>
            <a:r>
              <a:rPr lang="en-CA" dirty="0"/>
              <a:t>	float c = 2E-4f;</a:t>
            </a:r>
          </a:p>
          <a:p>
            <a:pPr marL="0" indent="0">
              <a:buNone/>
            </a:pPr>
            <a:r>
              <a:rPr lang="en-CA" dirty="0"/>
              <a:t>	</a:t>
            </a:r>
            <a:r>
              <a:rPr lang="en-CA" dirty="0" err="1"/>
              <a:t>printf</a:t>
            </a:r>
            <a:r>
              <a:rPr lang="en-CA" dirty="0"/>
              <a:t>("%f\n", a);</a:t>
            </a:r>
          </a:p>
          <a:p>
            <a:pPr marL="0" indent="0">
              <a:buNone/>
            </a:pPr>
            <a:r>
              <a:rPr lang="en-CA" dirty="0"/>
              <a:t>	</a:t>
            </a:r>
            <a:r>
              <a:rPr lang="en-CA" dirty="0" err="1"/>
              <a:t>printf</a:t>
            </a:r>
            <a:r>
              <a:rPr lang="en-CA" dirty="0"/>
              <a:t>("%f\n", b);</a:t>
            </a:r>
          </a:p>
          <a:p>
            <a:pPr marL="0" indent="0">
              <a:buNone/>
            </a:pPr>
            <a:r>
              <a:rPr lang="en-CA" dirty="0"/>
              <a:t>	</a:t>
            </a:r>
            <a:r>
              <a:rPr lang="en-CA" dirty="0" err="1"/>
              <a:t>printf</a:t>
            </a:r>
            <a:r>
              <a:rPr lang="en-CA" dirty="0"/>
              <a:t>("%f", c);</a:t>
            </a:r>
          </a:p>
          <a:p>
            <a:pPr marL="0" indent="0">
              <a:buNone/>
            </a:pPr>
            <a:r>
              <a:rPr lang="en-CA" dirty="0"/>
              <a:t>	return 0;</a:t>
            </a:r>
          </a:p>
          <a:p>
            <a:pPr marL="0" indent="0">
              <a:buNone/>
            </a:pPr>
            <a:r>
              <a:rPr lang="en-CA" dirty="0"/>
              <a:t>}</a:t>
            </a:r>
          </a:p>
          <a:p>
            <a:pPr marL="0" indent="0">
              <a:buNone/>
            </a:pPr>
            <a:r>
              <a:rPr lang="en-CA" dirty="0"/>
              <a:t>9.000000</a:t>
            </a:r>
          </a:p>
          <a:p>
            <a:pPr marL="0" indent="0">
              <a:buNone/>
            </a:pPr>
            <a:r>
              <a:rPr lang="en-CA" dirty="0"/>
              <a:t>2.500000</a:t>
            </a:r>
          </a:p>
          <a:p>
            <a:pPr marL="0" indent="0">
              <a:buNone/>
            </a:pPr>
            <a:r>
              <a:rPr lang="en-CA" dirty="0"/>
              <a:t>0.000200</a:t>
            </a:r>
          </a:p>
          <a:p>
            <a:endParaRPr lang="en-CA" dirty="0"/>
          </a:p>
        </p:txBody>
      </p:sp>
      <p:sp>
        <p:nvSpPr>
          <p:cNvPr id="2" name="Footer Placeholder 1">
            <a:extLst>
              <a:ext uri="{FF2B5EF4-FFF2-40B4-BE49-F238E27FC236}">
                <a16:creationId xmlns:a16="http://schemas.microsoft.com/office/drawing/2014/main" id="{5DBC5067-AAA5-2B22-CCE7-BF2D78EE024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731830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C9717-D67F-6B1E-D921-4FFC152F245E}"/>
              </a:ext>
            </a:extLst>
          </p:cNvPr>
          <p:cNvSpPr>
            <a:spLocks noGrp="1"/>
          </p:cNvSpPr>
          <p:nvPr>
            <p:ph type="title"/>
          </p:nvPr>
        </p:nvSpPr>
        <p:spPr/>
        <p:txBody>
          <a:bodyPr/>
          <a:lstStyle/>
          <a:p>
            <a:pPr algn="ctr"/>
            <a:r>
              <a:rPr lang="en-CA" dirty="0"/>
              <a:t>Double Data Type </a:t>
            </a:r>
          </a:p>
        </p:txBody>
      </p:sp>
      <p:sp>
        <p:nvSpPr>
          <p:cNvPr id="3" name="Content Placeholder 2">
            <a:extLst>
              <a:ext uri="{FF2B5EF4-FFF2-40B4-BE49-F238E27FC236}">
                <a16:creationId xmlns:a16="http://schemas.microsoft.com/office/drawing/2014/main" id="{DA781F1D-3F4D-889F-DFF2-7E09662F9C97}"/>
              </a:ext>
            </a:extLst>
          </p:cNvPr>
          <p:cNvSpPr>
            <a:spLocks noGrp="1"/>
          </p:cNvSpPr>
          <p:nvPr>
            <p:ph idx="1"/>
          </p:nvPr>
        </p:nvSpPr>
        <p:spPr/>
        <p:txBody>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Double Data Type :is used to store decimal numbers (numbers with floating point values) with double precision. It is used to define numeric values which hold numbers with decimal values in C.</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Range: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1.7E-308 to 1.7E+308</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Size: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8 bytes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Format Specifier: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lf</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double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var_name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B819D4E3-EFFC-6C9B-0E80-3E8BCE3D5C1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18739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FCBF8D-5C24-4F43-6707-D602FC1760FD}"/>
              </a:ext>
            </a:extLst>
          </p:cNvPr>
          <p:cNvSpPr txBox="1"/>
          <p:nvPr/>
        </p:nvSpPr>
        <p:spPr>
          <a:xfrm>
            <a:off x="1469572" y="1298481"/>
            <a:ext cx="3897086" cy="4261038"/>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Program to demonstrate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use of double data type</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double a = 123123123.00;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double b = 12.293123;</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double c = 2312312312.123123;</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lf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\n", a);</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lf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\n", b);</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5C911C1A-7F7A-EC73-8327-02750F9F3D5A}"/>
              </a:ext>
            </a:extLst>
          </p:cNvPr>
          <p:cNvSpPr txBox="1"/>
          <p:nvPr/>
        </p:nvSpPr>
        <p:spPr>
          <a:xfrm>
            <a:off x="6531429" y="1482573"/>
            <a:ext cx="3722914" cy="2368854"/>
          </a:xfrm>
          <a:prstGeom prst="rect">
            <a:avLst/>
          </a:prstGeom>
          <a:noFill/>
        </p:spPr>
        <p:txBody>
          <a:bodyPr wrap="square">
            <a:spAutoFit/>
          </a:bodyPr>
          <a:lstStyle/>
          <a:p>
            <a:pPr>
              <a:lnSpc>
                <a:spcPct val="107000"/>
              </a:lnSpc>
              <a:spcAft>
                <a:spcPts val="800"/>
              </a:spcAf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lf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123123123.000000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12.293123</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2312312312.123123</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3069521C-71B4-A70C-2555-C3C512E86F1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608647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C0BB4-180B-1623-C049-C6F24EE0F3FF}"/>
              </a:ext>
            </a:extLst>
          </p:cNvPr>
          <p:cNvSpPr>
            <a:spLocks noGrp="1"/>
          </p:cNvSpPr>
          <p:nvPr>
            <p:ph type="title"/>
          </p:nvPr>
        </p:nvSpPr>
        <p:spPr/>
        <p:txBody>
          <a:bodyPr/>
          <a:lstStyle/>
          <a:p>
            <a:pPr algn="ctr"/>
            <a:r>
              <a:rPr lang="en-CA" sz="4400" kern="100" dirty="0">
                <a:effectLst/>
                <a:latin typeface="Times New Roman" panose="02020603050405020304" pitchFamily="18" charset="0"/>
                <a:ea typeface="Calibri" panose="020F0502020204030204" pitchFamily="34" charset="0"/>
                <a:cs typeface="Times New Roman" panose="02020603050405020304" pitchFamily="18" charset="0"/>
              </a:rPr>
              <a:t>Void Data Type </a:t>
            </a:r>
            <a:br>
              <a:rPr lang="en-CA"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CA" dirty="0"/>
          </a:p>
        </p:txBody>
      </p:sp>
      <p:sp>
        <p:nvSpPr>
          <p:cNvPr id="3" name="Content Placeholder 2">
            <a:extLst>
              <a:ext uri="{FF2B5EF4-FFF2-40B4-BE49-F238E27FC236}">
                <a16:creationId xmlns:a16="http://schemas.microsoft.com/office/drawing/2014/main" id="{EC228AD5-4E82-0EC4-818B-DE1931A19BC7}"/>
              </a:ext>
            </a:extLst>
          </p:cNvPr>
          <p:cNvSpPr>
            <a:spLocks noGrp="1"/>
          </p:cNvSpPr>
          <p:nvPr>
            <p:ph idx="1"/>
          </p:nvPr>
        </p:nvSpPr>
        <p:spPr/>
        <p:txBody>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Void Data Type :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void data type in C is used to specify that no value is present. It does not provide a result value to its caller. It has no values and no operations. </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It is used to represent nothing.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Void is used in multiple ways as function return type, function arguments as void, and pointers to void.</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09355E95-0802-19F5-6FAF-003F00317D67}"/>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5748532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E831-D2D9-ADD9-001B-92B387413AB7}"/>
              </a:ext>
            </a:extLst>
          </p:cNvPr>
          <p:cNvSpPr>
            <a:spLocks noGrp="1"/>
          </p:cNvSpPr>
          <p:nvPr>
            <p:ph type="title"/>
          </p:nvPr>
        </p:nvSpPr>
        <p:spPr/>
        <p:txBody>
          <a:bodyPr/>
          <a:lstStyle/>
          <a:p>
            <a:pPr algn="ctr"/>
            <a:r>
              <a:rPr lang="en-US" dirty="0"/>
              <a:t>Size of Data Types in C</a:t>
            </a:r>
            <a:endParaRPr lang="en-CA" dirty="0"/>
          </a:p>
        </p:txBody>
      </p:sp>
      <p:sp>
        <p:nvSpPr>
          <p:cNvPr id="3" name="Content Placeholder 2">
            <a:extLst>
              <a:ext uri="{FF2B5EF4-FFF2-40B4-BE49-F238E27FC236}">
                <a16:creationId xmlns:a16="http://schemas.microsoft.com/office/drawing/2014/main" id="{147742A2-7AE7-CD84-A617-1B7EC983A7F1}"/>
              </a:ext>
            </a:extLst>
          </p:cNvPr>
          <p:cNvSpPr>
            <a:spLocks noGrp="1"/>
          </p:cNvSpPr>
          <p:nvPr>
            <p:ph idx="1"/>
          </p:nvPr>
        </p:nvSpPr>
        <p:spPr>
          <a:xfrm>
            <a:off x="838200" y="1825625"/>
            <a:ext cx="4495800" cy="4351338"/>
          </a:xfrm>
        </p:spPr>
        <p:txBody>
          <a:bodyPr/>
          <a:lstStyle/>
          <a:p>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the data types in C is dependent on the size of the architecture, so we cannot define the universal size of the data types. For that, the C language provides the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sizeof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operator to check the size of the data types.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5" name="TextBox 4">
            <a:extLst>
              <a:ext uri="{FF2B5EF4-FFF2-40B4-BE49-F238E27FC236}">
                <a16:creationId xmlns:a16="http://schemas.microsoft.com/office/drawing/2014/main" id="{730A4E9B-D299-8728-6E1F-5D70530B6C57}"/>
              </a:ext>
            </a:extLst>
          </p:cNvPr>
          <p:cNvSpPr txBox="1"/>
          <p:nvPr/>
        </p:nvSpPr>
        <p:spPr>
          <a:xfrm>
            <a:off x="5551715" y="1690688"/>
            <a:ext cx="5638799" cy="3565720"/>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Program to print size of</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different data type in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size_of_int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sizeof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sizeof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(char);</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size_of_float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sizeof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(float);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size_of_double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sizeof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(double);</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789DE7D-E610-66D2-6C7F-F840681A5A2B}"/>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4897714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4E448F-0525-4E25-8000-C4EB6D822BC6}"/>
              </a:ext>
            </a:extLst>
          </p:cNvPr>
          <p:cNvSpPr txBox="1"/>
          <p:nvPr/>
        </p:nvSpPr>
        <p:spPr>
          <a:xfrm>
            <a:off x="783771" y="1446663"/>
            <a:ext cx="6074229" cy="3964675"/>
          </a:xfrm>
          <a:prstGeom prst="rect">
            <a:avLst/>
          </a:prstGeom>
          <a:noFill/>
        </p:spPr>
        <p:txBody>
          <a:bodyPr wrap="square">
            <a:spAutoFit/>
          </a:bodyPr>
          <a:lstStyle/>
          <a:p>
            <a:pPr>
              <a:lnSpc>
                <a:spcPct val="107000"/>
              </a:lnSpc>
              <a:spcAft>
                <a:spcPts val="800"/>
              </a:spcAf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int data type : %d\n",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size_of_int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char data type : %d\n",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float data type : %d\n",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size_of_float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double data type : %d",</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size_of_double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8F196574-53E7-C76E-C7AF-05EF37B13B87}"/>
              </a:ext>
            </a:extLst>
          </p:cNvPr>
          <p:cNvSpPr txBox="1"/>
          <p:nvPr/>
        </p:nvSpPr>
        <p:spPr>
          <a:xfrm>
            <a:off x="7184571" y="3840395"/>
            <a:ext cx="3940629" cy="1969898"/>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Output:</a:t>
            </a: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int data type : 4</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char data type : 1</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float data type : 4</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size of double data type : 8</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093AF84A-0DDD-D31F-B8F4-B0C7D157DA2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7004669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53CE7-D106-3FD3-7567-112C134848B5}"/>
              </a:ext>
            </a:extLst>
          </p:cNvPr>
          <p:cNvSpPr>
            <a:spLocks noGrp="1"/>
          </p:cNvSpPr>
          <p:nvPr>
            <p:ph type="title"/>
          </p:nvPr>
        </p:nvSpPr>
        <p:spPr/>
        <p:txBody>
          <a:bodyPr/>
          <a:lstStyle/>
          <a:p>
            <a:pPr algn="ctr"/>
            <a:r>
              <a:rPr lang="en-CA" dirty="0"/>
              <a:t>Type Conversion in C</a:t>
            </a:r>
          </a:p>
        </p:txBody>
      </p:sp>
      <p:sp>
        <p:nvSpPr>
          <p:cNvPr id="3" name="Content Placeholder 2">
            <a:extLst>
              <a:ext uri="{FF2B5EF4-FFF2-40B4-BE49-F238E27FC236}">
                <a16:creationId xmlns:a16="http://schemas.microsoft.com/office/drawing/2014/main" id="{4B7017DF-C172-6E7A-0374-4483357E86DB}"/>
              </a:ext>
            </a:extLst>
          </p:cNvPr>
          <p:cNvSpPr>
            <a:spLocks noGrp="1"/>
          </p:cNvSpPr>
          <p:nvPr>
            <p:ph idx="1"/>
          </p:nvPr>
        </p:nvSpPr>
        <p:spPr>
          <a:xfrm>
            <a:off x="337457" y="1469571"/>
            <a:ext cx="11495313" cy="5023304"/>
          </a:xfrm>
        </p:spPr>
        <p:txBody>
          <a:bodyPr>
            <a:normAutofit/>
          </a:bodyPr>
          <a:lstStyle/>
          <a:p>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Type conversion in C is the process of converting one data type to another. The type conversion is </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only performed to those data types where conversion is possible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Type conversion is performed by a compiler. </a:t>
            </a:r>
          </a:p>
          <a:p>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In type conversion, the destination data type can’t be smaller than the source data type. </a:t>
            </a:r>
          </a:p>
          <a:p>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Type conversion is done at compile time and it is also called widening conversion because the destination data type can’t be smaller than the source data type.</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There are two types of Conversion: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Implicit Type Conversion</a:t>
            </a: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Also known as ‘automatic type conversion’.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Done by the compiler on its own, without any external trigger from the user.</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Generally takes place when in an expression more than one data type is present. In such conditions type conversion (type promotion) takes place to avoid loss of data.</a:t>
            </a:r>
            <a:endParaRPr lang="en-CA"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All the data types of the variables are upgraded to the data type of the variable with the largest data type.</a:t>
            </a:r>
            <a:endParaRPr lang="en-CA"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46F95466-25D6-8F4A-F851-2EAC2BDAC25B}"/>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9058948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9C5B7E7-7778-12D1-3926-8F4482A62D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9006" y="911224"/>
            <a:ext cx="6738543" cy="4791485"/>
          </a:xfrm>
        </p:spPr>
      </p:pic>
      <p:sp>
        <p:nvSpPr>
          <p:cNvPr id="2" name="Footer Placeholder 1">
            <a:extLst>
              <a:ext uri="{FF2B5EF4-FFF2-40B4-BE49-F238E27FC236}">
                <a16:creationId xmlns:a16="http://schemas.microsoft.com/office/drawing/2014/main" id="{07211BFA-C221-8984-A8D4-7B7FF2C1457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4938309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1506B2-51B9-3136-3BC7-E267AC501D07}"/>
              </a:ext>
            </a:extLst>
          </p:cNvPr>
          <p:cNvSpPr txBox="1"/>
          <p:nvPr/>
        </p:nvSpPr>
        <p:spPr>
          <a:xfrm>
            <a:off x="1121229" y="1090969"/>
            <a:ext cx="4724400" cy="3565720"/>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An example of implicit conversion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x = 10; // integer x</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char y = 'a'; // character c</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y implicitly converted to int. ASCII</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value of 'a' is 97</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x = x + y;</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83A0A1B-A7F5-A144-45A1-2FB30F2EAEF1}"/>
              </a:ext>
            </a:extLst>
          </p:cNvPr>
          <p:cNvSpPr txBox="1"/>
          <p:nvPr/>
        </p:nvSpPr>
        <p:spPr>
          <a:xfrm>
            <a:off x="6226628" y="1402839"/>
            <a:ext cx="6096000" cy="2767809"/>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x is implicitly converted to float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float z = x + 1.0;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("x = %d, z = %f", x, z);</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x = 107, z = 108.000000</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5066684C-5516-E430-6244-449348436DC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701664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CEED1BB-17B0-89CB-B65E-934C6285A587}"/>
              </a:ext>
            </a:extLst>
          </p:cNvPr>
          <p:cNvSpPr txBox="1"/>
          <p:nvPr/>
        </p:nvSpPr>
        <p:spPr>
          <a:xfrm>
            <a:off x="745671" y="313105"/>
            <a:ext cx="6585857" cy="6225807"/>
          </a:xfrm>
          <a:prstGeom prst="rect">
            <a:avLst/>
          </a:prstGeom>
          <a:noFill/>
        </p:spPr>
        <p:txBody>
          <a:bodyPr wrap="square">
            <a:spAutoFit/>
          </a:bodyPr>
          <a:lstStyle/>
          <a:p>
            <a:pPr>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Explicit Type Conversion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This process is also called type casting and it is user-defined. Here the user can typecast the result to make it of a particular data type.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syntax in C Programming:</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(type) expression</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program to demonstrate explicit type casting #include&lt;stdio.h&gt;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double x = 1.2;</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Explicit conversion from double to int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int sum = (int)x + 1;</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("sum = %d", sum);</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sum = 2</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2CEBFFCE-5982-EA58-866B-E14C10F6CFF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8434396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5AE8-43C5-7EE7-F855-AB841A5BF185}"/>
              </a:ext>
            </a:extLst>
          </p:cNvPr>
          <p:cNvSpPr>
            <a:spLocks noGrp="1"/>
          </p:cNvSpPr>
          <p:nvPr>
            <p:ph type="title"/>
          </p:nvPr>
        </p:nvSpPr>
        <p:spPr/>
        <p:txBody>
          <a:bodyPr/>
          <a:lstStyle/>
          <a:p>
            <a:pPr algn="ctr"/>
            <a:r>
              <a:rPr lang="en-US" dirty="0"/>
              <a:t>Basic Input and Output in C</a:t>
            </a:r>
            <a:endParaRPr lang="en-CA" dirty="0"/>
          </a:p>
        </p:txBody>
      </p:sp>
      <p:sp>
        <p:nvSpPr>
          <p:cNvPr id="3" name="Content Placeholder 2">
            <a:extLst>
              <a:ext uri="{FF2B5EF4-FFF2-40B4-BE49-F238E27FC236}">
                <a16:creationId xmlns:a16="http://schemas.microsoft.com/office/drawing/2014/main" id="{3810CC1A-6D30-4933-33F2-CA9C95FA95F8}"/>
              </a:ext>
            </a:extLst>
          </p:cNvPr>
          <p:cNvSpPr>
            <a:spLocks noGrp="1"/>
          </p:cNvSpPr>
          <p:nvPr>
            <p:ph idx="1"/>
          </p:nvPr>
        </p:nvSpPr>
        <p:spPr/>
        <p:txBody>
          <a:bodyPr>
            <a:norm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 language has standard libraries that allow input and output in a program. The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or standard input output library in C that has methods for input and output.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scanf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scanf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method, in C, reads the value from the console as per the type specified and store it in the given address.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scanf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("%X", &amp;</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variableOfXType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b="1"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method, in C, prints the value passed as the parameter to it, on the console screen.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("%X",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variableOfXType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4" name="Footer Placeholder 3">
            <a:extLst>
              <a:ext uri="{FF2B5EF4-FFF2-40B4-BE49-F238E27FC236}">
                <a16:creationId xmlns:a16="http://schemas.microsoft.com/office/drawing/2014/main" id="{A99D3872-9BDA-A5A9-7F21-C06A0AD47FF4}"/>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521356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87161C-3022-DE1C-7F88-AB601B2BC7E4}"/>
              </a:ext>
            </a:extLst>
          </p:cNvPr>
          <p:cNvSpPr>
            <a:spLocks noGrp="1"/>
          </p:cNvSpPr>
          <p:nvPr>
            <p:ph idx="1"/>
          </p:nvPr>
        </p:nvSpPr>
        <p:spPr>
          <a:xfrm>
            <a:off x="3467100" y="566057"/>
            <a:ext cx="5257800" cy="5567363"/>
          </a:xfrm>
        </p:spPr>
        <p:txBody>
          <a:bodyPr>
            <a:normAutofit fontScale="92500" lnSpcReduction="20000"/>
          </a:bodyPr>
          <a:lstStyle/>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Integer</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Input: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scanf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("%d", &amp;</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intVariable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("%d",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intVariable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Float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Input: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scanf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("%f", &amp;</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floatVariable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("%f",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floatVariable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Character</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Input: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scanf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 &amp;</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charVariable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("%c",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charVariable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String</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Input: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scanf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("%s",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stringVariable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Output:</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("%s",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stringVariable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
        <p:nvSpPr>
          <p:cNvPr id="2" name="Footer Placeholder 1">
            <a:extLst>
              <a:ext uri="{FF2B5EF4-FFF2-40B4-BE49-F238E27FC236}">
                <a16:creationId xmlns:a16="http://schemas.microsoft.com/office/drawing/2014/main" id="{ABA892DA-D991-2E02-14FF-8E68A88F1500}"/>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4015385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481A6-9353-58D1-C24E-6414F3ADA7CB}"/>
              </a:ext>
            </a:extLst>
          </p:cNvPr>
          <p:cNvSpPr>
            <a:spLocks noGrp="1"/>
          </p:cNvSpPr>
          <p:nvPr>
            <p:ph type="title"/>
          </p:nvPr>
        </p:nvSpPr>
        <p:spPr/>
        <p:txBody>
          <a:bodyPr/>
          <a:lstStyle/>
          <a:p>
            <a:pPr algn="ctr"/>
            <a:r>
              <a:rPr lang="en-US" dirty="0"/>
              <a:t>Formatted and Unformatted Input/Output functions </a:t>
            </a:r>
            <a:endParaRPr lang="en-CA" dirty="0"/>
          </a:p>
        </p:txBody>
      </p:sp>
      <p:sp>
        <p:nvSpPr>
          <p:cNvPr id="3" name="Content Placeholder 2">
            <a:extLst>
              <a:ext uri="{FF2B5EF4-FFF2-40B4-BE49-F238E27FC236}">
                <a16:creationId xmlns:a16="http://schemas.microsoft.com/office/drawing/2014/main" id="{CAAC8165-9077-C1D1-A5ED-B91B5745B1CB}"/>
              </a:ext>
            </a:extLst>
          </p:cNvPr>
          <p:cNvSpPr>
            <a:spLocks noGrp="1"/>
          </p:cNvSpPr>
          <p:nvPr>
            <p:ph idx="1"/>
          </p:nvPr>
        </p:nvSpPr>
        <p:spPr/>
        <p:txBody>
          <a:bodyPr/>
          <a:lstStyle/>
          <a:p>
            <a:pPr>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Formatted I/O Functions.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following formatted I/O functions will be discussed in this section-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CA" sz="1800" dirty="0" err="1">
                <a:effectLst/>
                <a:latin typeface="Times New Roman" panose="02020603050405020304" pitchFamily="18" charset="0"/>
                <a:ea typeface="Calibri" panose="020F0502020204030204" pitchFamily="34" charset="0"/>
              </a:rPr>
              <a:t>scanf</a:t>
            </a:r>
            <a:r>
              <a:rPr lang="en-CA" sz="1800" dirty="0">
                <a:effectLst/>
                <a:latin typeface="Times New Roman" panose="02020603050405020304" pitchFamily="18" charset="0"/>
                <a:ea typeface="Calibri" panose="020F0502020204030204" pitchFamily="34" charset="0"/>
              </a:rPr>
              <a:t>()</a:t>
            </a:r>
          </a:p>
          <a:p>
            <a:pPr>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Unformatted I/O Functions.</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b="1" kern="100" dirty="0">
                <a:effectLst/>
                <a:latin typeface="Times New Roman" panose="02020603050405020304" pitchFamily="18" charset="0"/>
                <a:ea typeface="Calibri" panose="020F0502020204030204" pitchFamily="34" charset="0"/>
                <a:cs typeface="Times New Roman" panose="02020603050405020304" pitchFamily="18" charset="0"/>
              </a:rPr>
              <a:t>Unformatted I/O functions are used only for character data type or character array/string and cannot be used for any other datatype. </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These functions are used to read single input from the user at the console and it allows to display the value at the console.</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CA" dirty="0"/>
          </a:p>
        </p:txBody>
      </p:sp>
      <p:sp>
        <p:nvSpPr>
          <p:cNvPr id="4" name="Footer Placeholder 3">
            <a:extLst>
              <a:ext uri="{FF2B5EF4-FFF2-40B4-BE49-F238E27FC236}">
                <a16:creationId xmlns:a16="http://schemas.microsoft.com/office/drawing/2014/main" id="{C9379DB0-FA91-7AF1-62E4-E142A9E2570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6614410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76A16-DAA8-8617-55FC-E8D8587A9EFD}"/>
              </a:ext>
            </a:extLst>
          </p:cNvPr>
          <p:cNvSpPr>
            <a:spLocks noGrp="1"/>
          </p:cNvSpPr>
          <p:nvPr>
            <p:ph idx="1"/>
          </p:nvPr>
        </p:nvSpPr>
        <p:spPr>
          <a:xfrm>
            <a:off x="838200" y="446314"/>
            <a:ext cx="4332514" cy="5730649"/>
          </a:xfrm>
        </p:spPr>
        <p:txBody>
          <a:bodyPr>
            <a:normAutofit fontScale="92500" lnSpcReduction="20000"/>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The following unformatted I/O functions will be discussed in this section-</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getch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getche</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getchar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putchar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program to implement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the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putchar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getchar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function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conio.h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Driver code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 </a:t>
            </a:r>
            <a:endParaRPr lang="en-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tabLst>
                <a:tab pos="457200" algn="l"/>
              </a:tabLst>
            </a:pPr>
            <a:endParaRPr lang="en-CA"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C9C72FC-3360-E659-72F1-48392066B0F6}"/>
              </a:ext>
            </a:extLst>
          </p:cNvPr>
          <p:cNvSpPr txBox="1"/>
          <p:nvPr/>
        </p:nvSpPr>
        <p:spPr>
          <a:xfrm>
            <a:off x="6008914" y="572271"/>
            <a:ext cx="6096000" cy="4363630"/>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char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("Enter any character: ");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Reads a character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getchar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Displays that character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putchar</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ch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D81B5A8B-F9FC-B875-7634-B16ED52597E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773129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8CB2F7E-1288-475A-14D1-A96041CF3A5E}"/>
              </a:ext>
            </a:extLst>
          </p:cNvPr>
          <p:cNvSpPr txBox="1"/>
          <p:nvPr/>
        </p:nvSpPr>
        <p:spPr>
          <a:xfrm>
            <a:off x="914400" y="557850"/>
            <a:ext cx="6096000" cy="4762586"/>
          </a:xfrm>
          <a:prstGeom prst="rect">
            <a:avLst/>
          </a:prstGeom>
          <a:noFill/>
        </p:spPr>
        <p:txBody>
          <a:bodyPr wrap="square">
            <a:spAutoFit/>
          </a:bodyPr>
          <a:lstStyle/>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 program to implement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the puts() and gets() function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stdio.h</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&gt;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Driver code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int main()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char name[50];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("Enter your text: ");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Reads string from user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gets(name);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BAE0B5BF-8C70-7CC2-1453-2ED9DA3CF2C2}"/>
              </a:ext>
            </a:extLst>
          </p:cNvPr>
          <p:cNvSpPr txBox="1"/>
          <p:nvPr/>
        </p:nvSpPr>
        <p:spPr>
          <a:xfrm>
            <a:off x="6567949" y="1232529"/>
            <a:ext cx="5083277" cy="2767809"/>
          </a:xfrm>
          <a:prstGeom prst="rect">
            <a:avLst/>
          </a:prstGeom>
          <a:noFill/>
        </p:spPr>
        <p:txBody>
          <a:bodyPr wrap="square">
            <a:spAutoFit/>
          </a:bodyPr>
          <a:lstStyle/>
          <a:p>
            <a:pPr>
              <a:lnSpc>
                <a:spcPct val="107000"/>
              </a:lnSpc>
              <a:spcAft>
                <a:spcPts val="800"/>
              </a:spcAft>
            </a:pPr>
            <a:r>
              <a:rPr lang="en-CA" sz="1800" kern="100" dirty="0" err="1">
                <a:effectLst/>
                <a:latin typeface="Times New Roman" panose="02020603050405020304" pitchFamily="18" charset="0"/>
                <a:ea typeface="Calibri" panose="020F0502020204030204" pitchFamily="34" charset="0"/>
                <a:cs typeface="Times New Roman" panose="02020603050405020304" pitchFamily="18" charset="0"/>
              </a:rPr>
              <a:t>printf</a:t>
            </a: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("Your text is: ");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 Displays string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puts(name);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	return 0; </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CA"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BF746BA9-2377-90D1-40D0-59FBB913C91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7032995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6E232-E505-2CA8-6F15-F84ABC695716}"/>
              </a:ext>
            </a:extLst>
          </p:cNvPr>
          <p:cNvSpPr>
            <a:spLocks noGrp="1"/>
          </p:cNvSpPr>
          <p:nvPr>
            <p:ph type="title"/>
          </p:nvPr>
        </p:nvSpPr>
        <p:spPr/>
        <p:txBody>
          <a:bodyPr/>
          <a:lstStyle/>
          <a:p>
            <a:pPr algn="ctr"/>
            <a:r>
              <a:rPr lang="en-CA" dirty="0"/>
              <a:t>The conditional statements </a:t>
            </a:r>
          </a:p>
        </p:txBody>
      </p:sp>
      <p:sp>
        <p:nvSpPr>
          <p:cNvPr id="3" name="Content Placeholder 2">
            <a:extLst>
              <a:ext uri="{FF2B5EF4-FFF2-40B4-BE49-F238E27FC236}">
                <a16:creationId xmlns:a16="http://schemas.microsoft.com/office/drawing/2014/main" id="{AE0BDF3A-D72E-6EA5-1D48-E6DC6E25E144}"/>
              </a:ext>
            </a:extLst>
          </p:cNvPr>
          <p:cNvSpPr>
            <a:spLocks noGrp="1"/>
          </p:cNvSpPr>
          <p:nvPr>
            <p:ph idx="1"/>
          </p:nvPr>
        </p:nvSpPr>
        <p:spPr>
          <a:xfrm>
            <a:off x="838199" y="1825625"/>
            <a:ext cx="9699171" cy="1440089"/>
          </a:xfrm>
        </p:spPr>
        <p:txBody>
          <a:bodyPr>
            <a:normAutofit/>
          </a:bodyPr>
          <a:lstStyle/>
          <a:p>
            <a:r>
              <a:rPr lang="en-US" dirty="0"/>
              <a:t>The </a:t>
            </a:r>
            <a:r>
              <a:rPr lang="en-US" b="1" dirty="0"/>
              <a:t>conditional statements</a:t>
            </a:r>
            <a:r>
              <a:rPr lang="en-US" dirty="0"/>
              <a:t> (also known as decision control structures) such as if, if else, switch, etc. are used for decision-making purposes in C programs.</a:t>
            </a:r>
          </a:p>
          <a:p>
            <a:endParaRPr lang="en-CA" dirty="0"/>
          </a:p>
        </p:txBody>
      </p:sp>
      <p:sp>
        <p:nvSpPr>
          <p:cNvPr id="5" name="TextBox 4">
            <a:extLst>
              <a:ext uri="{FF2B5EF4-FFF2-40B4-BE49-F238E27FC236}">
                <a16:creationId xmlns:a16="http://schemas.microsoft.com/office/drawing/2014/main" id="{43C26923-C938-596B-AEFA-12C201708A13}"/>
              </a:ext>
            </a:extLst>
          </p:cNvPr>
          <p:cNvSpPr txBox="1"/>
          <p:nvPr/>
        </p:nvSpPr>
        <p:spPr>
          <a:xfrm>
            <a:off x="1513114" y="3236459"/>
            <a:ext cx="3320143" cy="1938992"/>
          </a:xfrm>
          <a:prstGeom prst="rect">
            <a:avLst/>
          </a:prstGeom>
          <a:noFill/>
        </p:spPr>
        <p:txBody>
          <a:bodyPr wrap="square">
            <a:spAutoFit/>
          </a:bodyPr>
          <a:lstStyle/>
          <a:p>
            <a:pPr>
              <a:buFont typeface="+mj-lt"/>
              <a:buAutoNum type="arabicPeriod"/>
            </a:pPr>
            <a:r>
              <a:rPr lang="en-US" sz="2400" b="1" dirty="0"/>
              <a:t>if Statement</a:t>
            </a:r>
            <a:endParaRPr lang="en-US" sz="2400" dirty="0"/>
          </a:p>
          <a:p>
            <a:pPr>
              <a:buFont typeface="+mj-lt"/>
              <a:buAutoNum type="arabicPeriod" startAt="2"/>
            </a:pPr>
            <a:r>
              <a:rPr lang="en-US" sz="2400" b="1" dirty="0"/>
              <a:t>if-else Statement</a:t>
            </a:r>
            <a:endParaRPr lang="en-US" sz="2400" dirty="0"/>
          </a:p>
          <a:p>
            <a:pPr>
              <a:buFont typeface="+mj-lt"/>
              <a:buAutoNum type="arabicPeriod" startAt="3"/>
            </a:pPr>
            <a:r>
              <a:rPr lang="en-US" sz="2400" b="1" dirty="0"/>
              <a:t>Nested if Statement</a:t>
            </a:r>
            <a:endParaRPr lang="en-US" sz="2400" dirty="0"/>
          </a:p>
          <a:p>
            <a:pPr>
              <a:buFont typeface="+mj-lt"/>
              <a:buAutoNum type="arabicPeriod" startAt="4"/>
            </a:pPr>
            <a:r>
              <a:rPr lang="en-US" sz="2400" b="1" dirty="0"/>
              <a:t>if-else-if Ladder</a:t>
            </a:r>
            <a:endParaRPr lang="en-US" sz="2400" dirty="0"/>
          </a:p>
          <a:p>
            <a:pPr>
              <a:buFont typeface="+mj-lt"/>
              <a:buAutoNum type="arabicPeriod" startAt="5"/>
            </a:pPr>
            <a:r>
              <a:rPr lang="en-US" sz="2400" b="1" dirty="0"/>
              <a:t>switch Statement</a:t>
            </a:r>
            <a:endParaRPr lang="en-US" sz="2400" dirty="0"/>
          </a:p>
        </p:txBody>
      </p:sp>
      <p:sp>
        <p:nvSpPr>
          <p:cNvPr id="7" name="TextBox 6">
            <a:extLst>
              <a:ext uri="{FF2B5EF4-FFF2-40B4-BE49-F238E27FC236}">
                <a16:creationId xmlns:a16="http://schemas.microsoft.com/office/drawing/2014/main" id="{C9596E36-5709-077E-EDC5-064FCFEF358F}"/>
              </a:ext>
            </a:extLst>
          </p:cNvPr>
          <p:cNvSpPr txBox="1"/>
          <p:nvPr/>
        </p:nvSpPr>
        <p:spPr>
          <a:xfrm>
            <a:off x="6313715" y="3236459"/>
            <a:ext cx="3516085" cy="2308324"/>
          </a:xfrm>
          <a:prstGeom prst="rect">
            <a:avLst/>
          </a:prstGeom>
          <a:noFill/>
        </p:spPr>
        <p:txBody>
          <a:bodyPr wrap="square">
            <a:spAutoFit/>
          </a:bodyPr>
          <a:lstStyle/>
          <a:p>
            <a:pPr>
              <a:buFont typeface="+mj-lt"/>
              <a:buAutoNum type="arabicPeriod" startAt="6"/>
            </a:pPr>
            <a:r>
              <a:rPr lang="en-US" sz="2400" b="1" dirty="0"/>
              <a:t>Conditional Operator</a:t>
            </a:r>
            <a:endParaRPr lang="en-US" sz="2400" dirty="0"/>
          </a:p>
          <a:p>
            <a:pPr>
              <a:buFont typeface="+mj-lt"/>
              <a:buAutoNum type="arabicPeriod" startAt="7"/>
            </a:pPr>
            <a:r>
              <a:rPr lang="en-US" sz="2400" b="1" dirty="0"/>
              <a:t>Jump Statements: </a:t>
            </a:r>
            <a:endParaRPr lang="en-US" sz="2400" dirty="0"/>
          </a:p>
          <a:p>
            <a:pPr lvl="1"/>
            <a:r>
              <a:rPr lang="en-US" sz="2400" b="1" dirty="0"/>
              <a:t>break</a:t>
            </a:r>
            <a:endParaRPr lang="en-US" sz="2400" dirty="0"/>
          </a:p>
          <a:p>
            <a:pPr lvl="1"/>
            <a:r>
              <a:rPr lang="en-US" sz="2400" b="1" dirty="0"/>
              <a:t>continue</a:t>
            </a:r>
            <a:endParaRPr lang="en-US" sz="2400" dirty="0"/>
          </a:p>
          <a:p>
            <a:pPr lvl="1"/>
            <a:r>
              <a:rPr lang="en-US" sz="2400" b="1" dirty="0" err="1"/>
              <a:t>goto</a:t>
            </a:r>
            <a:endParaRPr lang="en-US" sz="2400" dirty="0"/>
          </a:p>
          <a:p>
            <a:pPr lvl="1"/>
            <a:r>
              <a:rPr lang="en-US" sz="2400" b="1" dirty="0"/>
              <a:t>return</a:t>
            </a:r>
            <a:endParaRPr lang="en-US" sz="2400" dirty="0"/>
          </a:p>
        </p:txBody>
      </p:sp>
      <p:sp>
        <p:nvSpPr>
          <p:cNvPr id="4" name="Footer Placeholder 3">
            <a:extLst>
              <a:ext uri="{FF2B5EF4-FFF2-40B4-BE49-F238E27FC236}">
                <a16:creationId xmlns:a16="http://schemas.microsoft.com/office/drawing/2014/main" id="{283AD222-D336-D995-0246-B6E6CD28D4C4}"/>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406651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D4E4C-6A70-6EDB-1430-614A1731CF93}"/>
              </a:ext>
            </a:extLst>
          </p:cNvPr>
          <p:cNvSpPr>
            <a:spLocks noGrp="1"/>
          </p:cNvSpPr>
          <p:nvPr>
            <p:ph type="title"/>
          </p:nvPr>
        </p:nvSpPr>
        <p:spPr/>
        <p:txBody>
          <a:bodyPr/>
          <a:lstStyle/>
          <a:p>
            <a:pPr algn="ctr"/>
            <a:r>
              <a:rPr lang="en-CA" b="1" dirty="0"/>
              <a:t>if in C</a:t>
            </a:r>
            <a:br>
              <a:rPr lang="en-CA" b="1" dirty="0"/>
            </a:br>
            <a:endParaRPr lang="en-CA" dirty="0"/>
          </a:p>
        </p:txBody>
      </p:sp>
      <p:sp>
        <p:nvSpPr>
          <p:cNvPr id="3" name="Content Placeholder 2">
            <a:extLst>
              <a:ext uri="{FF2B5EF4-FFF2-40B4-BE49-F238E27FC236}">
                <a16:creationId xmlns:a16="http://schemas.microsoft.com/office/drawing/2014/main" id="{C6F9BA50-F6FA-18F1-7DF9-E24C30464CDA}"/>
              </a:ext>
            </a:extLst>
          </p:cNvPr>
          <p:cNvSpPr>
            <a:spLocks noGrp="1"/>
          </p:cNvSpPr>
          <p:nvPr>
            <p:ph idx="1"/>
          </p:nvPr>
        </p:nvSpPr>
        <p:spPr>
          <a:xfrm>
            <a:off x="838200" y="1825625"/>
            <a:ext cx="4550229" cy="4351338"/>
          </a:xfrm>
        </p:spPr>
        <p:txBody>
          <a:bodyPr/>
          <a:lstStyle/>
          <a:p>
            <a:pPr marL="0" indent="0">
              <a:buNone/>
            </a:pPr>
            <a:r>
              <a:rPr lang="en-US" dirty="0"/>
              <a:t>if(condition) </a:t>
            </a:r>
          </a:p>
          <a:p>
            <a:pPr marL="0" indent="0">
              <a:buNone/>
            </a:pPr>
            <a:r>
              <a:rPr lang="en-US" dirty="0"/>
              <a:t>{</a:t>
            </a:r>
          </a:p>
          <a:p>
            <a:pPr marL="0" indent="0">
              <a:buNone/>
            </a:pPr>
            <a:r>
              <a:rPr lang="en-US" dirty="0"/>
              <a:t>   // Statements to execute if</a:t>
            </a:r>
          </a:p>
          <a:p>
            <a:pPr marL="0" indent="0">
              <a:buNone/>
            </a:pPr>
            <a:r>
              <a:rPr lang="en-US" dirty="0"/>
              <a:t>   // condition is true</a:t>
            </a:r>
          </a:p>
          <a:p>
            <a:pPr marL="0" indent="0">
              <a:buNone/>
            </a:pPr>
            <a:r>
              <a:rPr lang="en-US" dirty="0"/>
              <a:t>}</a:t>
            </a:r>
            <a:endParaRPr lang="en-CA" dirty="0"/>
          </a:p>
        </p:txBody>
      </p:sp>
      <p:pic>
        <p:nvPicPr>
          <p:cNvPr id="8" name="Picture 7">
            <a:extLst>
              <a:ext uri="{FF2B5EF4-FFF2-40B4-BE49-F238E27FC236}">
                <a16:creationId xmlns:a16="http://schemas.microsoft.com/office/drawing/2014/main" id="{87E55E46-E5A5-F488-FBAE-354401BDFD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3573" y="1882546"/>
            <a:ext cx="3596980" cy="4050167"/>
          </a:xfrm>
          <a:prstGeom prst="rect">
            <a:avLst/>
          </a:prstGeom>
        </p:spPr>
      </p:pic>
      <p:sp>
        <p:nvSpPr>
          <p:cNvPr id="4" name="Footer Placeholder 3">
            <a:extLst>
              <a:ext uri="{FF2B5EF4-FFF2-40B4-BE49-F238E27FC236}">
                <a16:creationId xmlns:a16="http://schemas.microsoft.com/office/drawing/2014/main" id="{E4C7E64A-D573-704D-CBC3-720F1E934962}"/>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8255568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83CD9A-C1B6-8AAC-D1DB-FE7AA78C9B53}"/>
              </a:ext>
            </a:extLst>
          </p:cNvPr>
          <p:cNvSpPr>
            <a:spLocks noGrp="1"/>
          </p:cNvSpPr>
          <p:nvPr>
            <p:ph idx="1"/>
          </p:nvPr>
        </p:nvSpPr>
        <p:spPr>
          <a:xfrm>
            <a:off x="838200" y="674914"/>
            <a:ext cx="5105400" cy="5502049"/>
          </a:xfrm>
        </p:spPr>
        <p:txBody>
          <a:bodyPr>
            <a:normAutofit fontScale="85000" lnSpcReduction="10000"/>
          </a:bodyPr>
          <a:lstStyle/>
          <a:p>
            <a:pPr marL="0" indent="0">
              <a:buNone/>
            </a:pPr>
            <a:r>
              <a:rPr lang="en-US" dirty="0"/>
              <a:t>// C program to illustrate If statement</a:t>
            </a:r>
          </a:p>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a:t>
            </a:r>
          </a:p>
          <a:p>
            <a:pPr marL="0" indent="0">
              <a:buNone/>
            </a:pPr>
            <a:r>
              <a:rPr lang="en-US" dirty="0"/>
              <a:t>{</a:t>
            </a:r>
          </a:p>
          <a:p>
            <a:pPr marL="0" indent="0">
              <a:buNone/>
            </a:pPr>
            <a:r>
              <a:rPr lang="en-US" dirty="0"/>
              <a:t>    int </a:t>
            </a:r>
            <a:r>
              <a:rPr lang="en-US" dirty="0" err="1"/>
              <a:t>i</a:t>
            </a:r>
            <a:r>
              <a:rPr lang="en-US" dirty="0"/>
              <a:t> = 10;</a:t>
            </a:r>
          </a:p>
          <a:p>
            <a:pPr marL="0" indent="0">
              <a:buNone/>
            </a:pPr>
            <a:endParaRPr lang="en-US" dirty="0"/>
          </a:p>
          <a:p>
            <a:pPr marL="0" indent="0">
              <a:buNone/>
            </a:pPr>
            <a:r>
              <a:rPr lang="en-US" dirty="0"/>
              <a:t>    if (</a:t>
            </a:r>
            <a:r>
              <a:rPr lang="en-US" dirty="0" err="1"/>
              <a:t>i</a:t>
            </a:r>
            <a:r>
              <a:rPr lang="en-US" dirty="0"/>
              <a:t> &gt; 15) {</a:t>
            </a:r>
          </a:p>
          <a:p>
            <a:pPr marL="0" indent="0">
              <a:buNone/>
            </a:pPr>
            <a:r>
              <a:rPr lang="en-US" dirty="0"/>
              <a:t>        </a:t>
            </a:r>
            <a:r>
              <a:rPr lang="en-US" dirty="0" err="1"/>
              <a:t>printf</a:t>
            </a:r>
            <a:r>
              <a:rPr lang="en-US" dirty="0"/>
              <a:t>("10 is greater than 15");</a:t>
            </a:r>
          </a:p>
          <a:p>
            <a:pPr marL="0" indent="0">
              <a:buNone/>
            </a:pPr>
            <a:r>
              <a:rPr lang="en-US" dirty="0"/>
              <a:t>    }</a:t>
            </a:r>
          </a:p>
          <a:p>
            <a:pPr marL="0" indent="0">
              <a:buNone/>
            </a:pPr>
            <a:endParaRPr lang="en-US" dirty="0"/>
          </a:p>
          <a:p>
            <a:pPr marL="0" indent="0">
              <a:buNone/>
            </a:pPr>
            <a:r>
              <a:rPr lang="en-US" dirty="0"/>
              <a:t>    </a:t>
            </a:r>
            <a:r>
              <a:rPr lang="en-US" dirty="0" err="1"/>
              <a:t>printf</a:t>
            </a:r>
            <a:r>
              <a:rPr lang="en-US" dirty="0"/>
              <a:t>(“10 is smaller than 15");</a:t>
            </a:r>
          </a:p>
          <a:p>
            <a:pPr marL="0" indent="0">
              <a:buNone/>
            </a:pPr>
            <a:r>
              <a:rPr lang="en-US" dirty="0"/>
              <a:t>}</a:t>
            </a:r>
            <a:endParaRPr lang="en-CA" dirty="0"/>
          </a:p>
        </p:txBody>
      </p:sp>
      <p:sp>
        <p:nvSpPr>
          <p:cNvPr id="8" name="TextBox 7">
            <a:extLst>
              <a:ext uri="{FF2B5EF4-FFF2-40B4-BE49-F238E27FC236}">
                <a16:creationId xmlns:a16="http://schemas.microsoft.com/office/drawing/2014/main" id="{7288243F-C89F-A99C-F38C-1D4E8FDD749F}"/>
              </a:ext>
            </a:extLst>
          </p:cNvPr>
          <p:cNvSpPr txBox="1"/>
          <p:nvPr/>
        </p:nvSpPr>
        <p:spPr>
          <a:xfrm>
            <a:off x="8131626" y="2612963"/>
            <a:ext cx="3058887" cy="830997"/>
          </a:xfrm>
          <a:prstGeom prst="rect">
            <a:avLst/>
          </a:prstGeom>
          <a:noFill/>
        </p:spPr>
        <p:txBody>
          <a:bodyPr wrap="square">
            <a:spAutoFit/>
          </a:bodyPr>
          <a:lstStyle/>
          <a:p>
            <a:r>
              <a:rPr lang="en-US" sz="2400" dirty="0"/>
              <a:t>Output</a:t>
            </a:r>
          </a:p>
          <a:p>
            <a:r>
              <a:rPr lang="en-US" sz="2400" dirty="0"/>
              <a:t>10 is smaller than 15</a:t>
            </a:r>
            <a:endParaRPr lang="en-CA" sz="2400" dirty="0"/>
          </a:p>
        </p:txBody>
      </p:sp>
      <p:sp>
        <p:nvSpPr>
          <p:cNvPr id="2" name="Footer Placeholder 1">
            <a:extLst>
              <a:ext uri="{FF2B5EF4-FFF2-40B4-BE49-F238E27FC236}">
                <a16:creationId xmlns:a16="http://schemas.microsoft.com/office/drawing/2014/main" id="{F6E9762D-A118-2F4B-0F77-96BF189CADC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1155306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4F22D-E1F6-D0AF-FE0A-366249EF81CF}"/>
              </a:ext>
            </a:extLst>
          </p:cNvPr>
          <p:cNvSpPr>
            <a:spLocks noGrp="1"/>
          </p:cNvSpPr>
          <p:nvPr>
            <p:ph type="title"/>
          </p:nvPr>
        </p:nvSpPr>
        <p:spPr/>
        <p:txBody>
          <a:bodyPr/>
          <a:lstStyle/>
          <a:p>
            <a:pPr algn="ctr"/>
            <a:r>
              <a:rPr lang="en-CA" dirty="0"/>
              <a:t>if-else in C</a:t>
            </a:r>
          </a:p>
        </p:txBody>
      </p:sp>
      <p:sp>
        <p:nvSpPr>
          <p:cNvPr id="3" name="Content Placeholder 2">
            <a:extLst>
              <a:ext uri="{FF2B5EF4-FFF2-40B4-BE49-F238E27FC236}">
                <a16:creationId xmlns:a16="http://schemas.microsoft.com/office/drawing/2014/main" id="{1E59E224-01EC-EEFB-1E6D-97F3E931D820}"/>
              </a:ext>
            </a:extLst>
          </p:cNvPr>
          <p:cNvSpPr>
            <a:spLocks noGrp="1"/>
          </p:cNvSpPr>
          <p:nvPr>
            <p:ph idx="1"/>
          </p:nvPr>
        </p:nvSpPr>
        <p:spPr>
          <a:xfrm>
            <a:off x="838200" y="1825625"/>
            <a:ext cx="5573486" cy="4351338"/>
          </a:xfrm>
        </p:spPr>
        <p:txBody>
          <a:bodyPr>
            <a:normAutofit fontScale="92500" lnSpcReduction="20000"/>
          </a:bodyPr>
          <a:lstStyle/>
          <a:p>
            <a:pPr marL="0" indent="0">
              <a:buNone/>
            </a:pPr>
            <a:r>
              <a:rPr lang="en-US" dirty="0"/>
              <a:t>if (condition)</a:t>
            </a:r>
          </a:p>
          <a:p>
            <a:pPr marL="0" indent="0">
              <a:buNone/>
            </a:pPr>
            <a:r>
              <a:rPr lang="en-US" dirty="0"/>
              <a:t>{</a:t>
            </a:r>
          </a:p>
          <a:p>
            <a:pPr marL="0" indent="0">
              <a:buNone/>
            </a:pPr>
            <a:r>
              <a:rPr lang="en-US" dirty="0"/>
              <a:t>    // Executes this block if</a:t>
            </a:r>
          </a:p>
          <a:p>
            <a:pPr marL="0" indent="0">
              <a:buNone/>
            </a:pPr>
            <a:r>
              <a:rPr lang="en-US" dirty="0"/>
              <a:t>    // condition is true</a:t>
            </a:r>
          </a:p>
          <a:p>
            <a:pPr marL="0" indent="0">
              <a:buNone/>
            </a:pPr>
            <a:r>
              <a:rPr lang="en-US" dirty="0"/>
              <a:t>}</a:t>
            </a:r>
          </a:p>
          <a:p>
            <a:pPr marL="0" indent="0">
              <a:buNone/>
            </a:pPr>
            <a:r>
              <a:rPr lang="en-US" dirty="0"/>
              <a:t>else</a:t>
            </a:r>
          </a:p>
          <a:p>
            <a:pPr marL="0" indent="0">
              <a:buNone/>
            </a:pPr>
            <a:r>
              <a:rPr lang="en-US" dirty="0"/>
              <a:t>{</a:t>
            </a:r>
          </a:p>
          <a:p>
            <a:pPr marL="0" indent="0">
              <a:buNone/>
            </a:pPr>
            <a:r>
              <a:rPr lang="en-US" dirty="0"/>
              <a:t>    // Executes this block if</a:t>
            </a:r>
          </a:p>
          <a:p>
            <a:pPr marL="0" indent="0">
              <a:buNone/>
            </a:pPr>
            <a:r>
              <a:rPr lang="en-US" dirty="0"/>
              <a:t>    // condition is false</a:t>
            </a:r>
          </a:p>
          <a:p>
            <a:pPr marL="0" indent="0">
              <a:buNone/>
            </a:pPr>
            <a:r>
              <a:rPr lang="en-US" dirty="0"/>
              <a:t>}</a:t>
            </a:r>
            <a:endParaRPr lang="en-CA" dirty="0"/>
          </a:p>
        </p:txBody>
      </p:sp>
      <p:pic>
        <p:nvPicPr>
          <p:cNvPr id="6" name="Picture 5">
            <a:extLst>
              <a:ext uri="{FF2B5EF4-FFF2-40B4-BE49-F238E27FC236}">
                <a16:creationId xmlns:a16="http://schemas.microsoft.com/office/drawing/2014/main" id="{16DB6A54-6AB7-6EF0-B568-81AFAA5EC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1405" y="1454831"/>
            <a:ext cx="5248275" cy="4762500"/>
          </a:xfrm>
          <a:prstGeom prst="rect">
            <a:avLst/>
          </a:prstGeom>
        </p:spPr>
      </p:pic>
      <p:sp>
        <p:nvSpPr>
          <p:cNvPr id="4" name="Footer Placeholder 3">
            <a:extLst>
              <a:ext uri="{FF2B5EF4-FFF2-40B4-BE49-F238E27FC236}">
                <a16:creationId xmlns:a16="http://schemas.microsoft.com/office/drawing/2014/main" id="{6C1C7596-C254-E72A-D9F6-6644E1DD3F3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2167633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1D33DF-AD0F-77CE-EFC1-CBD471E4CAEE}"/>
              </a:ext>
            </a:extLst>
          </p:cNvPr>
          <p:cNvSpPr>
            <a:spLocks noGrp="1"/>
          </p:cNvSpPr>
          <p:nvPr>
            <p:ph idx="1"/>
          </p:nvPr>
        </p:nvSpPr>
        <p:spPr>
          <a:xfrm>
            <a:off x="838200" y="446314"/>
            <a:ext cx="5845629" cy="5730649"/>
          </a:xfrm>
        </p:spPr>
        <p:txBody>
          <a:bodyPr>
            <a:normAutofit fontScale="62500" lnSpcReduction="20000"/>
          </a:bodyPr>
          <a:lstStyle/>
          <a:p>
            <a:pPr marL="0" indent="0">
              <a:buNone/>
            </a:pPr>
            <a:r>
              <a:rPr lang="en-US" dirty="0"/>
              <a:t>// C program to illustrate If statement</a:t>
            </a:r>
          </a:p>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a:t>
            </a:r>
          </a:p>
          <a:p>
            <a:pPr marL="0" indent="0">
              <a:buNone/>
            </a:pPr>
            <a:r>
              <a:rPr lang="en-US" dirty="0"/>
              <a:t>{</a:t>
            </a:r>
          </a:p>
          <a:p>
            <a:pPr marL="0" indent="0">
              <a:buNone/>
            </a:pPr>
            <a:r>
              <a:rPr lang="en-US" dirty="0"/>
              <a:t>    int </a:t>
            </a:r>
            <a:r>
              <a:rPr lang="en-US" dirty="0" err="1"/>
              <a:t>i</a:t>
            </a:r>
            <a:r>
              <a:rPr lang="en-US" dirty="0"/>
              <a:t> = 20;</a:t>
            </a:r>
          </a:p>
          <a:p>
            <a:pPr marL="0" indent="0">
              <a:buNone/>
            </a:pPr>
            <a:endParaRPr lang="en-US" dirty="0"/>
          </a:p>
          <a:p>
            <a:pPr marL="0" indent="0">
              <a:buNone/>
            </a:pPr>
            <a:r>
              <a:rPr lang="en-US" dirty="0"/>
              <a:t>    if (</a:t>
            </a:r>
            <a:r>
              <a:rPr lang="en-US" dirty="0" err="1"/>
              <a:t>i</a:t>
            </a:r>
            <a:r>
              <a:rPr lang="en-US" dirty="0"/>
              <a:t> &lt; 15) {</a:t>
            </a:r>
          </a:p>
          <a:p>
            <a:pPr marL="0" indent="0">
              <a:buNone/>
            </a:pPr>
            <a:endParaRPr lang="en-US" dirty="0"/>
          </a:p>
          <a:p>
            <a:pPr marL="0" indent="0">
              <a:buNone/>
            </a:pPr>
            <a:r>
              <a:rPr lang="en-US" dirty="0"/>
              <a:t>        </a:t>
            </a:r>
            <a:r>
              <a:rPr lang="en-US" dirty="0" err="1"/>
              <a:t>printf</a:t>
            </a:r>
            <a:r>
              <a:rPr lang="en-US" dirty="0"/>
              <a:t>("</a:t>
            </a:r>
            <a:r>
              <a:rPr lang="en-US" dirty="0" err="1"/>
              <a:t>i</a:t>
            </a:r>
            <a:r>
              <a:rPr lang="en-US" dirty="0"/>
              <a:t> is smaller than 15");</a:t>
            </a:r>
          </a:p>
          <a:p>
            <a:pPr marL="0" indent="0">
              <a:buNone/>
            </a:pPr>
            <a:r>
              <a:rPr lang="en-US" dirty="0"/>
              <a:t>    }</a:t>
            </a:r>
          </a:p>
          <a:p>
            <a:pPr marL="0" indent="0">
              <a:buNone/>
            </a:pPr>
            <a:r>
              <a:rPr lang="en-US" dirty="0"/>
              <a:t>    else {</a:t>
            </a:r>
          </a:p>
          <a:p>
            <a:pPr marL="0" indent="0">
              <a:buNone/>
            </a:pPr>
            <a:endParaRPr lang="en-US" dirty="0"/>
          </a:p>
          <a:p>
            <a:pPr marL="0" indent="0">
              <a:buNone/>
            </a:pPr>
            <a:r>
              <a:rPr lang="en-US" dirty="0"/>
              <a:t>        </a:t>
            </a:r>
            <a:r>
              <a:rPr lang="en-US" dirty="0" err="1"/>
              <a:t>printf</a:t>
            </a:r>
            <a:r>
              <a:rPr lang="en-US" dirty="0"/>
              <a:t>("</a:t>
            </a:r>
            <a:r>
              <a:rPr lang="en-US" dirty="0" err="1"/>
              <a:t>i</a:t>
            </a:r>
            <a:r>
              <a:rPr lang="en-US" dirty="0"/>
              <a:t> is greater than 15");</a:t>
            </a:r>
          </a:p>
          <a:p>
            <a:pPr marL="0" indent="0">
              <a:buNone/>
            </a:pPr>
            <a:r>
              <a:rPr lang="en-US" dirty="0"/>
              <a:t>    }</a:t>
            </a:r>
          </a:p>
          <a:p>
            <a:pPr marL="0" indent="0">
              <a:buNone/>
            </a:pPr>
            <a:r>
              <a:rPr lang="en-US" dirty="0"/>
              <a:t>    return 0;</a:t>
            </a:r>
          </a:p>
          <a:p>
            <a:pPr marL="0" indent="0">
              <a:buNone/>
            </a:pPr>
            <a:r>
              <a:rPr lang="en-US" dirty="0"/>
              <a:t>}</a:t>
            </a:r>
            <a:endParaRPr lang="en-CA" dirty="0"/>
          </a:p>
        </p:txBody>
      </p:sp>
      <p:sp>
        <p:nvSpPr>
          <p:cNvPr id="7" name="TextBox 6">
            <a:extLst>
              <a:ext uri="{FF2B5EF4-FFF2-40B4-BE49-F238E27FC236}">
                <a16:creationId xmlns:a16="http://schemas.microsoft.com/office/drawing/2014/main" id="{606B17B8-D2E2-2E11-B002-7334BC8C4BAF}"/>
              </a:ext>
            </a:extLst>
          </p:cNvPr>
          <p:cNvSpPr txBox="1"/>
          <p:nvPr/>
        </p:nvSpPr>
        <p:spPr>
          <a:xfrm>
            <a:off x="7217229" y="2743592"/>
            <a:ext cx="3320142" cy="646331"/>
          </a:xfrm>
          <a:prstGeom prst="rect">
            <a:avLst/>
          </a:prstGeom>
          <a:noFill/>
        </p:spPr>
        <p:txBody>
          <a:bodyPr wrap="square">
            <a:spAutoFit/>
          </a:bodyPr>
          <a:lstStyle/>
          <a:p>
            <a:r>
              <a:rPr lang="en-US" dirty="0"/>
              <a:t>Output:</a:t>
            </a:r>
          </a:p>
          <a:p>
            <a:r>
              <a:rPr lang="en-US" dirty="0" err="1"/>
              <a:t>i</a:t>
            </a:r>
            <a:r>
              <a:rPr lang="en-US" dirty="0"/>
              <a:t> is greater than 15</a:t>
            </a:r>
            <a:endParaRPr lang="en-CA" dirty="0"/>
          </a:p>
        </p:txBody>
      </p:sp>
      <p:sp>
        <p:nvSpPr>
          <p:cNvPr id="2" name="Footer Placeholder 1">
            <a:extLst>
              <a:ext uri="{FF2B5EF4-FFF2-40B4-BE49-F238E27FC236}">
                <a16:creationId xmlns:a16="http://schemas.microsoft.com/office/drawing/2014/main" id="{B2544D88-3B20-A931-E8BB-83F0A866D35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1277772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5B6FE-0F0E-D680-C502-41E25C9C6F33}"/>
              </a:ext>
            </a:extLst>
          </p:cNvPr>
          <p:cNvSpPr>
            <a:spLocks noGrp="1"/>
          </p:cNvSpPr>
          <p:nvPr>
            <p:ph type="title"/>
          </p:nvPr>
        </p:nvSpPr>
        <p:spPr/>
        <p:txBody>
          <a:bodyPr/>
          <a:lstStyle/>
          <a:p>
            <a:pPr algn="ctr"/>
            <a:r>
              <a:rPr lang="en-CA" dirty="0"/>
              <a:t>Nested if-else in C</a:t>
            </a:r>
          </a:p>
        </p:txBody>
      </p:sp>
      <p:sp>
        <p:nvSpPr>
          <p:cNvPr id="9" name="TextBox 8">
            <a:extLst>
              <a:ext uri="{FF2B5EF4-FFF2-40B4-BE49-F238E27FC236}">
                <a16:creationId xmlns:a16="http://schemas.microsoft.com/office/drawing/2014/main" id="{E579CB85-0BDA-2DE7-D3DC-8D8C26C38C30}"/>
              </a:ext>
            </a:extLst>
          </p:cNvPr>
          <p:cNvSpPr txBox="1"/>
          <p:nvPr/>
        </p:nvSpPr>
        <p:spPr>
          <a:xfrm>
            <a:off x="947057" y="1982097"/>
            <a:ext cx="6183086" cy="3416320"/>
          </a:xfrm>
          <a:prstGeom prst="rect">
            <a:avLst/>
          </a:prstGeom>
          <a:noFill/>
        </p:spPr>
        <p:txBody>
          <a:bodyPr wrap="square">
            <a:spAutoFit/>
          </a:bodyPr>
          <a:lstStyle/>
          <a:p>
            <a:r>
              <a:rPr lang="en-US" dirty="0"/>
              <a:t>if (condition1) </a:t>
            </a:r>
          </a:p>
          <a:p>
            <a:r>
              <a:rPr lang="en-US" dirty="0"/>
              <a:t>{</a:t>
            </a:r>
          </a:p>
          <a:p>
            <a:r>
              <a:rPr lang="en-US" dirty="0"/>
              <a:t>   // Executes when condition1 is true</a:t>
            </a:r>
          </a:p>
          <a:p>
            <a:r>
              <a:rPr lang="en-US" dirty="0"/>
              <a:t>   if (condition_2) </a:t>
            </a:r>
          </a:p>
          <a:p>
            <a:r>
              <a:rPr lang="en-US" dirty="0"/>
              <a:t>   {</a:t>
            </a:r>
          </a:p>
          <a:p>
            <a:r>
              <a:rPr lang="en-US" dirty="0"/>
              <a:t>      // statement 1</a:t>
            </a:r>
          </a:p>
          <a:p>
            <a:r>
              <a:rPr lang="en-US" dirty="0"/>
              <a:t>   }</a:t>
            </a:r>
          </a:p>
          <a:p>
            <a:r>
              <a:rPr lang="en-US" dirty="0"/>
              <a:t>   else</a:t>
            </a:r>
          </a:p>
          <a:p>
            <a:r>
              <a:rPr lang="en-US" dirty="0"/>
              <a:t>   {</a:t>
            </a:r>
          </a:p>
          <a:p>
            <a:r>
              <a:rPr lang="en-US" dirty="0"/>
              <a:t>         // Statement 2</a:t>
            </a:r>
          </a:p>
          <a:p>
            <a:r>
              <a:rPr lang="en-US" dirty="0"/>
              <a:t>    }</a:t>
            </a:r>
          </a:p>
          <a:p>
            <a:r>
              <a:rPr lang="en-US" dirty="0"/>
              <a:t>}</a:t>
            </a:r>
            <a:endParaRPr lang="en-CA" dirty="0"/>
          </a:p>
        </p:txBody>
      </p:sp>
      <p:sp>
        <p:nvSpPr>
          <p:cNvPr id="12" name="TextBox 11">
            <a:extLst>
              <a:ext uri="{FF2B5EF4-FFF2-40B4-BE49-F238E27FC236}">
                <a16:creationId xmlns:a16="http://schemas.microsoft.com/office/drawing/2014/main" id="{914BF2E7-DAFF-1BAE-A1B7-A0A1285004AF}"/>
              </a:ext>
            </a:extLst>
          </p:cNvPr>
          <p:cNvSpPr txBox="1"/>
          <p:nvPr/>
        </p:nvSpPr>
        <p:spPr>
          <a:xfrm>
            <a:off x="6694714" y="2259096"/>
            <a:ext cx="6183086" cy="2862322"/>
          </a:xfrm>
          <a:prstGeom prst="rect">
            <a:avLst/>
          </a:prstGeom>
          <a:noFill/>
        </p:spPr>
        <p:txBody>
          <a:bodyPr wrap="square">
            <a:spAutoFit/>
          </a:bodyPr>
          <a:lstStyle/>
          <a:p>
            <a:r>
              <a:rPr lang="en-US" dirty="0"/>
              <a:t>else {</a:t>
            </a:r>
          </a:p>
          <a:p>
            <a:r>
              <a:rPr lang="en-US" dirty="0"/>
              <a:t>     if (condition_3) </a:t>
            </a:r>
          </a:p>
          <a:p>
            <a:r>
              <a:rPr lang="en-US" dirty="0"/>
              <a:t>   {</a:t>
            </a:r>
          </a:p>
          <a:p>
            <a:r>
              <a:rPr lang="en-US" dirty="0"/>
              <a:t>      // statement 3</a:t>
            </a:r>
          </a:p>
          <a:p>
            <a:r>
              <a:rPr lang="en-US" dirty="0"/>
              <a:t>   }</a:t>
            </a:r>
          </a:p>
          <a:p>
            <a:r>
              <a:rPr lang="en-US" dirty="0"/>
              <a:t>   else</a:t>
            </a:r>
          </a:p>
          <a:p>
            <a:r>
              <a:rPr lang="en-US" dirty="0"/>
              <a:t>   {</a:t>
            </a:r>
          </a:p>
          <a:p>
            <a:r>
              <a:rPr lang="en-US" dirty="0"/>
              <a:t>         // Statement 4</a:t>
            </a:r>
          </a:p>
          <a:p>
            <a:r>
              <a:rPr lang="en-US" dirty="0"/>
              <a:t>    }</a:t>
            </a:r>
          </a:p>
          <a:p>
            <a:r>
              <a:rPr lang="en-US" dirty="0"/>
              <a:t>}</a:t>
            </a:r>
            <a:endParaRPr lang="en-CA" dirty="0"/>
          </a:p>
        </p:txBody>
      </p:sp>
      <p:sp>
        <p:nvSpPr>
          <p:cNvPr id="3" name="Footer Placeholder 2">
            <a:extLst>
              <a:ext uri="{FF2B5EF4-FFF2-40B4-BE49-F238E27FC236}">
                <a16:creationId xmlns:a16="http://schemas.microsoft.com/office/drawing/2014/main" id="{7798E6A2-5E83-9F4B-13EC-6DF4A818868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1622373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9AF7C3-411C-3308-0BA2-B3EF1CBC7D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1" y="631371"/>
            <a:ext cx="8207828" cy="5584372"/>
          </a:xfrm>
        </p:spPr>
      </p:pic>
      <p:sp>
        <p:nvSpPr>
          <p:cNvPr id="2" name="Footer Placeholder 1">
            <a:extLst>
              <a:ext uri="{FF2B5EF4-FFF2-40B4-BE49-F238E27FC236}">
                <a16:creationId xmlns:a16="http://schemas.microsoft.com/office/drawing/2014/main" id="{E90D1A12-B390-AD34-8B54-606ED706A1E7}"/>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9438974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FB9F89-6542-190A-EE24-D412080AE6C9}"/>
              </a:ext>
            </a:extLst>
          </p:cNvPr>
          <p:cNvSpPr txBox="1"/>
          <p:nvPr/>
        </p:nvSpPr>
        <p:spPr>
          <a:xfrm>
            <a:off x="919842" y="514874"/>
            <a:ext cx="5981700" cy="5632311"/>
          </a:xfrm>
          <a:prstGeom prst="rect">
            <a:avLst/>
          </a:prstGeom>
          <a:noFill/>
        </p:spPr>
        <p:txBody>
          <a:bodyPr wrap="square">
            <a:spAutoFit/>
          </a:bodyPr>
          <a:lstStyle/>
          <a:p>
            <a:r>
              <a:rPr lang="en-US" dirty="0"/>
              <a:t>// C program to illustrate nested-if statement</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int </a:t>
            </a:r>
            <a:r>
              <a:rPr lang="en-US" dirty="0" err="1"/>
              <a:t>i</a:t>
            </a:r>
            <a:r>
              <a:rPr lang="en-US" dirty="0"/>
              <a:t> = 10;</a:t>
            </a:r>
          </a:p>
          <a:p>
            <a:endParaRPr lang="en-US" dirty="0"/>
          </a:p>
          <a:p>
            <a:r>
              <a:rPr lang="en-US" dirty="0"/>
              <a:t>    if (</a:t>
            </a:r>
            <a:r>
              <a:rPr lang="en-US" dirty="0" err="1"/>
              <a:t>i</a:t>
            </a:r>
            <a:r>
              <a:rPr lang="en-US" dirty="0"/>
              <a:t> == 10) {</a:t>
            </a:r>
          </a:p>
          <a:p>
            <a:r>
              <a:rPr lang="en-US" dirty="0"/>
              <a:t>        // First if statement</a:t>
            </a:r>
          </a:p>
          <a:p>
            <a:r>
              <a:rPr lang="en-US" dirty="0"/>
              <a:t>        if (</a:t>
            </a:r>
            <a:r>
              <a:rPr lang="en-US" dirty="0" err="1"/>
              <a:t>i</a:t>
            </a:r>
            <a:r>
              <a:rPr lang="en-US" dirty="0"/>
              <a:t> &lt; 15)</a:t>
            </a:r>
          </a:p>
          <a:p>
            <a:r>
              <a:rPr lang="en-US" dirty="0"/>
              <a:t>            </a:t>
            </a:r>
            <a:r>
              <a:rPr lang="en-US" dirty="0" err="1"/>
              <a:t>printf</a:t>
            </a:r>
            <a:r>
              <a:rPr lang="en-US" dirty="0"/>
              <a:t>("</a:t>
            </a:r>
            <a:r>
              <a:rPr lang="en-US" dirty="0" err="1"/>
              <a:t>i</a:t>
            </a:r>
            <a:r>
              <a:rPr lang="en-US" dirty="0"/>
              <a:t> is smaller than 15\n");</a:t>
            </a:r>
          </a:p>
          <a:p>
            <a:endParaRPr lang="en-US" dirty="0"/>
          </a:p>
          <a:p>
            <a:r>
              <a:rPr lang="en-US" dirty="0"/>
              <a:t>        // Nested - if statement</a:t>
            </a:r>
          </a:p>
          <a:p>
            <a:r>
              <a:rPr lang="en-US" dirty="0"/>
              <a:t>        // Will only be executed if statement above</a:t>
            </a:r>
          </a:p>
          <a:p>
            <a:r>
              <a:rPr lang="en-US" dirty="0"/>
              <a:t>        // is true</a:t>
            </a:r>
          </a:p>
          <a:p>
            <a:r>
              <a:rPr lang="en-US" dirty="0"/>
              <a:t>        if (</a:t>
            </a:r>
            <a:r>
              <a:rPr lang="en-US" dirty="0" err="1"/>
              <a:t>i</a:t>
            </a:r>
            <a:r>
              <a:rPr lang="en-US" dirty="0"/>
              <a:t> &lt; 12)</a:t>
            </a:r>
          </a:p>
          <a:p>
            <a:r>
              <a:rPr lang="en-US" dirty="0"/>
              <a:t>            </a:t>
            </a:r>
            <a:r>
              <a:rPr lang="en-US" dirty="0" err="1"/>
              <a:t>printf</a:t>
            </a:r>
            <a:r>
              <a:rPr lang="en-US" dirty="0"/>
              <a:t>("</a:t>
            </a:r>
            <a:r>
              <a:rPr lang="en-US" dirty="0" err="1"/>
              <a:t>i</a:t>
            </a:r>
            <a:r>
              <a:rPr lang="en-US" dirty="0"/>
              <a:t> is smaller than 12 too\n");</a:t>
            </a:r>
          </a:p>
          <a:p>
            <a:r>
              <a:rPr lang="en-US" dirty="0"/>
              <a:t>        else</a:t>
            </a:r>
          </a:p>
          <a:p>
            <a:r>
              <a:rPr lang="en-US" dirty="0"/>
              <a:t>            </a:t>
            </a:r>
            <a:r>
              <a:rPr lang="en-US" dirty="0" err="1"/>
              <a:t>printf</a:t>
            </a:r>
            <a:r>
              <a:rPr lang="en-US" dirty="0"/>
              <a:t>("</a:t>
            </a:r>
            <a:r>
              <a:rPr lang="en-US" dirty="0" err="1"/>
              <a:t>i</a:t>
            </a:r>
            <a:r>
              <a:rPr lang="en-US" dirty="0"/>
              <a:t> is greater than 15");</a:t>
            </a:r>
          </a:p>
          <a:p>
            <a:r>
              <a:rPr lang="en-US" dirty="0"/>
              <a:t>    }</a:t>
            </a:r>
            <a:endParaRPr lang="en-CA" dirty="0"/>
          </a:p>
        </p:txBody>
      </p:sp>
      <p:sp>
        <p:nvSpPr>
          <p:cNvPr id="9" name="TextBox 8">
            <a:extLst>
              <a:ext uri="{FF2B5EF4-FFF2-40B4-BE49-F238E27FC236}">
                <a16:creationId xmlns:a16="http://schemas.microsoft.com/office/drawing/2014/main" id="{B66F7205-E617-FC4F-8C9A-382A509CEE4D}"/>
              </a:ext>
            </a:extLst>
          </p:cNvPr>
          <p:cNvSpPr txBox="1"/>
          <p:nvPr/>
        </p:nvSpPr>
        <p:spPr>
          <a:xfrm>
            <a:off x="6727371" y="514874"/>
            <a:ext cx="4648200" cy="4524315"/>
          </a:xfrm>
          <a:prstGeom prst="rect">
            <a:avLst/>
          </a:prstGeom>
          <a:noFill/>
        </p:spPr>
        <p:txBody>
          <a:bodyPr wrap="square">
            <a:spAutoFit/>
          </a:bodyPr>
          <a:lstStyle/>
          <a:p>
            <a:r>
              <a:rPr lang="en-US" dirty="0"/>
              <a:t>else {</a:t>
            </a:r>
          </a:p>
          <a:p>
            <a:r>
              <a:rPr lang="en-US" dirty="0"/>
              <a:t>        if (</a:t>
            </a:r>
            <a:r>
              <a:rPr lang="en-US" dirty="0" err="1"/>
              <a:t>i</a:t>
            </a:r>
            <a:r>
              <a:rPr lang="en-US" dirty="0"/>
              <a:t> == 20) {</a:t>
            </a:r>
          </a:p>
          <a:p>
            <a:endParaRPr lang="en-US" dirty="0"/>
          </a:p>
          <a:p>
            <a:r>
              <a:rPr lang="en-US" dirty="0"/>
              <a:t>            // Nested - if statement</a:t>
            </a:r>
          </a:p>
          <a:p>
            <a:r>
              <a:rPr lang="en-US" dirty="0"/>
              <a:t>            // Will only be executed if statement above</a:t>
            </a:r>
          </a:p>
          <a:p>
            <a:r>
              <a:rPr lang="en-US" dirty="0"/>
              <a:t>            // is true</a:t>
            </a:r>
          </a:p>
          <a:p>
            <a:r>
              <a:rPr lang="en-US" dirty="0"/>
              <a:t>            if (</a:t>
            </a:r>
            <a:r>
              <a:rPr lang="en-US" dirty="0" err="1"/>
              <a:t>i</a:t>
            </a:r>
            <a:r>
              <a:rPr lang="en-US" dirty="0"/>
              <a:t> &lt; 22)</a:t>
            </a:r>
          </a:p>
          <a:p>
            <a:r>
              <a:rPr lang="en-US" dirty="0"/>
              <a:t>                </a:t>
            </a:r>
            <a:r>
              <a:rPr lang="en-US" dirty="0" err="1"/>
              <a:t>printf</a:t>
            </a:r>
            <a:r>
              <a:rPr lang="en-US" dirty="0"/>
              <a:t>("</a:t>
            </a:r>
            <a:r>
              <a:rPr lang="en-US" dirty="0" err="1"/>
              <a:t>i</a:t>
            </a:r>
            <a:r>
              <a:rPr lang="en-US" dirty="0"/>
              <a:t> is smaller than 22 too\n");</a:t>
            </a:r>
          </a:p>
          <a:p>
            <a:r>
              <a:rPr lang="en-US" dirty="0"/>
              <a:t>            else</a:t>
            </a:r>
          </a:p>
          <a:p>
            <a:r>
              <a:rPr lang="en-US" dirty="0"/>
              <a:t>                </a:t>
            </a:r>
            <a:r>
              <a:rPr lang="en-US" dirty="0" err="1"/>
              <a:t>printf</a:t>
            </a:r>
            <a:r>
              <a:rPr lang="en-US" dirty="0"/>
              <a:t>("</a:t>
            </a:r>
            <a:r>
              <a:rPr lang="en-US" dirty="0" err="1"/>
              <a:t>i</a:t>
            </a:r>
            <a:r>
              <a:rPr lang="en-US" dirty="0"/>
              <a:t> is greater than 25");</a:t>
            </a:r>
          </a:p>
          <a:p>
            <a:r>
              <a:rPr lang="en-US" dirty="0"/>
              <a:t>        }</a:t>
            </a:r>
          </a:p>
          <a:p>
            <a:r>
              <a:rPr lang="en-US" dirty="0"/>
              <a:t>    }</a:t>
            </a:r>
          </a:p>
          <a:p>
            <a:endParaRPr lang="en-US" dirty="0"/>
          </a:p>
          <a:p>
            <a:r>
              <a:rPr lang="en-US" dirty="0"/>
              <a:t>    return 0;</a:t>
            </a:r>
          </a:p>
          <a:p>
            <a:r>
              <a:rPr lang="en-US" dirty="0"/>
              <a:t>}</a:t>
            </a:r>
            <a:endParaRPr lang="en-CA" dirty="0"/>
          </a:p>
        </p:txBody>
      </p:sp>
      <p:sp>
        <p:nvSpPr>
          <p:cNvPr id="12" name="TextBox 11">
            <a:extLst>
              <a:ext uri="{FF2B5EF4-FFF2-40B4-BE49-F238E27FC236}">
                <a16:creationId xmlns:a16="http://schemas.microsoft.com/office/drawing/2014/main" id="{527F3599-2727-2933-B619-88D2CA41393F}"/>
              </a:ext>
            </a:extLst>
          </p:cNvPr>
          <p:cNvSpPr txBox="1"/>
          <p:nvPr/>
        </p:nvSpPr>
        <p:spPr>
          <a:xfrm>
            <a:off x="6313714" y="5500854"/>
            <a:ext cx="6183086" cy="923330"/>
          </a:xfrm>
          <a:prstGeom prst="rect">
            <a:avLst/>
          </a:prstGeom>
          <a:noFill/>
        </p:spPr>
        <p:txBody>
          <a:bodyPr wrap="square">
            <a:spAutoFit/>
          </a:bodyPr>
          <a:lstStyle/>
          <a:p>
            <a:r>
              <a:rPr lang="en-US" dirty="0"/>
              <a:t>Output:</a:t>
            </a:r>
          </a:p>
          <a:p>
            <a:r>
              <a:rPr lang="en-US" dirty="0" err="1"/>
              <a:t>i</a:t>
            </a:r>
            <a:r>
              <a:rPr lang="en-US" dirty="0"/>
              <a:t> is smaller than 15</a:t>
            </a:r>
          </a:p>
          <a:p>
            <a:r>
              <a:rPr lang="en-US" dirty="0" err="1"/>
              <a:t>i</a:t>
            </a:r>
            <a:r>
              <a:rPr lang="en-US" dirty="0"/>
              <a:t> is smaller than 12 too</a:t>
            </a:r>
            <a:endParaRPr lang="en-CA" dirty="0"/>
          </a:p>
        </p:txBody>
      </p:sp>
      <p:sp>
        <p:nvSpPr>
          <p:cNvPr id="2" name="Footer Placeholder 1">
            <a:extLst>
              <a:ext uri="{FF2B5EF4-FFF2-40B4-BE49-F238E27FC236}">
                <a16:creationId xmlns:a16="http://schemas.microsoft.com/office/drawing/2014/main" id="{AECAAF16-CB73-9169-399C-41D7D288045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9442037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A3873-5C51-8117-8F86-AB10DA0D9EF3}"/>
              </a:ext>
            </a:extLst>
          </p:cNvPr>
          <p:cNvSpPr>
            <a:spLocks noGrp="1"/>
          </p:cNvSpPr>
          <p:nvPr>
            <p:ph type="title"/>
          </p:nvPr>
        </p:nvSpPr>
        <p:spPr/>
        <p:txBody>
          <a:bodyPr/>
          <a:lstStyle/>
          <a:p>
            <a:pPr algn="ctr"/>
            <a:r>
              <a:rPr lang="en-CA" dirty="0"/>
              <a:t>if-else-if Ladder in C</a:t>
            </a:r>
          </a:p>
        </p:txBody>
      </p:sp>
      <p:sp>
        <p:nvSpPr>
          <p:cNvPr id="3" name="Content Placeholder 2">
            <a:extLst>
              <a:ext uri="{FF2B5EF4-FFF2-40B4-BE49-F238E27FC236}">
                <a16:creationId xmlns:a16="http://schemas.microsoft.com/office/drawing/2014/main" id="{09AAA8BE-ADF0-FF91-1276-502CC7D17224}"/>
              </a:ext>
            </a:extLst>
          </p:cNvPr>
          <p:cNvSpPr>
            <a:spLocks noGrp="1"/>
          </p:cNvSpPr>
          <p:nvPr>
            <p:ph idx="1"/>
          </p:nvPr>
        </p:nvSpPr>
        <p:spPr>
          <a:xfrm>
            <a:off x="838200" y="1825625"/>
            <a:ext cx="3864429" cy="4351338"/>
          </a:xfrm>
        </p:spPr>
        <p:txBody>
          <a:bodyPr/>
          <a:lstStyle/>
          <a:p>
            <a:pPr marL="0" indent="0">
              <a:buNone/>
            </a:pPr>
            <a:r>
              <a:rPr lang="en-US" dirty="0"/>
              <a:t>if (condition)</a:t>
            </a:r>
          </a:p>
          <a:p>
            <a:pPr marL="0" indent="0">
              <a:buNone/>
            </a:pPr>
            <a:r>
              <a:rPr lang="en-US" dirty="0"/>
              <a:t>    statement;</a:t>
            </a:r>
          </a:p>
          <a:p>
            <a:pPr marL="0" indent="0">
              <a:buNone/>
            </a:pPr>
            <a:r>
              <a:rPr lang="en-US" dirty="0"/>
              <a:t>else if (condition)</a:t>
            </a:r>
          </a:p>
          <a:p>
            <a:pPr marL="0" indent="0">
              <a:buNone/>
            </a:pPr>
            <a:r>
              <a:rPr lang="en-US" dirty="0"/>
              <a:t>    statement;</a:t>
            </a:r>
          </a:p>
          <a:p>
            <a:pPr marL="0" indent="0">
              <a:buNone/>
            </a:pPr>
            <a:r>
              <a:rPr lang="en-US" dirty="0"/>
              <a:t>.</a:t>
            </a:r>
          </a:p>
          <a:p>
            <a:pPr marL="0" indent="0">
              <a:buNone/>
            </a:pPr>
            <a:r>
              <a:rPr lang="en-US" dirty="0"/>
              <a:t>.</a:t>
            </a:r>
          </a:p>
          <a:p>
            <a:pPr marL="0" indent="0">
              <a:buNone/>
            </a:pPr>
            <a:r>
              <a:rPr lang="en-US" dirty="0"/>
              <a:t>else</a:t>
            </a:r>
          </a:p>
          <a:p>
            <a:pPr marL="0" indent="0">
              <a:buNone/>
            </a:pPr>
            <a:r>
              <a:rPr lang="en-US" dirty="0"/>
              <a:t>    statement;</a:t>
            </a:r>
            <a:endParaRPr lang="en-CA" dirty="0"/>
          </a:p>
        </p:txBody>
      </p:sp>
      <p:pic>
        <p:nvPicPr>
          <p:cNvPr id="6" name="Picture 5">
            <a:extLst>
              <a:ext uri="{FF2B5EF4-FFF2-40B4-BE49-F238E27FC236}">
                <a16:creationId xmlns:a16="http://schemas.microsoft.com/office/drawing/2014/main" id="{F3DC636E-4D49-564A-4907-5D9B623D08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3743" y="1690688"/>
            <a:ext cx="5442859" cy="4351338"/>
          </a:xfrm>
          <a:prstGeom prst="rect">
            <a:avLst/>
          </a:prstGeom>
        </p:spPr>
      </p:pic>
      <p:sp>
        <p:nvSpPr>
          <p:cNvPr id="4" name="Footer Placeholder 3">
            <a:extLst>
              <a:ext uri="{FF2B5EF4-FFF2-40B4-BE49-F238E27FC236}">
                <a16:creationId xmlns:a16="http://schemas.microsoft.com/office/drawing/2014/main" id="{7C5A152D-3E4B-B71B-0D81-445E7694ACF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2522423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6C78DD-BFB2-B56A-55F4-B319E33A7C3A}"/>
              </a:ext>
            </a:extLst>
          </p:cNvPr>
          <p:cNvSpPr>
            <a:spLocks noGrp="1"/>
          </p:cNvSpPr>
          <p:nvPr>
            <p:ph idx="1"/>
          </p:nvPr>
        </p:nvSpPr>
        <p:spPr>
          <a:xfrm>
            <a:off x="838200" y="555171"/>
            <a:ext cx="5257800" cy="5621792"/>
          </a:xfrm>
        </p:spPr>
        <p:txBody>
          <a:bodyPr>
            <a:normAutofit fontScale="70000" lnSpcReduction="20000"/>
          </a:bodyPr>
          <a:lstStyle/>
          <a:p>
            <a:pPr marL="0" indent="0">
              <a:buNone/>
            </a:pPr>
            <a:r>
              <a:rPr lang="en-US" dirty="0"/>
              <a:t>// C program to illustrate nested-if statement</a:t>
            </a:r>
          </a:p>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a:t>
            </a:r>
          </a:p>
          <a:p>
            <a:pPr marL="0" indent="0">
              <a:buNone/>
            </a:pPr>
            <a:r>
              <a:rPr lang="en-US" dirty="0"/>
              <a:t>{</a:t>
            </a:r>
          </a:p>
          <a:p>
            <a:pPr marL="0" indent="0">
              <a:buNone/>
            </a:pPr>
            <a:r>
              <a:rPr lang="en-US" dirty="0"/>
              <a:t>    int </a:t>
            </a:r>
            <a:r>
              <a:rPr lang="en-US" dirty="0" err="1"/>
              <a:t>i</a:t>
            </a:r>
            <a:r>
              <a:rPr lang="en-US" dirty="0"/>
              <a:t> = 20;</a:t>
            </a:r>
          </a:p>
          <a:p>
            <a:pPr marL="0" indent="0">
              <a:buNone/>
            </a:pPr>
            <a:endParaRPr lang="en-US" dirty="0"/>
          </a:p>
          <a:p>
            <a:pPr marL="0" indent="0">
              <a:buNone/>
            </a:pPr>
            <a:r>
              <a:rPr lang="en-US" dirty="0"/>
              <a:t>    if (</a:t>
            </a:r>
            <a:r>
              <a:rPr lang="en-US" dirty="0" err="1"/>
              <a:t>i</a:t>
            </a:r>
            <a:r>
              <a:rPr lang="en-US" dirty="0"/>
              <a:t> == 10)</a:t>
            </a:r>
          </a:p>
          <a:p>
            <a:pPr marL="0" indent="0">
              <a:buNone/>
            </a:pPr>
            <a:r>
              <a:rPr lang="en-US" dirty="0"/>
              <a:t>        </a:t>
            </a:r>
            <a:r>
              <a:rPr lang="en-US" dirty="0" err="1"/>
              <a:t>printf</a:t>
            </a:r>
            <a:r>
              <a:rPr lang="en-US" dirty="0"/>
              <a:t>("</a:t>
            </a:r>
            <a:r>
              <a:rPr lang="en-US" dirty="0" err="1"/>
              <a:t>i</a:t>
            </a:r>
            <a:r>
              <a:rPr lang="en-US" dirty="0"/>
              <a:t> is 10");</a:t>
            </a:r>
          </a:p>
          <a:p>
            <a:pPr marL="0" indent="0">
              <a:buNone/>
            </a:pPr>
            <a:r>
              <a:rPr lang="en-US" dirty="0"/>
              <a:t>    else if (</a:t>
            </a:r>
            <a:r>
              <a:rPr lang="en-US" dirty="0" err="1"/>
              <a:t>i</a:t>
            </a:r>
            <a:r>
              <a:rPr lang="en-US" dirty="0"/>
              <a:t> == 15)</a:t>
            </a:r>
          </a:p>
          <a:p>
            <a:pPr marL="0" indent="0">
              <a:buNone/>
            </a:pPr>
            <a:r>
              <a:rPr lang="en-US" dirty="0"/>
              <a:t>        </a:t>
            </a:r>
            <a:r>
              <a:rPr lang="en-US" dirty="0" err="1"/>
              <a:t>printf</a:t>
            </a:r>
            <a:r>
              <a:rPr lang="en-US" dirty="0"/>
              <a:t>("</a:t>
            </a:r>
            <a:r>
              <a:rPr lang="en-US" dirty="0" err="1"/>
              <a:t>i</a:t>
            </a:r>
            <a:r>
              <a:rPr lang="en-US" dirty="0"/>
              <a:t> is 15");</a:t>
            </a:r>
          </a:p>
          <a:p>
            <a:pPr marL="0" indent="0">
              <a:buNone/>
            </a:pPr>
            <a:r>
              <a:rPr lang="en-US" dirty="0"/>
              <a:t>    else if (</a:t>
            </a:r>
            <a:r>
              <a:rPr lang="en-US" dirty="0" err="1"/>
              <a:t>i</a:t>
            </a:r>
            <a:r>
              <a:rPr lang="en-US" dirty="0"/>
              <a:t> == 20)</a:t>
            </a:r>
          </a:p>
          <a:p>
            <a:pPr marL="0" indent="0">
              <a:buNone/>
            </a:pPr>
            <a:r>
              <a:rPr lang="en-US" dirty="0"/>
              <a:t>        </a:t>
            </a:r>
            <a:r>
              <a:rPr lang="en-US" dirty="0" err="1"/>
              <a:t>printf</a:t>
            </a:r>
            <a:r>
              <a:rPr lang="en-US" dirty="0"/>
              <a:t>("</a:t>
            </a:r>
            <a:r>
              <a:rPr lang="en-US" dirty="0" err="1"/>
              <a:t>i</a:t>
            </a:r>
            <a:r>
              <a:rPr lang="en-US" dirty="0"/>
              <a:t> is 20");</a:t>
            </a:r>
          </a:p>
          <a:p>
            <a:pPr marL="0" indent="0">
              <a:buNone/>
            </a:pPr>
            <a:r>
              <a:rPr lang="en-US" dirty="0"/>
              <a:t>    else</a:t>
            </a:r>
          </a:p>
          <a:p>
            <a:pPr marL="0" indent="0">
              <a:buNone/>
            </a:pPr>
            <a:r>
              <a:rPr lang="en-US" dirty="0"/>
              <a:t>        </a:t>
            </a:r>
            <a:r>
              <a:rPr lang="en-US" dirty="0" err="1"/>
              <a:t>printf</a:t>
            </a:r>
            <a:r>
              <a:rPr lang="en-US" dirty="0"/>
              <a:t>("</a:t>
            </a:r>
            <a:r>
              <a:rPr lang="en-US" dirty="0" err="1"/>
              <a:t>i</a:t>
            </a:r>
            <a:r>
              <a:rPr lang="en-US" dirty="0"/>
              <a:t> is not present");</a:t>
            </a:r>
          </a:p>
          <a:p>
            <a:pPr marL="0" indent="0">
              <a:buNone/>
            </a:pPr>
            <a:r>
              <a:rPr lang="en-US" dirty="0"/>
              <a:t>}</a:t>
            </a:r>
            <a:endParaRPr lang="en-CA" dirty="0"/>
          </a:p>
        </p:txBody>
      </p:sp>
      <p:sp>
        <p:nvSpPr>
          <p:cNvPr id="7" name="TextBox 6">
            <a:extLst>
              <a:ext uri="{FF2B5EF4-FFF2-40B4-BE49-F238E27FC236}">
                <a16:creationId xmlns:a16="http://schemas.microsoft.com/office/drawing/2014/main" id="{163E5817-814A-5461-8332-F0B36582FDE8}"/>
              </a:ext>
            </a:extLst>
          </p:cNvPr>
          <p:cNvSpPr txBox="1"/>
          <p:nvPr/>
        </p:nvSpPr>
        <p:spPr>
          <a:xfrm>
            <a:off x="7467600" y="3560020"/>
            <a:ext cx="2808514" cy="646331"/>
          </a:xfrm>
          <a:prstGeom prst="rect">
            <a:avLst/>
          </a:prstGeom>
          <a:noFill/>
        </p:spPr>
        <p:txBody>
          <a:bodyPr wrap="square">
            <a:spAutoFit/>
          </a:bodyPr>
          <a:lstStyle/>
          <a:p>
            <a:r>
              <a:rPr lang="en-CA" dirty="0"/>
              <a:t>output</a:t>
            </a:r>
          </a:p>
          <a:p>
            <a:r>
              <a:rPr lang="en-CA" dirty="0" err="1"/>
              <a:t>i</a:t>
            </a:r>
            <a:r>
              <a:rPr lang="en-CA" dirty="0"/>
              <a:t> is 20</a:t>
            </a:r>
          </a:p>
        </p:txBody>
      </p:sp>
      <p:sp>
        <p:nvSpPr>
          <p:cNvPr id="2" name="Footer Placeholder 1">
            <a:extLst>
              <a:ext uri="{FF2B5EF4-FFF2-40B4-BE49-F238E27FC236}">
                <a16:creationId xmlns:a16="http://schemas.microsoft.com/office/drawing/2014/main" id="{8C0B834B-D85D-1AD4-B8EF-197031A27D4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189592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1000-7E9A-1BCB-6693-9D7EB69D4C69}"/>
              </a:ext>
            </a:extLst>
          </p:cNvPr>
          <p:cNvSpPr>
            <a:spLocks noGrp="1"/>
          </p:cNvSpPr>
          <p:nvPr>
            <p:ph type="title"/>
          </p:nvPr>
        </p:nvSpPr>
        <p:spPr/>
        <p:txBody>
          <a:bodyPr/>
          <a:lstStyle/>
          <a:p>
            <a:pPr algn="ctr"/>
            <a:r>
              <a:rPr lang="en-CA" dirty="0"/>
              <a:t>switch Statement in C</a:t>
            </a:r>
          </a:p>
        </p:txBody>
      </p:sp>
      <p:sp>
        <p:nvSpPr>
          <p:cNvPr id="3" name="Content Placeholder 2">
            <a:extLst>
              <a:ext uri="{FF2B5EF4-FFF2-40B4-BE49-F238E27FC236}">
                <a16:creationId xmlns:a16="http://schemas.microsoft.com/office/drawing/2014/main" id="{DCD1DE24-1EF7-30EC-F1CC-E14D4601CF2F}"/>
              </a:ext>
            </a:extLst>
          </p:cNvPr>
          <p:cNvSpPr>
            <a:spLocks noGrp="1"/>
          </p:cNvSpPr>
          <p:nvPr>
            <p:ph idx="1"/>
          </p:nvPr>
        </p:nvSpPr>
        <p:spPr>
          <a:xfrm>
            <a:off x="838200" y="1825625"/>
            <a:ext cx="4593771" cy="4351338"/>
          </a:xfrm>
        </p:spPr>
        <p:txBody>
          <a:bodyPr>
            <a:normAutofit fontScale="85000" lnSpcReduction="20000"/>
          </a:bodyPr>
          <a:lstStyle/>
          <a:p>
            <a:pPr marL="0" indent="0">
              <a:buNone/>
            </a:pPr>
            <a:r>
              <a:rPr lang="en-US" dirty="0"/>
              <a:t>switch (expression) {</a:t>
            </a:r>
          </a:p>
          <a:p>
            <a:pPr marL="0" indent="0">
              <a:buNone/>
            </a:pPr>
            <a:r>
              <a:rPr lang="en-US" dirty="0"/>
              <a:t>    case value1:</a:t>
            </a:r>
          </a:p>
          <a:p>
            <a:pPr marL="0" indent="0">
              <a:buNone/>
            </a:pPr>
            <a:r>
              <a:rPr lang="en-US" dirty="0"/>
              <a:t>        statements;</a:t>
            </a:r>
          </a:p>
          <a:p>
            <a:pPr marL="0" indent="0">
              <a:buNone/>
            </a:pPr>
            <a:r>
              <a:rPr lang="en-US" dirty="0"/>
              <a:t>    case value2:</a:t>
            </a:r>
          </a:p>
          <a:p>
            <a:pPr marL="0" indent="0">
              <a:buNone/>
            </a:pPr>
            <a:r>
              <a:rPr lang="en-US" dirty="0"/>
              <a:t>        statements;</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default:</a:t>
            </a:r>
          </a:p>
          <a:p>
            <a:pPr marL="0" indent="0">
              <a:buNone/>
            </a:pPr>
            <a:r>
              <a:rPr lang="en-US" dirty="0"/>
              <a:t>        statements;</a:t>
            </a:r>
          </a:p>
          <a:p>
            <a:pPr marL="0" indent="0">
              <a:buNone/>
            </a:pPr>
            <a:r>
              <a:rPr lang="en-US" dirty="0"/>
              <a:t>}</a:t>
            </a:r>
            <a:endParaRPr lang="en-CA" dirty="0"/>
          </a:p>
        </p:txBody>
      </p:sp>
      <p:pic>
        <p:nvPicPr>
          <p:cNvPr id="8" name="Picture 7">
            <a:extLst>
              <a:ext uri="{FF2B5EF4-FFF2-40B4-BE49-F238E27FC236}">
                <a16:creationId xmlns:a16="http://schemas.microsoft.com/office/drawing/2014/main" id="{F49F0AB3-9A98-9B6E-D741-F055E0645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1360713"/>
            <a:ext cx="6172200" cy="5132161"/>
          </a:xfrm>
          <a:prstGeom prst="rect">
            <a:avLst/>
          </a:prstGeom>
        </p:spPr>
      </p:pic>
      <p:sp>
        <p:nvSpPr>
          <p:cNvPr id="4" name="Footer Placeholder 3">
            <a:extLst>
              <a:ext uri="{FF2B5EF4-FFF2-40B4-BE49-F238E27FC236}">
                <a16:creationId xmlns:a16="http://schemas.microsoft.com/office/drawing/2014/main" id="{73076C0F-1565-C41E-8BAB-FAA1BC5A190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947452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1C0CE6-5A4D-2F1F-3117-D988E6DE974A}"/>
              </a:ext>
            </a:extLst>
          </p:cNvPr>
          <p:cNvSpPr>
            <a:spLocks noGrp="1"/>
          </p:cNvSpPr>
          <p:nvPr>
            <p:ph idx="1"/>
          </p:nvPr>
        </p:nvSpPr>
        <p:spPr>
          <a:xfrm>
            <a:off x="609600" y="544286"/>
            <a:ext cx="4680857" cy="6096000"/>
          </a:xfrm>
        </p:spPr>
        <p:txBody>
          <a:bodyPr>
            <a:normAutofit fontScale="85000" lnSpcReduction="20000"/>
          </a:bodyPr>
          <a:lstStyle/>
          <a:p>
            <a:pPr marL="0" indent="0">
              <a:buNone/>
            </a:pPr>
            <a:r>
              <a:rPr lang="en-US" dirty="0"/>
              <a:t>// C Program to illustrate the use of switch statement</a:t>
            </a:r>
          </a:p>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a:t>
            </a:r>
          </a:p>
          <a:p>
            <a:pPr marL="0" indent="0">
              <a:buNone/>
            </a:pPr>
            <a:r>
              <a:rPr lang="en-US" dirty="0"/>
              <a:t>{</a:t>
            </a:r>
          </a:p>
          <a:p>
            <a:pPr marL="0" indent="0">
              <a:buNone/>
            </a:pPr>
            <a:r>
              <a:rPr lang="en-US" dirty="0"/>
              <a:t>    // variable to be used in switch statement</a:t>
            </a:r>
          </a:p>
          <a:p>
            <a:pPr marL="0" indent="0">
              <a:buNone/>
            </a:pPr>
            <a:r>
              <a:rPr lang="en-US" dirty="0"/>
              <a:t>    int var = 2;</a:t>
            </a:r>
          </a:p>
          <a:p>
            <a:pPr marL="0" indent="0">
              <a:buNone/>
            </a:pPr>
            <a:endParaRPr lang="en-US" dirty="0"/>
          </a:p>
          <a:p>
            <a:pPr marL="0" indent="0">
              <a:buNone/>
            </a:pPr>
            <a:r>
              <a:rPr lang="en-US" dirty="0"/>
              <a:t>    // declaring switch cases</a:t>
            </a:r>
          </a:p>
          <a:p>
            <a:pPr marL="0" indent="0">
              <a:buNone/>
            </a:pPr>
            <a:r>
              <a:rPr lang="en-US" dirty="0"/>
              <a:t>    switch (var) {</a:t>
            </a:r>
          </a:p>
          <a:p>
            <a:pPr marL="0" indent="0">
              <a:buNone/>
            </a:pPr>
            <a:r>
              <a:rPr lang="en-US" dirty="0"/>
              <a:t>    case 1:</a:t>
            </a:r>
          </a:p>
          <a:p>
            <a:pPr marL="0" indent="0">
              <a:buNone/>
            </a:pPr>
            <a:r>
              <a:rPr lang="en-US" dirty="0"/>
              <a:t>        </a:t>
            </a:r>
            <a:r>
              <a:rPr lang="en-US" dirty="0" err="1"/>
              <a:t>printf</a:t>
            </a:r>
            <a:r>
              <a:rPr lang="en-US" dirty="0"/>
              <a:t>("Case 1 is executed");</a:t>
            </a:r>
          </a:p>
          <a:p>
            <a:pPr marL="0" indent="0">
              <a:buNone/>
            </a:pPr>
            <a:r>
              <a:rPr lang="en-US" dirty="0"/>
              <a:t>        break;</a:t>
            </a:r>
          </a:p>
          <a:p>
            <a:pPr marL="0" indent="0">
              <a:buNone/>
            </a:pPr>
            <a:r>
              <a:rPr lang="en-US" dirty="0"/>
              <a:t>    </a:t>
            </a:r>
            <a:endParaRPr lang="en-CA" dirty="0"/>
          </a:p>
        </p:txBody>
      </p:sp>
      <p:sp>
        <p:nvSpPr>
          <p:cNvPr id="6" name="TextBox 5">
            <a:extLst>
              <a:ext uri="{FF2B5EF4-FFF2-40B4-BE49-F238E27FC236}">
                <a16:creationId xmlns:a16="http://schemas.microsoft.com/office/drawing/2014/main" id="{1F710D75-4A8E-834F-2DF8-2A138B5B27B7}"/>
              </a:ext>
            </a:extLst>
          </p:cNvPr>
          <p:cNvSpPr txBox="1"/>
          <p:nvPr/>
        </p:nvSpPr>
        <p:spPr>
          <a:xfrm>
            <a:off x="6618514" y="544286"/>
            <a:ext cx="4365172" cy="2862322"/>
          </a:xfrm>
          <a:prstGeom prst="rect">
            <a:avLst/>
          </a:prstGeom>
          <a:noFill/>
        </p:spPr>
        <p:txBody>
          <a:bodyPr wrap="square">
            <a:spAutoFit/>
          </a:bodyPr>
          <a:lstStyle/>
          <a:p>
            <a:pPr marL="0" indent="0">
              <a:buNone/>
            </a:pPr>
            <a:r>
              <a:rPr lang="en-US" dirty="0"/>
              <a:t>case 2:</a:t>
            </a:r>
          </a:p>
          <a:p>
            <a:pPr marL="0" indent="0">
              <a:buNone/>
            </a:pPr>
            <a:r>
              <a:rPr lang="en-US" dirty="0"/>
              <a:t>        </a:t>
            </a:r>
            <a:r>
              <a:rPr lang="en-US" dirty="0" err="1"/>
              <a:t>printf</a:t>
            </a:r>
            <a:r>
              <a:rPr lang="en-US" dirty="0"/>
              <a:t>("Case 2 is executed");</a:t>
            </a:r>
          </a:p>
          <a:p>
            <a:pPr marL="0" indent="0">
              <a:buNone/>
            </a:pPr>
            <a:r>
              <a:rPr lang="en-US" dirty="0"/>
              <a:t>        break;</a:t>
            </a:r>
          </a:p>
          <a:p>
            <a:pPr marL="0" indent="0">
              <a:buNone/>
            </a:pPr>
            <a:r>
              <a:rPr lang="en-US" dirty="0"/>
              <a:t>    default:</a:t>
            </a:r>
          </a:p>
          <a:p>
            <a:pPr marL="0" indent="0">
              <a:buNone/>
            </a:pPr>
            <a:r>
              <a:rPr lang="en-US" dirty="0"/>
              <a:t>        </a:t>
            </a:r>
            <a:r>
              <a:rPr lang="en-US" dirty="0" err="1"/>
              <a:t>printf</a:t>
            </a:r>
            <a:r>
              <a:rPr lang="en-US" dirty="0"/>
              <a:t>("Default Case is executed");</a:t>
            </a:r>
          </a:p>
          <a:p>
            <a:pPr marL="0" indent="0">
              <a:buNone/>
            </a:pPr>
            <a:r>
              <a:rPr lang="en-US" dirty="0"/>
              <a:t>        break;</a:t>
            </a:r>
          </a:p>
          <a:p>
            <a:pPr marL="0" indent="0">
              <a:buNone/>
            </a:pPr>
            <a:r>
              <a:rPr lang="en-US" dirty="0"/>
              <a:t>    }</a:t>
            </a:r>
          </a:p>
          <a:p>
            <a:pPr marL="0" indent="0">
              <a:buNone/>
            </a:pPr>
            <a:endParaRPr lang="en-US" dirty="0"/>
          </a:p>
          <a:p>
            <a:pPr marL="0" indent="0">
              <a:buNone/>
            </a:pPr>
            <a:r>
              <a:rPr lang="en-US" dirty="0"/>
              <a:t>    return 0;</a:t>
            </a:r>
          </a:p>
          <a:p>
            <a:pPr marL="0" indent="0">
              <a:buNone/>
            </a:pPr>
            <a:r>
              <a:rPr lang="en-US" dirty="0"/>
              <a:t>}</a:t>
            </a:r>
            <a:endParaRPr lang="en-CA" dirty="0"/>
          </a:p>
        </p:txBody>
      </p:sp>
      <p:sp>
        <p:nvSpPr>
          <p:cNvPr id="9" name="TextBox 8">
            <a:extLst>
              <a:ext uri="{FF2B5EF4-FFF2-40B4-BE49-F238E27FC236}">
                <a16:creationId xmlns:a16="http://schemas.microsoft.com/office/drawing/2014/main" id="{FF201610-FA5E-0723-6B81-D7CF24E35131}"/>
              </a:ext>
            </a:extLst>
          </p:cNvPr>
          <p:cNvSpPr txBox="1"/>
          <p:nvPr/>
        </p:nvSpPr>
        <p:spPr>
          <a:xfrm>
            <a:off x="6901545" y="4528848"/>
            <a:ext cx="6183086" cy="646331"/>
          </a:xfrm>
          <a:prstGeom prst="rect">
            <a:avLst/>
          </a:prstGeom>
          <a:noFill/>
        </p:spPr>
        <p:txBody>
          <a:bodyPr wrap="square">
            <a:spAutoFit/>
          </a:bodyPr>
          <a:lstStyle/>
          <a:p>
            <a:r>
              <a:rPr lang="en-CA" dirty="0"/>
              <a:t>output</a:t>
            </a:r>
          </a:p>
          <a:p>
            <a:r>
              <a:rPr lang="en-CA" dirty="0"/>
              <a:t>Case 2 is executed</a:t>
            </a:r>
          </a:p>
        </p:txBody>
      </p:sp>
      <p:sp>
        <p:nvSpPr>
          <p:cNvPr id="2" name="Footer Placeholder 1">
            <a:extLst>
              <a:ext uri="{FF2B5EF4-FFF2-40B4-BE49-F238E27FC236}">
                <a16:creationId xmlns:a16="http://schemas.microsoft.com/office/drawing/2014/main" id="{C62B6C69-DD26-13F7-7DB6-302A85FB128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3306965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D78A-76DF-6238-C85D-6839C4854BEE}"/>
              </a:ext>
            </a:extLst>
          </p:cNvPr>
          <p:cNvSpPr>
            <a:spLocks noGrp="1"/>
          </p:cNvSpPr>
          <p:nvPr>
            <p:ph type="title"/>
          </p:nvPr>
        </p:nvSpPr>
        <p:spPr/>
        <p:txBody>
          <a:bodyPr/>
          <a:lstStyle/>
          <a:p>
            <a:pPr algn="ctr"/>
            <a:r>
              <a:rPr lang="en-CA" dirty="0"/>
              <a:t>Conditional Operator in C</a:t>
            </a:r>
          </a:p>
        </p:txBody>
      </p:sp>
      <p:sp>
        <p:nvSpPr>
          <p:cNvPr id="3" name="Content Placeholder 2">
            <a:extLst>
              <a:ext uri="{FF2B5EF4-FFF2-40B4-BE49-F238E27FC236}">
                <a16:creationId xmlns:a16="http://schemas.microsoft.com/office/drawing/2014/main" id="{49494735-39D5-C992-9AD1-0A74D363BDDD}"/>
              </a:ext>
            </a:extLst>
          </p:cNvPr>
          <p:cNvSpPr>
            <a:spLocks noGrp="1"/>
          </p:cNvSpPr>
          <p:nvPr>
            <p:ph idx="1"/>
          </p:nvPr>
        </p:nvSpPr>
        <p:spPr>
          <a:xfrm>
            <a:off x="838200" y="1825625"/>
            <a:ext cx="6085114" cy="4351338"/>
          </a:xfrm>
        </p:spPr>
        <p:txBody>
          <a:bodyPr/>
          <a:lstStyle/>
          <a:p>
            <a:r>
              <a:rPr lang="en-US" dirty="0"/>
              <a:t>is used to add conditional code in our program. </a:t>
            </a:r>
          </a:p>
          <a:p>
            <a:r>
              <a:rPr lang="en-US" dirty="0"/>
              <a:t>It is similar to the if-else statement. </a:t>
            </a:r>
          </a:p>
          <a:p>
            <a:r>
              <a:rPr lang="en-US" dirty="0"/>
              <a:t>It is also known as the ternary operator as it works on three operands.</a:t>
            </a:r>
          </a:p>
          <a:p>
            <a:r>
              <a:rPr lang="en-CA" dirty="0"/>
              <a:t>(condition) ? [</a:t>
            </a:r>
            <a:r>
              <a:rPr lang="en-CA" dirty="0" err="1"/>
              <a:t>true_statements</a:t>
            </a:r>
            <a:r>
              <a:rPr lang="en-CA" dirty="0"/>
              <a:t>] : [</a:t>
            </a:r>
            <a:r>
              <a:rPr lang="en-CA" dirty="0" err="1"/>
              <a:t>false_statements</a:t>
            </a:r>
            <a:r>
              <a:rPr lang="en-CA" dirty="0"/>
              <a:t>];</a:t>
            </a:r>
          </a:p>
        </p:txBody>
      </p:sp>
      <p:pic>
        <p:nvPicPr>
          <p:cNvPr id="6" name="Picture 5">
            <a:extLst>
              <a:ext uri="{FF2B5EF4-FFF2-40B4-BE49-F238E27FC236}">
                <a16:creationId xmlns:a16="http://schemas.microsoft.com/office/drawing/2014/main" id="{EF53EA81-AEF2-3E6E-8C71-0BCC6D5E4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8372" y="2119539"/>
            <a:ext cx="4441371" cy="3763509"/>
          </a:xfrm>
          <a:prstGeom prst="rect">
            <a:avLst/>
          </a:prstGeom>
        </p:spPr>
      </p:pic>
      <p:sp>
        <p:nvSpPr>
          <p:cNvPr id="4" name="Footer Placeholder 3">
            <a:extLst>
              <a:ext uri="{FF2B5EF4-FFF2-40B4-BE49-F238E27FC236}">
                <a16:creationId xmlns:a16="http://schemas.microsoft.com/office/drawing/2014/main" id="{2100F734-1510-CAA2-ACC6-DCAC4964A62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1895060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61BF9-AD54-C68E-72D6-6FC438EB9913}"/>
              </a:ext>
            </a:extLst>
          </p:cNvPr>
          <p:cNvSpPr>
            <a:spLocks noGrp="1"/>
          </p:cNvSpPr>
          <p:nvPr>
            <p:ph idx="1"/>
          </p:nvPr>
        </p:nvSpPr>
        <p:spPr>
          <a:xfrm>
            <a:off x="838200" y="609600"/>
            <a:ext cx="5257800" cy="5567363"/>
          </a:xfrm>
        </p:spPr>
        <p:txBody>
          <a:bodyPr>
            <a:normAutofit fontScale="70000" lnSpcReduction="20000"/>
          </a:bodyPr>
          <a:lstStyle/>
          <a:p>
            <a:pPr marL="0" indent="0">
              <a:buNone/>
            </a:pPr>
            <a:r>
              <a:rPr lang="en-US" dirty="0"/>
              <a:t>// C Program to illustrate the use of conditional operator</a:t>
            </a:r>
          </a:p>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 driver code</a:t>
            </a:r>
          </a:p>
          <a:p>
            <a:pPr marL="0" indent="0">
              <a:buNone/>
            </a:pPr>
            <a:r>
              <a:rPr lang="en-US" dirty="0"/>
              <a:t>int main()</a:t>
            </a:r>
          </a:p>
          <a:p>
            <a:pPr marL="0" indent="0">
              <a:buNone/>
            </a:pPr>
            <a:r>
              <a:rPr lang="en-US" dirty="0"/>
              <a:t>{</a:t>
            </a:r>
          </a:p>
          <a:p>
            <a:pPr marL="0" indent="0">
              <a:buNone/>
            </a:pPr>
            <a:endParaRPr lang="en-US" dirty="0"/>
          </a:p>
          <a:p>
            <a:pPr marL="0" indent="0">
              <a:buNone/>
            </a:pPr>
            <a:r>
              <a:rPr lang="en-US" dirty="0"/>
              <a:t>    int var;</a:t>
            </a:r>
          </a:p>
          <a:p>
            <a:pPr marL="0" indent="0">
              <a:buNone/>
            </a:pPr>
            <a:r>
              <a:rPr lang="en-US" dirty="0"/>
              <a:t>    int flag = 0;</a:t>
            </a:r>
          </a:p>
          <a:p>
            <a:pPr marL="0" indent="0">
              <a:buNone/>
            </a:pPr>
            <a:endParaRPr lang="en-US" dirty="0"/>
          </a:p>
          <a:p>
            <a:pPr marL="0" indent="0">
              <a:buNone/>
            </a:pPr>
            <a:r>
              <a:rPr lang="en-US" dirty="0"/>
              <a:t>    // using conditional operator to assign the value to var</a:t>
            </a:r>
          </a:p>
          <a:p>
            <a:pPr marL="0" indent="0">
              <a:buNone/>
            </a:pPr>
            <a:r>
              <a:rPr lang="en-US" dirty="0"/>
              <a:t>    // according to the value of flag</a:t>
            </a:r>
          </a:p>
          <a:p>
            <a:pPr marL="0" indent="0">
              <a:buNone/>
            </a:pPr>
            <a:r>
              <a:rPr lang="en-US" dirty="0"/>
              <a:t>    var = flag == 0 ? 25 : -25;</a:t>
            </a:r>
          </a:p>
          <a:p>
            <a:pPr marL="0" indent="0">
              <a:buNone/>
            </a:pPr>
            <a:r>
              <a:rPr lang="en-US" dirty="0"/>
              <a:t>    </a:t>
            </a:r>
            <a:r>
              <a:rPr lang="en-US" dirty="0" err="1"/>
              <a:t>printf</a:t>
            </a:r>
            <a:r>
              <a:rPr lang="en-US" dirty="0"/>
              <a:t>("Value of var when flag is 0: %d\n", var);</a:t>
            </a:r>
          </a:p>
        </p:txBody>
      </p:sp>
      <p:sp>
        <p:nvSpPr>
          <p:cNvPr id="6" name="TextBox 5">
            <a:extLst>
              <a:ext uri="{FF2B5EF4-FFF2-40B4-BE49-F238E27FC236}">
                <a16:creationId xmlns:a16="http://schemas.microsoft.com/office/drawing/2014/main" id="{1A9808DF-B7FE-B071-F78A-68E77981EBFB}"/>
              </a:ext>
            </a:extLst>
          </p:cNvPr>
          <p:cNvSpPr txBox="1"/>
          <p:nvPr/>
        </p:nvSpPr>
        <p:spPr>
          <a:xfrm>
            <a:off x="6629400" y="609600"/>
            <a:ext cx="5040086" cy="2862322"/>
          </a:xfrm>
          <a:prstGeom prst="rect">
            <a:avLst/>
          </a:prstGeom>
          <a:noFill/>
        </p:spPr>
        <p:txBody>
          <a:bodyPr wrap="square">
            <a:spAutoFit/>
          </a:bodyPr>
          <a:lstStyle/>
          <a:p>
            <a:pPr marL="0" indent="0">
              <a:buNone/>
            </a:pPr>
            <a:endParaRPr lang="en-US" dirty="0"/>
          </a:p>
          <a:p>
            <a:pPr marL="0" indent="0">
              <a:buNone/>
            </a:pPr>
            <a:r>
              <a:rPr lang="en-US" dirty="0"/>
              <a:t>    // changing the value of flag</a:t>
            </a:r>
          </a:p>
          <a:p>
            <a:pPr marL="0" indent="0">
              <a:buNone/>
            </a:pPr>
            <a:r>
              <a:rPr lang="en-US" dirty="0"/>
              <a:t>    flag = 1;</a:t>
            </a:r>
          </a:p>
          <a:p>
            <a:pPr marL="0" indent="0">
              <a:buNone/>
            </a:pPr>
            <a:r>
              <a:rPr lang="en-US" dirty="0"/>
              <a:t>    // again assigning the value to var using same statement</a:t>
            </a:r>
          </a:p>
          <a:p>
            <a:pPr marL="0" indent="0">
              <a:buNone/>
            </a:pPr>
            <a:r>
              <a:rPr lang="en-US" dirty="0"/>
              <a:t>    var = flag == 0 ? 25 : -25;</a:t>
            </a:r>
          </a:p>
          <a:p>
            <a:pPr marL="0" indent="0">
              <a:buNone/>
            </a:pPr>
            <a:r>
              <a:rPr lang="en-US" dirty="0"/>
              <a:t>    </a:t>
            </a:r>
            <a:r>
              <a:rPr lang="en-US" dirty="0" err="1"/>
              <a:t>printf</a:t>
            </a:r>
            <a:r>
              <a:rPr lang="en-US" dirty="0"/>
              <a:t>("Value of var when flag is NOT 0: %d", var);</a:t>
            </a:r>
          </a:p>
          <a:p>
            <a:pPr marL="0" indent="0">
              <a:buNone/>
            </a:pPr>
            <a:endParaRPr lang="en-US" dirty="0"/>
          </a:p>
          <a:p>
            <a:pPr marL="0" indent="0">
              <a:buNone/>
            </a:pPr>
            <a:r>
              <a:rPr lang="en-US" dirty="0"/>
              <a:t>    return 0;</a:t>
            </a:r>
          </a:p>
          <a:p>
            <a:pPr marL="0" indent="0">
              <a:buNone/>
            </a:pPr>
            <a:r>
              <a:rPr lang="en-US" dirty="0"/>
              <a:t>}</a:t>
            </a:r>
            <a:endParaRPr lang="en-CA" dirty="0"/>
          </a:p>
        </p:txBody>
      </p:sp>
      <p:sp>
        <p:nvSpPr>
          <p:cNvPr id="9" name="TextBox 8">
            <a:extLst>
              <a:ext uri="{FF2B5EF4-FFF2-40B4-BE49-F238E27FC236}">
                <a16:creationId xmlns:a16="http://schemas.microsoft.com/office/drawing/2014/main" id="{5C877447-353A-ED3C-9BD0-AAAFF0BA715A}"/>
              </a:ext>
            </a:extLst>
          </p:cNvPr>
          <p:cNvSpPr txBox="1"/>
          <p:nvPr/>
        </p:nvSpPr>
        <p:spPr>
          <a:xfrm>
            <a:off x="7021285" y="4237950"/>
            <a:ext cx="3450772" cy="1200329"/>
          </a:xfrm>
          <a:prstGeom prst="rect">
            <a:avLst/>
          </a:prstGeom>
          <a:noFill/>
        </p:spPr>
        <p:txBody>
          <a:bodyPr wrap="square">
            <a:spAutoFit/>
          </a:bodyPr>
          <a:lstStyle/>
          <a:p>
            <a:r>
              <a:rPr lang="en-US" dirty="0"/>
              <a:t>Output:</a:t>
            </a:r>
          </a:p>
          <a:p>
            <a:r>
              <a:rPr lang="en-US" dirty="0"/>
              <a:t>Value of var when flag is 0: 25</a:t>
            </a:r>
          </a:p>
          <a:p>
            <a:r>
              <a:rPr lang="en-US" dirty="0"/>
              <a:t>Value of var when flag is NOT 0: -25</a:t>
            </a:r>
            <a:endParaRPr lang="en-CA" dirty="0"/>
          </a:p>
        </p:txBody>
      </p:sp>
      <p:sp>
        <p:nvSpPr>
          <p:cNvPr id="2" name="Footer Placeholder 1">
            <a:extLst>
              <a:ext uri="{FF2B5EF4-FFF2-40B4-BE49-F238E27FC236}">
                <a16:creationId xmlns:a16="http://schemas.microsoft.com/office/drawing/2014/main" id="{52B0E408-190F-FF81-0164-4F350946A24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0747211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EFFC-09BF-6603-9C2B-683912CA5B3A}"/>
              </a:ext>
            </a:extLst>
          </p:cNvPr>
          <p:cNvSpPr>
            <a:spLocks noGrp="1"/>
          </p:cNvSpPr>
          <p:nvPr>
            <p:ph type="title"/>
          </p:nvPr>
        </p:nvSpPr>
        <p:spPr>
          <a:xfrm>
            <a:off x="1001486" y="0"/>
            <a:ext cx="10515600" cy="1325563"/>
          </a:xfrm>
        </p:spPr>
        <p:txBody>
          <a:bodyPr/>
          <a:lstStyle/>
          <a:p>
            <a:pPr algn="ctr"/>
            <a:r>
              <a:rPr lang="en-CA" dirty="0"/>
              <a:t>Jump Statements in C</a:t>
            </a:r>
          </a:p>
        </p:txBody>
      </p:sp>
      <p:sp>
        <p:nvSpPr>
          <p:cNvPr id="3" name="Content Placeholder 2">
            <a:extLst>
              <a:ext uri="{FF2B5EF4-FFF2-40B4-BE49-F238E27FC236}">
                <a16:creationId xmlns:a16="http://schemas.microsoft.com/office/drawing/2014/main" id="{573E733C-C97A-4A30-65A0-9AD1910E4C9F}"/>
              </a:ext>
            </a:extLst>
          </p:cNvPr>
          <p:cNvSpPr>
            <a:spLocks noGrp="1"/>
          </p:cNvSpPr>
          <p:nvPr>
            <p:ph idx="1"/>
          </p:nvPr>
        </p:nvSpPr>
        <p:spPr>
          <a:xfrm>
            <a:off x="838200" y="1564368"/>
            <a:ext cx="5638800" cy="4351338"/>
          </a:xfrm>
        </p:spPr>
        <p:txBody>
          <a:bodyPr>
            <a:normAutofit fontScale="92500" lnSpcReduction="10000"/>
          </a:bodyPr>
          <a:lstStyle/>
          <a:p>
            <a:r>
              <a:rPr lang="en-US" dirty="0"/>
              <a:t>The </a:t>
            </a:r>
            <a:r>
              <a:rPr lang="en-US" b="1" dirty="0"/>
              <a:t>break statement </a:t>
            </a:r>
            <a:r>
              <a:rPr lang="en-US" dirty="0"/>
              <a:t>is used to exit a loop or switch statement prematurely</a:t>
            </a:r>
          </a:p>
          <a:p>
            <a:pPr marL="0" indent="0">
              <a:buNone/>
            </a:pPr>
            <a:r>
              <a:rPr lang="en-CA" dirty="0"/>
              <a:t>#include &lt;</a:t>
            </a:r>
            <a:r>
              <a:rPr lang="en-CA" dirty="0" err="1"/>
              <a:t>stdio.h</a:t>
            </a:r>
            <a:r>
              <a:rPr lang="en-CA" dirty="0"/>
              <a:t>&gt;</a:t>
            </a:r>
          </a:p>
          <a:p>
            <a:pPr marL="0" indent="0">
              <a:buNone/>
            </a:pPr>
            <a:r>
              <a:rPr lang="en-CA" dirty="0"/>
              <a:t>int main() {</a:t>
            </a:r>
          </a:p>
          <a:p>
            <a:pPr marL="0" indent="0">
              <a:buNone/>
            </a:pPr>
            <a:r>
              <a:rPr lang="en-CA" dirty="0"/>
              <a:t>    int </a:t>
            </a:r>
            <a:r>
              <a:rPr lang="en-CA" dirty="0" err="1"/>
              <a:t>i</a:t>
            </a:r>
            <a:r>
              <a:rPr lang="en-CA" dirty="0"/>
              <a:t>;</a:t>
            </a:r>
          </a:p>
          <a:p>
            <a:pPr marL="0" indent="0">
              <a:buNone/>
            </a:pPr>
            <a:r>
              <a:rPr lang="en-CA" dirty="0"/>
              <a:t>    for(</a:t>
            </a:r>
            <a:r>
              <a:rPr lang="en-CA" dirty="0" err="1"/>
              <a:t>i</a:t>
            </a:r>
            <a:r>
              <a:rPr lang="en-CA" dirty="0"/>
              <a:t> = 1; </a:t>
            </a:r>
            <a:r>
              <a:rPr lang="en-CA" dirty="0" err="1"/>
              <a:t>i</a:t>
            </a:r>
            <a:r>
              <a:rPr lang="en-CA" dirty="0"/>
              <a:t> &lt;= 10; </a:t>
            </a:r>
            <a:r>
              <a:rPr lang="en-CA" dirty="0" err="1"/>
              <a:t>i</a:t>
            </a:r>
            <a:r>
              <a:rPr lang="en-CA" dirty="0"/>
              <a:t>++) {</a:t>
            </a:r>
          </a:p>
          <a:p>
            <a:pPr marL="0" indent="0">
              <a:buNone/>
            </a:pPr>
            <a:r>
              <a:rPr lang="en-CA" dirty="0"/>
              <a:t>        if(</a:t>
            </a:r>
            <a:r>
              <a:rPr lang="en-CA" dirty="0" err="1"/>
              <a:t>i</a:t>
            </a:r>
            <a:r>
              <a:rPr lang="en-CA" dirty="0"/>
              <a:t> == 5) {</a:t>
            </a:r>
          </a:p>
          <a:p>
            <a:pPr marL="0" indent="0">
              <a:buNone/>
            </a:pPr>
            <a:r>
              <a:rPr lang="en-CA" dirty="0"/>
              <a:t>            break;  // Exit the loop when </a:t>
            </a:r>
            <a:r>
              <a:rPr lang="en-CA" dirty="0" err="1"/>
              <a:t>i</a:t>
            </a:r>
            <a:r>
              <a:rPr lang="en-CA" dirty="0"/>
              <a:t> equals 5</a:t>
            </a:r>
          </a:p>
          <a:p>
            <a:pPr marL="0" indent="0">
              <a:buNone/>
            </a:pPr>
            <a:r>
              <a:rPr lang="en-CA" dirty="0"/>
              <a:t>        }</a:t>
            </a:r>
          </a:p>
        </p:txBody>
      </p:sp>
      <p:sp>
        <p:nvSpPr>
          <p:cNvPr id="6" name="TextBox 5">
            <a:extLst>
              <a:ext uri="{FF2B5EF4-FFF2-40B4-BE49-F238E27FC236}">
                <a16:creationId xmlns:a16="http://schemas.microsoft.com/office/drawing/2014/main" id="{D32E7E63-0532-79C6-9580-96DB0050641C}"/>
              </a:ext>
            </a:extLst>
          </p:cNvPr>
          <p:cNvSpPr txBox="1"/>
          <p:nvPr/>
        </p:nvSpPr>
        <p:spPr>
          <a:xfrm>
            <a:off x="7228114" y="1690688"/>
            <a:ext cx="4027715" cy="2677656"/>
          </a:xfrm>
          <a:prstGeom prst="rect">
            <a:avLst/>
          </a:prstGeom>
          <a:noFill/>
        </p:spPr>
        <p:txBody>
          <a:bodyPr wrap="square">
            <a:spAutoFit/>
          </a:bodyPr>
          <a:lstStyle/>
          <a:p>
            <a:pPr marL="0" indent="0">
              <a:buNone/>
            </a:pPr>
            <a:r>
              <a:rPr lang="en-CA" dirty="0"/>
              <a:t> </a:t>
            </a:r>
            <a:r>
              <a:rPr lang="en-CA" sz="2400" dirty="0" err="1"/>
              <a:t>printf</a:t>
            </a:r>
            <a:r>
              <a:rPr lang="en-CA" sz="2400" dirty="0"/>
              <a:t>("%d ", </a:t>
            </a:r>
            <a:r>
              <a:rPr lang="en-CA" sz="2400" dirty="0" err="1"/>
              <a:t>i</a:t>
            </a:r>
            <a:r>
              <a:rPr lang="en-CA" sz="2400" dirty="0"/>
              <a:t>);</a:t>
            </a:r>
          </a:p>
          <a:p>
            <a:pPr marL="0" indent="0">
              <a:buNone/>
            </a:pPr>
            <a:r>
              <a:rPr lang="en-CA" sz="2400" dirty="0"/>
              <a:t>    }</a:t>
            </a:r>
          </a:p>
          <a:p>
            <a:pPr marL="0" indent="0">
              <a:buNone/>
            </a:pPr>
            <a:r>
              <a:rPr lang="en-CA" sz="2400" dirty="0"/>
              <a:t>    </a:t>
            </a:r>
            <a:r>
              <a:rPr lang="en-CA" sz="2400" dirty="0" err="1"/>
              <a:t>printf</a:t>
            </a:r>
            <a:r>
              <a:rPr lang="en-CA" sz="2400" dirty="0"/>
              <a:t>("\</a:t>
            </a:r>
            <a:r>
              <a:rPr lang="en-CA" sz="2400" dirty="0" err="1"/>
              <a:t>nLoop</a:t>
            </a:r>
            <a:r>
              <a:rPr lang="en-CA" sz="2400" dirty="0"/>
              <a:t> exited at </a:t>
            </a:r>
            <a:r>
              <a:rPr lang="en-CA" sz="2400" dirty="0" err="1"/>
              <a:t>i</a:t>
            </a:r>
            <a:r>
              <a:rPr lang="en-CA" sz="2400" dirty="0"/>
              <a:t> = %d\n", </a:t>
            </a:r>
            <a:r>
              <a:rPr lang="en-CA" sz="2400" dirty="0" err="1"/>
              <a:t>i</a:t>
            </a:r>
            <a:r>
              <a:rPr lang="en-CA" sz="2400" dirty="0"/>
              <a:t>);</a:t>
            </a:r>
          </a:p>
          <a:p>
            <a:pPr marL="0" indent="0">
              <a:buNone/>
            </a:pPr>
            <a:r>
              <a:rPr lang="en-CA" sz="2400" dirty="0"/>
              <a:t>    return 0;</a:t>
            </a:r>
          </a:p>
          <a:p>
            <a:pPr marL="0" indent="0">
              <a:buNone/>
            </a:pPr>
            <a:r>
              <a:rPr lang="en-CA" sz="2400" dirty="0"/>
              <a:t>}</a:t>
            </a:r>
          </a:p>
          <a:p>
            <a:pPr marL="0" indent="0">
              <a:buNone/>
            </a:pPr>
            <a:endParaRPr lang="en-CA" sz="2400" dirty="0"/>
          </a:p>
        </p:txBody>
      </p:sp>
      <p:sp>
        <p:nvSpPr>
          <p:cNvPr id="13" name="Rectangle 8">
            <a:extLst>
              <a:ext uri="{FF2B5EF4-FFF2-40B4-BE49-F238E27FC236}">
                <a16:creationId xmlns:a16="http://schemas.microsoft.com/office/drawing/2014/main" id="{6BAFBED7-63B3-30E5-6A31-C999DBBBD809}"/>
              </a:ext>
            </a:extLst>
          </p:cNvPr>
          <p:cNvSpPr>
            <a:spLocks noChangeArrowheads="1"/>
          </p:cNvSpPr>
          <p:nvPr/>
        </p:nvSpPr>
        <p:spPr bwMode="auto">
          <a:xfrm rot="10800000" flipV="1">
            <a:off x="7228113" y="4335665"/>
            <a:ext cx="402771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Output: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4</a:t>
            </a:r>
          </a:p>
        </p:txBody>
      </p:sp>
      <p:sp>
        <p:nvSpPr>
          <p:cNvPr id="4" name="Footer Placeholder 3">
            <a:extLst>
              <a:ext uri="{FF2B5EF4-FFF2-40B4-BE49-F238E27FC236}">
                <a16:creationId xmlns:a16="http://schemas.microsoft.com/office/drawing/2014/main" id="{05349795-C9CD-6371-7056-DD01BB1BD7E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7534010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BD0409-A171-EB2A-DC95-8A3ACFC60BA1}"/>
              </a:ext>
            </a:extLst>
          </p:cNvPr>
          <p:cNvSpPr>
            <a:spLocks noGrp="1"/>
          </p:cNvSpPr>
          <p:nvPr>
            <p:ph idx="1"/>
          </p:nvPr>
        </p:nvSpPr>
        <p:spPr>
          <a:xfrm>
            <a:off x="838200" y="391886"/>
            <a:ext cx="10515600" cy="5915706"/>
          </a:xfrm>
        </p:spPr>
        <p:txBody>
          <a:bodyPr>
            <a:normAutofit fontScale="85000" lnSpcReduction="20000"/>
          </a:bodyPr>
          <a:lstStyle/>
          <a:p>
            <a:r>
              <a:rPr lang="en-CA" b="1" dirty="0"/>
              <a:t>continue Statement </a:t>
            </a:r>
            <a:r>
              <a:rPr lang="en-US" dirty="0"/>
              <a:t>skips the current iteration of a loop and continues with the next iteration.</a:t>
            </a:r>
          </a:p>
          <a:p>
            <a:endParaRPr lang="en-US" dirty="0"/>
          </a:p>
          <a:p>
            <a:pPr marL="0" indent="0">
              <a:buNone/>
            </a:pPr>
            <a:r>
              <a:rPr lang="en-US" dirty="0"/>
              <a:t>#include &lt;</a:t>
            </a:r>
            <a:r>
              <a:rPr lang="en-US" dirty="0" err="1"/>
              <a:t>stdio.h</a:t>
            </a:r>
            <a:r>
              <a:rPr lang="en-US" dirty="0"/>
              <a:t>&gt;</a:t>
            </a:r>
          </a:p>
          <a:p>
            <a:pPr marL="0" indent="0">
              <a:buNone/>
            </a:pPr>
            <a:r>
              <a:rPr lang="en-US" dirty="0"/>
              <a:t>int main() {</a:t>
            </a:r>
          </a:p>
          <a:p>
            <a:pPr marL="0" indent="0">
              <a:buNone/>
            </a:pPr>
            <a:r>
              <a:rPr lang="en-US" dirty="0"/>
              <a:t>    int </a:t>
            </a:r>
            <a:r>
              <a:rPr lang="en-US" dirty="0" err="1"/>
              <a:t>i</a:t>
            </a:r>
            <a:r>
              <a:rPr lang="en-US" dirty="0"/>
              <a:t>;</a:t>
            </a:r>
          </a:p>
          <a:p>
            <a:pPr marL="0" indent="0">
              <a:buNone/>
            </a:pPr>
            <a:r>
              <a:rPr lang="en-US" dirty="0"/>
              <a:t>    for(</a:t>
            </a:r>
            <a:r>
              <a:rPr lang="en-US" dirty="0" err="1"/>
              <a:t>i</a:t>
            </a:r>
            <a:r>
              <a:rPr lang="en-US" dirty="0"/>
              <a:t> = 1; </a:t>
            </a:r>
            <a:r>
              <a:rPr lang="en-US" dirty="0" err="1"/>
              <a:t>i</a:t>
            </a:r>
            <a:r>
              <a:rPr lang="en-US" dirty="0"/>
              <a:t> &lt;= 10; </a:t>
            </a:r>
            <a:r>
              <a:rPr lang="en-US" dirty="0" err="1"/>
              <a:t>i</a:t>
            </a:r>
            <a:r>
              <a:rPr lang="en-US" dirty="0"/>
              <a:t>++) {</a:t>
            </a:r>
          </a:p>
          <a:p>
            <a:pPr marL="0" indent="0">
              <a:buNone/>
            </a:pPr>
            <a:r>
              <a:rPr lang="en-US" dirty="0"/>
              <a:t>        if(</a:t>
            </a:r>
            <a:r>
              <a:rPr lang="en-US" dirty="0" err="1"/>
              <a:t>i</a:t>
            </a:r>
            <a:r>
              <a:rPr lang="en-US" dirty="0"/>
              <a:t> == 5) {</a:t>
            </a:r>
          </a:p>
          <a:p>
            <a:pPr marL="0" indent="0">
              <a:buNone/>
            </a:pPr>
            <a:r>
              <a:rPr lang="en-US" dirty="0"/>
              <a:t>            continue;  // Skip the rest of the loop body when </a:t>
            </a:r>
            <a:r>
              <a:rPr lang="en-US" dirty="0" err="1"/>
              <a:t>i</a:t>
            </a:r>
            <a:r>
              <a:rPr lang="en-US" dirty="0"/>
              <a:t> equals 5</a:t>
            </a:r>
          </a:p>
          <a:p>
            <a:pPr marL="0" indent="0">
              <a:buNone/>
            </a:pPr>
            <a:r>
              <a:rPr lang="en-US" dirty="0"/>
              <a:t>        }</a:t>
            </a:r>
          </a:p>
          <a:p>
            <a:pPr marL="0" indent="0">
              <a:buNone/>
            </a:pPr>
            <a:r>
              <a:rPr lang="en-US" dirty="0"/>
              <a:t>        </a:t>
            </a:r>
            <a:r>
              <a:rPr lang="en-US" dirty="0" err="1"/>
              <a:t>printf</a:t>
            </a:r>
            <a:r>
              <a:rPr lang="en-US" dirty="0"/>
              <a:t>("%d ", </a:t>
            </a:r>
            <a:r>
              <a:rPr lang="en-US" dirty="0" err="1"/>
              <a:t>i</a:t>
            </a:r>
            <a:r>
              <a:rPr lang="en-US" dirty="0"/>
              <a:t>);</a:t>
            </a:r>
          </a:p>
          <a:p>
            <a:pPr marL="0" indent="0">
              <a:buNone/>
            </a:pPr>
            <a:r>
              <a:rPr lang="en-US" dirty="0"/>
              <a:t>    }</a:t>
            </a:r>
          </a:p>
          <a:p>
            <a:pPr marL="0" indent="0">
              <a:buNone/>
            </a:pPr>
            <a:r>
              <a:rPr lang="en-US" dirty="0"/>
              <a:t>    </a:t>
            </a:r>
            <a:r>
              <a:rPr lang="en-US" dirty="0" err="1"/>
              <a:t>printf</a:t>
            </a:r>
            <a:r>
              <a:rPr lang="en-US" dirty="0"/>
              <a:t>("\</a:t>
            </a:r>
            <a:r>
              <a:rPr lang="en-US" dirty="0" err="1"/>
              <a:t>nLoop</a:t>
            </a:r>
            <a:r>
              <a:rPr lang="en-US" dirty="0"/>
              <a:t> finished with continue statement\n");</a:t>
            </a:r>
          </a:p>
          <a:p>
            <a:pPr marL="0" indent="0">
              <a:buNone/>
            </a:pPr>
            <a:r>
              <a:rPr lang="en-US" dirty="0"/>
              <a:t>    return 0;</a:t>
            </a:r>
          </a:p>
          <a:p>
            <a:pPr marL="0" indent="0">
              <a:buNone/>
            </a:pPr>
            <a:r>
              <a:rPr lang="en-US" dirty="0"/>
              <a:t>}</a:t>
            </a:r>
            <a:endParaRPr lang="en-CA" dirty="0"/>
          </a:p>
        </p:txBody>
      </p:sp>
      <p:sp>
        <p:nvSpPr>
          <p:cNvPr id="2" name="Footer Placeholder 1">
            <a:extLst>
              <a:ext uri="{FF2B5EF4-FFF2-40B4-BE49-F238E27FC236}">
                <a16:creationId xmlns:a16="http://schemas.microsoft.com/office/drawing/2014/main" id="{6F2A9C23-C70D-FFA1-D5D2-E5596586CCA7}"/>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160357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24A461-B85C-AC71-CAF1-913325C3A0D1}"/>
              </a:ext>
            </a:extLst>
          </p:cNvPr>
          <p:cNvSpPr>
            <a:spLocks noGrp="1"/>
          </p:cNvSpPr>
          <p:nvPr>
            <p:ph idx="1"/>
          </p:nvPr>
        </p:nvSpPr>
        <p:spPr>
          <a:xfrm>
            <a:off x="838200" y="685800"/>
            <a:ext cx="10515600" cy="5491163"/>
          </a:xfrm>
        </p:spPr>
        <p:txBody>
          <a:bodyPr>
            <a:normAutofit fontScale="77500" lnSpcReduction="20000"/>
          </a:bodyPr>
          <a:lstStyle/>
          <a:p>
            <a:r>
              <a:rPr lang="en-CA" b="1" dirty="0" err="1"/>
              <a:t>goto</a:t>
            </a:r>
            <a:r>
              <a:rPr lang="en-CA" b="1" dirty="0"/>
              <a:t> Statement </a:t>
            </a:r>
            <a:r>
              <a:rPr lang="en-US" dirty="0"/>
              <a:t>transfers control to a labeled statement within the same function.</a:t>
            </a:r>
          </a:p>
          <a:p>
            <a:pPr marL="0" indent="0">
              <a:buNone/>
            </a:pPr>
            <a:r>
              <a:rPr lang="en-US" dirty="0"/>
              <a:t>#include &lt;</a:t>
            </a:r>
            <a:r>
              <a:rPr lang="en-US" dirty="0" err="1"/>
              <a:t>stdio.h</a:t>
            </a:r>
            <a:r>
              <a:rPr lang="en-US" dirty="0"/>
              <a:t>&gt;</a:t>
            </a:r>
          </a:p>
          <a:p>
            <a:pPr marL="0" indent="0">
              <a:buNone/>
            </a:pPr>
            <a:r>
              <a:rPr lang="en-US" dirty="0"/>
              <a:t>int main() {</a:t>
            </a:r>
          </a:p>
          <a:p>
            <a:pPr marL="0" indent="0">
              <a:buNone/>
            </a:pPr>
            <a:r>
              <a:rPr lang="en-US" dirty="0"/>
              <a:t>    int </a:t>
            </a:r>
            <a:r>
              <a:rPr lang="en-US" dirty="0" err="1"/>
              <a:t>i</a:t>
            </a:r>
            <a:r>
              <a:rPr lang="en-US" dirty="0"/>
              <a:t> = 1;</a:t>
            </a:r>
          </a:p>
          <a:p>
            <a:pPr marL="0" indent="0">
              <a:buNone/>
            </a:pPr>
            <a:r>
              <a:rPr lang="en-US" dirty="0"/>
              <a:t>    </a:t>
            </a:r>
            <a:r>
              <a:rPr lang="en-US" dirty="0" err="1"/>
              <a:t>printf</a:t>
            </a:r>
            <a:r>
              <a:rPr lang="en-US" dirty="0"/>
              <a:t>("Loop starts\n");</a:t>
            </a:r>
          </a:p>
          <a:p>
            <a:pPr marL="0" indent="0">
              <a:buNone/>
            </a:pPr>
            <a:r>
              <a:rPr lang="en-US" dirty="0"/>
              <a:t>    </a:t>
            </a:r>
            <a:r>
              <a:rPr lang="en-US" dirty="0" err="1"/>
              <a:t>start_loop</a:t>
            </a:r>
            <a:r>
              <a:rPr lang="en-US" dirty="0"/>
              <a:t>:</a:t>
            </a:r>
          </a:p>
          <a:p>
            <a:pPr marL="0" indent="0">
              <a:buNone/>
            </a:pPr>
            <a:r>
              <a:rPr lang="en-US" dirty="0"/>
              <a:t>    if(</a:t>
            </a:r>
            <a:r>
              <a:rPr lang="en-US" dirty="0" err="1"/>
              <a:t>i</a:t>
            </a:r>
            <a:r>
              <a:rPr lang="en-US" dirty="0"/>
              <a:t> &lt;= 5) {</a:t>
            </a:r>
          </a:p>
          <a:p>
            <a:pPr marL="0" indent="0">
              <a:buNone/>
            </a:pPr>
            <a:r>
              <a:rPr lang="en-US" dirty="0"/>
              <a:t>        </a:t>
            </a:r>
            <a:r>
              <a:rPr lang="en-US" dirty="0" err="1"/>
              <a:t>printf</a:t>
            </a:r>
            <a:r>
              <a:rPr lang="en-US" dirty="0"/>
              <a:t>("%d ", </a:t>
            </a:r>
            <a:r>
              <a:rPr lang="en-US" dirty="0" err="1"/>
              <a:t>i</a:t>
            </a:r>
            <a:r>
              <a:rPr lang="en-US" dirty="0"/>
              <a:t>);</a:t>
            </a:r>
          </a:p>
          <a:p>
            <a:pPr marL="0" indent="0">
              <a:buNone/>
            </a:pPr>
            <a:r>
              <a:rPr lang="en-US" dirty="0"/>
              <a:t>        </a:t>
            </a:r>
            <a:r>
              <a:rPr lang="en-US" dirty="0" err="1"/>
              <a:t>i</a:t>
            </a:r>
            <a:r>
              <a:rPr lang="en-US" dirty="0"/>
              <a:t>++;</a:t>
            </a:r>
          </a:p>
          <a:p>
            <a:pPr marL="0" indent="0">
              <a:buNone/>
            </a:pPr>
            <a:r>
              <a:rPr lang="en-US" dirty="0"/>
              <a:t>        </a:t>
            </a:r>
            <a:r>
              <a:rPr lang="en-US" dirty="0" err="1"/>
              <a:t>goto</a:t>
            </a:r>
            <a:r>
              <a:rPr lang="en-US" dirty="0"/>
              <a:t> </a:t>
            </a:r>
            <a:r>
              <a:rPr lang="en-US" dirty="0" err="1"/>
              <a:t>start_loop</a:t>
            </a:r>
            <a:r>
              <a:rPr lang="en-US" dirty="0"/>
              <a:t>;  // Go back to the start of the loop</a:t>
            </a:r>
          </a:p>
          <a:p>
            <a:pPr marL="0" indent="0">
              <a:buNone/>
            </a:pPr>
            <a:r>
              <a:rPr lang="en-US" dirty="0"/>
              <a:t>    }</a:t>
            </a:r>
          </a:p>
          <a:p>
            <a:pPr marL="0" indent="0">
              <a:buNone/>
            </a:pPr>
            <a:r>
              <a:rPr lang="en-US" dirty="0"/>
              <a:t>    </a:t>
            </a:r>
            <a:r>
              <a:rPr lang="en-US" dirty="0" err="1"/>
              <a:t>printf</a:t>
            </a:r>
            <a:r>
              <a:rPr lang="en-US" dirty="0"/>
              <a:t>("\</a:t>
            </a:r>
            <a:r>
              <a:rPr lang="en-US" dirty="0" err="1"/>
              <a:t>nLoop</a:t>
            </a:r>
            <a:r>
              <a:rPr lang="en-US" dirty="0"/>
              <a:t> ended with </a:t>
            </a:r>
            <a:r>
              <a:rPr lang="en-US" dirty="0" err="1"/>
              <a:t>goto</a:t>
            </a:r>
            <a:r>
              <a:rPr lang="en-US" dirty="0"/>
              <a:t> statement\n");</a:t>
            </a:r>
          </a:p>
          <a:p>
            <a:pPr marL="0" indent="0">
              <a:buNone/>
            </a:pPr>
            <a:r>
              <a:rPr lang="en-US" dirty="0"/>
              <a:t>    return 0;</a:t>
            </a:r>
          </a:p>
          <a:p>
            <a:pPr marL="0" indent="0">
              <a:buNone/>
            </a:pPr>
            <a:r>
              <a:rPr lang="en-US" dirty="0"/>
              <a:t>}</a:t>
            </a:r>
          </a:p>
          <a:p>
            <a:pPr marL="0" indent="0">
              <a:buNone/>
            </a:pPr>
            <a:endParaRPr lang="en-CA" dirty="0"/>
          </a:p>
        </p:txBody>
      </p:sp>
      <p:sp>
        <p:nvSpPr>
          <p:cNvPr id="2" name="Footer Placeholder 1">
            <a:extLst>
              <a:ext uri="{FF2B5EF4-FFF2-40B4-BE49-F238E27FC236}">
                <a16:creationId xmlns:a16="http://schemas.microsoft.com/office/drawing/2014/main" id="{C6BC3232-DC13-28FC-BFA7-0848D1186E4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2562833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6CE78D-6D04-984A-0018-84BBE472C4EB}"/>
              </a:ext>
            </a:extLst>
          </p:cNvPr>
          <p:cNvSpPr>
            <a:spLocks noGrp="1"/>
          </p:cNvSpPr>
          <p:nvPr>
            <p:ph idx="1"/>
          </p:nvPr>
        </p:nvSpPr>
        <p:spPr>
          <a:xfrm>
            <a:off x="838200" y="661647"/>
            <a:ext cx="10515600" cy="5534706"/>
          </a:xfrm>
        </p:spPr>
        <p:txBody>
          <a:bodyPr>
            <a:normAutofit fontScale="92500" lnSpcReduction="20000"/>
          </a:bodyPr>
          <a:lstStyle/>
          <a:p>
            <a:r>
              <a:rPr lang="en-CA" dirty="0"/>
              <a:t>return Statement </a:t>
            </a:r>
            <a:r>
              <a:rPr lang="en-US" dirty="0"/>
              <a:t>is used to exit a function and optionally return a value to the calling function.</a:t>
            </a:r>
          </a:p>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square(int num) {</a:t>
            </a:r>
          </a:p>
          <a:p>
            <a:pPr marL="0" indent="0">
              <a:buNone/>
            </a:pPr>
            <a:r>
              <a:rPr lang="en-US" dirty="0"/>
              <a:t>    return num * num;  // Return the square of the number</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int num = 5;</a:t>
            </a:r>
          </a:p>
          <a:p>
            <a:pPr marL="0" indent="0">
              <a:buNone/>
            </a:pPr>
            <a:r>
              <a:rPr lang="en-US" dirty="0"/>
              <a:t>    int result = square(num);  // Call square function</a:t>
            </a:r>
          </a:p>
          <a:p>
            <a:pPr marL="0" indent="0">
              <a:buNone/>
            </a:pPr>
            <a:r>
              <a:rPr lang="en-US" dirty="0"/>
              <a:t>    </a:t>
            </a:r>
            <a:r>
              <a:rPr lang="en-US" dirty="0" err="1"/>
              <a:t>printf</a:t>
            </a:r>
            <a:r>
              <a:rPr lang="en-US" dirty="0"/>
              <a:t>("The square of %d is %d\n", num, result);</a:t>
            </a:r>
          </a:p>
          <a:p>
            <a:pPr marL="0" indent="0">
              <a:buNone/>
            </a:pPr>
            <a:r>
              <a:rPr lang="en-US" dirty="0"/>
              <a:t>    return 0;  // Return 0 to indicate successful execution</a:t>
            </a:r>
          </a:p>
          <a:p>
            <a:pPr marL="0" indent="0">
              <a:buNone/>
            </a:pPr>
            <a:r>
              <a:rPr lang="en-US" dirty="0"/>
              <a:t>}</a:t>
            </a:r>
            <a:endParaRPr lang="en-CA" dirty="0"/>
          </a:p>
        </p:txBody>
      </p:sp>
      <p:sp>
        <p:nvSpPr>
          <p:cNvPr id="2" name="Footer Placeholder 1">
            <a:extLst>
              <a:ext uri="{FF2B5EF4-FFF2-40B4-BE49-F238E27FC236}">
                <a16:creationId xmlns:a16="http://schemas.microsoft.com/office/drawing/2014/main" id="{D5D1FEF7-CBAE-F647-8A4A-BECA0906802A}"/>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376129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CB72-8E47-36A4-5DA1-27AB99C5A6F2}"/>
              </a:ext>
            </a:extLst>
          </p:cNvPr>
          <p:cNvSpPr>
            <a:spLocks noGrp="1"/>
          </p:cNvSpPr>
          <p:nvPr>
            <p:ph type="title"/>
          </p:nvPr>
        </p:nvSpPr>
        <p:spPr/>
        <p:txBody>
          <a:bodyPr/>
          <a:lstStyle/>
          <a:p>
            <a:pPr algn="ctr"/>
            <a:r>
              <a:rPr lang="en-CA" dirty="0"/>
              <a:t>C – Loops</a:t>
            </a:r>
          </a:p>
        </p:txBody>
      </p:sp>
      <p:sp>
        <p:nvSpPr>
          <p:cNvPr id="3" name="Content Placeholder 2">
            <a:extLst>
              <a:ext uri="{FF2B5EF4-FFF2-40B4-BE49-F238E27FC236}">
                <a16:creationId xmlns:a16="http://schemas.microsoft.com/office/drawing/2014/main" id="{171C12FF-7C0C-B8D3-3448-DA0FC13AE337}"/>
              </a:ext>
            </a:extLst>
          </p:cNvPr>
          <p:cNvSpPr>
            <a:spLocks noGrp="1"/>
          </p:cNvSpPr>
          <p:nvPr>
            <p:ph idx="1"/>
          </p:nvPr>
        </p:nvSpPr>
        <p:spPr/>
        <p:txBody>
          <a:bodyPr/>
          <a:lstStyle/>
          <a:p>
            <a:r>
              <a:rPr lang="en-US" dirty="0"/>
              <a:t>Loops in programming are used to repeat a block of code until the specified condition is met. A loop statement allows programmers to execute a statement or group of statements multiple times without repetition of code.</a:t>
            </a:r>
          </a:p>
          <a:p>
            <a:r>
              <a:rPr lang="en-CA" b="1" dirty="0">
                <a:effectLst/>
              </a:rPr>
              <a:t>for Loop in C</a:t>
            </a:r>
          </a:p>
          <a:p>
            <a:r>
              <a:rPr lang="en-CA" b="1" dirty="0"/>
              <a:t>while loop in C</a:t>
            </a:r>
          </a:p>
          <a:p>
            <a:r>
              <a:rPr lang="en-US" b="1" dirty="0"/>
              <a:t>do…while Loop in C</a:t>
            </a:r>
          </a:p>
          <a:p>
            <a:pPr marL="0" indent="0">
              <a:buNone/>
            </a:pPr>
            <a:endParaRPr lang="en-CA" dirty="0"/>
          </a:p>
        </p:txBody>
      </p:sp>
      <p:sp>
        <p:nvSpPr>
          <p:cNvPr id="4" name="Footer Placeholder 3">
            <a:extLst>
              <a:ext uri="{FF2B5EF4-FFF2-40B4-BE49-F238E27FC236}">
                <a16:creationId xmlns:a16="http://schemas.microsoft.com/office/drawing/2014/main" id="{E7AC8114-337D-55D8-CBC2-D9E2F885981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8334919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05A7B-0D1C-77DA-03BB-C19225340363}"/>
              </a:ext>
            </a:extLst>
          </p:cNvPr>
          <p:cNvSpPr>
            <a:spLocks noGrp="1"/>
          </p:cNvSpPr>
          <p:nvPr>
            <p:ph type="title"/>
          </p:nvPr>
        </p:nvSpPr>
        <p:spPr/>
        <p:txBody>
          <a:bodyPr/>
          <a:lstStyle/>
          <a:p>
            <a:pPr algn="ctr"/>
            <a:r>
              <a:rPr lang="en-CA" b="1" dirty="0">
                <a:effectLst/>
              </a:rPr>
              <a:t>for Loop in C</a:t>
            </a:r>
            <a:br>
              <a:rPr lang="en-CA" b="1" dirty="0">
                <a:effectLst/>
              </a:rPr>
            </a:br>
            <a:endParaRPr lang="en-CA" dirty="0"/>
          </a:p>
        </p:txBody>
      </p:sp>
      <p:sp>
        <p:nvSpPr>
          <p:cNvPr id="3" name="Content Placeholder 2">
            <a:extLst>
              <a:ext uri="{FF2B5EF4-FFF2-40B4-BE49-F238E27FC236}">
                <a16:creationId xmlns:a16="http://schemas.microsoft.com/office/drawing/2014/main" id="{0E6ADBD8-A355-2900-4B60-E552493D7FD6}"/>
              </a:ext>
            </a:extLst>
          </p:cNvPr>
          <p:cNvSpPr>
            <a:spLocks noGrp="1"/>
          </p:cNvSpPr>
          <p:nvPr>
            <p:ph idx="1"/>
          </p:nvPr>
        </p:nvSpPr>
        <p:spPr>
          <a:xfrm>
            <a:off x="457200" y="1522411"/>
            <a:ext cx="5519057" cy="4486503"/>
          </a:xfrm>
        </p:spPr>
        <p:txBody>
          <a:bodyPr>
            <a:normAutofit fontScale="85000" lnSpcReduction="20000"/>
          </a:bodyPr>
          <a:lstStyle/>
          <a:p>
            <a:pPr marL="0" indent="0">
              <a:buNone/>
            </a:pPr>
            <a:endParaRPr lang="en-US" dirty="0"/>
          </a:p>
          <a:p>
            <a:pPr marL="0" indent="0">
              <a:buNone/>
            </a:pPr>
            <a:r>
              <a:rPr lang="en-US" sz="3400" dirty="0"/>
              <a:t>The for loop is used when the number of iterations is known beforehand. It has three parts: initialization, condition, and increment/decrement.</a:t>
            </a:r>
          </a:p>
          <a:p>
            <a:pPr marL="0" indent="0">
              <a:buNone/>
            </a:pPr>
            <a:endParaRPr lang="en-US" sz="3400" dirty="0"/>
          </a:p>
          <a:p>
            <a:pPr marL="0" indent="0">
              <a:buNone/>
            </a:pPr>
            <a:r>
              <a:rPr lang="en-US" sz="3400" dirty="0"/>
              <a:t>for(initialization; condition; increment/decrement) {</a:t>
            </a:r>
          </a:p>
          <a:p>
            <a:pPr marL="0" indent="0">
              <a:buNone/>
            </a:pPr>
            <a:r>
              <a:rPr lang="en-US" sz="3400" dirty="0"/>
              <a:t>    // Loop body</a:t>
            </a:r>
          </a:p>
          <a:p>
            <a:pPr marL="0" indent="0">
              <a:buNone/>
            </a:pPr>
            <a:r>
              <a:rPr lang="en-US" sz="3400" dirty="0"/>
              <a:t>}</a:t>
            </a:r>
          </a:p>
          <a:p>
            <a:pPr marL="0" indent="0">
              <a:buNone/>
            </a:pPr>
            <a:endParaRPr lang="en-CA" dirty="0"/>
          </a:p>
        </p:txBody>
      </p:sp>
      <p:pic>
        <p:nvPicPr>
          <p:cNvPr id="6" name="Picture 5">
            <a:extLst>
              <a:ext uri="{FF2B5EF4-FFF2-40B4-BE49-F238E27FC236}">
                <a16:creationId xmlns:a16="http://schemas.microsoft.com/office/drawing/2014/main" id="{46F56511-CCC1-690B-E93D-066171CAB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6257" y="1522411"/>
            <a:ext cx="5371802" cy="4267200"/>
          </a:xfrm>
          <a:prstGeom prst="rect">
            <a:avLst/>
          </a:prstGeom>
        </p:spPr>
      </p:pic>
      <p:sp>
        <p:nvSpPr>
          <p:cNvPr id="4" name="Footer Placeholder 3">
            <a:extLst>
              <a:ext uri="{FF2B5EF4-FFF2-40B4-BE49-F238E27FC236}">
                <a16:creationId xmlns:a16="http://schemas.microsoft.com/office/drawing/2014/main" id="{9B40FD22-5F6A-53D2-662E-2EAA76098B93}"/>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5886452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0112735-3612-6796-4282-183766353FBB}"/>
              </a:ext>
            </a:extLst>
          </p:cNvPr>
          <p:cNvSpPr txBox="1"/>
          <p:nvPr/>
        </p:nvSpPr>
        <p:spPr>
          <a:xfrm>
            <a:off x="1186543" y="985467"/>
            <a:ext cx="6357257" cy="3785652"/>
          </a:xfrm>
          <a:prstGeom prst="rect">
            <a:avLst/>
          </a:prstGeom>
          <a:noFill/>
        </p:spPr>
        <p:txBody>
          <a:bodyPr wrap="square">
            <a:spAutoFit/>
          </a:bodyPr>
          <a:lstStyle/>
          <a:p>
            <a:r>
              <a:rPr lang="en-US" sz="2400" dirty="0"/>
              <a:t>#include &lt;</a:t>
            </a:r>
            <a:r>
              <a:rPr lang="en-US" sz="2400" dirty="0" err="1"/>
              <a:t>stdio.h</a:t>
            </a:r>
            <a:r>
              <a:rPr lang="en-US" sz="2400" dirty="0"/>
              <a:t>&gt;</a:t>
            </a:r>
          </a:p>
          <a:p>
            <a:endParaRPr lang="en-US" sz="2400" dirty="0"/>
          </a:p>
          <a:p>
            <a:r>
              <a:rPr lang="en-US" sz="2400" dirty="0"/>
              <a:t>int main() {</a:t>
            </a:r>
          </a:p>
          <a:p>
            <a:r>
              <a:rPr lang="en-US" sz="2400" dirty="0"/>
              <a:t>    int </a:t>
            </a:r>
            <a:r>
              <a:rPr lang="en-US" sz="2400" dirty="0" err="1"/>
              <a:t>i</a:t>
            </a:r>
            <a:r>
              <a:rPr lang="en-US" sz="2400" dirty="0"/>
              <a:t>;</a:t>
            </a:r>
          </a:p>
          <a:p>
            <a:r>
              <a:rPr lang="en-US" sz="2400" dirty="0"/>
              <a:t>    // Loop to print numbers from 1 to 5</a:t>
            </a:r>
          </a:p>
          <a:p>
            <a:r>
              <a:rPr lang="en-US" sz="2400" dirty="0"/>
              <a:t>    for(</a:t>
            </a:r>
            <a:r>
              <a:rPr lang="en-US" sz="2400" dirty="0" err="1"/>
              <a:t>i</a:t>
            </a:r>
            <a:r>
              <a:rPr lang="en-US" sz="2400" dirty="0"/>
              <a:t> = 1; </a:t>
            </a:r>
            <a:r>
              <a:rPr lang="en-US" sz="2400" dirty="0" err="1"/>
              <a:t>i</a:t>
            </a:r>
            <a:r>
              <a:rPr lang="en-US" sz="2400" dirty="0"/>
              <a:t> &lt;= 5; </a:t>
            </a:r>
            <a:r>
              <a:rPr lang="en-US" sz="2400" dirty="0" err="1"/>
              <a:t>i</a:t>
            </a:r>
            <a:r>
              <a:rPr lang="en-US" sz="2400" dirty="0"/>
              <a:t>++) {</a:t>
            </a:r>
          </a:p>
          <a:p>
            <a:r>
              <a:rPr lang="en-US" sz="2400" dirty="0"/>
              <a:t>        </a:t>
            </a:r>
            <a:r>
              <a:rPr lang="en-US" sz="2400" dirty="0" err="1"/>
              <a:t>printf</a:t>
            </a:r>
            <a:r>
              <a:rPr lang="en-US" sz="2400" dirty="0"/>
              <a:t>("%d ", </a:t>
            </a:r>
            <a:r>
              <a:rPr lang="en-US" sz="2400" dirty="0" err="1"/>
              <a:t>i</a:t>
            </a:r>
            <a:r>
              <a:rPr lang="en-US" sz="2400" dirty="0"/>
              <a:t>);</a:t>
            </a:r>
          </a:p>
          <a:p>
            <a:r>
              <a:rPr lang="en-US" sz="2400" dirty="0"/>
              <a:t>    }</a:t>
            </a:r>
          </a:p>
          <a:p>
            <a:r>
              <a:rPr lang="en-US" sz="2400" dirty="0"/>
              <a:t>    return 0;</a:t>
            </a:r>
          </a:p>
          <a:p>
            <a:r>
              <a:rPr lang="en-US" sz="2400" dirty="0"/>
              <a:t>}</a:t>
            </a:r>
            <a:endParaRPr lang="en-CA" sz="2400" dirty="0"/>
          </a:p>
        </p:txBody>
      </p:sp>
      <p:sp>
        <p:nvSpPr>
          <p:cNvPr id="10" name="TextBox 9">
            <a:extLst>
              <a:ext uri="{FF2B5EF4-FFF2-40B4-BE49-F238E27FC236}">
                <a16:creationId xmlns:a16="http://schemas.microsoft.com/office/drawing/2014/main" id="{2CC498F2-5C13-FCCB-FC73-372F04FDD0A6}"/>
              </a:ext>
            </a:extLst>
          </p:cNvPr>
          <p:cNvSpPr txBox="1"/>
          <p:nvPr/>
        </p:nvSpPr>
        <p:spPr>
          <a:xfrm>
            <a:off x="6455229" y="3919249"/>
            <a:ext cx="3603171" cy="646331"/>
          </a:xfrm>
          <a:prstGeom prst="rect">
            <a:avLst/>
          </a:prstGeom>
          <a:noFill/>
        </p:spPr>
        <p:txBody>
          <a:bodyPr wrap="square">
            <a:spAutoFit/>
          </a:bodyPr>
          <a:lstStyle/>
          <a:p>
            <a:r>
              <a:rPr lang="en-CA" dirty="0"/>
              <a:t>Output:</a:t>
            </a:r>
          </a:p>
          <a:p>
            <a:r>
              <a:rPr lang="en-CA" dirty="0"/>
              <a:t>1 2 3 4 5</a:t>
            </a:r>
          </a:p>
        </p:txBody>
      </p:sp>
      <p:sp>
        <p:nvSpPr>
          <p:cNvPr id="2" name="Footer Placeholder 1">
            <a:extLst>
              <a:ext uri="{FF2B5EF4-FFF2-40B4-BE49-F238E27FC236}">
                <a16:creationId xmlns:a16="http://schemas.microsoft.com/office/drawing/2014/main" id="{168A5E77-EC3F-C9D6-586A-FAF529CF74B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963419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B426-9A29-017E-2835-312F47A5C3CD}"/>
              </a:ext>
            </a:extLst>
          </p:cNvPr>
          <p:cNvSpPr>
            <a:spLocks noGrp="1"/>
          </p:cNvSpPr>
          <p:nvPr>
            <p:ph type="title"/>
          </p:nvPr>
        </p:nvSpPr>
        <p:spPr/>
        <p:txBody>
          <a:bodyPr/>
          <a:lstStyle/>
          <a:p>
            <a:pPr algn="ctr"/>
            <a:r>
              <a:rPr lang="en-CA" dirty="0"/>
              <a:t>while loop in C</a:t>
            </a:r>
            <a:br>
              <a:rPr lang="en-CA" dirty="0"/>
            </a:br>
            <a:endParaRPr lang="en-CA" dirty="0"/>
          </a:p>
        </p:txBody>
      </p:sp>
      <p:sp>
        <p:nvSpPr>
          <p:cNvPr id="3" name="Content Placeholder 2">
            <a:extLst>
              <a:ext uri="{FF2B5EF4-FFF2-40B4-BE49-F238E27FC236}">
                <a16:creationId xmlns:a16="http://schemas.microsoft.com/office/drawing/2014/main" id="{AA1529AD-9974-EA8C-BE46-1174C5589397}"/>
              </a:ext>
            </a:extLst>
          </p:cNvPr>
          <p:cNvSpPr>
            <a:spLocks noGrp="1"/>
          </p:cNvSpPr>
          <p:nvPr>
            <p:ph idx="1"/>
          </p:nvPr>
        </p:nvSpPr>
        <p:spPr>
          <a:xfrm>
            <a:off x="838199" y="1825625"/>
            <a:ext cx="9710057" cy="4351338"/>
          </a:xfrm>
        </p:spPr>
        <p:txBody>
          <a:bodyPr/>
          <a:lstStyle/>
          <a:p>
            <a:pPr marL="0" indent="0">
              <a:buNone/>
            </a:pPr>
            <a:r>
              <a:rPr lang="en-US" dirty="0"/>
              <a:t>The while loop is used when the number of iterations is not known beforehand. The loop continues until the condition becomes false.</a:t>
            </a:r>
          </a:p>
          <a:p>
            <a:pPr marL="0" indent="0">
              <a:buNone/>
            </a:pPr>
            <a:endParaRPr lang="en-US" dirty="0"/>
          </a:p>
          <a:p>
            <a:pPr marL="0" indent="0">
              <a:buNone/>
            </a:pPr>
            <a:r>
              <a:rPr lang="en-CA" dirty="0"/>
              <a:t>while(condition) {</a:t>
            </a:r>
          </a:p>
          <a:p>
            <a:pPr marL="0" indent="0">
              <a:buNone/>
            </a:pPr>
            <a:r>
              <a:rPr lang="en-CA" dirty="0"/>
              <a:t>    // Loop body</a:t>
            </a:r>
          </a:p>
          <a:p>
            <a:pPr marL="0" indent="0">
              <a:buNone/>
            </a:pPr>
            <a:r>
              <a:rPr lang="en-CA" dirty="0"/>
              <a:t>}</a:t>
            </a:r>
          </a:p>
        </p:txBody>
      </p:sp>
      <p:sp>
        <p:nvSpPr>
          <p:cNvPr id="4" name="Footer Placeholder 3">
            <a:extLst>
              <a:ext uri="{FF2B5EF4-FFF2-40B4-BE49-F238E27FC236}">
                <a16:creationId xmlns:a16="http://schemas.microsoft.com/office/drawing/2014/main" id="{6FCDD6E4-336D-D0CF-60A4-87EF4C7C3B5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031822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DD23ED9-233A-6BD7-3363-102D89BD454F}"/>
              </a:ext>
            </a:extLst>
          </p:cNvPr>
          <p:cNvSpPr txBox="1"/>
          <p:nvPr/>
        </p:nvSpPr>
        <p:spPr>
          <a:xfrm>
            <a:off x="1763485" y="1075569"/>
            <a:ext cx="6096000" cy="4154984"/>
          </a:xfrm>
          <a:prstGeom prst="rect">
            <a:avLst/>
          </a:prstGeom>
          <a:noFill/>
        </p:spPr>
        <p:txBody>
          <a:bodyPr wrap="square">
            <a:spAutoFit/>
          </a:bodyPr>
          <a:lstStyle/>
          <a:p>
            <a:r>
              <a:rPr lang="en-US" sz="2400" dirty="0"/>
              <a:t>#include &lt;</a:t>
            </a:r>
            <a:r>
              <a:rPr lang="en-US" sz="2400" dirty="0" err="1"/>
              <a:t>stdio.h</a:t>
            </a:r>
            <a:r>
              <a:rPr lang="en-US" sz="2400" dirty="0"/>
              <a:t>&gt;</a:t>
            </a:r>
          </a:p>
          <a:p>
            <a:endParaRPr lang="en-US" sz="2400" dirty="0"/>
          </a:p>
          <a:p>
            <a:r>
              <a:rPr lang="en-US" sz="2400" dirty="0"/>
              <a:t>int main() {</a:t>
            </a:r>
          </a:p>
          <a:p>
            <a:r>
              <a:rPr lang="en-US" sz="2400" dirty="0"/>
              <a:t>    int </a:t>
            </a:r>
            <a:r>
              <a:rPr lang="en-US" sz="2400" dirty="0" err="1"/>
              <a:t>i</a:t>
            </a:r>
            <a:r>
              <a:rPr lang="en-US" sz="2400" dirty="0"/>
              <a:t> = 1;</a:t>
            </a:r>
          </a:p>
          <a:p>
            <a:r>
              <a:rPr lang="en-US" sz="2400" dirty="0"/>
              <a:t>    // Loop to print numbers from 1 to 5</a:t>
            </a:r>
          </a:p>
          <a:p>
            <a:r>
              <a:rPr lang="en-US" sz="2400" dirty="0"/>
              <a:t>    while(</a:t>
            </a:r>
            <a:r>
              <a:rPr lang="en-US" sz="2400" dirty="0" err="1"/>
              <a:t>i</a:t>
            </a:r>
            <a:r>
              <a:rPr lang="en-US" sz="2400" dirty="0"/>
              <a:t> &lt;= 5) {</a:t>
            </a:r>
          </a:p>
          <a:p>
            <a:r>
              <a:rPr lang="en-US" sz="2400" dirty="0"/>
              <a:t>        </a:t>
            </a:r>
            <a:r>
              <a:rPr lang="en-US" sz="2400" dirty="0" err="1"/>
              <a:t>printf</a:t>
            </a:r>
            <a:r>
              <a:rPr lang="en-US" sz="2400" dirty="0"/>
              <a:t>("%d ", </a:t>
            </a:r>
            <a:r>
              <a:rPr lang="en-US" sz="2400" dirty="0" err="1"/>
              <a:t>i</a:t>
            </a:r>
            <a:r>
              <a:rPr lang="en-US" sz="2400" dirty="0"/>
              <a:t>);</a:t>
            </a:r>
          </a:p>
          <a:p>
            <a:r>
              <a:rPr lang="en-US" sz="2400" dirty="0"/>
              <a:t>        </a:t>
            </a:r>
            <a:r>
              <a:rPr lang="en-US" sz="2400" dirty="0" err="1"/>
              <a:t>i</a:t>
            </a:r>
            <a:r>
              <a:rPr lang="en-US" sz="2400" dirty="0"/>
              <a:t>++;  // Increment the value of </a:t>
            </a:r>
            <a:r>
              <a:rPr lang="en-US" sz="2400" dirty="0" err="1"/>
              <a:t>i</a:t>
            </a:r>
            <a:endParaRPr lang="en-US" sz="2400" dirty="0"/>
          </a:p>
          <a:p>
            <a:r>
              <a:rPr lang="en-US" sz="2400" dirty="0"/>
              <a:t>    }</a:t>
            </a:r>
          </a:p>
          <a:p>
            <a:r>
              <a:rPr lang="en-US" sz="2400" dirty="0"/>
              <a:t>    return 0;</a:t>
            </a:r>
          </a:p>
          <a:p>
            <a:r>
              <a:rPr lang="en-US" sz="2400" dirty="0"/>
              <a:t>}</a:t>
            </a:r>
            <a:endParaRPr lang="en-CA" sz="2400" dirty="0"/>
          </a:p>
        </p:txBody>
      </p:sp>
      <p:sp>
        <p:nvSpPr>
          <p:cNvPr id="9" name="TextBox 8">
            <a:extLst>
              <a:ext uri="{FF2B5EF4-FFF2-40B4-BE49-F238E27FC236}">
                <a16:creationId xmlns:a16="http://schemas.microsoft.com/office/drawing/2014/main" id="{471E5898-A6A2-A407-ACE1-489A107487F5}"/>
              </a:ext>
            </a:extLst>
          </p:cNvPr>
          <p:cNvSpPr txBox="1"/>
          <p:nvPr/>
        </p:nvSpPr>
        <p:spPr>
          <a:xfrm>
            <a:off x="6193971" y="4861221"/>
            <a:ext cx="3570515" cy="646331"/>
          </a:xfrm>
          <a:prstGeom prst="rect">
            <a:avLst/>
          </a:prstGeom>
          <a:noFill/>
        </p:spPr>
        <p:txBody>
          <a:bodyPr wrap="square">
            <a:spAutoFit/>
          </a:bodyPr>
          <a:lstStyle/>
          <a:p>
            <a:r>
              <a:rPr lang="en-CA" dirty="0"/>
              <a:t>Output:</a:t>
            </a:r>
          </a:p>
          <a:p>
            <a:r>
              <a:rPr lang="en-CA" dirty="0"/>
              <a:t>1 2 3 4 5</a:t>
            </a:r>
          </a:p>
        </p:txBody>
      </p:sp>
      <p:sp>
        <p:nvSpPr>
          <p:cNvPr id="2" name="Footer Placeholder 1">
            <a:extLst>
              <a:ext uri="{FF2B5EF4-FFF2-40B4-BE49-F238E27FC236}">
                <a16:creationId xmlns:a16="http://schemas.microsoft.com/office/drawing/2014/main" id="{3B13368B-F1A6-0D91-0477-5AF3184E737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4038036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2E66A-AD10-6A46-FAB7-052ABA728599}"/>
              </a:ext>
            </a:extLst>
          </p:cNvPr>
          <p:cNvSpPr>
            <a:spLocks noGrp="1"/>
          </p:cNvSpPr>
          <p:nvPr>
            <p:ph type="title"/>
          </p:nvPr>
        </p:nvSpPr>
        <p:spPr/>
        <p:txBody>
          <a:bodyPr/>
          <a:lstStyle/>
          <a:p>
            <a:pPr algn="ctr"/>
            <a:r>
              <a:rPr lang="en-US" dirty="0"/>
              <a:t>do…while Loop in C</a:t>
            </a:r>
            <a:br>
              <a:rPr lang="en-US" dirty="0"/>
            </a:br>
            <a:endParaRPr lang="en-CA" dirty="0"/>
          </a:p>
        </p:txBody>
      </p:sp>
      <p:sp>
        <p:nvSpPr>
          <p:cNvPr id="3" name="Content Placeholder 2">
            <a:extLst>
              <a:ext uri="{FF2B5EF4-FFF2-40B4-BE49-F238E27FC236}">
                <a16:creationId xmlns:a16="http://schemas.microsoft.com/office/drawing/2014/main" id="{587711EB-76F6-C948-4E39-C97908C608F6}"/>
              </a:ext>
            </a:extLst>
          </p:cNvPr>
          <p:cNvSpPr>
            <a:spLocks noGrp="1"/>
          </p:cNvSpPr>
          <p:nvPr>
            <p:ph idx="1"/>
          </p:nvPr>
        </p:nvSpPr>
        <p:spPr/>
        <p:txBody>
          <a:bodyPr/>
          <a:lstStyle/>
          <a:p>
            <a:r>
              <a:rPr lang="en-US" dirty="0"/>
              <a:t>The do...while loop is similar to the while loop, but the loop body is executed at least once before the condition is tested.</a:t>
            </a:r>
          </a:p>
          <a:p>
            <a:pPr marL="0" indent="0">
              <a:buNone/>
            </a:pPr>
            <a:r>
              <a:rPr lang="en-US" dirty="0"/>
              <a:t>do {</a:t>
            </a:r>
          </a:p>
          <a:p>
            <a:pPr marL="0" indent="0">
              <a:buNone/>
            </a:pPr>
            <a:r>
              <a:rPr lang="en-US" dirty="0"/>
              <a:t>    // Loop body</a:t>
            </a:r>
          </a:p>
          <a:p>
            <a:pPr marL="0" indent="0">
              <a:buNone/>
            </a:pPr>
            <a:r>
              <a:rPr lang="en-US" dirty="0"/>
              <a:t>} while(condition);</a:t>
            </a:r>
            <a:endParaRPr lang="en-CA" dirty="0"/>
          </a:p>
        </p:txBody>
      </p:sp>
      <p:sp>
        <p:nvSpPr>
          <p:cNvPr id="4" name="Footer Placeholder 3">
            <a:extLst>
              <a:ext uri="{FF2B5EF4-FFF2-40B4-BE49-F238E27FC236}">
                <a16:creationId xmlns:a16="http://schemas.microsoft.com/office/drawing/2014/main" id="{FCA7AA76-1C3F-DAFA-6B92-F1083F81C32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2452831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F7E710-79FB-CC61-0C3B-FC534D65311C}"/>
              </a:ext>
            </a:extLst>
          </p:cNvPr>
          <p:cNvSpPr>
            <a:spLocks noGrp="1"/>
          </p:cNvSpPr>
          <p:nvPr>
            <p:ph idx="1"/>
          </p:nvPr>
        </p:nvSpPr>
        <p:spPr>
          <a:xfrm>
            <a:off x="838200" y="1001486"/>
            <a:ext cx="10515600" cy="5175477"/>
          </a:xfrm>
        </p:spPr>
        <p:txBody>
          <a:bodyPr>
            <a:normAutofit fontScale="85000" lnSpcReduction="20000"/>
          </a:bodyPr>
          <a:lstStyle/>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 {</a:t>
            </a:r>
          </a:p>
          <a:p>
            <a:pPr marL="0" indent="0">
              <a:buNone/>
            </a:pPr>
            <a:r>
              <a:rPr lang="en-US" dirty="0"/>
              <a:t>    int </a:t>
            </a:r>
            <a:r>
              <a:rPr lang="en-US" dirty="0" err="1"/>
              <a:t>i</a:t>
            </a:r>
            <a:r>
              <a:rPr lang="en-US" dirty="0"/>
              <a:t> = 1;</a:t>
            </a:r>
          </a:p>
          <a:p>
            <a:pPr marL="0" indent="0">
              <a:buNone/>
            </a:pPr>
            <a:r>
              <a:rPr lang="en-US" dirty="0"/>
              <a:t>    // Loop to print numbers from 1 to 5</a:t>
            </a:r>
          </a:p>
          <a:p>
            <a:pPr marL="0" indent="0">
              <a:buNone/>
            </a:pPr>
            <a:r>
              <a:rPr lang="en-US" dirty="0"/>
              <a:t>    do {</a:t>
            </a:r>
          </a:p>
          <a:p>
            <a:pPr marL="0" indent="0">
              <a:buNone/>
            </a:pPr>
            <a:r>
              <a:rPr lang="en-US" dirty="0"/>
              <a:t>        </a:t>
            </a:r>
            <a:r>
              <a:rPr lang="en-US" dirty="0" err="1"/>
              <a:t>printf</a:t>
            </a:r>
            <a:r>
              <a:rPr lang="en-US" dirty="0"/>
              <a:t>("%d ", </a:t>
            </a:r>
            <a:r>
              <a:rPr lang="en-US" dirty="0" err="1"/>
              <a:t>i</a:t>
            </a:r>
            <a:r>
              <a:rPr lang="en-US" dirty="0"/>
              <a:t>);</a:t>
            </a:r>
          </a:p>
          <a:p>
            <a:pPr marL="0" indent="0">
              <a:buNone/>
            </a:pPr>
            <a:r>
              <a:rPr lang="en-US" dirty="0"/>
              <a:t>        </a:t>
            </a:r>
            <a:r>
              <a:rPr lang="en-US" dirty="0" err="1"/>
              <a:t>i</a:t>
            </a:r>
            <a:r>
              <a:rPr lang="en-US" dirty="0"/>
              <a:t>++;  // Increment the value of </a:t>
            </a:r>
            <a:r>
              <a:rPr lang="en-US" dirty="0" err="1"/>
              <a:t>i</a:t>
            </a:r>
            <a:endParaRPr lang="en-US" dirty="0"/>
          </a:p>
          <a:p>
            <a:pPr marL="0" indent="0">
              <a:buNone/>
            </a:pPr>
            <a:r>
              <a:rPr lang="en-US" dirty="0"/>
              <a:t>    } while(</a:t>
            </a:r>
            <a:r>
              <a:rPr lang="en-US" dirty="0" err="1"/>
              <a:t>i</a:t>
            </a:r>
            <a:r>
              <a:rPr lang="en-US" dirty="0"/>
              <a:t> &lt;= 5);</a:t>
            </a:r>
          </a:p>
          <a:p>
            <a:pPr marL="0" indent="0">
              <a:buNone/>
            </a:pPr>
            <a:r>
              <a:rPr lang="en-US" dirty="0"/>
              <a:t>    return 0;</a:t>
            </a:r>
          </a:p>
          <a:p>
            <a:pPr marL="0" indent="0">
              <a:buNone/>
            </a:pPr>
            <a:r>
              <a:rPr lang="en-US" dirty="0"/>
              <a:t>}</a:t>
            </a:r>
          </a:p>
          <a:p>
            <a:pPr marL="0" indent="0">
              <a:buNone/>
            </a:pPr>
            <a:r>
              <a:rPr lang="en-US" dirty="0"/>
              <a:t>Output:</a:t>
            </a:r>
          </a:p>
          <a:p>
            <a:pPr marL="0" indent="0">
              <a:buNone/>
            </a:pPr>
            <a:r>
              <a:rPr lang="en-CA" dirty="0"/>
              <a:t>1 2 3 4 5</a:t>
            </a:r>
          </a:p>
        </p:txBody>
      </p:sp>
      <p:sp>
        <p:nvSpPr>
          <p:cNvPr id="2" name="Footer Placeholder 1">
            <a:extLst>
              <a:ext uri="{FF2B5EF4-FFF2-40B4-BE49-F238E27FC236}">
                <a16:creationId xmlns:a16="http://schemas.microsoft.com/office/drawing/2014/main" id="{760AB226-D830-FD20-59CF-DFB7F2D681A6}"/>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134406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AF95-ED26-A4F8-B45D-6DF8566630FA}"/>
              </a:ext>
            </a:extLst>
          </p:cNvPr>
          <p:cNvSpPr>
            <a:spLocks noGrp="1"/>
          </p:cNvSpPr>
          <p:nvPr>
            <p:ph type="title"/>
          </p:nvPr>
        </p:nvSpPr>
        <p:spPr>
          <a:xfrm>
            <a:off x="591164" y="280219"/>
            <a:ext cx="10515600" cy="1325563"/>
          </a:xfrm>
        </p:spPr>
        <p:txBody>
          <a:bodyPr/>
          <a:lstStyle/>
          <a:p>
            <a:pPr algn="ctr"/>
            <a:r>
              <a:rPr lang="en-CA" dirty="0"/>
              <a:t>C Arrays</a:t>
            </a:r>
          </a:p>
        </p:txBody>
      </p:sp>
      <p:sp>
        <p:nvSpPr>
          <p:cNvPr id="3" name="Content Placeholder 2">
            <a:extLst>
              <a:ext uri="{FF2B5EF4-FFF2-40B4-BE49-F238E27FC236}">
                <a16:creationId xmlns:a16="http://schemas.microsoft.com/office/drawing/2014/main" id="{DB0BC673-A520-538E-5551-C4A8AD3EEB81}"/>
              </a:ext>
            </a:extLst>
          </p:cNvPr>
          <p:cNvSpPr>
            <a:spLocks noGrp="1"/>
          </p:cNvSpPr>
          <p:nvPr>
            <p:ph idx="1"/>
          </p:nvPr>
        </p:nvSpPr>
        <p:spPr>
          <a:xfrm>
            <a:off x="344129" y="1605782"/>
            <a:ext cx="11009671" cy="4971999"/>
          </a:xfrm>
        </p:spPr>
        <p:txBody>
          <a:bodyPr/>
          <a:lstStyle/>
          <a:p>
            <a:r>
              <a:rPr lang="en-US" dirty="0"/>
              <a:t>An array in C is a fixed-size collection of similar data items stored in contiguous memory locations. It can be used to store the collection of primitive data types such as int, char, float, etc., and also derived and user-defined data types such as pointers, structures, etc.</a:t>
            </a:r>
            <a:endParaRPr lang="en-CA" dirty="0"/>
          </a:p>
        </p:txBody>
      </p:sp>
      <p:pic>
        <p:nvPicPr>
          <p:cNvPr id="5" name="Picture 4">
            <a:extLst>
              <a:ext uri="{FF2B5EF4-FFF2-40B4-BE49-F238E27FC236}">
                <a16:creationId xmlns:a16="http://schemas.microsoft.com/office/drawing/2014/main" id="{51D1F9AD-A7C8-60EB-033F-FA4A3DC6C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3764" y="3656860"/>
            <a:ext cx="7010400" cy="2018146"/>
          </a:xfrm>
          <a:prstGeom prst="rect">
            <a:avLst/>
          </a:prstGeom>
        </p:spPr>
      </p:pic>
      <p:sp>
        <p:nvSpPr>
          <p:cNvPr id="4" name="Footer Placeholder 3">
            <a:extLst>
              <a:ext uri="{FF2B5EF4-FFF2-40B4-BE49-F238E27FC236}">
                <a16:creationId xmlns:a16="http://schemas.microsoft.com/office/drawing/2014/main" id="{6D8C44D1-C944-2638-B540-53332366FC7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40407791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AE7A-888C-8451-B76E-3F996523ED31}"/>
              </a:ext>
            </a:extLst>
          </p:cNvPr>
          <p:cNvSpPr>
            <a:spLocks noGrp="1"/>
          </p:cNvSpPr>
          <p:nvPr>
            <p:ph type="title"/>
          </p:nvPr>
        </p:nvSpPr>
        <p:spPr>
          <a:xfrm>
            <a:off x="838200" y="365126"/>
            <a:ext cx="10515600" cy="903236"/>
          </a:xfrm>
        </p:spPr>
        <p:txBody>
          <a:bodyPr/>
          <a:lstStyle/>
          <a:p>
            <a:pPr algn="ctr"/>
            <a:r>
              <a:rPr lang="en-CA" dirty="0"/>
              <a:t>Syntax of Array Declaration</a:t>
            </a:r>
          </a:p>
        </p:txBody>
      </p:sp>
      <p:sp>
        <p:nvSpPr>
          <p:cNvPr id="3" name="Content Placeholder 2">
            <a:extLst>
              <a:ext uri="{FF2B5EF4-FFF2-40B4-BE49-F238E27FC236}">
                <a16:creationId xmlns:a16="http://schemas.microsoft.com/office/drawing/2014/main" id="{2F1E24B1-EF7D-9E2C-D2CE-73253E2B2119}"/>
              </a:ext>
            </a:extLst>
          </p:cNvPr>
          <p:cNvSpPr>
            <a:spLocks noGrp="1"/>
          </p:cNvSpPr>
          <p:nvPr>
            <p:ph idx="1"/>
          </p:nvPr>
        </p:nvSpPr>
        <p:spPr>
          <a:xfrm>
            <a:off x="838200" y="1825625"/>
            <a:ext cx="6909619" cy="1369859"/>
          </a:xfrm>
        </p:spPr>
        <p:txBody>
          <a:bodyPr>
            <a:normAutofit/>
          </a:bodyPr>
          <a:lstStyle/>
          <a:p>
            <a:r>
              <a:rPr lang="en-US" sz="2200" dirty="0" err="1"/>
              <a:t>data_type</a:t>
            </a:r>
            <a:r>
              <a:rPr lang="en-US" sz="2200" dirty="0"/>
              <a:t> </a:t>
            </a:r>
            <a:r>
              <a:rPr lang="en-US" sz="2200" dirty="0" err="1"/>
              <a:t>array_name</a:t>
            </a:r>
            <a:r>
              <a:rPr lang="en-US" sz="2200" dirty="0"/>
              <a:t> [size];     or</a:t>
            </a:r>
          </a:p>
          <a:p>
            <a:r>
              <a:rPr lang="en-US" sz="2200" dirty="0" err="1"/>
              <a:t>data_type</a:t>
            </a:r>
            <a:r>
              <a:rPr lang="en-US" sz="2200" dirty="0"/>
              <a:t> </a:t>
            </a:r>
            <a:r>
              <a:rPr lang="en-US" sz="2200" dirty="0" err="1"/>
              <a:t>array_name</a:t>
            </a:r>
            <a:r>
              <a:rPr lang="en-US" sz="2200" dirty="0"/>
              <a:t> [size1] [size2]...[</a:t>
            </a:r>
            <a:r>
              <a:rPr lang="en-US" sz="2200" dirty="0" err="1"/>
              <a:t>sizeN</a:t>
            </a:r>
            <a:r>
              <a:rPr lang="en-US" sz="2200" dirty="0"/>
              <a:t>];</a:t>
            </a:r>
          </a:p>
          <a:p>
            <a:r>
              <a:rPr lang="en-US" sz="2200" dirty="0"/>
              <a:t>where N is the number of dimensions.</a:t>
            </a:r>
          </a:p>
          <a:p>
            <a:pPr marL="0" indent="0">
              <a:buNone/>
            </a:pPr>
            <a:endParaRPr lang="en-CA" dirty="0"/>
          </a:p>
        </p:txBody>
      </p:sp>
      <p:pic>
        <p:nvPicPr>
          <p:cNvPr id="6" name="Picture 5">
            <a:extLst>
              <a:ext uri="{FF2B5EF4-FFF2-40B4-BE49-F238E27FC236}">
                <a16:creationId xmlns:a16="http://schemas.microsoft.com/office/drawing/2014/main" id="{A20E4415-6785-9897-B8F4-1CB8EE72A5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3478" y="2897036"/>
            <a:ext cx="4886632" cy="3053785"/>
          </a:xfrm>
          <a:prstGeom prst="rect">
            <a:avLst/>
          </a:prstGeom>
        </p:spPr>
      </p:pic>
      <p:sp>
        <p:nvSpPr>
          <p:cNvPr id="12" name="TextBox 11">
            <a:extLst>
              <a:ext uri="{FF2B5EF4-FFF2-40B4-BE49-F238E27FC236}">
                <a16:creationId xmlns:a16="http://schemas.microsoft.com/office/drawing/2014/main" id="{D1576B6B-29C4-A962-2528-6481CA46F85E}"/>
              </a:ext>
            </a:extLst>
          </p:cNvPr>
          <p:cNvSpPr txBox="1"/>
          <p:nvPr/>
        </p:nvSpPr>
        <p:spPr>
          <a:xfrm>
            <a:off x="383458" y="3057833"/>
            <a:ext cx="6528620" cy="3693319"/>
          </a:xfrm>
          <a:prstGeom prst="rect">
            <a:avLst/>
          </a:prstGeom>
          <a:noFill/>
        </p:spPr>
        <p:txBody>
          <a:bodyPr wrap="square">
            <a:spAutoFit/>
          </a:bodyPr>
          <a:lstStyle/>
          <a:p>
            <a:r>
              <a:rPr lang="en-US" dirty="0"/>
              <a:t>// C Program to illustrate the array declaration</a:t>
            </a:r>
          </a:p>
          <a:p>
            <a:r>
              <a:rPr lang="en-US" dirty="0"/>
              <a:t>#include &lt;</a:t>
            </a:r>
            <a:r>
              <a:rPr lang="en-US" dirty="0" err="1"/>
              <a:t>stdio.h</a:t>
            </a:r>
            <a:r>
              <a:rPr lang="en-US" dirty="0"/>
              <a:t>&gt;</a:t>
            </a:r>
          </a:p>
          <a:p>
            <a:endParaRPr lang="en-US" dirty="0"/>
          </a:p>
          <a:p>
            <a:r>
              <a:rPr lang="en-US" dirty="0"/>
              <a:t>int main()</a:t>
            </a:r>
          </a:p>
          <a:p>
            <a:r>
              <a:rPr lang="en-US" dirty="0"/>
              <a:t>{</a:t>
            </a:r>
          </a:p>
          <a:p>
            <a:endParaRPr lang="en-US" dirty="0"/>
          </a:p>
          <a:p>
            <a:r>
              <a:rPr lang="en-US" dirty="0"/>
              <a:t>    // declaring array of integers</a:t>
            </a:r>
          </a:p>
          <a:p>
            <a:r>
              <a:rPr lang="en-US" dirty="0"/>
              <a:t>    int </a:t>
            </a:r>
            <a:r>
              <a:rPr lang="en-US" dirty="0" err="1"/>
              <a:t>arr_int</a:t>
            </a:r>
            <a:r>
              <a:rPr lang="en-US" dirty="0"/>
              <a:t>[5];</a:t>
            </a:r>
          </a:p>
          <a:p>
            <a:r>
              <a:rPr lang="en-US" dirty="0"/>
              <a:t>    // declaring array of characters</a:t>
            </a:r>
          </a:p>
          <a:p>
            <a:r>
              <a:rPr lang="en-US" dirty="0"/>
              <a:t>    char </a:t>
            </a:r>
            <a:r>
              <a:rPr lang="en-US" dirty="0" err="1"/>
              <a:t>arr_char</a:t>
            </a:r>
            <a:r>
              <a:rPr lang="en-US" dirty="0"/>
              <a:t>[5];</a:t>
            </a:r>
          </a:p>
          <a:p>
            <a:endParaRPr lang="en-US" dirty="0"/>
          </a:p>
          <a:p>
            <a:r>
              <a:rPr lang="en-US" dirty="0"/>
              <a:t>    return 0;</a:t>
            </a:r>
          </a:p>
          <a:p>
            <a:r>
              <a:rPr lang="en-US" dirty="0"/>
              <a:t>}</a:t>
            </a:r>
            <a:endParaRPr lang="en-CA" dirty="0"/>
          </a:p>
        </p:txBody>
      </p:sp>
      <p:sp>
        <p:nvSpPr>
          <p:cNvPr id="4" name="Footer Placeholder 3">
            <a:extLst>
              <a:ext uri="{FF2B5EF4-FFF2-40B4-BE49-F238E27FC236}">
                <a16:creationId xmlns:a16="http://schemas.microsoft.com/office/drawing/2014/main" id="{7D97B3E7-DA70-36C6-9FCA-8B4BA05D7C9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342556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36BC-FD05-6243-E9C7-55059D1C048F}"/>
              </a:ext>
            </a:extLst>
          </p:cNvPr>
          <p:cNvSpPr>
            <a:spLocks noGrp="1"/>
          </p:cNvSpPr>
          <p:nvPr>
            <p:ph type="title"/>
          </p:nvPr>
        </p:nvSpPr>
        <p:spPr>
          <a:xfrm>
            <a:off x="838200" y="323850"/>
            <a:ext cx="10515600" cy="1325563"/>
          </a:xfrm>
        </p:spPr>
        <p:txBody>
          <a:bodyPr/>
          <a:lstStyle/>
          <a:p>
            <a:pPr algn="ctr"/>
            <a:r>
              <a:rPr lang="en-CA" dirty="0"/>
              <a:t> Array Initialization with Declaration</a:t>
            </a:r>
          </a:p>
        </p:txBody>
      </p:sp>
      <p:sp>
        <p:nvSpPr>
          <p:cNvPr id="3" name="Content Placeholder 2">
            <a:extLst>
              <a:ext uri="{FF2B5EF4-FFF2-40B4-BE49-F238E27FC236}">
                <a16:creationId xmlns:a16="http://schemas.microsoft.com/office/drawing/2014/main" id="{B7F7DA40-4E5A-1984-496A-14ED6776B7F6}"/>
              </a:ext>
            </a:extLst>
          </p:cNvPr>
          <p:cNvSpPr>
            <a:spLocks noGrp="1"/>
          </p:cNvSpPr>
          <p:nvPr>
            <p:ph idx="1"/>
          </p:nvPr>
        </p:nvSpPr>
        <p:spPr/>
        <p:txBody>
          <a:bodyPr/>
          <a:lstStyle/>
          <a:p>
            <a:r>
              <a:rPr lang="en-US" sz="2400" dirty="0"/>
              <a:t>In this method, we initialize the array along with its declaration. We use an initializer list to initialize multiple elements of the array. An initializer list is the list of values enclosed within braces </a:t>
            </a:r>
            <a:r>
              <a:rPr lang="en-US" sz="2400" b="1" dirty="0"/>
              <a:t>{ }</a:t>
            </a:r>
            <a:r>
              <a:rPr lang="en-US" sz="2400" dirty="0"/>
              <a:t> separated by a comma.</a:t>
            </a:r>
          </a:p>
          <a:p>
            <a:r>
              <a:rPr lang="en-US" sz="2400" dirty="0" err="1"/>
              <a:t>data_type</a:t>
            </a:r>
            <a:r>
              <a:rPr lang="en-US" sz="2400" dirty="0"/>
              <a:t> </a:t>
            </a:r>
            <a:r>
              <a:rPr lang="en-US" sz="2400" dirty="0" err="1"/>
              <a:t>array_name</a:t>
            </a:r>
            <a:r>
              <a:rPr lang="en-US" sz="2400" dirty="0"/>
              <a:t> [size] = {value1, value2, ... </a:t>
            </a:r>
            <a:r>
              <a:rPr lang="en-US" sz="2400" dirty="0" err="1"/>
              <a:t>valueN</a:t>
            </a:r>
            <a:r>
              <a:rPr lang="en-US" sz="2400" dirty="0"/>
              <a:t>};</a:t>
            </a:r>
          </a:p>
          <a:p>
            <a:endParaRPr lang="en-US" dirty="0"/>
          </a:p>
          <a:p>
            <a:endParaRPr lang="en-CA" dirty="0"/>
          </a:p>
        </p:txBody>
      </p:sp>
      <p:pic>
        <p:nvPicPr>
          <p:cNvPr id="7" name="Picture 6">
            <a:extLst>
              <a:ext uri="{FF2B5EF4-FFF2-40B4-BE49-F238E27FC236}">
                <a16:creationId xmlns:a16="http://schemas.microsoft.com/office/drawing/2014/main" id="{6F98EA62-A281-0A14-1671-1A89218861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0748" y="3429000"/>
            <a:ext cx="6990736" cy="2924175"/>
          </a:xfrm>
          <a:prstGeom prst="rect">
            <a:avLst/>
          </a:prstGeom>
        </p:spPr>
      </p:pic>
      <p:sp>
        <p:nvSpPr>
          <p:cNvPr id="4" name="Footer Placeholder 3">
            <a:extLst>
              <a:ext uri="{FF2B5EF4-FFF2-40B4-BE49-F238E27FC236}">
                <a16:creationId xmlns:a16="http://schemas.microsoft.com/office/drawing/2014/main" id="{83C19BF8-CF20-98ED-B315-A2E39EA85BF2}"/>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753839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9C9FC-FF8E-924F-40BE-227704B45AA9}"/>
              </a:ext>
            </a:extLst>
          </p:cNvPr>
          <p:cNvSpPr>
            <a:spLocks noGrp="1"/>
          </p:cNvSpPr>
          <p:nvPr>
            <p:ph idx="1"/>
          </p:nvPr>
        </p:nvSpPr>
        <p:spPr>
          <a:xfrm>
            <a:off x="412955" y="550606"/>
            <a:ext cx="5083277" cy="5997678"/>
          </a:xfrm>
        </p:spPr>
        <p:txBody>
          <a:bodyPr>
            <a:normAutofit/>
          </a:bodyPr>
          <a:lstStyle/>
          <a:p>
            <a:r>
              <a:rPr lang="en-US" sz="1800" b="1" dirty="0"/>
              <a:t>Array Initialization with Declaration without Size</a:t>
            </a:r>
          </a:p>
          <a:p>
            <a:pPr marL="0" indent="0">
              <a:buNone/>
            </a:pPr>
            <a:r>
              <a:rPr lang="en-US" sz="1800" dirty="0"/>
              <a:t>If we initialize an array using an initializer list, we can skip declaring the size of the array as the compiler can automatically deduce the size of the array in these cases. </a:t>
            </a:r>
          </a:p>
          <a:p>
            <a:pPr marL="0" indent="0">
              <a:buNone/>
            </a:pPr>
            <a:r>
              <a:rPr lang="en-US" sz="1800" dirty="0" err="1"/>
              <a:t>data_type</a:t>
            </a:r>
            <a:r>
              <a:rPr lang="en-US" sz="1800" dirty="0"/>
              <a:t> </a:t>
            </a:r>
            <a:r>
              <a:rPr lang="en-US" sz="1800" dirty="0" err="1"/>
              <a:t>array_name</a:t>
            </a:r>
            <a:r>
              <a:rPr lang="en-US" sz="1800" dirty="0"/>
              <a:t>[] = {1,2,3,4,5};</a:t>
            </a:r>
          </a:p>
          <a:p>
            <a:pPr marL="0" indent="0">
              <a:buNone/>
            </a:pPr>
            <a:r>
              <a:rPr lang="en-US" sz="1800" dirty="0"/>
              <a:t>The size of the above arrays is 5 which is automatically deduced by the compiler.</a:t>
            </a:r>
          </a:p>
          <a:p>
            <a:pPr marL="0" indent="0">
              <a:buNone/>
            </a:pPr>
            <a:endParaRPr lang="en-US" sz="1800" dirty="0"/>
          </a:p>
          <a:p>
            <a:pPr marL="0" indent="0">
              <a:buNone/>
            </a:pPr>
            <a:endParaRPr lang="en-CA" sz="2400" b="1" dirty="0"/>
          </a:p>
        </p:txBody>
      </p:sp>
      <p:sp>
        <p:nvSpPr>
          <p:cNvPr id="8" name="TextBox 7">
            <a:extLst>
              <a:ext uri="{FF2B5EF4-FFF2-40B4-BE49-F238E27FC236}">
                <a16:creationId xmlns:a16="http://schemas.microsoft.com/office/drawing/2014/main" id="{F77DAFCF-BF37-657C-9F08-9AE7A77F77C2}"/>
              </a:ext>
            </a:extLst>
          </p:cNvPr>
          <p:cNvSpPr txBox="1"/>
          <p:nvPr/>
        </p:nvSpPr>
        <p:spPr>
          <a:xfrm>
            <a:off x="5781368" y="469515"/>
            <a:ext cx="6096000" cy="5078313"/>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int main() {</a:t>
            </a:r>
          </a:p>
          <a:p>
            <a:r>
              <a:rPr lang="en-US" dirty="0"/>
              <a:t>    // Declare and initialize an array without specifying its size</a:t>
            </a:r>
          </a:p>
          <a:p>
            <a:r>
              <a:rPr lang="en-US" dirty="0"/>
              <a:t>    int </a:t>
            </a:r>
            <a:r>
              <a:rPr lang="en-US" dirty="0" err="1"/>
              <a:t>arr</a:t>
            </a:r>
            <a:r>
              <a:rPr lang="en-US" dirty="0"/>
              <a:t>[] = {10, 20, 30, 40, 50};</a:t>
            </a:r>
          </a:p>
          <a:p>
            <a:endParaRPr lang="en-US" dirty="0"/>
          </a:p>
          <a:p>
            <a:r>
              <a:rPr lang="en-US" dirty="0"/>
              <a:t>    // The size of the array is automatically determined to be 5</a:t>
            </a:r>
          </a:p>
          <a:p>
            <a:r>
              <a:rPr lang="en-US" dirty="0"/>
              <a:t>    int n = </a:t>
            </a:r>
            <a:r>
              <a:rPr lang="en-US" dirty="0" err="1"/>
              <a:t>sizeof</a:t>
            </a:r>
            <a:r>
              <a:rPr lang="en-US" dirty="0"/>
              <a:t>(</a:t>
            </a:r>
            <a:r>
              <a:rPr lang="en-US" dirty="0" err="1"/>
              <a:t>arr</a:t>
            </a:r>
            <a:r>
              <a:rPr lang="en-US" dirty="0"/>
              <a:t>) / </a:t>
            </a:r>
            <a:r>
              <a:rPr lang="en-US" dirty="0" err="1"/>
              <a:t>sizeof</a:t>
            </a:r>
            <a:r>
              <a:rPr lang="en-US" dirty="0"/>
              <a:t>(</a:t>
            </a:r>
            <a:r>
              <a:rPr lang="en-US" dirty="0" err="1"/>
              <a:t>arr</a:t>
            </a:r>
            <a:r>
              <a:rPr lang="en-US" dirty="0"/>
              <a:t>[0]); // Calculate the size of the array</a:t>
            </a:r>
          </a:p>
          <a:p>
            <a:endParaRPr lang="en-US" dirty="0"/>
          </a:p>
          <a:p>
            <a:r>
              <a:rPr lang="en-US" dirty="0"/>
              <a:t>    // Print the array elements</a:t>
            </a:r>
          </a:p>
          <a:p>
            <a:r>
              <a:rPr lang="en-US" dirty="0"/>
              <a:t>    </a:t>
            </a:r>
            <a:r>
              <a:rPr lang="en-US" dirty="0" err="1"/>
              <a:t>printf</a:t>
            </a:r>
            <a:r>
              <a:rPr lang="en-US" dirty="0"/>
              <a:t>("Array elements: ");</a:t>
            </a:r>
          </a:p>
          <a:p>
            <a:r>
              <a:rPr lang="en-US" dirty="0"/>
              <a:t>    for(int </a:t>
            </a:r>
            <a:r>
              <a:rPr lang="en-US" dirty="0" err="1"/>
              <a:t>i</a:t>
            </a:r>
            <a:r>
              <a:rPr lang="en-US" dirty="0"/>
              <a:t> = 0; </a:t>
            </a:r>
            <a:r>
              <a:rPr lang="en-US" dirty="0" err="1"/>
              <a:t>i</a:t>
            </a:r>
            <a:r>
              <a:rPr lang="en-US" dirty="0"/>
              <a:t> &lt; n;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a:t>
            </a:r>
          </a:p>
          <a:p>
            <a:endParaRPr lang="en-US" dirty="0"/>
          </a:p>
          <a:p>
            <a:r>
              <a:rPr lang="en-US" dirty="0"/>
              <a:t>    return 0;</a:t>
            </a:r>
          </a:p>
          <a:p>
            <a:r>
              <a:rPr lang="en-US" dirty="0"/>
              <a:t>}</a:t>
            </a:r>
            <a:endParaRPr lang="en-CA" dirty="0"/>
          </a:p>
        </p:txBody>
      </p:sp>
      <p:sp>
        <p:nvSpPr>
          <p:cNvPr id="12" name="TextBox 11">
            <a:extLst>
              <a:ext uri="{FF2B5EF4-FFF2-40B4-BE49-F238E27FC236}">
                <a16:creationId xmlns:a16="http://schemas.microsoft.com/office/drawing/2014/main" id="{ACEBC6C6-0715-657C-3DA5-6E0F5176BDBC}"/>
              </a:ext>
            </a:extLst>
          </p:cNvPr>
          <p:cNvSpPr txBox="1"/>
          <p:nvPr/>
        </p:nvSpPr>
        <p:spPr>
          <a:xfrm>
            <a:off x="7010400" y="5724924"/>
            <a:ext cx="3637936" cy="646331"/>
          </a:xfrm>
          <a:prstGeom prst="rect">
            <a:avLst/>
          </a:prstGeom>
          <a:noFill/>
        </p:spPr>
        <p:txBody>
          <a:bodyPr wrap="square">
            <a:spAutoFit/>
          </a:bodyPr>
          <a:lstStyle/>
          <a:p>
            <a:r>
              <a:rPr lang="en-US" dirty="0"/>
              <a:t>Output:</a:t>
            </a:r>
          </a:p>
          <a:p>
            <a:r>
              <a:rPr lang="en-US" dirty="0"/>
              <a:t>Array elements: 10 20 30 40 50</a:t>
            </a:r>
            <a:endParaRPr lang="en-CA" dirty="0"/>
          </a:p>
        </p:txBody>
      </p:sp>
      <p:sp>
        <p:nvSpPr>
          <p:cNvPr id="2" name="Footer Placeholder 1">
            <a:extLst>
              <a:ext uri="{FF2B5EF4-FFF2-40B4-BE49-F238E27FC236}">
                <a16:creationId xmlns:a16="http://schemas.microsoft.com/office/drawing/2014/main" id="{53F428C8-AEF0-6A33-CA43-E19FF9DED7C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4996603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3E3E-6272-102A-72B4-8870012EC965}"/>
              </a:ext>
            </a:extLst>
          </p:cNvPr>
          <p:cNvSpPr>
            <a:spLocks noGrp="1"/>
          </p:cNvSpPr>
          <p:nvPr>
            <p:ph type="title"/>
          </p:nvPr>
        </p:nvSpPr>
        <p:spPr>
          <a:xfrm>
            <a:off x="838200" y="365125"/>
            <a:ext cx="10515600" cy="1090049"/>
          </a:xfrm>
        </p:spPr>
        <p:txBody>
          <a:bodyPr>
            <a:normAutofit/>
          </a:bodyPr>
          <a:lstStyle/>
          <a:p>
            <a:pPr algn="ctr"/>
            <a:r>
              <a:rPr lang="en-US" sz="3600" dirty="0"/>
              <a:t>Array Initialization after Declaration (Using Loops)</a:t>
            </a:r>
            <a:br>
              <a:rPr lang="en-US" sz="3600" dirty="0"/>
            </a:br>
            <a:endParaRPr lang="en-CA" sz="3600" dirty="0"/>
          </a:p>
        </p:txBody>
      </p:sp>
      <p:sp>
        <p:nvSpPr>
          <p:cNvPr id="3" name="Content Placeholder 2">
            <a:extLst>
              <a:ext uri="{FF2B5EF4-FFF2-40B4-BE49-F238E27FC236}">
                <a16:creationId xmlns:a16="http://schemas.microsoft.com/office/drawing/2014/main" id="{BD1D87E9-BD15-E958-C26E-76742BC604FF}"/>
              </a:ext>
            </a:extLst>
          </p:cNvPr>
          <p:cNvSpPr>
            <a:spLocks noGrp="1"/>
          </p:cNvSpPr>
          <p:nvPr>
            <p:ph idx="1"/>
          </p:nvPr>
        </p:nvSpPr>
        <p:spPr>
          <a:xfrm>
            <a:off x="838200" y="1150374"/>
            <a:ext cx="4923503" cy="5026589"/>
          </a:xfrm>
        </p:spPr>
        <p:txBody>
          <a:bodyPr>
            <a:normAutofit/>
          </a:bodyPr>
          <a:lstStyle/>
          <a:p>
            <a:pPr marL="0" indent="0">
              <a:buNone/>
            </a:pPr>
            <a:r>
              <a:rPr lang="en-US" sz="1800" dirty="0"/>
              <a:t>#include &lt;</a:t>
            </a:r>
            <a:r>
              <a:rPr lang="en-US" sz="1800" dirty="0" err="1"/>
              <a:t>stdio.h</a:t>
            </a:r>
            <a:r>
              <a:rPr lang="en-US" sz="1800" dirty="0"/>
              <a:t>&gt;</a:t>
            </a:r>
          </a:p>
          <a:p>
            <a:pPr marL="0" indent="0">
              <a:buNone/>
            </a:pPr>
            <a:endParaRPr lang="en-US" sz="1800" dirty="0"/>
          </a:p>
          <a:p>
            <a:pPr marL="0" indent="0">
              <a:buNone/>
            </a:pPr>
            <a:r>
              <a:rPr lang="en-US" sz="1800" dirty="0"/>
              <a:t>int main() {</a:t>
            </a:r>
          </a:p>
          <a:p>
            <a:pPr marL="0" indent="0">
              <a:buNone/>
            </a:pPr>
            <a:r>
              <a:rPr lang="en-US" sz="1800" dirty="0"/>
              <a:t>    int </a:t>
            </a:r>
            <a:r>
              <a:rPr lang="en-US" sz="1800" dirty="0" err="1"/>
              <a:t>arr</a:t>
            </a:r>
            <a:r>
              <a:rPr lang="en-US" sz="1800" dirty="0"/>
              <a:t>[5];  // Declare an array of size 5</a:t>
            </a:r>
          </a:p>
          <a:p>
            <a:pPr marL="0" indent="0">
              <a:buNone/>
            </a:pPr>
            <a:r>
              <a:rPr lang="en-US" sz="1800" dirty="0"/>
              <a:t>    int </a:t>
            </a:r>
            <a:r>
              <a:rPr lang="en-US" sz="1800" dirty="0" err="1"/>
              <a:t>i</a:t>
            </a:r>
            <a:r>
              <a:rPr lang="en-US" sz="1800" dirty="0"/>
              <a:t>;</a:t>
            </a:r>
          </a:p>
          <a:p>
            <a:pPr marL="0" indent="0">
              <a:buNone/>
            </a:pPr>
            <a:endParaRPr lang="en-US" sz="1800" dirty="0"/>
          </a:p>
          <a:p>
            <a:pPr marL="0" indent="0">
              <a:buNone/>
            </a:pPr>
            <a:r>
              <a:rPr lang="en-US" sz="1800" dirty="0"/>
              <a:t>    // Initialize array elements using a for loop</a:t>
            </a:r>
          </a:p>
          <a:p>
            <a:pPr marL="0" indent="0">
              <a:buNone/>
            </a:pPr>
            <a:r>
              <a:rPr lang="en-US" sz="1800" dirty="0"/>
              <a:t>    for(</a:t>
            </a:r>
            <a:r>
              <a:rPr lang="en-US" sz="1800" dirty="0" err="1"/>
              <a:t>i</a:t>
            </a:r>
            <a:r>
              <a:rPr lang="en-US" sz="1800" dirty="0"/>
              <a:t> = 0; </a:t>
            </a:r>
            <a:r>
              <a:rPr lang="en-US" sz="1800" dirty="0" err="1"/>
              <a:t>i</a:t>
            </a:r>
            <a:r>
              <a:rPr lang="en-US" sz="1800" dirty="0"/>
              <a:t> &lt; 5; </a:t>
            </a:r>
            <a:r>
              <a:rPr lang="en-US" sz="1800" dirty="0" err="1"/>
              <a:t>i</a:t>
            </a:r>
            <a:r>
              <a:rPr lang="en-US" sz="1800" dirty="0"/>
              <a:t>++) {</a:t>
            </a:r>
          </a:p>
          <a:p>
            <a:pPr marL="0" indent="0">
              <a:buNone/>
            </a:pPr>
            <a:r>
              <a:rPr lang="en-US" sz="1800" dirty="0"/>
              <a:t>        </a:t>
            </a:r>
            <a:r>
              <a:rPr lang="en-US" sz="1800" dirty="0" err="1"/>
              <a:t>arr</a:t>
            </a:r>
            <a:r>
              <a:rPr lang="en-US" sz="1800" dirty="0"/>
              <a:t>[</a:t>
            </a:r>
            <a:r>
              <a:rPr lang="en-US" sz="1800" dirty="0" err="1"/>
              <a:t>i</a:t>
            </a:r>
            <a:r>
              <a:rPr lang="en-US" sz="1800" dirty="0"/>
              <a:t>] = </a:t>
            </a:r>
            <a:r>
              <a:rPr lang="en-US" sz="1800" dirty="0" err="1"/>
              <a:t>i</a:t>
            </a:r>
            <a:r>
              <a:rPr lang="en-US" sz="1800" dirty="0"/>
              <a:t> + 1;  // Assign values 1, 2, 3, 4, 5 to the array elements</a:t>
            </a:r>
          </a:p>
          <a:p>
            <a:pPr marL="0" indent="0">
              <a:buNone/>
            </a:pPr>
            <a:r>
              <a:rPr lang="en-US" sz="1800" dirty="0"/>
              <a:t>    }</a:t>
            </a:r>
          </a:p>
          <a:p>
            <a:endParaRPr lang="en-CA" sz="2000" dirty="0"/>
          </a:p>
        </p:txBody>
      </p:sp>
      <p:sp>
        <p:nvSpPr>
          <p:cNvPr id="7" name="TextBox 6">
            <a:extLst>
              <a:ext uri="{FF2B5EF4-FFF2-40B4-BE49-F238E27FC236}">
                <a16:creationId xmlns:a16="http://schemas.microsoft.com/office/drawing/2014/main" id="{12E4BB59-BDA8-F50F-F0F1-6260B35B60D3}"/>
              </a:ext>
            </a:extLst>
          </p:cNvPr>
          <p:cNvSpPr txBox="1"/>
          <p:nvPr/>
        </p:nvSpPr>
        <p:spPr>
          <a:xfrm>
            <a:off x="7069393" y="1455174"/>
            <a:ext cx="4080388" cy="2308324"/>
          </a:xfrm>
          <a:prstGeom prst="rect">
            <a:avLst/>
          </a:prstGeom>
          <a:noFill/>
        </p:spPr>
        <p:txBody>
          <a:bodyPr wrap="square">
            <a:spAutoFit/>
          </a:bodyPr>
          <a:lstStyle/>
          <a:p>
            <a:r>
              <a:rPr lang="en-US" dirty="0"/>
              <a:t>// Print the array elements</a:t>
            </a:r>
          </a:p>
          <a:p>
            <a:r>
              <a:rPr lang="en-US" dirty="0"/>
              <a:t>    </a:t>
            </a:r>
            <a:r>
              <a:rPr lang="en-US" dirty="0" err="1"/>
              <a:t>printf</a:t>
            </a:r>
            <a:r>
              <a:rPr lang="en-US" dirty="0"/>
              <a:t>("Array elements: ");</a:t>
            </a:r>
          </a:p>
          <a:p>
            <a:r>
              <a:rPr lang="en-US" dirty="0"/>
              <a:t>    for(</a:t>
            </a:r>
            <a:r>
              <a:rPr lang="en-US" dirty="0" err="1"/>
              <a:t>i</a:t>
            </a:r>
            <a:r>
              <a:rPr lang="en-US" dirty="0"/>
              <a:t> = 0; </a:t>
            </a:r>
            <a:r>
              <a:rPr lang="en-US" dirty="0" err="1"/>
              <a:t>i</a:t>
            </a:r>
            <a:r>
              <a:rPr lang="en-US" dirty="0"/>
              <a:t> &lt; 5;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a:t>
            </a:r>
          </a:p>
          <a:p>
            <a:endParaRPr lang="en-US" dirty="0"/>
          </a:p>
          <a:p>
            <a:r>
              <a:rPr lang="en-US" dirty="0"/>
              <a:t>    return 0;</a:t>
            </a:r>
          </a:p>
          <a:p>
            <a:r>
              <a:rPr lang="en-US" dirty="0"/>
              <a:t>}</a:t>
            </a:r>
            <a:endParaRPr lang="en-CA" dirty="0"/>
          </a:p>
        </p:txBody>
      </p:sp>
      <p:sp>
        <p:nvSpPr>
          <p:cNvPr id="11" name="TextBox 10">
            <a:extLst>
              <a:ext uri="{FF2B5EF4-FFF2-40B4-BE49-F238E27FC236}">
                <a16:creationId xmlns:a16="http://schemas.microsoft.com/office/drawing/2014/main" id="{41620642-EF1A-7A2A-8396-381C0FAD050C}"/>
              </a:ext>
            </a:extLst>
          </p:cNvPr>
          <p:cNvSpPr txBox="1"/>
          <p:nvPr/>
        </p:nvSpPr>
        <p:spPr>
          <a:xfrm>
            <a:off x="5499922" y="5402826"/>
            <a:ext cx="3703072" cy="646331"/>
          </a:xfrm>
          <a:prstGeom prst="rect">
            <a:avLst/>
          </a:prstGeom>
          <a:noFill/>
        </p:spPr>
        <p:txBody>
          <a:bodyPr wrap="square">
            <a:spAutoFit/>
          </a:bodyPr>
          <a:lstStyle/>
          <a:p>
            <a:r>
              <a:rPr lang="en-CA" dirty="0"/>
              <a:t>Output:</a:t>
            </a:r>
          </a:p>
          <a:p>
            <a:r>
              <a:rPr lang="en-CA" dirty="0"/>
              <a:t>1 2 3 4 5</a:t>
            </a:r>
          </a:p>
        </p:txBody>
      </p:sp>
      <p:sp>
        <p:nvSpPr>
          <p:cNvPr id="4" name="Footer Placeholder 3">
            <a:extLst>
              <a:ext uri="{FF2B5EF4-FFF2-40B4-BE49-F238E27FC236}">
                <a16:creationId xmlns:a16="http://schemas.microsoft.com/office/drawing/2014/main" id="{D9ADDD01-4436-645D-F6E3-1B824BDE696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7036599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02FFC24-4B5A-03EA-66C9-B21A096BCD38}"/>
              </a:ext>
            </a:extLst>
          </p:cNvPr>
          <p:cNvSpPr txBox="1"/>
          <p:nvPr/>
        </p:nvSpPr>
        <p:spPr>
          <a:xfrm>
            <a:off x="1120878" y="474345"/>
            <a:ext cx="6096000" cy="5909310"/>
          </a:xfrm>
          <a:prstGeom prst="rect">
            <a:avLst/>
          </a:prstGeom>
          <a:noFill/>
        </p:spPr>
        <p:txBody>
          <a:bodyPr wrap="square">
            <a:spAutoFit/>
          </a:bodyPr>
          <a:lstStyle/>
          <a:p>
            <a:r>
              <a:rPr lang="en-CA" dirty="0"/>
              <a:t>#include &lt;</a:t>
            </a:r>
            <a:r>
              <a:rPr lang="en-CA" dirty="0" err="1"/>
              <a:t>stdio.h</a:t>
            </a:r>
            <a:r>
              <a:rPr lang="en-CA" dirty="0"/>
              <a:t>&gt;</a:t>
            </a:r>
          </a:p>
          <a:p>
            <a:endParaRPr lang="en-CA" dirty="0"/>
          </a:p>
          <a:p>
            <a:r>
              <a:rPr lang="en-CA" dirty="0"/>
              <a:t>int main() {</a:t>
            </a:r>
          </a:p>
          <a:p>
            <a:r>
              <a:rPr lang="en-CA" dirty="0"/>
              <a:t>    int </a:t>
            </a:r>
            <a:r>
              <a:rPr lang="en-CA" dirty="0" err="1"/>
              <a:t>arr</a:t>
            </a:r>
            <a:r>
              <a:rPr lang="en-CA" dirty="0"/>
              <a:t>[5];  // Declare an array of size 5</a:t>
            </a:r>
          </a:p>
          <a:p>
            <a:r>
              <a:rPr lang="en-CA" dirty="0"/>
              <a:t>    int </a:t>
            </a:r>
            <a:r>
              <a:rPr lang="en-CA" dirty="0" err="1"/>
              <a:t>i</a:t>
            </a:r>
            <a:r>
              <a:rPr lang="en-CA" dirty="0"/>
              <a:t>;</a:t>
            </a:r>
          </a:p>
          <a:p>
            <a:endParaRPr lang="en-CA" dirty="0"/>
          </a:p>
          <a:p>
            <a:r>
              <a:rPr lang="en-CA" dirty="0"/>
              <a:t>    // Get user input to initialize the array</a:t>
            </a:r>
          </a:p>
          <a:p>
            <a:r>
              <a:rPr lang="en-CA" dirty="0"/>
              <a:t>    </a:t>
            </a:r>
            <a:r>
              <a:rPr lang="en-CA" dirty="0" err="1"/>
              <a:t>printf</a:t>
            </a:r>
            <a:r>
              <a:rPr lang="en-CA" dirty="0"/>
              <a:t>("Enter 5 integers:\n");</a:t>
            </a:r>
          </a:p>
          <a:p>
            <a:r>
              <a:rPr lang="en-CA" dirty="0"/>
              <a:t>    for(</a:t>
            </a:r>
            <a:r>
              <a:rPr lang="en-CA" dirty="0" err="1"/>
              <a:t>i</a:t>
            </a:r>
            <a:r>
              <a:rPr lang="en-CA" dirty="0"/>
              <a:t> = 0; </a:t>
            </a:r>
            <a:r>
              <a:rPr lang="en-CA" dirty="0" err="1"/>
              <a:t>i</a:t>
            </a:r>
            <a:r>
              <a:rPr lang="en-CA" dirty="0"/>
              <a:t> &lt; 5; </a:t>
            </a:r>
            <a:r>
              <a:rPr lang="en-CA" dirty="0" err="1"/>
              <a:t>i</a:t>
            </a:r>
            <a:r>
              <a:rPr lang="en-CA" dirty="0"/>
              <a:t>++) {</a:t>
            </a:r>
          </a:p>
          <a:p>
            <a:r>
              <a:rPr lang="en-CA" dirty="0"/>
              <a:t>        </a:t>
            </a:r>
            <a:r>
              <a:rPr lang="en-CA" dirty="0" err="1"/>
              <a:t>printf</a:t>
            </a:r>
            <a:r>
              <a:rPr lang="en-CA" dirty="0"/>
              <a:t>("Enter element %d: ", </a:t>
            </a:r>
            <a:r>
              <a:rPr lang="en-CA" dirty="0" err="1"/>
              <a:t>i</a:t>
            </a:r>
            <a:r>
              <a:rPr lang="en-CA" dirty="0"/>
              <a:t> + 1);</a:t>
            </a:r>
          </a:p>
          <a:p>
            <a:r>
              <a:rPr lang="en-CA" dirty="0"/>
              <a:t>        </a:t>
            </a:r>
            <a:r>
              <a:rPr lang="en-CA" dirty="0" err="1"/>
              <a:t>scanf</a:t>
            </a:r>
            <a:r>
              <a:rPr lang="en-CA" dirty="0"/>
              <a:t>("%d", &amp;</a:t>
            </a:r>
            <a:r>
              <a:rPr lang="en-CA" dirty="0" err="1"/>
              <a:t>arr</a:t>
            </a:r>
            <a:r>
              <a:rPr lang="en-CA" dirty="0"/>
              <a:t>[</a:t>
            </a:r>
            <a:r>
              <a:rPr lang="en-CA" dirty="0" err="1"/>
              <a:t>i</a:t>
            </a:r>
            <a:r>
              <a:rPr lang="en-CA" dirty="0"/>
              <a:t>]);  // Store user input in the array</a:t>
            </a:r>
          </a:p>
          <a:p>
            <a:r>
              <a:rPr lang="en-CA" dirty="0"/>
              <a:t>    }</a:t>
            </a:r>
          </a:p>
          <a:p>
            <a:endParaRPr lang="en-CA" dirty="0"/>
          </a:p>
          <a:p>
            <a:r>
              <a:rPr lang="en-CA" dirty="0"/>
              <a:t>    // Print the array elements</a:t>
            </a:r>
          </a:p>
          <a:p>
            <a:r>
              <a:rPr lang="en-CA" dirty="0"/>
              <a:t>    </a:t>
            </a:r>
            <a:r>
              <a:rPr lang="en-CA" dirty="0" err="1"/>
              <a:t>printf</a:t>
            </a:r>
            <a:r>
              <a:rPr lang="en-CA" dirty="0"/>
              <a:t>("Array elements: ");</a:t>
            </a:r>
          </a:p>
          <a:p>
            <a:r>
              <a:rPr lang="en-CA" dirty="0"/>
              <a:t>    for(</a:t>
            </a:r>
            <a:r>
              <a:rPr lang="en-CA" dirty="0" err="1"/>
              <a:t>i</a:t>
            </a:r>
            <a:r>
              <a:rPr lang="en-CA" dirty="0"/>
              <a:t> = 0; </a:t>
            </a:r>
            <a:r>
              <a:rPr lang="en-CA" dirty="0" err="1"/>
              <a:t>i</a:t>
            </a:r>
            <a:r>
              <a:rPr lang="en-CA" dirty="0"/>
              <a:t> &lt; 5; </a:t>
            </a:r>
            <a:r>
              <a:rPr lang="en-CA" dirty="0" err="1"/>
              <a:t>i</a:t>
            </a:r>
            <a:r>
              <a:rPr lang="en-CA" dirty="0"/>
              <a:t>++) {</a:t>
            </a:r>
          </a:p>
          <a:p>
            <a:r>
              <a:rPr lang="en-CA" dirty="0"/>
              <a:t>        </a:t>
            </a:r>
            <a:r>
              <a:rPr lang="en-CA" dirty="0" err="1"/>
              <a:t>printf</a:t>
            </a:r>
            <a:r>
              <a:rPr lang="en-CA" dirty="0"/>
              <a:t>("%d ", </a:t>
            </a:r>
            <a:r>
              <a:rPr lang="en-CA" dirty="0" err="1"/>
              <a:t>arr</a:t>
            </a:r>
            <a:r>
              <a:rPr lang="en-CA" dirty="0"/>
              <a:t>[</a:t>
            </a:r>
            <a:r>
              <a:rPr lang="en-CA" dirty="0" err="1"/>
              <a:t>i</a:t>
            </a:r>
            <a:r>
              <a:rPr lang="en-CA" dirty="0"/>
              <a:t>]);</a:t>
            </a:r>
          </a:p>
          <a:p>
            <a:r>
              <a:rPr lang="en-CA" dirty="0"/>
              <a:t>    }</a:t>
            </a:r>
          </a:p>
          <a:p>
            <a:endParaRPr lang="en-CA" dirty="0"/>
          </a:p>
          <a:p>
            <a:r>
              <a:rPr lang="en-CA" dirty="0"/>
              <a:t>    return 0;</a:t>
            </a:r>
          </a:p>
          <a:p>
            <a:r>
              <a:rPr lang="en-CA" dirty="0"/>
              <a:t>}</a:t>
            </a:r>
          </a:p>
        </p:txBody>
      </p:sp>
      <p:sp>
        <p:nvSpPr>
          <p:cNvPr id="2" name="Footer Placeholder 1">
            <a:extLst>
              <a:ext uri="{FF2B5EF4-FFF2-40B4-BE49-F238E27FC236}">
                <a16:creationId xmlns:a16="http://schemas.microsoft.com/office/drawing/2014/main" id="{9B87D82F-A90E-AEF3-3AC0-E0E782AD3833}"/>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0246730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7260D52-1E95-3918-59DB-4B32DB5B6CC9}"/>
              </a:ext>
            </a:extLst>
          </p:cNvPr>
          <p:cNvSpPr txBox="1"/>
          <p:nvPr/>
        </p:nvSpPr>
        <p:spPr>
          <a:xfrm>
            <a:off x="855406" y="526813"/>
            <a:ext cx="6096000" cy="5632311"/>
          </a:xfrm>
          <a:prstGeom prst="rect">
            <a:avLst/>
          </a:prstGeom>
          <a:noFill/>
        </p:spPr>
        <p:txBody>
          <a:bodyPr wrap="square">
            <a:spAutoFit/>
          </a:bodyPr>
          <a:lstStyle/>
          <a:p>
            <a:r>
              <a:rPr lang="en-CA" dirty="0"/>
              <a:t>#include &lt;</a:t>
            </a:r>
            <a:r>
              <a:rPr lang="en-CA" dirty="0" err="1"/>
              <a:t>stdio.h</a:t>
            </a:r>
            <a:r>
              <a:rPr lang="en-CA" dirty="0"/>
              <a:t>&gt;</a:t>
            </a:r>
          </a:p>
          <a:p>
            <a:endParaRPr lang="en-CA" dirty="0"/>
          </a:p>
          <a:p>
            <a:r>
              <a:rPr lang="en-CA" dirty="0"/>
              <a:t>int main() {</a:t>
            </a:r>
          </a:p>
          <a:p>
            <a:r>
              <a:rPr lang="en-CA" dirty="0"/>
              <a:t>    int </a:t>
            </a:r>
            <a:r>
              <a:rPr lang="en-CA" dirty="0" err="1"/>
              <a:t>arr</a:t>
            </a:r>
            <a:r>
              <a:rPr lang="en-CA" dirty="0"/>
              <a:t>[5];  // Declare an array of size 5</a:t>
            </a:r>
          </a:p>
          <a:p>
            <a:r>
              <a:rPr lang="en-CA" dirty="0"/>
              <a:t>    int </a:t>
            </a:r>
            <a:r>
              <a:rPr lang="en-CA" dirty="0" err="1"/>
              <a:t>i</a:t>
            </a:r>
            <a:r>
              <a:rPr lang="en-CA" dirty="0"/>
              <a:t>;</a:t>
            </a:r>
          </a:p>
          <a:p>
            <a:endParaRPr lang="en-CA" dirty="0"/>
          </a:p>
          <a:p>
            <a:r>
              <a:rPr lang="en-CA" dirty="0"/>
              <a:t>    // Initialize array elements using a pattern (e.g., square of index)</a:t>
            </a:r>
          </a:p>
          <a:p>
            <a:r>
              <a:rPr lang="en-CA" dirty="0"/>
              <a:t>    for(</a:t>
            </a:r>
            <a:r>
              <a:rPr lang="en-CA" dirty="0" err="1"/>
              <a:t>i</a:t>
            </a:r>
            <a:r>
              <a:rPr lang="en-CA" dirty="0"/>
              <a:t> = 0; </a:t>
            </a:r>
            <a:r>
              <a:rPr lang="en-CA" dirty="0" err="1"/>
              <a:t>i</a:t>
            </a:r>
            <a:r>
              <a:rPr lang="en-CA" dirty="0"/>
              <a:t> &lt; 5; </a:t>
            </a:r>
            <a:r>
              <a:rPr lang="en-CA" dirty="0" err="1"/>
              <a:t>i</a:t>
            </a:r>
            <a:r>
              <a:rPr lang="en-CA" dirty="0"/>
              <a:t>++) {</a:t>
            </a:r>
          </a:p>
          <a:p>
            <a:r>
              <a:rPr lang="en-CA" dirty="0"/>
              <a:t>        </a:t>
            </a:r>
            <a:r>
              <a:rPr lang="en-CA" dirty="0" err="1"/>
              <a:t>arr</a:t>
            </a:r>
            <a:r>
              <a:rPr lang="en-CA" dirty="0"/>
              <a:t>[</a:t>
            </a:r>
            <a:r>
              <a:rPr lang="en-CA" dirty="0" err="1"/>
              <a:t>i</a:t>
            </a:r>
            <a:r>
              <a:rPr lang="en-CA" dirty="0"/>
              <a:t>] = (</a:t>
            </a:r>
            <a:r>
              <a:rPr lang="en-CA" dirty="0" err="1"/>
              <a:t>i</a:t>
            </a:r>
            <a:r>
              <a:rPr lang="en-CA" dirty="0"/>
              <a:t> + 1) * (</a:t>
            </a:r>
            <a:r>
              <a:rPr lang="en-CA" dirty="0" err="1"/>
              <a:t>i</a:t>
            </a:r>
            <a:r>
              <a:rPr lang="en-CA" dirty="0"/>
              <a:t> + 1);  // Store the square of (</a:t>
            </a:r>
            <a:r>
              <a:rPr lang="en-CA" dirty="0" err="1"/>
              <a:t>i</a:t>
            </a:r>
            <a:r>
              <a:rPr lang="en-CA" dirty="0"/>
              <a:t> + 1)</a:t>
            </a:r>
          </a:p>
          <a:p>
            <a:r>
              <a:rPr lang="en-CA" dirty="0"/>
              <a:t>    }</a:t>
            </a:r>
          </a:p>
          <a:p>
            <a:endParaRPr lang="en-CA" dirty="0"/>
          </a:p>
          <a:p>
            <a:r>
              <a:rPr lang="en-CA" dirty="0"/>
              <a:t>    // Print the array elements</a:t>
            </a:r>
          </a:p>
          <a:p>
            <a:r>
              <a:rPr lang="en-CA" dirty="0"/>
              <a:t>    </a:t>
            </a:r>
            <a:r>
              <a:rPr lang="en-CA" dirty="0" err="1"/>
              <a:t>printf</a:t>
            </a:r>
            <a:r>
              <a:rPr lang="en-CA" dirty="0"/>
              <a:t>("Array elements: ");</a:t>
            </a:r>
          </a:p>
          <a:p>
            <a:r>
              <a:rPr lang="en-CA" dirty="0"/>
              <a:t>    for(</a:t>
            </a:r>
            <a:r>
              <a:rPr lang="en-CA" dirty="0" err="1"/>
              <a:t>i</a:t>
            </a:r>
            <a:r>
              <a:rPr lang="en-CA" dirty="0"/>
              <a:t> = 0; </a:t>
            </a:r>
            <a:r>
              <a:rPr lang="en-CA" dirty="0" err="1"/>
              <a:t>i</a:t>
            </a:r>
            <a:r>
              <a:rPr lang="en-CA" dirty="0"/>
              <a:t> &lt; 5; </a:t>
            </a:r>
            <a:r>
              <a:rPr lang="en-CA" dirty="0" err="1"/>
              <a:t>i</a:t>
            </a:r>
            <a:r>
              <a:rPr lang="en-CA" dirty="0"/>
              <a:t>++) {</a:t>
            </a:r>
          </a:p>
          <a:p>
            <a:r>
              <a:rPr lang="en-CA" dirty="0"/>
              <a:t>        </a:t>
            </a:r>
            <a:r>
              <a:rPr lang="en-CA" dirty="0" err="1"/>
              <a:t>printf</a:t>
            </a:r>
            <a:r>
              <a:rPr lang="en-CA" dirty="0"/>
              <a:t>("%d ", </a:t>
            </a:r>
            <a:r>
              <a:rPr lang="en-CA" dirty="0" err="1"/>
              <a:t>arr</a:t>
            </a:r>
            <a:r>
              <a:rPr lang="en-CA" dirty="0"/>
              <a:t>[</a:t>
            </a:r>
            <a:r>
              <a:rPr lang="en-CA" dirty="0" err="1"/>
              <a:t>i</a:t>
            </a:r>
            <a:r>
              <a:rPr lang="en-CA" dirty="0"/>
              <a:t>]);</a:t>
            </a:r>
          </a:p>
          <a:p>
            <a:r>
              <a:rPr lang="en-CA" dirty="0"/>
              <a:t>    }</a:t>
            </a:r>
          </a:p>
          <a:p>
            <a:endParaRPr lang="en-CA" dirty="0"/>
          </a:p>
          <a:p>
            <a:r>
              <a:rPr lang="en-CA" dirty="0"/>
              <a:t>    return 0;</a:t>
            </a:r>
          </a:p>
          <a:p>
            <a:r>
              <a:rPr lang="en-CA" dirty="0"/>
              <a:t>}</a:t>
            </a:r>
          </a:p>
        </p:txBody>
      </p:sp>
      <p:sp>
        <p:nvSpPr>
          <p:cNvPr id="9" name="TextBox 8">
            <a:extLst>
              <a:ext uri="{FF2B5EF4-FFF2-40B4-BE49-F238E27FC236}">
                <a16:creationId xmlns:a16="http://schemas.microsoft.com/office/drawing/2014/main" id="{AA74B71E-8B6C-6780-7942-5476EECF12C6}"/>
              </a:ext>
            </a:extLst>
          </p:cNvPr>
          <p:cNvSpPr txBox="1"/>
          <p:nvPr/>
        </p:nvSpPr>
        <p:spPr>
          <a:xfrm>
            <a:off x="7688826" y="4033373"/>
            <a:ext cx="3067664" cy="646331"/>
          </a:xfrm>
          <a:prstGeom prst="rect">
            <a:avLst/>
          </a:prstGeom>
          <a:noFill/>
        </p:spPr>
        <p:txBody>
          <a:bodyPr wrap="square">
            <a:spAutoFit/>
          </a:bodyPr>
          <a:lstStyle/>
          <a:p>
            <a:r>
              <a:rPr lang="en-CA" dirty="0"/>
              <a:t>Output</a:t>
            </a:r>
          </a:p>
          <a:p>
            <a:r>
              <a:rPr lang="en-CA" dirty="0"/>
              <a:t>1 4 9 16 25</a:t>
            </a:r>
          </a:p>
        </p:txBody>
      </p:sp>
      <p:sp>
        <p:nvSpPr>
          <p:cNvPr id="2" name="Footer Placeholder 1">
            <a:extLst>
              <a:ext uri="{FF2B5EF4-FFF2-40B4-BE49-F238E27FC236}">
                <a16:creationId xmlns:a16="http://schemas.microsoft.com/office/drawing/2014/main" id="{2D4091AB-F629-7B33-4BE7-9A2BDAE345A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76940737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C771-4FD7-5EE8-F3A9-66AF6532C73E}"/>
              </a:ext>
            </a:extLst>
          </p:cNvPr>
          <p:cNvSpPr>
            <a:spLocks noGrp="1"/>
          </p:cNvSpPr>
          <p:nvPr>
            <p:ph type="title"/>
          </p:nvPr>
        </p:nvSpPr>
        <p:spPr>
          <a:xfrm>
            <a:off x="838200" y="365126"/>
            <a:ext cx="10515600" cy="804914"/>
          </a:xfrm>
        </p:spPr>
        <p:txBody>
          <a:bodyPr>
            <a:normAutofit/>
          </a:bodyPr>
          <a:lstStyle/>
          <a:p>
            <a:pPr algn="ctr"/>
            <a:r>
              <a:rPr lang="en-CA" sz="3200" dirty="0"/>
              <a:t>Access Array Elements</a:t>
            </a:r>
          </a:p>
        </p:txBody>
      </p:sp>
      <p:sp>
        <p:nvSpPr>
          <p:cNvPr id="3" name="Content Placeholder 2">
            <a:extLst>
              <a:ext uri="{FF2B5EF4-FFF2-40B4-BE49-F238E27FC236}">
                <a16:creationId xmlns:a16="http://schemas.microsoft.com/office/drawing/2014/main" id="{DCD72442-840E-2F24-E2E1-280D7A2D5A40}"/>
              </a:ext>
            </a:extLst>
          </p:cNvPr>
          <p:cNvSpPr>
            <a:spLocks noGrp="1"/>
          </p:cNvSpPr>
          <p:nvPr>
            <p:ph idx="1"/>
          </p:nvPr>
        </p:nvSpPr>
        <p:spPr/>
        <p:txBody>
          <a:bodyPr>
            <a:normAutofit/>
          </a:bodyPr>
          <a:lstStyle/>
          <a:p>
            <a:r>
              <a:rPr lang="en-CA" sz="2400" dirty="0" err="1"/>
              <a:t>array_name</a:t>
            </a:r>
            <a:r>
              <a:rPr lang="en-CA" sz="2400" dirty="0"/>
              <a:t> [index];</a:t>
            </a:r>
          </a:p>
          <a:p>
            <a:r>
              <a:rPr lang="en-US" sz="2400" dirty="0"/>
              <a:t>One thing to note is that the indexing in the array always starts with 0, i.e</a:t>
            </a:r>
            <a:r>
              <a:rPr lang="en-US" sz="2400" b="1" dirty="0"/>
              <a:t>., the first element is at index 0 </a:t>
            </a:r>
            <a:r>
              <a:rPr lang="en-US" sz="2400" dirty="0"/>
              <a:t>and </a:t>
            </a:r>
            <a:r>
              <a:rPr lang="en-US" sz="2400" b="1" dirty="0"/>
              <a:t>the last element is at N – 1 </a:t>
            </a:r>
            <a:r>
              <a:rPr lang="en-US" sz="2400" dirty="0"/>
              <a:t>where N is the number of elements in the array.</a:t>
            </a:r>
            <a:endParaRPr lang="en-CA" sz="2400" dirty="0"/>
          </a:p>
        </p:txBody>
      </p:sp>
      <p:pic>
        <p:nvPicPr>
          <p:cNvPr id="4" name="Picture 3">
            <a:extLst>
              <a:ext uri="{FF2B5EF4-FFF2-40B4-BE49-F238E27FC236}">
                <a16:creationId xmlns:a16="http://schemas.microsoft.com/office/drawing/2014/main" id="{50F2FA62-BFEE-C312-0E3C-97B740EFB1B0}"/>
              </a:ext>
            </a:extLst>
          </p:cNvPr>
          <p:cNvPicPr>
            <a:picLocks noChangeAspect="1"/>
          </p:cNvPicPr>
          <p:nvPr/>
        </p:nvPicPr>
        <p:blipFill>
          <a:blip r:embed="rId2"/>
          <a:stretch>
            <a:fillRect/>
          </a:stretch>
        </p:blipFill>
        <p:spPr>
          <a:xfrm>
            <a:off x="3559278" y="3587085"/>
            <a:ext cx="4709652" cy="2589878"/>
          </a:xfrm>
          <a:prstGeom prst="rect">
            <a:avLst/>
          </a:prstGeom>
        </p:spPr>
      </p:pic>
      <p:sp>
        <p:nvSpPr>
          <p:cNvPr id="5" name="Footer Placeholder 4">
            <a:extLst>
              <a:ext uri="{FF2B5EF4-FFF2-40B4-BE49-F238E27FC236}">
                <a16:creationId xmlns:a16="http://schemas.microsoft.com/office/drawing/2014/main" id="{80895EED-A7B3-D298-47C3-F7C6D81DDA1B}"/>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4739714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E5E42DD-038A-1BD4-07CB-052D5B1A4C1D}"/>
              </a:ext>
            </a:extLst>
          </p:cNvPr>
          <p:cNvSpPr txBox="1"/>
          <p:nvPr/>
        </p:nvSpPr>
        <p:spPr>
          <a:xfrm>
            <a:off x="1052052" y="398145"/>
            <a:ext cx="6096000" cy="5909310"/>
          </a:xfrm>
          <a:prstGeom prst="rect">
            <a:avLst/>
          </a:prstGeom>
          <a:noFill/>
        </p:spPr>
        <p:txBody>
          <a:bodyPr wrap="square">
            <a:spAutoFit/>
          </a:bodyPr>
          <a:lstStyle/>
          <a:p>
            <a:r>
              <a:rPr lang="en-CA" dirty="0"/>
              <a:t>// C Program to illustrate element access using array</a:t>
            </a:r>
          </a:p>
          <a:p>
            <a:r>
              <a:rPr lang="en-CA" dirty="0"/>
              <a:t>// subscript</a:t>
            </a:r>
          </a:p>
          <a:p>
            <a:r>
              <a:rPr lang="en-CA" dirty="0"/>
              <a:t>#include &lt;</a:t>
            </a:r>
            <a:r>
              <a:rPr lang="en-CA" dirty="0" err="1"/>
              <a:t>stdio.h</a:t>
            </a:r>
            <a:r>
              <a:rPr lang="en-CA" dirty="0"/>
              <a:t>&gt;</a:t>
            </a:r>
          </a:p>
          <a:p>
            <a:endParaRPr lang="en-CA" dirty="0"/>
          </a:p>
          <a:p>
            <a:r>
              <a:rPr lang="en-CA" dirty="0"/>
              <a:t>int main()</a:t>
            </a:r>
          </a:p>
          <a:p>
            <a:r>
              <a:rPr lang="en-CA" dirty="0"/>
              <a:t>{</a:t>
            </a:r>
          </a:p>
          <a:p>
            <a:endParaRPr lang="en-CA" dirty="0"/>
          </a:p>
          <a:p>
            <a:r>
              <a:rPr lang="en-CA" dirty="0"/>
              <a:t>    // array declaration and initialization</a:t>
            </a:r>
          </a:p>
          <a:p>
            <a:r>
              <a:rPr lang="en-CA" dirty="0"/>
              <a:t>    int </a:t>
            </a:r>
            <a:r>
              <a:rPr lang="en-CA" dirty="0" err="1"/>
              <a:t>arr</a:t>
            </a:r>
            <a:r>
              <a:rPr lang="en-CA" dirty="0"/>
              <a:t>[5] = { 15, 25, 35, 45, 55 };</a:t>
            </a:r>
          </a:p>
          <a:p>
            <a:endParaRPr lang="en-CA" dirty="0"/>
          </a:p>
          <a:p>
            <a:r>
              <a:rPr lang="en-CA" dirty="0"/>
              <a:t>    // accessing element at index 2 </a:t>
            </a:r>
            <a:r>
              <a:rPr lang="en-CA" dirty="0" err="1"/>
              <a:t>i.e</a:t>
            </a:r>
            <a:r>
              <a:rPr lang="en-CA" dirty="0"/>
              <a:t> 3rd element</a:t>
            </a:r>
          </a:p>
          <a:p>
            <a:r>
              <a:rPr lang="en-CA" dirty="0"/>
              <a:t>    </a:t>
            </a:r>
            <a:r>
              <a:rPr lang="en-CA" dirty="0" err="1"/>
              <a:t>printf</a:t>
            </a:r>
            <a:r>
              <a:rPr lang="en-CA" dirty="0"/>
              <a:t>("Element at </a:t>
            </a:r>
            <a:r>
              <a:rPr lang="en-CA" dirty="0" err="1"/>
              <a:t>arr</a:t>
            </a:r>
            <a:r>
              <a:rPr lang="en-CA" dirty="0"/>
              <a:t>[2]: %d\n", </a:t>
            </a:r>
            <a:r>
              <a:rPr lang="en-CA" dirty="0" err="1"/>
              <a:t>arr</a:t>
            </a:r>
            <a:r>
              <a:rPr lang="en-CA" dirty="0"/>
              <a:t>[2]);</a:t>
            </a:r>
          </a:p>
          <a:p>
            <a:endParaRPr lang="en-CA" dirty="0"/>
          </a:p>
          <a:p>
            <a:r>
              <a:rPr lang="en-CA" dirty="0"/>
              <a:t>    // accessing element at index 4 </a:t>
            </a:r>
            <a:r>
              <a:rPr lang="en-CA" dirty="0" err="1"/>
              <a:t>i.e</a:t>
            </a:r>
            <a:r>
              <a:rPr lang="en-CA" dirty="0"/>
              <a:t> last element</a:t>
            </a:r>
          </a:p>
          <a:p>
            <a:r>
              <a:rPr lang="en-CA" dirty="0"/>
              <a:t>    </a:t>
            </a:r>
            <a:r>
              <a:rPr lang="en-CA" dirty="0" err="1"/>
              <a:t>printf</a:t>
            </a:r>
            <a:r>
              <a:rPr lang="en-CA" dirty="0"/>
              <a:t>("Element at </a:t>
            </a:r>
            <a:r>
              <a:rPr lang="en-CA" dirty="0" err="1"/>
              <a:t>arr</a:t>
            </a:r>
            <a:r>
              <a:rPr lang="en-CA" dirty="0"/>
              <a:t>[4]: %d\n", </a:t>
            </a:r>
            <a:r>
              <a:rPr lang="en-CA" dirty="0" err="1"/>
              <a:t>arr</a:t>
            </a:r>
            <a:r>
              <a:rPr lang="en-CA" dirty="0"/>
              <a:t>[4]);</a:t>
            </a:r>
          </a:p>
          <a:p>
            <a:endParaRPr lang="en-CA" dirty="0"/>
          </a:p>
          <a:p>
            <a:r>
              <a:rPr lang="en-CA" dirty="0"/>
              <a:t>    // accessing element at index 0 </a:t>
            </a:r>
            <a:r>
              <a:rPr lang="en-CA" dirty="0" err="1"/>
              <a:t>i.e</a:t>
            </a:r>
            <a:r>
              <a:rPr lang="en-CA" dirty="0"/>
              <a:t> first element</a:t>
            </a:r>
          </a:p>
          <a:p>
            <a:r>
              <a:rPr lang="en-CA" dirty="0"/>
              <a:t>    </a:t>
            </a:r>
            <a:r>
              <a:rPr lang="en-CA" dirty="0" err="1"/>
              <a:t>printf</a:t>
            </a:r>
            <a:r>
              <a:rPr lang="en-CA" dirty="0"/>
              <a:t>("Element at </a:t>
            </a:r>
            <a:r>
              <a:rPr lang="en-CA" dirty="0" err="1"/>
              <a:t>arr</a:t>
            </a:r>
            <a:r>
              <a:rPr lang="en-CA" dirty="0"/>
              <a:t>[0]: %d", </a:t>
            </a:r>
            <a:r>
              <a:rPr lang="en-CA" dirty="0" err="1"/>
              <a:t>arr</a:t>
            </a:r>
            <a:r>
              <a:rPr lang="en-CA" dirty="0"/>
              <a:t>[0]);</a:t>
            </a:r>
          </a:p>
          <a:p>
            <a:endParaRPr lang="en-CA" dirty="0"/>
          </a:p>
          <a:p>
            <a:r>
              <a:rPr lang="en-CA" dirty="0"/>
              <a:t>    return 0;</a:t>
            </a:r>
          </a:p>
          <a:p>
            <a:r>
              <a:rPr lang="en-CA" dirty="0"/>
              <a:t>}</a:t>
            </a:r>
          </a:p>
        </p:txBody>
      </p:sp>
      <p:sp>
        <p:nvSpPr>
          <p:cNvPr id="2" name="Footer Placeholder 1">
            <a:extLst>
              <a:ext uri="{FF2B5EF4-FFF2-40B4-BE49-F238E27FC236}">
                <a16:creationId xmlns:a16="http://schemas.microsoft.com/office/drawing/2014/main" id="{D9DAC9F8-039B-B8F0-7A57-377397C6507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9177603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A6999-7DCE-B1E6-E86B-C04603DE59FA}"/>
              </a:ext>
            </a:extLst>
          </p:cNvPr>
          <p:cNvSpPr>
            <a:spLocks noGrp="1"/>
          </p:cNvSpPr>
          <p:nvPr>
            <p:ph type="title"/>
          </p:nvPr>
        </p:nvSpPr>
        <p:spPr>
          <a:xfrm>
            <a:off x="838200" y="365126"/>
            <a:ext cx="10515600" cy="804914"/>
          </a:xfrm>
        </p:spPr>
        <p:txBody>
          <a:bodyPr>
            <a:normAutofit/>
          </a:bodyPr>
          <a:lstStyle/>
          <a:p>
            <a:pPr algn="ctr"/>
            <a:r>
              <a:rPr lang="en-CA" sz="3600" dirty="0"/>
              <a:t>Update Array Element</a:t>
            </a:r>
          </a:p>
        </p:txBody>
      </p:sp>
      <p:sp>
        <p:nvSpPr>
          <p:cNvPr id="6" name="TextBox 5">
            <a:extLst>
              <a:ext uri="{FF2B5EF4-FFF2-40B4-BE49-F238E27FC236}">
                <a16:creationId xmlns:a16="http://schemas.microsoft.com/office/drawing/2014/main" id="{AFEAC29D-C3E3-20A5-6F12-AF06AC8D9E37}"/>
              </a:ext>
            </a:extLst>
          </p:cNvPr>
          <p:cNvSpPr txBox="1"/>
          <p:nvPr/>
        </p:nvSpPr>
        <p:spPr>
          <a:xfrm>
            <a:off x="838200" y="1634302"/>
            <a:ext cx="3330677" cy="646331"/>
          </a:xfrm>
          <a:prstGeom prst="rect">
            <a:avLst/>
          </a:prstGeom>
          <a:noFill/>
        </p:spPr>
        <p:txBody>
          <a:bodyPr wrap="square">
            <a:spAutoFit/>
          </a:bodyPr>
          <a:lstStyle/>
          <a:p>
            <a:r>
              <a:rPr lang="en-US" dirty="0"/>
              <a:t>Syntax:</a:t>
            </a:r>
          </a:p>
          <a:p>
            <a:r>
              <a:rPr lang="en-US" dirty="0" err="1"/>
              <a:t>array_name</a:t>
            </a:r>
            <a:r>
              <a:rPr lang="en-US" dirty="0"/>
              <a:t>[</a:t>
            </a:r>
            <a:r>
              <a:rPr lang="en-US" dirty="0" err="1"/>
              <a:t>i</a:t>
            </a:r>
            <a:r>
              <a:rPr lang="en-US" dirty="0"/>
              <a:t>] = </a:t>
            </a:r>
            <a:r>
              <a:rPr lang="en-US" dirty="0" err="1"/>
              <a:t>new_value</a:t>
            </a:r>
            <a:r>
              <a:rPr lang="en-US" dirty="0"/>
              <a:t>;</a:t>
            </a:r>
            <a:endParaRPr lang="en-CA" dirty="0"/>
          </a:p>
        </p:txBody>
      </p:sp>
      <p:sp>
        <p:nvSpPr>
          <p:cNvPr id="10" name="TextBox 9">
            <a:extLst>
              <a:ext uri="{FF2B5EF4-FFF2-40B4-BE49-F238E27FC236}">
                <a16:creationId xmlns:a16="http://schemas.microsoft.com/office/drawing/2014/main" id="{6DC60362-5586-C8ED-4A40-FC45F8362991}"/>
              </a:ext>
            </a:extLst>
          </p:cNvPr>
          <p:cNvSpPr txBox="1"/>
          <p:nvPr/>
        </p:nvSpPr>
        <p:spPr>
          <a:xfrm>
            <a:off x="5417575" y="1170040"/>
            <a:ext cx="6096000" cy="5016758"/>
          </a:xfrm>
          <a:prstGeom prst="rect">
            <a:avLst/>
          </a:prstGeom>
          <a:noFill/>
        </p:spPr>
        <p:txBody>
          <a:bodyPr wrap="square">
            <a:spAutoFit/>
          </a:bodyPr>
          <a:lstStyle/>
          <a:p>
            <a:r>
              <a:rPr lang="en-CA" sz="1600" dirty="0"/>
              <a:t>#include &lt;</a:t>
            </a:r>
            <a:r>
              <a:rPr lang="en-CA" sz="1600" dirty="0" err="1"/>
              <a:t>stdio.h</a:t>
            </a:r>
            <a:r>
              <a:rPr lang="en-CA" sz="1600" dirty="0"/>
              <a:t>&gt;</a:t>
            </a:r>
          </a:p>
          <a:p>
            <a:endParaRPr lang="en-CA" sz="1600" dirty="0"/>
          </a:p>
          <a:p>
            <a:r>
              <a:rPr lang="en-CA" sz="1600" dirty="0"/>
              <a:t>int main() {</a:t>
            </a:r>
          </a:p>
          <a:p>
            <a:r>
              <a:rPr lang="en-CA" sz="1600" dirty="0"/>
              <a:t>    int </a:t>
            </a:r>
            <a:r>
              <a:rPr lang="en-CA" sz="1600" dirty="0" err="1"/>
              <a:t>arr</a:t>
            </a:r>
            <a:r>
              <a:rPr lang="en-CA" sz="1600" dirty="0"/>
              <a:t>[5] = {10, 20, 30, 40, 50};  // Initialize an array with 5 elements</a:t>
            </a:r>
          </a:p>
          <a:p>
            <a:endParaRPr lang="en-CA" sz="1600" dirty="0"/>
          </a:p>
          <a:p>
            <a:r>
              <a:rPr lang="en-CA" sz="1600" dirty="0"/>
              <a:t>    </a:t>
            </a:r>
            <a:r>
              <a:rPr lang="en-CA" sz="1600" dirty="0" err="1"/>
              <a:t>printf</a:t>
            </a:r>
            <a:r>
              <a:rPr lang="en-CA" sz="1600" dirty="0"/>
              <a:t>("Original array: ");</a:t>
            </a:r>
          </a:p>
          <a:p>
            <a:r>
              <a:rPr lang="en-CA" sz="1600" dirty="0"/>
              <a:t>    for(int </a:t>
            </a:r>
            <a:r>
              <a:rPr lang="en-CA" sz="1600" dirty="0" err="1"/>
              <a:t>i</a:t>
            </a:r>
            <a:r>
              <a:rPr lang="en-CA" sz="1600" dirty="0"/>
              <a:t> = 0; </a:t>
            </a:r>
            <a:r>
              <a:rPr lang="en-CA" sz="1600" dirty="0" err="1"/>
              <a:t>i</a:t>
            </a:r>
            <a:r>
              <a:rPr lang="en-CA" sz="1600" dirty="0"/>
              <a:t> &lt; 5; </a:t>
            </a:r>
            <a:r>
              <a:rPr lang="en-CA" sz="1600" dirty="0" err="1"/>
              <a:t>i</a:t>
            </a:r>
            <a:r>
              <a:rPr lang="en-CA" sz="1600" dirty="0"/>
              <a:t>++) {</a:t>
            </a:r>
          </a:p>
          <a:p>
            <a:r>
              <a:rPr lang="en-CA" sz="1600" dirty="0"/>
              <a:t>        </a:t>
            </a:r>
            <a:r>
              <a:rPr lang="en-CA" sz="1600" dirty="0" err="1"/>
              <a:t>printf</a:t>
            </a:r>
            <a:r>
              <a:rPr lang="en-CA" sz="1600" dirty="0"/>
              <a:t>("%d ", </a:t>
            </a:r>
            <a:r>
              <a:rPr lang="en-CA" sz="1600" dirty="0" err="1"/>
              <a:t>arr</a:t>
            </a:r>
            <a:r>
              <a:rPr lang="en-CA" sz="1600" dirty="0"/>
              <a:t>[</a:t>
            </a:r>
            <a:r>
              <a:rPr lang="en-CA" sz="1600" dirty="0" err="1"/>
              <a:t>i</a:t>
            </a:r>
            <a:r>
              <a:rPr lang="en-CA" sz="1600" dirty="0"/>
              <a:t>]);  // Print original array elements</a:t>
            </a:r>
          </a:p>
          <a:p>
            <a:r>
              <a:rPr lang="en-CA" sz="1600" dirty="0"/>
              <a:t>    }</a:t>
            </a:r>
          </a:p>
          <a:p>
            <a:endParaRPr lang="en-CA" sz="1600" dirty="0"/>
          </a:p>
          <a:p>
            <a:r>
              <a:rPr lang="en-CA" sz="1600" dirty="0"/>
              <a:t>    // Update the 3rd element (index 2) of the array</a:t>
            </a:r>
          </a:p>
          <a:p>
            <a:r>
              <a:rPr lang="en-CA" sz="1600" dirty="0"/>
              <a:t>    </a:t>
            </a:r>
            <a:r>
              <a:rPr lang="en-CA" sz="1600" dirty="0" err="1"/>
              <a:t>arr</a:t>
            </a:r>
            <a:r>
              <a:rPr lang="en-CA" sz="1600" dirty="0"/>
              <a:t>[2] = 100;</a:t>
            </a:r>
          </a:p>
          <a:p>
            <a:endParaRPr lang="en-CA" sz="1600" dirty="0"/>
          </a:p>
          <a:p>
            <a:r>
              <a:rPr lang="en-CA" sz="1600" dirty="0"/>
              <a:t>    </a:t>
            </a:r>
            <a:r>
              <a:rPr lang="en-CA" sz="1600" dirty="0" err="1"/>
              <a:t>printf</a:t>
            </a:r>
            <a:r>
              <a:rPr lang="en-CA" sz="1600" dirty="0"/>
              <a:t>("\</a:t>
            </a:r>
            <a:r>
              <a:rPr lang="en-CA" sz="1600" dirty="0" err="1"/>
              <a:t>nUpdated</a:t>
            </a:r>
            <a:r>
              <a:rPr lang="en-CA" sz="1600" dirty="0"/>
              <a:t> array: ");</a:t>
            </a:r>
          </a:p>
          <a:p>
            <a:r>
              <a:rPr lang="en-CA" sz="1600" dirty="0"/>
              <a:t>    for(int </a:t>
            </a:r>
            <a:r>
              <a:rPr lang="en-CA" sz="1600" dirty="0" err="1"/>
              <a:t>i</a:t>
            </a:r>
            <a:r>
              <a:rPr lang="en-CA" sz="1600" dirty="0"/>
              <a:t> = 0; </a:t>
            </a:r>
            <a:r>
              <a:rPr lang="en-CA" sz="1600" dirty="0" err="1"/>
              <a:t>i</a:t>
            </a:r>
            <a:r>
              <a:rPr lang="en-CA" sz="1600" dirty="0"/>
              <a:t> &lt; 5; </a:t>
            </a:r>
            <a:r>
              <a:rPr lang="en-CA" sz="1600" dirty="0" err="1"/>
              <a:t>i</a:t>
            </a:r>
            <a:r>
              <a:rPr lang="en-CA" sz="1600" dirty="0"/>
              <a:t>++) {</a:t>
            </a:r>
          </a:p>
          <a:p>
            <a:r>
              <a:rPr lang="en-CA" sz="1600" dirty="0"/>
              <a:t>        </a:t>
            </a:r>
            <a:r>
              <a:rPr lang="en-CA" sz="1600" dirty="0" err="1"/>
              <a:t>printf</a:t>
            </a:r>
            <a:r>
              <a:rPr lang="en-CA" sz="1600" dirty="0"/>
              <a:t>("%d ", </a:t>
            </a:r>
            <a:r>
              <a:rPr lang="en-CA" sz="1600" dirty="0" err="1"/>
              <a:t>arr</a:t>
            </a:r>
            <a:r>
              <a:rPr lang="en-CA" sz="1600" dirty="0"/>
              <a:t>[</a:t>
            </a:r>
            <a:r>
              <a:rPr lang="en-CA" sz="1600" dirty="0" err="1"/>
              <a:t>i</a:t>
            </a:r>
            <a:r>
              <a:rPr lang="en-CA" sz="1600" dirty="0"/>
              <a:t>]);  // Print updated array elements</a:t>
            </a:r>
          </a:p>
          <a:p>
            <a:r>
              <a:rPr lang="en-CA" sz="1600" dirty="0"/>
              <a:t>    }</a:t>
            </a:r>
          </a:p>
          <a:p>
            <a:endParaRPr lang="en-CA" sz="1600" dirty="0"/>
          </a:p>
          <a:p>
            <a:r>
              <a:rPr lang="en-CA" sz="1600" dirty="0"/>
              <a:t>    return 0;</a:t>
            </a:r>
          </a:p>
          <a:p>
            <a:r>
              <a:rPr lang="en-CA" sz="1600" dirty="0"/>
              <a:t>}</a:t>
            </a:r>
          </a:p>
        </p:txBody>
      </p:sp>
      <p:sp>
        <p:nvSpPr>
          <p:cNvPr id="12" name="TextBox 11">
            <a:extLst>
              <a:ext uri="{FF2B5EF4-FFF2-40B4-BE49-F238E27FC236}">
                <a16:creationId xmlns:a16="http://schemas.microsoft.com/office/drawing/2014/main" id="{D4293352-3F74-1FCD-ADE2-1B6DEC862E24}"/>
              </a:ext>
            </a:extLst>
          </p:cNvPr>
          <p:cNvSpPr txBox="1"/>
          <p:nvPr/>
        </p:nvSpPr>
        <p:spPr>
          <a:xfrm>
            <a:off x="678425" y="5540467"/>
            <a:ext cx="3667431" cy="923330"/>
          </a:xfrm>
          <a:prstGeom prst="rect">
            <a:avLst/>
          </a:prstGeom>
          <a:noFill/>
        </p:spPr>
        <p:txBody>
          <a:bodyPr wrap="square">
            <a:spAutoFit/>
          </a:bodyPr>
          <a:lstStyle/>
          <a:p>
            <a:r>
              <a:rPr lang="en-US" dirty="0"/>
              <a:t>Output:</a:t>
            </a:r>
          </a:p>
          <a:p>
            <a:r>
              <a:rPr lang="en-US" dirty="0"/>
              <a:t>Original array: 10 20 30 40 50</a:t>
            </a:r>
          </a:p>
          <a:p>
            <a:r>
              <a:rPr lang="en-US" dirty="0"/>
              <a:t>Updated array: 10 20 100 40 50</a:t>
            </a:r>
            <a:endParaRPr lang="en-CA" dirty="0"/>
          </a:p>
        </p:txBody>
      </p:sp>
      <p:sp>
        <p:nvSpPr>
          <p:cNvPr id="3" name="Footer Placeholder 2">
            <a:extLst>
              <a:ext uri="{FF2B5EF4-FFF2-40B4-BE49-F238E27FC236}">
                <a16:creationId xmlns:a16="http://schemas.microsoft.com/office/drawing/2014/main" id="{72306AC0-4D13-FB96-6173-672F0AA6A82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91248243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6223-F43D-3D6E-43CE-F8B5A817ADDF}"/>
              </a:ext>
            </a:extLst>
          </p:cNvPr>
          <p:cNvSpPr>
            <a:spLocks noGrp="1"/>
          </p:cNvSpPr>
          <p:nvPr>
            <p:ph type="title"/>
          </p:nvPr>
        </p:nvSpPr>
        <p:spPr>
          <a:xfrm>
            <a:off x="838200" y="365126"/>
            <a:ext cx="10515600" cy="647598"/>
          </a:xfrm>
        </p:spPr>
        <p:txBody>
          <a:bodyPr>
            <a:normAutofit fontScale="90000"/>
          </a:bodyPr>
          <a:lstStyle/>
          <a:p>
            <a:pPr algn="ctr"/>
            <a:r>
              <a:rPr lang="en-US" dirty="0"/>
              <a:t>Deleting an element from an array </a:t>
            </a:r>
            <a:endParaRPr lang="en-CA" dirty="0"/>
          </a:p>
        </p:txBody>
      </p:sp>
      <p:sp>
        <p:nvSpPr>
          <p:cNvPr id="7" name="TextBox 6">
            <a:extLst>
              <a:ext uri="{FF2B5EF4-FFF2-40B4-BE49-F238E27FC236}">
                <a16:creationId xmlns:a16="http://schemas.microsoft.com/office/drawing/2014/main" id="{939C211A-F99A-0878-13D0-4A555E9C47FD}"/>
              </a:ext>
            </a:extLst>
          </p:cNvPr>
          <p:cNvSpPr txBox="1"/>
          <p:nvPr/>
        </p:nvSpPr>
        <p:spPr>
          <a:xfrm>
            <a:off x="924232" y="1295425"/>
            <a:ext cx="9370141" cy="4524315"/>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int main() {</a:t>
            </a:r>
          </a:p>
          <a:p>
            <a:r>
              <a:rPr lang="en-US" dirty="0"/>
              <a:t>    int </a:t>
            </a:r>
            <a:r>
              <a:rPr lang="en-US" dirty="0" err="1"/>
              <a:t>arr</a:t>
            </a:r>
            <a:r>
              <a:rPr lang="en-US" dirty="0"/>
              <a:t>[100] = {10, 20, 30, 40, 50};  // Array with some initial elements</a:t>
            </a:r>
          </a:p>
          <a:p>
            <a:r>
              <a:rPr lang="en-US" dirty="0"/>
              <a:t>    int </a:t>
            </a:r>
            <a:r>
              <a:rPr lang="en-US" dirty="0" err="1"/>
              <a:t>i</a:t>
            </a:r>
            <a:r>
              <a:rPr lang="en-US" dirty="0"/>
              <a:t>, pos, size = 5;  // Initial size of the array is 5</a:t>
            </a:r>
          </a:p>
          <a:p>
            <a:endParaRPr lang="en-US" dirty="0"/>
          </a:p>
          <a:p>
            <a:r>
              <a:rPr lang="en-US" dirty="0"/>
              <a:t>    // Display the original array</a:t>
            </a:r>
          </a:p>
          <a:p>
            <a:r>
              <a:rPr lang="en-US" dirty="0"/>
              <a:t>    </a:t>
            </a:r>
            <a:r>
              <a:rPr lang="en-US" dirty="0" err="1"/>
              <a:t>printf</a:t>
            </a:r>
            <a:r>
              <a:rPr lang="en-US" dirty="0"/>
              <a:t>("Original array: ");</a:t>
            </a:r>
          </a:p>
          <a:p>
            <a:r>
              <a:rPr lang="en-US" dirty="0"/>
              <a:t>    for(</a:t>
            </a:r>
            <a:r>
              <a:rPr lang="en-US" dirty="0" err="1"/>
              <a:t>i</a:t>
            </a:r>
            <a:r>
              <a:rPr lang="en-US" dirty="0"/>
              <a:t> = 0; </a:t>
            </a:r>
            <a:r>
              <a:rPr lang="en-US" dirty="0" err="1"/>
              <a:t>i</a:t>
            </a:r>
            <a:r>
              <a:rPr lang="en-US" dirty="0"/>
              <a:t> &lt; size;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a:t>
            </a:r>
          </a:p>
          <a:p>
            <a:r>
              <a:rPr lang="en-US" dirty="0"/>
              <a:t>    </a:t>
            </a:r>
            <a:r>
              <a:rPr lang="en-US" dirty="0" err="1"/>
              <a:t>printf</a:t>
            </a:r>
            <a:r>
              <a:rPr lang="en-US" dirty="0"/>
              <a:t>("\n");</a:t>
            </a:r>
          </a:p>
          <a:p>
            <a:endParaRPr lang="en-US" dirty="0"/>
          </a:p>
          <a:p>
            <a:r>
              <a:rPr lang="en-US" dirty="0"/>
              <a:t>    // Ask the user for the position of the element to be deleted</a:t>
            </a:r>
          </a:p>
          <a:p>
            <a:r>
              <a:rPr lang="en-US" dirty="0"/>
              <a:t>    </a:t>
            </a:r>
            <a:r>
              <a:rPr lang="en-US" dirty="0" err="1"/>
              <a:t>printf</a:t>
            </a:r>
            <a:r>
              <a:rPr lang="en-US" dirty="0"/>
              <a:t>("Enter the position of the element to delete (1 to %d): ", size);</a:t>
            </a:r>
          </a:p>
          <a:p>
            <a:r>
              <a:rPr lang="en-US" dirty="0"/>
              <a:t>    </a:t>
            </a:r>
            <a:r>
              <a:rPr lang="en-US" dirty="0" err="1"/>
              <a:t>scanf</a:t>
            </a:r>
            <a:r>
              <a:rPr lang="en-US" dirty="0"/>
              <a:t>("%d", &amp;pos);</a:t>
            </a:r>
            <a:endParaRPr lang="en-CA" dirty="0"/>
          </a:p>
        </p:txBody>
      </p:sp>
      <p:sp>
        <p:nvSpPr>
          <p:cNvPr id="3" name="Footer Placeholder 2">
            <a:extLst>
              <a:ext uri="{FF2B5EF4-FFF2-40B4-BE49-F238E27FC236}">
                <a16:creationId xmlns:a16="http://schemas.microsoft.com/office/drawing/2014/main" id="{CD8CED36-F95C-05E4-A5FF-C204830F204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8807614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294824-AB3E-FF9B-D54D-3AEDBAA50F29}"/>
              </a:ext>
            </a:extLst>
          </p:cNvPr>
          <p:cNvSpPr txBox="1"/>
          <p:nvPr/>
        </p:nvSpPr>
        <p:spPr>
          <a:xfrm>
            <a:off x="619432" y="277957"/>
            <a:ext cx="6725264" cy="6463308"/>
          </a:xfrm>
          <a:prstGeom prst="rect">
            <a:avLst/>
          </a:prstGeom>
          <a:noFill/>
        </p:spPr>
        <p:txBody>
          <a:bodyPr wrap="square">
            <a:spAutoFit/>
          </a:bodyPr>
          <a:lstStyle/>
          <a:p>
            <a:r>
              <a:rPr lang="en-US" dirty="0"/>
              <a:t>// Check if the position is valid</a:t>
            </a:r>
          </a:p>
          <a:p>
            <a:r>
              <a:rPr lang="en-US" dirty="0"/>
              <a:t>    if(pos &lt; 1 || pos &gt; size) {</a:t>
            </a:r>
          </a:p>
          <a:p>
            <a:r>
              <a:rPr lang="en-US" dirty="0"/>
              <a:t>        </a:t>
            </a:r>
            <a:r>
              <a:rPr lang="en-US" dirty="0" err="1"/>
              <a:t>printf</a:t>
            </a:r>
            <a:r>
              <a:rPr lang="en-US" dirty="0"/>
              <a:t>("Invalid position! Please enter a position between 1 and %d.\n", size);</a:t>
            </a:r>
          </a:p>
          <a:p>
            <a:r>
              <a:rPr lang="en-US" dirty="0"/>
              <a:t>    } else {</a:t>
            </a:r>
          </a:p>
          <a:p>
            <a:r>
              <a:rPr lang="en-US" dirty="0"/>
              <a:t>        // Deleting the element by shifting elements to the left</a:t>
            </a:r>
          </a:p>
          <a:p>
            <a:r>
              <a:rPr lang="en-US" dirty="0"/>
              <a:t>        for(</a:t>
            </a:r>
            <a:r>
              <a:rPr lang="en-US" dirty="0" err="1"/>
              <a:t>i</a:t>
            </a:r>
            <a:r>
              <a:rPr lang="en-US" dirty="0"/>
              <a:t> = pos - 1; </a:t>
            </a:r>
            <a:r>
              <a:rPr lang="en-US" dirty="0" err="1"/>
              <a:t>i</a:t>
            </a:r>
            <a:r>
              <a:rPr lang="en-US" dirty="0"/>
              <a:t> &lt; size - 1; </a:t>
            </a:r>
            <a:r>
              <a:rPr lang="en-US" dirty="0" err="1"/>
              <a:t>i</a:t>
            </a:r>
            <a:r>
              <a:rPr lang="en-US" dirty="0"/>
              <a:t>++) {</a:t>
            </a:r>
          </a:p>
          <a:p>
            <a:r>
              <a:rPr lang="en-US" dirty="0"/>
              <a:t>            </a:t>
            </a:r>
            <a:r>
              <a:rPr lang="en-US" dirty="0" err="1"/>
              <a:t>arr</a:t>
            </a:r>
            <a:r>
              <a:rPr lang="en-US" dirty="0"/>
              <a:t>[</a:t>
            </a:r>
            <a:r>
              <a:rPr lang="en-US" dirty="0" err="1"/>
              <a:t>i</a:t>
            </a:r>
            <a:r>
              <a:rPr lang="en-US" dirty="0"/>
              <a:t>] = </a:t>
            </a:r>
            <a:r>
              <a:rPr lang="en-US" dirty="0" err="1"/>
              <a:t>arr</a:t>
            </a:r>
            <a:r>
              <a:rPr lang="en-US" dirty="0"/>
              <a:t>[</a:t>
            </a:r>
            <a:r>
              <a:rPr lang="en-US" dirty="0" err="1"/>
              <a:t>i</a:t>
            </a:r>
            <a:r>
              <a:rPr lang="en-US" dirty="0"/>
              <a:t> + 1];</a:t>
            </a:r>
          </a:p>
          <a:p>
            <a:r>
              <a:rPr lang="en-US" dirty="0"/>
              <a:t>        }</a:t>
            </a:r>
          </a:p>
          <a:p>
            <a:endParaRPr lang="en-US" dirty="0"/>
          </a:p>
          <a:p>
            <a:r>
              <a:rPr lang="en-US" dirty="0"/>
              <a:t>        // Decrease the size of the array by 1</a:t>
            </a:r>
          </a:p>
          <a:p>
            <a:r>
              <a:rPr lang="en-US" dirty="0"/>
              <a:t>        size--;</a:t>
            </a:r>
          </a:p>
          <a:p>
            <a:r>
              <a:rPr lang="en-US" dirty="0"/>
              <a:t>// Display the array after deletion</a:t>
            </a:r>
          </a:p>
          <a:p>
            <a:r>
              <a:rPr lang="en-US" dirty="0"/>
              <a:t>        </a:t>
            </a:r>
            <a:r>
              <a:rPr lang="en-US" dirty="0" err="1"/>
              <a:t>printf</a:t>
            </a:r>
            <a:r>
              <a:rPr lang="en-US" dirty="0"/>
              <a:t>("Array after deletion: ");</a:t>
            </a:r>
          </a:p>
          <a:p>
            <a:r>
              <a:rPr lang="en-US" dirty="0"/>
              <a:t>        for(</a:t>
            </a:r>
            <a:r>
              <a:rPr lang="en-US" dirty="0" err="1"/>
              <a:t>i</a:t>
            </a:r>
            <a:r>
              <a:rPr lang="en-US" dirty="0"/>
              <a:t> = 0; </a:t>
            </a:r>
            <a:r>
              <a:rPr lang="en-US" dirty="0" err="1"/>
              <a:t>i</a:t>
            </a:r>
            <a:r>
              <a:rPr lang="en-US" dirty="0"/>
              <a:t> &lt; size;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a:t>
            </a:r>
          </a:p>
          <a:p>
            <a:r>
              <a:rPr lang="en-US" dirty="0"/>
              <a:t>        </a:t>
            </a:r>
            <a:r>
              <a:rPr lang="en-US" dirty="0" err="1"/>
              <a:t>printf</a:t>
            </a:r>
            <a:r>
              <a:rPr lang="en-US" dirty="0"/>
              <a:t>("\n");</a:t>
            </a:r>
          </a:p>
          <a:p>
            <a:r>
              <a:rPr lang="en-US" dirty="0"/>
              <a:t>    }</a:t>
            </a:r>
          </a:p>
          <a:p>
            <a:endParaRPr lang="en-US" dirty="0"/>
          </a:p>
          <a:p>
            <a:r>
              <a:rPr lang="en-US" dirty="0"/>
              <a:t>    return 0;</a:t>
            </a:r>
          </a:p>
          <a:p>
            <a:r>
              <a:rPr lang="en-US" dirty="0"/>
              <a:t>}</a:t>
            </a:r>
          </a:p>
          <a:p>
            <a:endParaRPr lang="en-US" dirty="0"/>
          </a:p>
        </p:txBody>
      </p:sp>
      <p:sp>
        <p:nvSpPr>
          <p:cNvPr id="9" name="TextBox 8">
            <a:extLst>
              <a:ext uri="{FF2B5EF4-FFF2-40B4-BE49-F238E27FC236}">
                <a16:creationId xmlns:a16="http://schemas.microsoft.com/office/drawing/2014/main" id="{EEC86F15-3F29-1C4A-FD93-EA14FB3BAE4C}"/>
              </a:ext>
            </a:extLst>
          </p:cNvPr>
          <p:cNvSpPr txBox="1"/>
          <p:nvPr/>
        </p:nvSpPr>
        <p:spPr>
          <a:xfrm>
            <a:off x="6312311" y="5134532"/>
            <a:ext cx="4581831" cy="1200329"/>
          </a:xfrm>
          <a:prstGeom prst="rect">
            <a:avLst/>
          </a:prstGeom>
          <a:noFill/>
        </p:spPr>
        <p:txBody>
          <a:bodyPr wrap="square">
            <a:spAutoFit/>
          </a:bodyPr>
          <a:lstStyle/>
          <a:p>
            <a:r>
              <a:rPr lang="en-US" dirty="0"/>
              <a:t>Output:</a:t>
            </a:r>
          </a:p>
          <a:p>
            <a:r>
              <a:rPr lang="en-US" dirty="0"/>
              <a:t>Original array: 10 20 30 40 50 </a:t>
            </a:r>
          </a:p>
          <a:p>
            <a:r>
              <a:rPr lang="en-US" dirty="0"/>
              <a:t>Enter the position of the element to delete (1 to 5): 3 Array after deletion: 10 20 40 50</a:t>
            </a:r>
            <a:endParaRPr lang="en-CA" dirty="0"/>
          </a:p>
        </p:txBody>
      </p:sp>
      <p:sp>
        <p:nvSpPr>
          <p:cNvPr id="2" name="Footer Placeholder 1">
            <a:extLst>
              <a:ext uri="{FF2B5EF4-FFF2-40B4-BE49-F238E27FC236}">
                <a16:creationId xmlns:a16="http://schemas.microsoft.com/office/drawing/2014/main" id="{30A5CA71-B0AB-3E49-3AE2-DBD19A840E7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2314043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77D9B-CCF6-35EB-210D-BB624C823B3F}"/>
              </a:ext>
            </a:extLst>
          </p:cNvPr>
          <p:cNvSpPr>
            <a:spLocks noGrp="1"/>
          </p:cNvSpPr>
          <p:nvPr>
            <p:ph type="title"/>
          </p:nvPr>
        </p:nvSpPr>
        <p:spPr>
          <a:xfrm>
            <a:off x="838200" y="365125"/>
            <a:ext cx="10515600" cy="775417"/>
          </a:xfrm>
        </p:spPr>
        <p:txBody>
          <a:bodyPr>
            <a:normAutofit/>
          </a:bodyPr>
          <a:lstStyle/>
          <a:p>
            <a:pPr algn="ctr"/>
            <a:r>
              <a:rPr lang="en-CA" sz="3600" dirty="0"/>
              <a:t>C Array Traversal</a:t>
            </a:r>
          </a:p>
        </p:txBody>
      </p:sp>
      <p:sp>
        <p:nvSpPr>
          <p:cNvPr id="9" name="TextBox 8">
            <a:extLst>
              <a:ext uri="{FF2B5EF4-FFF2-40B4-BE49-F238E27FC236}">
                <a16:creationId xmlns:a16="http://schemas.microsoft.com/office/drawing/2014/main" id="{A7BA2457-B6D4-2DC7-01D7-DB4FED1F7074}"/>
              </a:ext>
            </a:extLst>
          </p:cNvPr>
          <p:cNvSpPr txBox="1"/>
          <p:nvPr/>
        </p:nvSpPr>
        <p:spPr>
          <a:xfrm>
            <a:off x="1091380" y="1008048"/>
            <a:ext cx="6096000" cy="5632311"/>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int main() {</a:t>
            </a:r>
          </a:p>
          <a:p>
            <a:r>
              <a:rPr lang="en-US" dirty="0"/>
              <a:t>    int </a:t>
            </a:r>
            <a:r>
              <a:rPr lang="en-US" dirty="0" err="1"/>
              <a:t>arr</a:t>
            </a:r>
            <a:r>
              <a:rPr lang="en-US" dirty="0"/>
              <a:t>[5] = {10, 20, 30, 40, 50};  // Initialize an array with 5 elements</a:t>
            </a:r>
          </a:p>
          <a:p>
            <a:r>
              <a:rPr lang="en-US" dirty="0"/>
              <a:t>    int </a:t>
            </a:r>
            <a:r>
              <a:rPr lang="en-US" dirty="0" err="1"/>
              <a:t>i</a:t>
            </a:r>
            <a:r>
              <a:rPr lang="en-US" dirty="0"/>
              <a:t>, sum = 0;</a:t>
            </a:r>
          </a:p>
          <a:p>
            <a:endParaRPr lang="en-US" dirty="0"/>
          </a:p>
          <a:p>
            <a:r>
              <a:rPr lang="en-US" dirty="0"/>
              <a:t>    // Traversing the array, printing each element, and calculating the sum</a:t>
            </a:r>
          </a:p>
          <a:p>
            <a:r>
              <a:rPr lang="en-US" dirty="0"/>
              <a:t>    </a:t>
            </a:r>
            <a:r>
              <a:rPr lang="en-US" dirty="0" err="1"/>
              <a:t>printf</a:t>
            </a:r>
            <a:r>
              <a:rPr lang="en-US" dirty="0"/>
              <a:t>("Array elements: ");</a:t>
            </a:r>
          </a:p>
          <a:p>
            <a:r>
              <a:rPr lang="en-US" dirty="0"/>
              <a:t>    for(</a:t>
            </a:r>
            <a:r>
              <a:rPr lang="en-US" dirty="0" err="1"/>
              <a:t>i</a:t>
            </a:r>
            <a:r>
              <a:rPr lang="en-US" dirty="0"/>
              <a:t> = 0; </a:t>
            </a:r>
            <a:r>
              <a:rPr lang="en-US" dirty="0" err="1"/>
              <a:t>i</a:t>
            </a:r>
            <a:r>
              <a:rPr lang="en-US" dirty="0"/>
              <a:t> &lt; 5;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  // Print each element</a:t>
            </a:r>
          </a:p>
          <a:p>
            <a:r>
              <a:rPr lang="en-US" dirty="0"/>
              <a:t>        sum += </a:t>
            </a:r>
            <a:r>
              <a:rPr lang="en-US" dirty="0" err="1"/>
              <a:t>arr</a:t>
            </a:r>
            <a:r>
              <a:rPr lang="en-US" dirty="0"/>
              <a:t>[</a:t>
            </a:r>
            <a:r>
              <a:rPr lang="en-US" dirty="0" err="1"/>
              <a:t>i</a:t>
            </a:r>
            <a:r>
              <a:rPr lang="en-US" dirty="0"/>
              <a:t>];          // Add the element to the sum</a:t>
            </a:r>
          </a:p>
          <a:p>
            <a:r>
              <a:rPr lang="en-US" dirty="0"/>
              <a:t>    }</a:t>
            </a:r>
          </a:p>
          <a:p>
            <a:endParaRPr lang="en-US" dirty="0"/>
          </a:p>
          <a:p>
            <a:r>
              <a:rPr lang="en-US" dirty="0"/>
              <a:t>    // Print the total sum of the array elements</a:t>
            </a:r>
          </a:p>
          <a:p>
            <a:r>
              <a:rPr lang="en-US" dirty="0"/>
              <a:t>    </a:t>
            </a:r>
            <a:r>
              <a:rPr lang="en-US" dirty="0" err="1"/>
              <a:t>printf</a:t>
            </a:r>
            <a:r>
              <a:rPr lang="en-US" dirty="0"/>
              <a:t>("\</a:t>
            </a:r>
            <a:r>
              <a:rPr lang="en-US" dirty="0" err="1"/>
              <a:t>nSum</a:t>
            </a:r>
            <a:r>
              <a:rPr lang="en-US" dirty="0"/>
              <a:t> of array elements: %d", sum);</a:t>
            </a:r>
          </a:p>
          <a:p>
            <a:endParaRPr lang="en-US" dirty="0"/>
          </a:p>
          <a:p>
            <a:r>
              <a:rPr lang="en-US" dirty="0"/>
              <a:t>    return 0;</a:t>
            </a:r>
          </a:p>
          <a:p>
            <a:r>
              <a:rPr lang="en-US" dirty="0"/>
              <a:t>}</a:t>
            </a:r>
            <a:endParaRPr lang="en-CA" dirty="0"/>
          </a:p>
        </p:txBody>
      </p:sp>
      <p:sp>
        <p:nvSpPr>
          <p:cNvPr id="11" name="Rectangle 2">
            <a:extLst>
              <a:ext uri="{FF2B5EF4-FFF2-40B4-BE49-F238E27FC236}">
                <a16:creationId xmlns:a16="http://schemas.microsoft.com/office/drawing/2014/main" id="{ECDAB3F0-2CC5-C7A4-E492-5F4D4853AC51}"/>
              </a:ext>
            </a:extLst>
          </p:cNvPr>
          <p:cNvSpPr>
            <a:spLocks noChangeArrowheads="1"/>
          </p:cNvSpPr>
          <p:nvPr/>
        </p:nvSpPr>
        <p:spPr bwMode="auto">
          <a:xfrm>
            <a:off x="7440561" y="4124866"/>
            <a:ext cx="391324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Output:</a:t>
            </a:r>
          </a:p>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Array elements: </a:t>
            </a:r>
            <a:r>
              <a:rPr kumimoji="0" lang="en-US" altLang="en-US" i="0" u="none" strike="noStrike" cap="none" normalizeH="0" baseline="0" dirty="0">
                <a:ln>
                  <a:noFill/>
                </a:ln>
                <a:solidFill>
                  <a:schemeClr val="tx1"/>
                </a:solidFill>
                <a:effectLst/>
                <a:latin typeface="Arial Unicode MS"/>
              </a:rPr>
              <a:t>10 20 30 40 50</a:t>
            </a:r>
            <a:endParaRPr kumimoji="0" lang="en-US" altLang="en-US"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Sum of array elements: </a:t>
            </a:r>
            <a:r>
              <a:rPr kumimoji="0" lang="en-US" altLang="en-US" i="0" u="none" strike="noStrike" cap="none" normalizeH="0" baseline="0" dirty="0">
                <a:ln>
                  <a:noFill/>
                </a:ln>
                <a:solidFill>
                  <a:schemeClr val="tx1"/>
                </a:solidFill>
                <a:effectLst/>
                <a:latin typeface="Arial Unicode MS"/>
              </a:rPr>
              <a:t>150</a:t>
            </a:r>
            <a:r>
              <a:rPr kumimoji="0" lang="en-US" altLang="en-US" i="0" u="none" strike="noStrike" cap="none" normalizeH="0" baseline="0" dirty="0">
                <a:ln>
                  <a:noFill/>
                </a:ln>
                <a:solidFill>
                  <a:schemeClr val="tx1"/>
                </a:solidFill>
                <a:effectLst/>
              </a:rPr>
              <a:t> </a:t>
            </a:r>
            <a:endParaRPr kumimoji="0" lang="en-US" altLang="en-US" i="0" u="none" strike="noStrike" cap="none" normalizeH="0" baseline="0" dirty="0">
              <a:ln>
                <a:noFill/>
              </a:ln>
              <a:solidFill>
                <a:schemeClr val="tx1"/>
              </a:solidFill>
              <a:effectLst/>
              <a:latin typeface="Arial" panose="020B0604020202020204" pitchFamily="34" charset="0"/>
            </a:endParaRPr>
          </a:p>
        </p:txBody>
      </p:sp>
      <p:sp>
        <p:nvSpPr>
          <p:cNvPr id="3" name="Footer Placeholder 2">
            <a:extLst>
              <a:ext uri="{FF2B5EF4-FFF2-40B4-BE49-F238E27FC236}">
                <a16:creationId xmlns:a16="http://schemas.microsoft.com/office/drawing/2014/main" id="{77ADFB9E-52F1-270E-3CC2-CA1432A7282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3656691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2EAA7-2865-8365-D9FB-AB08FAB24FF3}"/>
              </a:ext>
            </a:extLst>
          </p:cNvPr>
          <p:cNvSpPr>
            <a:spLocks noGrp="1"/>
          </p:cNvSpPr>
          <p:nvPr>
            <p:ph type="title"/>
          </p:nvPr>
        </p:nvSpPr>
        <p:spPr/>
        <p:txBody>
          <a:bodyPr/>
          <a:lstStyle/>
          <a:p>
            <a:pPr algn="ctr"/>
            <a:r>
              <a:rPr lang="en-US" dirty="0"/>
              <a:t>Types of Array in C</a:t>
            </a:r>
            <a:endParaRPr lang="en-CA" dirty="0"/>
          </a:p>
        </p:txBody>
      </p:sp>
      <p:sp>
        <p:nvSpPr>
          <p:cNvPr id="3" name="Content Placeholder 2">
            <a:extLst>
              <a:ext uri="{FF2B5EF4-FFF2-40B4-BE49-F238E27FC236}">
                <a16:creationId xmlns:a16="http://schemas.microsoft.com/office/drawing/2014/main" id="{6146F832-6679-8203-BB4A-6955D5B6F3AA}"/>
              </a:ext>
            </a:extLst>
          </p:cNvPr>
          <p:cNvSpPr>
            <a:spLocks noGrp="1"/>
          </p:cNvSpPr>
          <p:nvPr>
            <p:ph idx="1"/>
          </p:nvPr>
        </p:nvSpPr>
        <p:spPr/>
        <p:txBody>
          <a:bodyPr/>
          <a:lstStyle/>
          <a:p>
            <a:r>
              <a:rPr lang="en-US" dirty="0"/>
              <a:t>There are two types of arrays based on the number of dimensions it has. They are as follows:</a:t>
            </a:r>
          </a:p>
          <a:p>
            <a:endParaRPr lang="en-US" dirty="0"/>
          </a:p>
          <a:p>
            <a:r>
              <a:rPr lang="en-US" dirty="0"/>
              <a:t>    One Dimensional Arrays (1D Array)</a:t>
            </a:r>
          </a:p>
          <a:p>
            <a:r>
              <a:rPr lang="en-US" dirty="0"/>
              <a:t>    Multidimensional Arrays</a:t>
            </a:r>
          </a:p>
          <a:p>
            <a:pPr marL="0" indent="0">
              <a:buNone/>
            </a:pPr>
            <a:endParaRPr lang="en-CA" dirty="0"/>
          </a:p>
        </p:txBody>
      </p:sp>
      <p:sp>
        <p:nvSpPr>
          <p:cNvPr id="4" name="Footer Placeholder 3">
            <a:extLst>
              <a:ext uri="{FF2B5EF4-FFF2-40B4-BE49-F238E27FC236}">
                <a16:creationId xmlns:a16="http://schemas.microsoft.com/office/drawing/2014/main" id="{3517BF25-3663-DAF9-FB70-F857580136B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8302297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1311-1900-10A5-13B7-07DE0265E410}"/>
              </a:ext>
            </a:extLst>
          </p:cNvPr>
          <p:cNvSpPr>
            <a:spLocks noGrp="1"/>
          </p:cNvSpPr>
          <p:nvPr>
            <p:ph type="title"/>
          </p:nvPr>
        </p:nvSpPr>
        <p:spPr>
          <a:xfrm>
            <a:off x="838200" y="492945"/>
            <a:ext cx="10515600" cy="824578"/>
          </a:xfrm>
        </p:spPr>
        <p:txBody>
          <a:bodyPr>
            <a:noAutofit/>
          </a:bodyPr>
          <a:lstStyle/>
          <a:p>
            <a:pPr algn="ctr"/>
            <a:r>
              <a:rPr lang="en-US" sz="3200" dirty="0"/>
              <a:t>One Dimensional Arrays (1D Array)</a:t>
            </a:r>
            <a:br>
              <a:rPr lang="en-US" sz="3200" dirty="0"/>
            </a:br>
            <a:endParaRPr lang="en-CA" sz="3200" dirty="0"/>
          </a:p>
        </p:txBody>
      </p:sp>
      <p:sp>
        <p:nvSpPr>
          <p:cNvPr id="5" name="TextBox 4">
            <a:extLst>
              <a:ext uri="{FF2B5EF4-FFF2-40B4-BE49-F238E27FC236}">
                <a16:creationId xmlns:a16="http://schemas.microsoft.com/office/drawing/2014/main" id="{8348A63E-7C76-2086-2E68-1DE0BD7CDF8F}"/>
              </a:ext>
            </a:extLst>
          </p:cNvPr>
          <p:cNvSpPr txBox="1"/>
          <p:nvPr/>
        </p:nvSpPr>
        <p:spPr>
          <a:xfrm>
            <a:off x="1700981" y="1317523"/>
            <a:ext cx="5289755" cy="4524315"/>
          </a:xfrm>
          <a:prstGeom prst="rect">
            <a:avLst/>
          </a:prstGeom>
          <a:noFill/>
        </p:spPr>
        <p:txBody>
          <a:bodyPr wrap="square">
            <a:spAutoFit/>
          </a:bodyPr>
          <a:lstStyle/>
          <a:p>
            <a:r>
              <a:rPr lang="en-CA" dirty="0"/>
              <a:t>// C Program to illustrate strings</a:t>
            </a:r>
          </a:p>
          <a:p>
            <a:r>
              <a:rPr lang="en-CA" dirty="0"/>
              <a:t>#include &lt;</a:t>
            </a:r>
            <a:r>
              <a:rPr lang="en-CA" dirty="0" err="1"/>
              <a:t>stdio.h</a:t>
            </a:r>
            <a:r>
              <a:rPr lang="en-CA" dirty="0"/>
              <a:t>&gt;</a:t>
            </a:r>
          </a:p>
          <a:p>
            <a:endParaRPr lang="en-CA" dirty="0"/>
          </a:p>
          <a:p>
            <a:r>
              <a:rPr lang="en-CA" dirty="0"/>
              <a:t>int main()</a:t>
            </a:r>
          </a:p>
          <a:p>
            <a:r>
              <a:rPr lang="en-CA" dirty="0"/>
              <a:t>{</a:t>
            </a:r>
          </a:p>
          <a:p>
            <a:endParaRPr lang="en-CA" dirty="0"/>
          </a:p>
          <a:p>
            <a:r>
              <a:rPr lang="en-CA" dirty="0"/>
              <a:t>    // creating array of character</a:t>
            </a:r>
          </a:p>
          <a:p>
            <a:r>
              <a:rPr lang="en-CA" dirty="0"/>
              <a:t>    char </a:t>
            </a:r>
            <a:r>
              <a:rPr lang="en-CA" dirty="0" err="1"/>
              <a:t>arr</a:t>
            </a:r>
            <a:r>
              <a:rPr lang="en-CA" dirty="0"/>
              <a:t>[6] = { ‘a', 'e', ‘</a:t>
            </a:r>
            <a:r>
              <a:rPr lang="en-CA" dirty="0" err="1"/>
              <a:t>i</a:t>
            </a:r>
            <a:r>
              <a:rPr lang="en-CA" dirty="0"/>
              <a:t>', ‘o', ‘w', '\0' };</a:t>
            </a:r>
          </a:p>
          <a:p>
            <a:endParaRPr lang="en-CA" dirty="0"/>
          </a:p>
          <a:p>
            <a:r>
              <a:rPr lang="en-CA" dirty="0"/>
              <a:t>    // printing string</a:t>
            </a:r>
          </a:p>
          <a:p>
            <a:r>
              <a:rPr lang="en-CA" dirty="0"/>
              <a:t>    int </a:t>
            </a:r>
            <a:r>
              <a:rPr lang="en-CA" dirty="0" err="1"/>
              <a:t>i</a:t>
            </a:r>
            <a:r>
              <a:rPr lang="en-CA" dirty="0"/>
              <a:t> = 0;</a:t>
            </a:r>
          </a:p>
          <a:p>
            <a:r>
              <a:rPr lang="en-CA" dirty="0"/>
              <a:t>    while (</a:t>
            </a:r>
            <a:r>
              <a:rPr lang="en-CA" dirty="0" err="1"/>
              <a:t>arr</a:t>
            </a:r>
            <a:r>
              <a:rPr lang="en-CA" dirty="0"/>
              <a:t>[</a:t>
            </a:r>
            <a:r>
              <a:rPr lang="en-CA" dirty="0" err="1"/>
              <a:t>i</a:t>
            </a:r>
            <a:r>
              <a:rPr lang="en-CA" dirty="0"/>
              <a:t>]) {</a:t>
            </a:r>
          </a:p>
          <a:p>
            <a:r>
              <a:rPr lang="en-CA" dirty="0"/>
              <a:t>        </a:t>
            </a:r>
            <a:r>
              <a:rPr lang="en-CA" dirty="0" err="1"/>
              <a:t>printf</a:t>
            </a:r>
            <a:r>
              <a:rPr lang="en-CA" dirty="0"/>
              <a:t>("%c", </a:t>
            </a:r>
            <a:r>
              <a:rPr lang="en-CA" dirty="0" err="1"/>
              <a:t>arr</a:t>
            </a:r>
            <a:r>
              <a:rPr lang="en-CA" dirty="0"/>
              <a:t>[</a:t>
            </a:r>
            <a:r>
              <a:rPr lang="en-CA" dirty="0" err="1"/>
              <a:t>i</a:t>
            </a:r>
            <a:r>
              <a:rPr lang="en-CA" dirty="0"/>
              <a:t>++]);</a:t>
            </a:r>
          </a:p>
          <a:p>
            <a:r>
              <a:rPr lang="en-CA" dirty="0"/>
              <a:t>    }</a:t>
            </a:r>
          </a:p>
          <a:p>
            <a:r>
              <a:rPr lang="en-CA" dirty="0"/>
              <a:t>    return 0;</a:t>
            </a:r>
          </a:p>
          <a:p>
            <a:r>
              <a:rPr lang="en-CA" dirty="0"/>
              <a:t>}</a:t>
            </a:r>
          </a:p>
        </p:txBody>
      </p:sp>
      <p:sp>
        <p:nvSpPr>
          <p:cNvPr id="6" name="TextBox 5">
            <a:extLst>
              <a:ext uri="{FF2B5EF4-FFF2-40B4-BE49-F238E27FC236}">
                <a16:creationId xmlns:a16="http://schemas.microsoft.com/office/drawing/2014/main" id="{55F8C59C-20B0-C470-2CF6-381FA15C7191}"/>
              </a:ext>
            </a:extLst>
          </p:cNvPr>
          <p:cNvSpPr txBox="1"/>
          <p:nvPr/>
        </p:nvSpPr>
        <p:spPr>
          <a:xfrm>
            <a:off x="7846142" y="2684206"/>
            <a:ext cx="2625213" cy="646331"/>
          </a:xfrm>
          <a:prstGeom prst="rect">
            <a:avLst/>
          </a:prstGeom>
          <a:noFill/>
        </p:spPr>
        <p:txBody>
          <a:bodyPr wrap="square" rtlCol="0">
            <a:spAutoFit/>
          </a:bodyPr>
          <a:lstStyle/>
          <a:p>
            <a:r>
              <a:rPr lang="en-CA" dirty="0"/>
              <a:t>Output:</a:t>
            </a:r>
          </a:p>
          <a:p>
            <a:r>
              <a:rPr lang="en-CA" dirty="0" err="1"/>
              <a:t>aeiow</a:t>
            </a:r>
            <a:endParaRPr lang="en-CA" dirty="0"/>
          </a:p>
        </p:txBody>
      </p:sp>
      <p:sp>
        <p:nvSpPr>
          <p:cNvPr id="3" name="Footer Placeholder 2">
            <a:extLst>
              <a:ext uri="{FF2B5EF4-FFF2-40B4-BE49-F238E27FC236}">
                <a16:creationId xmlns:a16="http://schemas.microsoft.com/office/drawing/2014/main" id="{C318A32A-FD35-1303-ECAD-37EEE82AED81}"/>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647329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40FDF-8651-5F7E-16CF-B4F179D54D5B}"/>
              </a:ext>
            </a:extLst>
          </p:cNvPr>
          <p:cNvSpPr>
            <a:spLocks noGrp="1"/>
          </p:cNvSpPr>
          <p:nvPr>
            <p:ph type="title"/>
          </p:nvPr>
        </p:nvSpPr>
        <p:spPr>
          <a:xfrm>
            <a:off x="838200" y="365125"/>
            <a:ext cx="10515600" cy="795081"/>
          </a:xfrm>
        </p:spPr>
        <p:txBody>
          <a:bodyPr>
            <a:normAutofit/>
          </a:bodyPr>
          <a:lstStyle/>
          <a:p>
            <a:pPr algn="ctr"/>
            <a:r>
              <a:rPr lang="en-CA" sz="2800" dirty="0"/>
              <a:t> </a:t>
            </a:r>
            <a:r>
              <a:rPr lang="en-CA" sz="2800" b="1" dirty="0"/>
              <a:t>Multidimensional Array</a:t>
            </a:r>
          </a:p>
        </p:txBody>
      </p:sp>
      <p:sp>
        <p:nvSpPr>
          <p:cNvPr id="3" name="Content Placeholder 2">
            <a:extLst>
              <a:ext uri="{FF2B5EF4-FFF2-40B4-BE49-F238E27FC236}">
                <a16:creationId xmlns:a16="http://schemas.microsoft.com/office/drawing/2014/main" id="{0E74A6C7-A334-6B76-34FC-5B49F037F551}"/>
              </a:ext>
            </a:extLst>
          </p:cNvPr>
          <p:cNvSpPr>
            <a:spLocks noGrp="1"/>
          </p:cNvSpPr>
          <p:nvPr>
            <p:ph idx="1"/>
          </p:nvPr>
        </p:nvSpPr>
        <p:spPr/>
        <p:txBody>
          <a:bodyPr>
            <a:normAutofit/>
          </a:bodyPr>
          <a:lstStyle/>
          <a:p>
            <a:r>
              <a:rPr lang="en-CA" sz="2400" dirty="0"/>
              <a:t>Two-Dimensional Array</a:t>
            </a:r>
          </a:p>
          <a:p>
            <a:pPr marL="0" indent="0">
              <a:buNone/>
            </a:pPr>
            <a:r>
              <a:rPr lang="en-US" sz="2400" dirty="0"/>
              <a:t>A Two-Dimensional array or 2D array in C is an array that has exactly two dimensions. They can be visualized in the form of rows and columns organized in a two-dimensional plane.</a:t>
            </a:r>
          </a:p>
          <a:p>
            <a:pPr marL="0" indent="0">
              <a:buNone/>
            </a:pPr>
            <a:r>
              <a:rPr lang="en-CA" sz="2400" dirty="0" err="1"/>
              <a:t>array_name</a:t>
            </a:r>
            <a:r>
              <a:rPr lang="en-CA" sz="2400" dirty="0"/>
              <a:t>[size1] [size2];</a:t>
            </a:r>
          </a:p>
          <a:p>
            <a:pPr marL="0" indent="0">
              <a:buNone/>
            </a:pPr>
            <a:r>
              <a:rPr lang="en-US" sz="2400" dirty="0"/>
              <a:t> size1: Size of the first dimension.</a:t>
            </a:r>
          </a:p>
          <a:p>
            <a:pPr marL="0" indent="0">
              <a:buNone/>
            </a:pPr>
            <a:r>
              <a:rPr lang="en-US" sz="2400" dirty="0"/>
              <a:t> size2: Size of the second dimension.</a:t>
            </a:r>
            <a:endParaRPr lang="en-CA" sz="2400" dirty="0"/>
          </a:p>
        </p:txBody>
      </p:sp>
      <p:pic>
        <p:nvPicPr>
          <p:cNvPr id="6" name="Picture 5">
            <a:extLst>
              <a:ext uri="{FF2B5EF4-FFF2-40B4-BE49-F238E27FC236}">
                <a16:creationId xmlns:a16="http://schemas.microsoft.com/office/drawing/2014/main" id="{2BDD7EEE-D1B4-E9B0-BDC8-D72F2F69E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6607" y="3048000"/>
            <a:ext cx="3746090" cy="3342353"/>
          </a:xfrm>
          <a:prstGeom prst="rect">
            <a:avLst/>
          </a:prstGeom>
        </p:spPr>
      </p:pic>
      <p:sp>
        <p:nvSpPr>
          <p:cNvPr id="4" name="Footer Placeholder 3">
            <a:extLst>
              <a:ext uri="{FF2B5EF4-FFF2-40B4-BE49-F238E27FC236}">
                <a16:creationId xmlns:a16="http://schemas.microsoft.com/office/drawing/2014/main" id="{236FB6FE-2878-9D56-E79E-4AA80369030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3366366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BCAB6A9-0294-2691-6E7E-BD83EE1B6DE1}"/>
              </a:ext>
            </a:extLst>
          </p:cNvPr>
          <p:cNvSpPr txBox="1"/>
          <p:nvPr/>
        </p:nvSpPr>
        <p:spPr>
          <a:xfrm>
            <a:off x="1024230" y="612844"/>
            <a:ext cx="5701035" cy="5632311"/>
          </a:xfrm>
          <a:prstGeom prst="rect">
            <a:avLst/>
          </a:prstGeom>
          <a:noFill/>
        </p:spPr>
        <p:txBody>
          <a:bodyPr wrap="square">
            <a:spAutoFit/>
          </a:bodyPr>
          <a:lstStyle/>
          <a:p>
            <a:r>
              <a:rPr lang="en-CA" dirty="0"/>
              <a:t>// C Program to illustrate 2d array</a:t>
            </a:r>
          </a:p>
          <a:p>
            <a:r>
              <a:rPr lang="en-CA" dirty="0"/>
              <a:t>#include &lt;</a:t>
            </a:r>
            <a:r>
              <a:rPr lang="en-CA" dirty="0" err="1"/>
              <a:t>stdio.h</a:t>
            </a:r>
            <a:r>
              <a:rPr lang="en-CA" dirty="0"/>
              <a:t>&gt;</a:t>
            </a:r>
          </a:p>
          <a:p>
            <a:endParaRPr lang="en-CA" dirty="0"/>
          </a:p>
          <a:p>
            <a:r>
              <a:rPr lang="en-CA" dirty="0"/>
              <a:t>int main()</a:t>
            </a:r>
          </a:p>
          <a:p>
            <a:r>
              <a:rPr lang="en-CA" dirty="0"/>
              <a:t>{</a:t>
            </a:r>
          </a:p>
          <a:p>
            <a:endParaRPr lang="en-CA" dirty="0"/>
          </a:p>
          <a:p>
            <a:r>
              <a:rPr lang="en-CA" dirty="0"/>
              <a:t>    // declaring and initializing 2d array</a:t>
            </a:r>
          </a:p>
          <a:p>
            <a:r>
              <a:rPr lang="en-CA" dirty="0"/>
              <a:t>    int </a:t>
            </a:r>
            <a:r>
              <a:rPr lang="en-CA" dirty="0" err="1"/>
              <a:t>arr</a:t>
            </a:r>
            <a:r>
              <a:rPr lang="en-CA" dirty="0"/>
              <a:t>[2][3] = { 10, 20, 30, 40, 50, 60 };</a:t>
            </a:r>
          </a:p>
          <a:p>
            <a:endParaRPr lang="en-CA" dirty="0"/>
          </a:p>
          <a:p>
            <a:r>
              <a:rPr lang="en-CA" dirty="0"/>
              <a:t>  </a:t>
            </a:r>
            <a:r>
              <a:rPr lang="en-CA" dirty="0" err="1"/>
              <a:t>printf</a:t>
            </a:r>
            <a:r>
              <a:rPr lang="en-CA" dirty="0"/>
              <a:t>("2D Array:\n");</a:t>
            </a:r>
          </a:p>
          <a:p>
            <a:r>
              <a:rPr lang="en-CA" dirty="0"/>
              <a:t>    // printing 2d array</a:t>
            </a:r>
          </a:p>
          <a:p>
            <a:r>
              <a:rPr lang="en-CA" dirty="0"/>
              <a:t>    for (int </a:t>
            </a:r>
            <a:r>
              <a:rPr lang="en-CA" dirty="0" err="1"/>
              <a:t>i</a:t>
            </a:r>
            <a:r>
              <a:rPr lang="en-CA" dirty="0"/>
              <a:t> = 0; </a:t>
            </a:r>
            <a:r>
              <a:rPr lang="en-CA" dirty="0" err="1"/>
              <a:t>i</a:t>
            </a:r>
            <a:r>
              <a:rPr lang="en-CA" dirty="0"/>
              <a:t> &lt; 2; </a:t>
            </a:r>
            <a:r>
              <a:rPr lang="en-CA" dirty="0" err="1"/>
              <a:t>i</a:t>
            </a:r>
            <a:r>
              <a:rPr lang="en-CA" dirty="0"/>
              <a:t>++) {</a:t>
            </a:r>
          </a:p>
          <a:p>
            <a:r>
              <a:rPr lang="en-CA" dirty="0"/>
              <a:t>        for (int j = 0; j &lt; 3; </a:t>
            </a:r>
            <a:r>
              <a:rPr lang="en-CA" dirty="0" err="1"/>
              <a:t>j++</a:t>
            </a:r>
            <a:r>
              <a:rPr lang="en-CA" dirty="0"/>
              <a:t>) {</a:t>
            </a:r>
          </a:p>
          <a:p>
            <a:r>
              <a:rPr lang="en-CA" dirty="0"/>
              <a:t>            </a:t>
            </a:r>
            <a:r>
              <a:rPr lang="en-CA" dirty="0" err="1"/>
              <a:t>printf</a:t>
            </a:r>
            <a:r>
              <a:rPr lang="en-CA" dirty="0"/>
              <a:t>("%d ",</a:t>
            </a:r>
            <a:r>
              <a:rPr lang="en-CA" dirty="0" err="1"/>
              <a:t>arr</a:t>
            </a:r>
            <a:r>
              <a:rPr lang="en-CA" dirty="0"/>
              <a:t>[</a:t>
            </a:r>
            <a:r>
              <a:rPr lang="en-CA" dirty="0" err="1"/>
              <a:t>i</a:t>
            </a:r>
            <a:r>
              <a:rPr lang="en-CA" dirty="0"/>
              <a:t>][j]);</a:t>
            </a:r>
          </a:p>
          <a:p>
            <a:r>
              <a:rPr lang="en-CA" dirty="0"/>
              <a:t>        }</a:t>
            </a:r>
          </a:p>
          <a:p>
            <a:r>
              <a:rPr lang="en-CA" dirty="0"/>
              <a:t>        </a:t>
            </a:r>
            <a:r>
              <a:rPr lang="en-CA" dirty="0" err="1"/>
              <a:t>printf</a:t>
            </a:r>
            <a:r>
              <a:rPr lang="en-CA" dirty="0"/>
              <a:t>("\n");</a:t>
            </a:r>
          </a:p>
          <a:p>
            <a:r>
              <a:rPr lang="en-CA" dirty="0"/>
              <a:t>    }</a:t>
            </a:r>
          </a:p>
          <a:p>
            <a:endParaRPr lang="en-CA" dirty="0"/>
          </a:p>
          <a:p>
            <a:r>
              <a:rPr lang="en-CA" dirty="0"/>
              <a:t>    return 0;</a:t>
            </a:r>
          </a:p>
          <a:p>
            <a:r>
              <a:rPr lang="en-CA" dirty="0"/>
              <a:t>}</a:t>
            </a:r>
          </a:p>
        </p:txBody>
      </p:sp>
      <p:sp>
        <p:nvSpPr>
          <p:cNvPr id="9" name="TextBox 8">
            <a:extLst>
              <a:ext uri="{FF2B5EF4-FFF2-40B4-BE49-F238E27FC236}">
                <a16:creationId xmlns:a16="http://schemas.microsoft.com/office/drawing/2014/main" id="{5594051E-C494-CC95-F032-F18BCA285062}"/>
              </a:ext>
            </a:extLst>
          </p:cNvPr>
          <p:cNvSpPr txBox="1"/>
          <p:nvPr/>
        </p:nvSpPr>
        <p:spPr>
          <a:xfrm>
            <a:off x="6499122" y="3933354"/>
            <a:ext cx="1838633" cy="1200329"/>
          </a:xfrm>
          <a:prstGeom prst="rect">
            <a:avLst/>
          </a:prstGeom>
          <a:noFill/>
        </p:spPr>
        <p:txBody>
          <a:bodyPr wrap="square">
            <a:spAutoFit/>
          </a:bodyPr>
          <a:lstStyle/>
          <a:p>
            <a:r>
              <a:rPr lang="en-US" dirty="0"/>
              <a:t>Output:</a:t>
            </a:r>
          </a:p>
          <a:p>
            <a:r>
              <a:rPr lang="en-US" dirty="0"/>
              <a:t>2D Array:</a:t>
            </a:r>
          </a:p>
          <a:p>
            <a:r>
              <a:rPr lang="en-US" dirty="0"/>
              <a:t>10 20 30 </a:t>
            </a:r>
          </a:p>
          <a:p>
            <a:r>
              <a:rPr lang="en-US" dirty="0"/>
              <a:t>40 50 60 </a:t>
            </a:r>
            <a:endParaRPr lang="en-CA" dirty="0"/>
          </a:p>
        </p:txBody>
      </p:sp>
      <p:sp>
        <p:nvSpPr>
          <p:cNvPr id="2" name="Footer Placeholder 1">
            <a:extLst>
              <a:ext uri="{FF2B5EF4-FFF2-40B4-BE49-F238E27FC236}">
                <a16:creationId xmlns:a16="http://schemas.microsoft.com/office/drawing/2014/main" id="{B04AAA5A-250B-088B-9E25-BAF4E3B92766}"/>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0440392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DF620-4DB2-E0F8-E5DE-C159573DE310}"/>
              </a:ext>
            </a:extLst>
          </p:cNvPr>
          <p:cNvSpPr>
            <a:spLocks noGrp="1"/>
          </p:cNvSpPr>
          <p:nvPr>
            <p:ph type="title"/>
          </p:nvPr>
        </p:nvSpPr>
        <p:spPr>
          <a:xfrm>
            <a:off x="838200" y="365126"/>
            <a:ext cx="10515600" cy="873740"/>
          </a:xfrm>
        </p:spPr>
        <p:txBody>
          <a:bodyPr/>
          <a:lstStyle/>
          <a:p>
            <a:pPr algn="ctr"/>
            <a:r>
              <a:rPr lang="en-CA" dirty="0"/>
              <a:t>Linear Search</a:t>
            </a:r>
          </a:p>
        </p:txBody>
      </p:sp>
      <p:sp>
        <p:nvSpPr>
          <p:cNvPr id="3" name="Content Placeholder 2">
            <a:extLst>
              <a:ext uri="{FF2B5EF4-FFF2-40B4-BE49-F238E27FC236}">
                <a16:creationId xmlns:a16="http://schemas.microsoft.com/office/drawing/2014/main" id="{62AE187C-DA83-2F5F-D71A-4A30B1C99B49}"/>
              </a:ext>
            </a:extLst>
          </p:cNvPr>
          <p:cNvSpPr>
            <a:spLocks noGrp="1"/>
          </p:cNvSpPr>
          <p:nvPr>
            <p:ph idx="1"/>
          </p:nvPr>
        </p:nvSpPr>
        <p:spPr>
          <a:xfrm>
            <a:off x="462116" y="1825625"/>
            <a:ext cx="10891684" cy="4351338"/>
          </a:xfrm>
        </p:spPr>
        <p:txBody>
          <a:bodyPr>
            <a:normAutofit/>
          </a:bodyPr>
          <a:lstStyle/>
          <a:p>
            <a:r>
              <a:rPr lang="en-US" sz="2000" dirty="0"/>
              <a:t>Linear search is one of the simplest searching algorithms. It checks each element of an array or list sequentially until the desired element is found or the list ends. It can be inefficient for large datasets because it potentially examines every element.</a:t>
            </a:r>
          </a:p>
          <a:p>
            <a:endParaRPr lang="en-CA" sz="2000" dirty="0"/>
          </a:p>
          <a:p>
            <a:endParaRPr lang="en-CA" sz="2000" dirty="0"/>
          </a:p>
        </p:txBody>
      </p:sp>
      <p:sp>
        <p:nvSpPr>
          <p:cNvPr id="6" name="Rectangle 3">
            <a:extLst>
              <a:ext uri="{FF2B5EF4-FFF2-40B4-BE49-F238E27FC236}">
                <a16:creationId xmlns:a16="http://schemas.microsoft.com/office/drawing/2014/main" id="{E87F0132-826A-7174-A0D6-76777FB28C98}"/>
              </a:ext>
            </a:extLst>
          </p:cNvPr>
          <p:cNvSpPr>
            <a:spLocks noChangeArrowheads="1"/>
          </p:cNvSpPr>
          <p:nvPr/>
        </p:nvSpPr>
        <p:spPr bwMode="auto">
          <a:xfrm>
            <a:off x="650158" y="2720252"/>
            <a:ext cx="105156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How Linear Search 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Start at the first element of the array.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Compare the target element with the current element.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If the current element matches the target, the search is successful, and you can return the index of that element.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If the current element does not match the target, move to the next element and repeat step 2.</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If the entire array is traversed without finding the target element, the search is unsuccessful. </a:t>
            </a:r>
          </a:p>
        </p:txBody>
      </p:sp>
      <p:sp>
        <p:nvSpPr>
          <p:cNvPr id="4" name="Footer Placeholder 3">
            <a:extLst>
              <a:ext uri="{FF2B5EF4-FFF2-40B4-BE49-F238E27FC236}">
                <a16:creationId xmlns:a16="http://schemas.microsoft.com/office/drawing/2014/main" id="{B3ADEF1C-1F0F-B4B0-5336-BCA327F349D3}"/>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4266033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E7D55A6-DB21-409F-BB33-07D3406E0025}"/>
              </a:ext>
            </a:extLst>
          </p:cNvPr>
          <p:cNvSpPr txBox="1"/>
          <p:nvPr/>
        </p:nvSpPr>
        <p:spPr>
          <a:xfrm>
            <a:off x="835742" y="356357"/>
            <a:ext cx="6037007" cy="5909310"/>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int main() {</a:t>
            </a:r>
          </a:p>
          <a:p>
            <a:r>
              <a:rPr lang="en-US" dirty="0"/>
              <a:t>    int </a:t>
            </a:r>
            <a:r>
              <a:rPr lang="en-US" dirty="0" err="1"/>
              <a:t>arr</a:t>
            </a:r>
            <a:r>
              <a:rPr lang="en-US" dirty="0"/>
              <a:t>[] = {10, 25, 30, 45, 60};  // Array of elements</a:t>
            </a:r>
          </a:p>
          <a:p>
            <a:r>
              <a:rPr lang="en-US" dirty="0"/>
              <a:t>    int n = 5;                         // Size of the array</a:t>
            </a:r>
          </a:p>
          <a:p>
            <a:r>
              <a:rPr lang="en-US" dirty="0"/>
              <a:t>    int target, </a:t>
            </a:r>
            <a:r>
              <a:rPr lang="en-US" dirty="0" err="1"/>
              <a:t>i</a:t>
            </a:r>
            <a:r>
              <a:rPr lang="en-US" dirty="0"/>
              <a:t>;</a:t>
            </a:r>
          </a:p>
          <a:p>
            <a:r>
              <a:rPr lang="en-US" dirty="0"/>
              <a:t>    int found = 0;                     // Flag to check if the target is found</a:t>
            </a:r>
          </a:p>
          <a:p>
            <a:endParaRPr lang="en-US" dirty="0"/>
          </a:p>
          <a:p>
            <a:r>
              <a:rPr lang="en-US" dirty="0"/>
              <a:t>    // Ask the user for the target value to search for</a:t>
            </a:r>
          </a:p>
          <a:p>
            <a:r>
              <a:rPr lang="en-US" dirty="0"/>
              <a:t>    </a:t>
            </a:r>
            <a:r>
              <a:rPr lang="en-US" dirty="0" err="1"/>
              <a:t>printf</a:t>
            </a:r>
            <a:r>
              <a:rPr lang="en-US" dirty="0"/>
              <a:t>("Enter the element to search: ");</a:t>
            </a:r>
          </a:p>
          <a:p>
            <a:r>
              <a:rPr lang="en-US" dirty="0"/>
              <a:t>    </a:t>
            </a:r>
            <a:r>
              <a:rPr lang="en-US" dirty="0" err="1"/>
              <a:t>scanf</a:t>
            </a:r>
            <a:r>
              <a:rPr lang="en-US" dirty="0"/>
              <a:t>("%d", &amp;target);</a:t>
            </a:r>
          </a:p>
          <a:p>
            <a:endParaRPr lang="en-US" dirty="0"/>
          </a:p>
          <a:p>
            <a:r>
              <a:rPr lang="en-US" dirty="0"/>
              <a:t>    // Linear Search Algorithm</a:t>
            </a:r>
          </a:p>
          <a:p>
            <a:r>
              <a:rPr lang="en-US" dirty="0"/>
              <a:t>    for(</a:t>
            </a:r>
            <a:r>
              <a:rPr lang="en-US" dirty="0" err="1"/>
              <a:t>i</a:t>
            </a:r>
            <a:r>
              <a:rPr lang="en-US" dirty="0"/>
              <a:t> = 0; </a:t>
            </a:r>
            <a:r>
              <a:rPr lang="en-US" dirty="0" err="1"/>
              <a:t>i</a:t>
            </a:r>
            <a:r>
              <a:rPr lang="en-US" dirty="0"/>
              <a:t> &lt; n; </a:t>
            </a:r>
            <a:r>
              <a:rPr lang="en-US" dirty="0" err="1"/>
              <a:t>i</a:t>
            </a:r>
            <a:r>
              <a:rPr lang="en-US" dirty="0"/>
              <a:t>++) {</a:t>
            </a:r>
          </a:p>
          <a:p>
            <a:r>
              <a:rPr lang="en-US" dirty="0"/>
              <a:t>        if(</a:t>
            </a:r>
            <a:r>
              <a:rPr lang="en-US" dirty="0" err="1"/>
              <a:t>arr</a:t>
            </a:r>
            <a:r>
              <a:rPr lang="en-US" dirty="0"/>
              <a:t>[</a:t>
            </a:r>
            <a:r>
              <a:rPr lang="en-US" dirty="0" err="1"/>
              <a:t>i</a:t>
            </a:r>
            <a:r>
              <a:rPr lang="en-US" dirty="0"/>
              <a:t>] == target) {  // If the target is found</a:t>
            </a:r>
          </a:p>
          <a:p>
            <a:r>
              <a:rPr lang="en-US" dirty="0"/>
              <a:t>            </a:t>
            </a:r>
            <a:r>
              <a:rPr lang="en-US" dirty="0" err="1"/>
              <a:t>printf</a:t>
            </a:r>
            <a:r>
              <a:rPr lang="en-US" dirty="0"/>
              <a:t>("Element %d found at index %d.\n", target, </a:t>
            </a:r>
            <a:r>
              <a:rPr lang="en-US" dirty="0" err="1"/>
              <a:t>i</a:t>
            </a:r>
            <a:r>
              <a:rPr lang="en-US" dirty="0"/>
              <a:t>);</a:t>
            </a:r>
          </a:p>
          <a:p>
            <a:r>
              <a:rPr lang="en-US" dirty="0"/>
              <a:t>            found = 1;</a:t>
            </a:r>
          </a:p>
          <a:p>
            <a:r>
              <a:rPr lang="en-US" dirty="0"/>
              <a:t>            break;</a:t>
            </a:r>
          </a:p>
          <a:p>
            <a:r>
              <a:rPr lang="en-US" dirty="0"/>
              <a:t>        }</a:t>
            </a:r>
          </a:p>
          <a:p>
            <a:r>
              <a:rPr lang="en-US" dirty="0"/>
              <a:t>    }</a:t>
            </a:r>
          </a:p>
        </p:txBody>
      </p:sp>
      <p:sp>
        <p:nvSpPr>
          <p:cNvPr id="15" name="TextBox 14">
            <a:extLst>
              <a:ext uri="{FF2B5EF4-FFF2-40B4-BE49-F238E27FC236}">
                <a16:creationId xmlns:a16="http://schemas.microsoft.com/office/drawing/2014/main" id="{2CB2BD39-2C46-422C-E4F4-2F370D373017}"/>
              </a:ext>
            </a:extLst>
          </p:cNvPr>
          <p:cNvSpPr txBox="1"/>
          <p:nvPr/>
        </p:nvSpPr>
        <p:spPr>
          <a:xfrm>
            <a:off x="6617110" y="822971"/>
            <a:ext cx="5102941" cy="2308324"/>
          </a:xfrm>
          <a:prstGeom prst="rect">
            <a:avLst/>
          </a:prstGeom>
          <a:noFill/>
        </p:spPr>
        <p:txBody>
          <a:bodyPr wrap="square">
            <a:spAutoFit/>
          </a:bodyPr>
          <a:lstStyle/>
          <a:p>
            <a:r>
              <a:rPr lang="en-US" dirty="0"/>
              <a:t> // If the element is not found in the array</a:t>
            </a:r>
          </a:p>
          <a:p>
            <a:r>
              <a:rPr lang="en-US" dirty="0"/>
              <a:t>    if(!found) {</a:t>
            </a:r>
          </a:p>
          <a:p>
            <a:r>
              <a:rPr lang="en-US" dirty="0"/>
              <a:t>        </a:t>
            </a:r>
            <a:r>
              <a:rPr lang="en-US" dirty="0" err="1"/>
              <a:t>printf</a:t>
            </a:r>
            <a:r>
              <a:rPr lang="en-US" dirty="0"/>
              <a:t>("Element %d not found in the array.\n", target);</a:t>
            </a:r>
          </a:p>
          <a:p>
            <a:r>
              <a:rPr lang="en-US" dirty="0"/>
              <a:t>    }</a:t>
            </a:r>
          </a:p>
          <a:p>
            <a:endParaRPr lang="en-US" dirty="0"/>
          </a:p>
          <a:p>
            <a:r>
              <a:rPr lang="en-US" dirty="0"/>
              <a:t>    return 0;</a:t>
            </a:r>
          </a:p>
          <a:p>
            <a:r>
              <a:rPr lang="en-US" dirty="0"/>
              <a:t>}</a:t>
            </a:r>
            <a:endParaRPr lang="en-CA" dirty="0"/>
          </a:p>
        </p:txBody>
      </p:sp>
      <p:sp>
        <p:nvSpPr>
          <p:cNvPr id="19" name="TextBox 18">
            <a:extLst>
              <a:ext uri="{FF2B5EF4-FFF2-40B4-BE49-F238E27FC236}">
                <a16:creationId xmlns:a16="http://schemas.microsoft.com/office/drawing/2014/main" id="{BC291FA7-0EB3-3E45-C138-AC95AF69E8F2}"/>
              </a:ext>
            </a:extLst>
          </p:cNvPr>
          <p:cNvSpPr txBox="1"/>
          <p:nvPr/>
        </p:nvSpPr>
        <p:spPr>
          <a:xfrm>
            <a:off x="7226709" y="3597909"/>
            <a:ext cx="3883742" cy="646331"/>
          </a:xfrm>
          <a:prstGeom prst="rect">
            <a:avLst/>
          </a:prstGeom>
          <a:noFill/>
        </p:spPr>
        <p:txBody>
          <a:bodyPr wrap="square">
            <a:spAutoFit/>
          </a:bodyPr>
          <a:lstStyle/>
          <a:p>
            <a:r>
              <a:rPr lang="en-US" dirty="0"/>
              <a:t>Enter the element to search: 30</a:t>
            </a:r>
          </a:p>
          <a:p>
            <a:r>
              <a:rPr lang="en-US" dirty="0"/>
              <a:t>Element 30 found at index 2.</a:t>
            </a:r>
            <a:endParaRPr lang="en-CA" dirty="0"/>
          </a:p>
        </p:txBody>
      </p:sp>
      <p:sp>
        <p:nvSpPr>
          <p:cNvPr id="21" name="TextBox 20">
            <a:extLst>
              <a:ext uri="{FF2B5EF4-FFF2-40B4-BE49-F238E27FC236}">
                <a16:creationId xmlns:a16="http://schemas.microsoft.com/office/drawing/2014/main" id="{B50AFE61-1568-6B99-0452-D0FB343834C1}"/>
              </a:ext>
            </a:extLst>
          </p:cNvPr>
          <p:cNvSpPr txBox="1"/>
          <p:nvPr/>
        </p:nvSpPr>
        <p:spPr>
          <a:xfrm>
            <a:off x="7226709" y="4710854"/>
            <a:ext cx="3451123" cy="923330"/>
          </a:xfrm>
          <a:prstGeom prst="rect">
            <a:avLst/>
          </a:prstGeom>
          <a:noFill/>
        </p:spPr>
        <p:txBody>
          <a:bodyPr wrap="square">
            <a:spAutoFit/>
          </a:bodyPr>
          <a:lstStyle/>
          <a:p>
            <a:r>
              <a:rPr lang="en-US" dirty="0"/>
              <a:t>Enter the element to search: 100</a:t>
            </a:r>
          </a:p>
          <a:p>
            <a:r>
              <a:rPr lang="en-US" dirty="0"/>
              <a:t>Element 100 not found in the array.</a:t>
            </a:r>
            <a:endParaRPr lang="en-CA" dirty="0"/>
          </a:p>
        </p:txBody>
      </p:sp>
      <p:sp>
        <p:nvSpPr>
          <p:cNvPr id="2" name="Footer Placeholder 1">
            <a:extLst>
              <a:ext uri="{FF2B5EF4-FFF2-40B4-BE49-F238E27FC236}">
                <a16:creationId xmlns:a16="http://schemas.microsoft.com/office/drawing/2014/main" id="{ACB175D0-6086-09A2-B3A6-3DA0CBCD873E}"/>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7977237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FA6D0-5B7C-1495-7C42-FF0D12EC0435}"/>
              </a:ext>
            </a:extLst>
          </p:cNvPr>
          <p:cNvSpPr>
            <a:spLocks noGrp="1"/>
          </p:cNvSpPr>
          <p:nvPr>
            <p:ph type="title"/>
          </p:nvPr>
        </p:nvSpPr>
        <p:spPr>
          <a:xfrm>
            <a:off x="838200" y="365126"/>
            <a:ext cx="10515600" cy="883572"/>
          </a:xfrm>
        </p:spPr>
        <p:txBody>
          <a:bodyPr/>
          <a:lstStyle/>
          <a:p>
            <a:pPr algn="ctr"/>
            <a:r>
              <a:rPr lang="en-CA" dirty="0"/>
              <a:t>Binary Search</a:t>
            </a:r>
          </a:p>
        </p:txBody>
      </p:sp>
      <p:sp>
        <p:nvSpPr>
          <p:cNvPr id="3" name="Content Placeholder 2">
            <a:extLst>
              <a:ext uri="{FF2B5EF4-FFF2-40B4-BE49-F238E27FC236}">
                <a16:creationId xmlns:a16="http://schemas.microsoft.com/office/drawing/2014/main" id="{E2F13E45-DCE9-4A6E-9F91-0EDF1FD2A524}"/>
              </a:ext>
            </a:extLst>
          </p:cNvPr>
          <p:cNvSpPr>
            <a:spLocks noGrp="1"/>
          </p:cNvSpPr>
          <p:nvPr>
            <p:ph idx="1"/>
          </p:nvPr>
        </p:nvSpPr>
        <p:spPr>
          <a:xfrm>
            <a:off x="838200" y="1170038"/>
            <a:ext cx="10515600" cy="5456903"/>
          </a:xfrm>
        </p:spPr>
        <p:txBody>
          <a:bodyPr>
            <a:normAutofit lnSpcReduction="10000"/>
          </a:bodyPr>
          <a:lstStyle/>
          <a:p>
            <a:r>
              <a:rPr lang="en-US" sz="2000" dirty="0"/>
              <a:t>Binary search is a more efficient algorithm for finding an element in a sorted array. Unlike linear search, which checks every element, binary search divides the search interval in half each time, drastically reducing the number of comparisons needed to find the target value.</a:t>
            </a:r>
          </a:p>
          <a:p>
            <a:pPr marL="0" indent="0">
              <a:buNone/>
            </a:pPr>
            <a:r>
              <a:rPr lang="en-US" sz="2000" b="1" dirty="0"/>
              <a:t>How Binary Search Works:</a:t>
            </a:r>
          </a:p>
          <a:p>
            <a:pPr marL="457200" indent="-457200">
              <a:buFont typeface="+mj-lt"/>
              <a:buAutoNum type="arabicPeriod"/>
            </a:pPr>
            <a:r>
              <a:rPr lang="en-US" sz="2000" dirty="0"/>
              <a:t>    Start with two pointers, one at the beginning (low) and one at the end (high) </a:t>
            </a:r>
            <a:r>
              <a:rPr lang="en-US" sz="2000" b="1" dirty="0"/>
              <a:t>of the sorted array.</a:t>
            </a:r>
          </a:p>
          <a:p>
            <a:pPr marL="457200" indent="-457200">
              <a:buFont typeface="+mj-lt"/>
              <a:buAutoNum type="arabicPeriod"/>
            </a:pPr>
            <a:r>
              <a:rPr lang="en-US" sz="2000" dirty="0"/>
              <a:t>    Find the middle element of the array.</a:t>
            </a:r>
          </a:p>
          <a:p>
            <a:pPr marL="457200" indent="-457200">
              <a:buFont typeface="+mj-lt"/>
              <a:buAutoNum type="arabicPeriod"/>
            </a:pPr>
            <a:r>
              <a:rPr lang="en-US" sz="2000" dirty="0"/>
              <a:t>    Compare the middle element with the target value:</a:t>
            </a:r>
          </a:p>
          <a:p>
            <a:pPr marL="457200" indent="-457200">
              <a:buFont typeface="+mj-lt"/>
              <a:buAutoNum type="arabicPeriod"/>
            </a:pPr>
            <a:r>
              <a:rPr lang="en-US" sz="2000" dirty="0"/>
              <a:t>        If the middle element is equal to the target, the search is successful, and you return the index.</a:t>
            </a:r>
          </a:p>
          <a:p>
            <a:pPr marL="457200" indent="-457200">
              <a:buFont typeface="+mj-lt"/>
              <a:buAutoNum type="arabicPeriod"/>
            </a:pPr>
            <a:r>
              <a:rPr lang="en-US" sz="2000" dirty="0"/>
              <a:t>        If the middle element is greater than the target, repeat the search on the left half of the array.</a:t>
            </a:r>
          </a:p>
          <a:p>
            <a:pPr marL="457200" indent="-457200">
              <a:buFont typeface="+mj-lt"/>
              <a:buAutoNum type="arabicPeriod"/>
            </a:pPr>
            <a:r>
              <a:rPr lang="en-US" sz="2000" dirty="0"/>
              <a:t>        If the middle element is less than the target, repeat the search on the right half of the array.</a:t>
            </a:r>
          </a:p>
          <a:p>
            <a:pPr marL="457200" indent="-457200">
              <a:buFont typeface="+mj-lt"/>
              <a:buAutoNum type="arabicPeriod"/>
            </a:pPr>
            <a:r>
              <a:rPr lang="en-US" sz="2000" dirty="0"/>
              <a:t>    Repeat the process until the target is found or the low pointer exceeds the high pointer, indicating that the target is not in the array.</a:t>
            </a:r>
            <a:endParaRPr lang="en-CA" sz="2000" dirty="0"/>
          </a:p>
        </p:txBody>
      </p:sp>
      <p:sp>
        <p:nvSpPr>
          <p:cNvPr id="4" name="Footer Placeholder 3">
            <a:extLst>
              <a:ext uri="{FF2B5EF4-FFF2-40B4-BE49-F238E27FC236}">
                <a16:creationId xmlns:a16="http://schemas.microsoft.com/office/drawing/2014/main" id="{A3DED18E-5F7F-479E-95C8-2F1FC0B20A8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6567042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51E7E-D822-BA34-4E80-36DE3E0D10F4}"/>
              </a:ext>
            </a:extLst>
          </p:cNvPr>
          <p:cNvSpPr>
            <a:spLocks noGrp="1"/>
          </p:cNvSpPr>
          <p:nvPr>
            <p:ph idx="1"/>
          </p:nvPr>
        </p:nvSpPr>
        <p:spPr>
          <a:xfrm>
            <a:off x="838200" y="1130710"/>
            <a:ext cx="10515600" cy="5525728"/>
          </a:xfrm>
        </p:spPr>
        <p:txBody>
          <a:bodyPr>
            <a:normAutofit fontScale="92500" lnSpcReduction="10000"/>
          </a:bodyPr>
          <a:lstStyle/>
          <a:p>
            <a:r>
              <a:rPr lang="en-US" dirty="0"/>
              <a:t>int A[] = {0, 1, 2, 3, 4, 5, 6, 7, 8, 9, 10};</a:t>
            </a:r>
          </a:p>
          <a:p>
            <a:r>
              <a:rPr lang="en-US" dirty="0"/>
              <a:t>and VAL = 9, the algorithm will proceed in the following manner.</a:t>
            </a:r>
          </a:p>
          <a:p>
            <a:r>
              <a:rPr lang="en-US" dirty="0"/>
              <a:t>BEG = 0, END = 10, MID = (0 + 10)/2 = 5</a:t>
            </a:r>
          </a:p>
          <a:p>
            <a:r>
              <a:rPr lang="en-US" dirty="0"/>
              <a:t>Now, VAL = 9 and A[MID] = A[5] = 5</a:t>
            </a:r>
          </a:p>
          <a:p>
            <a:r>
              <a:rPr lang="en-US" dirty="0"/>
              <a:t>A[5] is less than VAL, therefore, we will now search for the value in the later half of the array. So, we change the values of BEG and MID.</a:t>
            </a:r>
          </a:p>
          <a:p>
            <a:r>
              <a:rPr lang="en-US" dirty="0"/>
              <a:t>Now, BEG = MID + 1 = 6, END = 10, MID = (6 + 10)/2 =16/2 = 8</a:t>
            </a:r>
          </a:p>
          <a:p>
            <a:r>
              <a:rPr lang="en-US" dirty="0"/>
              <a:t>Now, VAL = 9 and A[MID] = A[8] = 8</a:t>
            </a:r>
          </a:p>
          <a:p>
            <a:r>
              <a:rPr lang="en-US" dirty="0"/>
              <a:t>A[8] is less than VAL, therefore, we will now search for the value in the later half of the array. So, again we change the values of BEG and MID.</a:t>
            </a:r>
          </a:p>
          <a:p>
            <a:r>
              <a:rPr lang="en-US" dirty="0"/>
              <a:t>Now, BEG = MID + 1 = 9, END = 10,MID = (9 + 10)/2 = 9</a:t>
            </a:r>
          </a:p>
          <a:p>
            <a:r>
              <a:rPr lang="en-US" dirty="0"/>
              <a:t>Now VAL = 9 and A[MID] = 9.</a:t>
            </a:r>
          </a:p>
          <a:p>
            <a:r>
              <a:rPr lang="en-US" dirty="0"/>
              <a:t>Now VAL = 9 and A[MID] = 9.</a:t>
            </a:r>
            <a:endParaRPr lang="en-CA" dirty="0"/>
          </a:p>
        </p:txBody>
      </p:sp>
      <p:sp>
        <p:nvSpPr>
          <p:cNvPr id="7" name="TextBox 6">
            <a:extLst>
              <a:ext uri="{FF2B5EF4-FFF2-40B4-BE49-F238E27FC236}">
                <a16:creationId xmlns:a16="http://schemas.microsoft.com/office/drawing/2014/main" id="{B6F90CC9-C164-8B21-6DA5-95A00C506AC4}"/>
              </a:ext>
            </a:extLst>
          </p:cNvPr>
          <p:cNvSpPr txBox="1"/>
          <p:nvPr/>
        </p:nvSpPr>
        <p:spPr>
          <a:xfrm>
            <a:off x="1130709" y="277449"/>
            <a:ext cx="6096000" cy="523220"/>
          </a:xfrm>
          <a:prstGeom prst="rect">
            <a:avLst/>
          </a:prstGeom>
          <a:noFill/>
        </p:spPr>
        <p:txBody>
          <a:bodyPr wrap="square">
            <a:spAutoFit/>
          </a:bodyPr>
          <a:lstStyle/>
          <a:p>
            <a:r>
              <a:rPr lang="en-CA" sz="2800" b="1" dirty="0"/>
              <a:t>Binary Search -Example</a:t>
            </a:r>
          </a:p>
        </p:txBody>
      </p:sp>
      <p:sp>
        <p:nvSpPr>
          <p:cNvPr id="2" name="Footer Placeholder 1">
            <a:extLst>
              <a:ext uri="{FF2B5EF4-FFF2-40B4-BE49-F238E27FC236}">
                <a16:creationId xmlns:a16="http://schemas.microsoft.com/office/drawing/2014/main" id="{D5512406-1239-5FC4-2622-666EC6A1738D}"/>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5420732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77F383-DE19-CA58-A1FC-843DC36B600A}"/>
              </a:ext>
            </a:extLst>
          </p:cNvPr>
          <p:cNvSpPr txBox="1"/>
          <p:nvPr/>
        </p:nvSpPr>
        <p:spPr>
          <a:xfrm>
            <a:off x="481780" y="390009"/>
            <a:ext cx="6096000" cy="5355312"/>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int </a:t>
            </a:r>
            <a:r>
              <a:rPr lang="en-US" dirty="0" err="1"/>
              <a:t>binarySearch</a:t>
            </a:r>
            <a:r>
              <a:rPr lang="en-US" dirty="0"/>
              <a:t>(int </a:t>
            </a:r>
            <a:r>
              <a:rPr lang="en-US" dirty="0" err="1"/>
              <a:t>arr</a:t>
            </a:r>
            <a:r>
              <a:rPr lang="en-US" dirty="0"/>
              <a:t>[], int size, int target) {</a:t>
            </a:r>
          </a:p>
          <a:p>
            <a:r>
              <a:rPr lang="en-US" dirty="0"/>
              <a:t>    int low = 0, high = size - 1;</a:t>
            </a:r>
          </a:p>
          <a:p>
            <a:endParaRPr lang="en-US" dirty="0"/>
          </a:p>
          <a:p>
            <a:r>
              <a:rPr lang="en-US" dirty="0"/>
              <a:t>    while (low &lt;= high) {</a:t>
            </a:r>
          </a:p>
          <a:p>
            <a:r>
              <a:rPr lang="en-US" dirty="0"/>
              <a:t>        int mid = (low + high) / 2;</a:t>
            </a:r>
          </a:p>
          <a:p>
            <a:endParaRPr lang="en-US" dirty="0"/>
          </a:p>
          <a:p>
            <a:r>
              <a:rPr lang="en-US" dirty="0"/>
              <a:t>        if (</a:t>
            </a:r>
            <a:r>
              <a:rPr lang="en-US" dirty="0" err="1"/>
              <a:t>arr</a:t>
            </a:r>
            <a:r>
              <a:rPr lang="en-US" dirty="0"/>
              <a:t>[mid] == target) {</a:t>
            </a:r>
          </a:p>
          <a:p>
            <a:r>
              <a:rPr lang="en-US" dirty="0"/>
              <a:t>            return mid; // Target found at index mid</a:t>
            </a:r>
          </a:p>
          <a:p>
            <a:r>
              <a:rPr lang="en-US" dirty="0"/>
              <a:t>        } else if (</a:t>
            </a:r>
            <a:r>
              <a:rPr lang="en-US" dirty="0" err="1"/>
              <a:t>arr</a:t>
            </a:r>
            <a:r>
              <a:rPr lang="en-US" dirty="0"/>
              <a:t>[mid] &lt; target) {</a:t>
            </a:r>
          </a:p>
          <a:p>
            <a:r>
              <a:rPr lang="en-US" dirty="0"/>
              <a:t>            low = mid + 1; // Continue search in the right half</a:t>
            </a:r>
          </a:p>
          <a:p>
            <a:r>
              <a:rPr lang="en-US" dirty="0"/>
              <a:t>        } else {</a:t>
            </a:r>
          </a:p>
          <a:p>
            <a:r>
              <a:rPr lang="en-US" dirty="0"/>
              <a:t>            high = mid - 1; // Continue search in the left half</a:t>
            </a:r>
          </a:p>
          <a:p>
            <a:r>
              <a:rPr lang="en-US" dirty="0"/>
              <a:t>        }</a:t>
            </a:r>
          </a:p>
          <a:p>
            <a:r>
              <a:rPr lang="en-US" dirty="0"/>
              <a:t>    }</a:t>
            </a:r>
          </a:p>
          <a:p>
            <a:endParaRPr lang="en-US" dirty="0"/>
          </a:p>
          <a:p>
            <a:r>
              <a:rPr lang="en-US" dirty="0"/>
              <a:t>    return -1; // Target not found</a:t>
            </a:r>
          </a:p>
          <a:p>
            <a:r>
              <a:rPr lang="en-US" dirty="0"/>
              <a:t>}</a:t>
            </a:r>
          </a:p>
        </p:txBody>
      </p:sp>
      <p:sp>
        <p:nvSpPr>
          <p:cNvPr id="9" name="TextBox 8">
            <a:extLst>
              <a:ext uri="{FF2B5EF4-FFF2-40B4-BE49-F238E27FC236}">
                <a16:creationId xmlns:a16="http://schemas.microsoft.com/office/drawing/2014/main" id="{88CCF8CD-766A-F184-AF17-9B641A4FE685}"/>
              </a:ext>
            </a:extLst>
          </p:cNvPr>
          <p:cNvSpPr txBox="1"/>
          <p:nvPr/>
        </p:nvSpPr>
        <p:spPr>
          <a:xfrm>
            <a:off x="5850194" y="390009"/>
            <a:ext cx="6096000" cy="5909310"/>
          </a:xfrm>
          <a:prstGeom prst="rect">
            <a:avLst/>
          </a:prstGeom>
          <a:noFill/>
        </p:spPr>
        <p:txBody>
          <a:bodyPr wrap="square">
            <a:spAutoFit/>
          </a:bodyPr>
          <a:lstStyle/>
          <a:p>
            <a:r>
              <a:rPr lang="en-CA" dirty="0"/>
              <a:t>int main() {</a:t>
            </a:r>
          </a:p>
          <a:p>
            <a:r>
              <a:rPr lang="en-CA" dirty="0"/>
              <a:t>    int </a:t>
            </a:r>
            <a:r>
              <a:rPr lang="en-CA" dirty="0" err="1"/>
              <a:t>arr</a:t>
            </a:r>
            <a:r>
              <a:rPr lang="en-CA" dirty="0"/>
              <a:t>[] = {10, 20, 30, 40, 50, 60, 70, 80, 90}; // Sorted array</a:t>
            </a:r>
          </a:p>
          <a:p>
            <a:r>
              <a:rPr lang="en-CA" dirty="0"/>
              <a:t>    int size = </a:t>
            </a:r>
            <a:r>
              <a:rPr lang="en-CA" dirty="0" err="1"/>
              <a:t>sizeof</a:t>
            </a:r>
            <a:r>
              <a:rPr lang="en-CA" dirty="0"/>
              <a:t>(</a:t>
            </a:r>
            <a:r>
              <a:rPr lang="en-CA" dirty="0" err="1"/>
              <a:t>arr</a:t>
            </a:r>
            <a:r>
              <a:rPr lang="en-CA" dirty="0"/>
              <a:t>) / </a:t>
            </a:r>
            <a:r>
              <a:rPr lang="en-CA" dirty="0" err="1"/>
              <a:t>sizeof</a:t>
            </a:r>
            <a:r>
              <a:rPr lang="en-CA" dirty="0"/>
              <a:t>(</a:t>
            </a:r>
            <a:r>
              <a:rPr lang="en-CA" dirty="0" err="1"/>
              <a:t>arr</a:t>
            </a:r>
            <a:r>
              <a:rPr lang="en-CA" dirty="0"/>
              <a:t>[0]);</a:t>
            </a:r>
          </a:p>
          <a:p>
            <a:r>
              <a:rPr lang="en-CA" dirty="0"/>
              <a:t>    int target;</a:t>
            </a:r>
          </a:p>
          <a:p>
            <a:endParaRPr lang="en-CA" dirty="0"/>
          </a:p>
          <a:p>
            <a:r>
              <a:rPr lang="en-CA" dirty="0"/>
              <a:t>    // Ask the user for the target value to search for</a:t>
            </a:r>
          </a:p>
          <a:p>
            <a:r>
              <a:rPr lang="en-CA" dirty="0"/>
              <a:t>    </a:t>
            </a:r>
            <a:r>
              <a:rPr lang="en-CA" dirty="0" err="1"/>
              <a:t>printf</a:t>
            </a:r>
            <a:r>
              <a:rPr lang="en-CA" dirty="0"/>
              <a:t>("Enter the element to search: ");</a:t>
            </a:r>
          </a:p>
          <a:p>
            <a:r>
              <a:rPr lang="en-CA" dirty="0"/>
              <a:t>    </a:t>
            </a:r>
            <a:r>
              <a:rPr lang="en-CA" dirty="0" err="1"/>
              <a:t>scanf</a:t>
            </a:r>
            <a:r>
              <a:rPr lang="en-CA" dirty="0"/>
              <a:t>("%d", &amp;target);</a:t>
            </a:r>
          </a:p>
          <a:p>
            <a:endParaRPr lang="en-CA" dirty="0"/>
          </a:p>
          <a:p>
            <a:r>
              <a:rPr lang="en-CA" dirty="0"/>
              <a:t>    // Perform binary search</a:t>
            </a:r>
          </a:p>
          <a:p>
            <a:r>
              <a:rPr lang="en-CA" dirty="0"/>
              <a:t>    int result = </a:t>
            </a:r>
            <a:r>
              <a:rPr lang="en-CA" dirty="0" err="1"/>
              <a:t>binarySearch</a:t>
            </a:r>
            <a:r>
              <a:rPr lang="en-CA" dirty="0"/>
              <a:t>(</a:t>
            </a:r>
            <a:r>
              <a:rPr lang="en-CA" dirty="0" err="1"/>
              <a:t>arr</a:t>
            </a:r>
            <a:r>
              <a:rPr lang="en-CA" dirty="0"/>
              <a:t>, size, target);</a:t>
            </a:r>
          </a:p>
          <a:p>
            <a:endParaRPr lang="en-CA" dirty="0"/>
          </a:p>
          <a:p>
            <a:r>
              <a:rPr lang="en-CA" dirty="0"/>
              <a:t>    // Output the result</a:t>
            </a:r>
          </a:p>
          <a:p>
            <a:r>
              <a:rPr lang="en-CA" dirty="0"/>
              <a:t>    if (result != -1) {</a:t>
            </a:r>
          </a:p>
          <a:p>
            <a:r>
              <a:rPr lang="en-CA" dirty="0"/>
              <a:t>        </a:t>
            </a:r>
            <a:r>
              <a:rPr lang="en-CA" dirty="0" err="1"/>
              <a:t>printf</a:t>
            </a:r>
            <a:r>
              <a:rPr lang="en-CA" dirty="0"/>
              <a:t>("Element %d found at index %d.\n", target, result);</a:t>
            </a:r>
          </a:p>
          <a:p>
            <a:r>
              <a:rPr lang="en-CA" dirty="0"/>
              <a:t>    } else {</a:t>
            </a:r>
          </a:p>
          <a:p>
            <a:r>
              <a:rPr lang="en-CA" dirty="0"/>
              <a:t>        </a:t>
            </a:r>
            <a:r>
              <a:rPr lang="en-CA" dirty="0" err="1"/>
              <a:t>printf</a:t>
            </a:r>
            <a:r>
              <a:rPr lang="en-CA" dirty="0"/>
              <a:t>("Element %d not found in the array.\n", target);</a:t>
            </a:r>
          </a:p>
          <a:p>
            <a:r>
              <a:rPr lang="en-CA" dirty="0"/>
              <a:t>    }</a:t>
            </a:r>
          </a:p>
          <a:p>
            <a:endParaRPr lang="en-CA" dirty="0"/>
          </a:p>
          <a:p>
            <a:r>
              <a:rPr lang="en-CA" dirty="0"/>
              <a:t>    return 0;</a:t>
            </a:r>
          </a:p>
          <a:p>
            <a:r>
              <a:rPr lang="en-CA" dirty="0"/>
              <a:t>}</a:t>
            </a:r>
          </a:p>
        </p:txBody>
      </p:sp>
      <p:sp>
        <p:nvSpPr>
          <p:cNvPr id="11" name="TextBox 10">
            <a:extLst>
              <a:ext uri="{FF2B5EF4-FFF2-40B4-BE49-F238E27FC236}">
                <a16:creationId xmlns:a16="http://schemas.microsoft.com/office/drawing/2014/main" id="{CF4CAEDD-7CD6-C7B7-7ED5-8A40E092ABD6}"/>
              </a:ext>
            </a:extLst>
          </p:cNvPr>
          <p:cNvSpPr txBox="1"/>
          <p:nvPr/>
        </p:nvSpPr>
        <p:spPr>
          <a:xfrm>
            <a:off x="1130709" y="5821660"/>
            <a:ext cx="3411794" cy="646331"/>
          </a:xfrm>
          <a:prstGeom prst="rect">
            <a:avLst/>
          </a:prstGeom>
          <a:noFill/>
        </p:spPr>
        <p:txBody>
          <a:bodyPr wrap="square">
            <a:spAutoFit/>
          </a:bodyPr>
          <a:lstStyle/>
          <a:p>
            <a:r>
              <a:rPr lang="en-US" dirty="0"/>
              <a:t>Enter the element to search: 50</a:t>
            </a:r>
          </a:p>
          <a:p>
            <a:r>
              <a:rPr lang="en-US" dirty="0"/>
              <a:t>Element 50 found at index 4.</a:t>
            </a:r>
            <a:endParaRPr lang="en-CA" dirty="0"/>
          </a:p>
        </p:txBody>
      </p:sp>
      <p:sp>
        <p:nvSpPr>
          <p:cNvPr id="2" name="Footer Placeholder 1">
            <a:extLst>
              <a:ext uri="{FF2B5EF4-FFF2-40B4-BE49-F238E27FC236}">
                <a16:creationId xmlns:a16="http://schemas.microsoft.com/office/drawing/2014/main" id="{D6E502B5-05DC-6AAC-CF72-B2F66250E95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9036456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88AEB-14C3-BE24-0138-DFA7140D72AB}"/>
              </a:ext>
            </a:extLst>
          </p:cNvPr>
          <p:cNvSpPr>
            <a:spLocks noGrp="1"/>
          </p:cNvSpPr>
          <p:nvPr>
            <p:ph idx="1"/>
          </p:nvPr>
        </p:nvSpPr>
        <p:spPr>
          <a:xfrm>
            <a:off x="838200" y="285135"/>
            <a:ext cx="10515600" cy="5891828"/>
          </a:xfrm>
        </p:spPr>
        <p:txBody>
          <a:bodyPr>
            <a:normAutofit lnSpcReduction="10000"/>
          </a:bodyPr>
          <a:lstStyle/>
          <a:p>
            <a:r>
              <a:rPr lang="en-US" dirty="0"/>
              <a:t>Advantages:</a:t>
            </a:r>
          </a:p>
          <a:p>
            <a:endParaRPr lang="en-US" dirty="0"/>
          </a:p>
          <a:p>
            <a:r>
              <a:rPr lang="en-US" dirty="0"/>
              <a:t>    Efficiency: Binary search is much faster than linear search for large datasets, especially when the array is large.</a:t>
            </a:r>
          </a:p>
          <a:p>
            <a:r>
              <a:rPr lang="en-US" dirty="0"/>
              <a:t>    Simplicity: The algorithm is easy to understand and implement for sorted arrays.</a:t>
            </a:r>
          </a:p>
          <a:p>
            <a:endParaRPr lang="en-US" dirty="0"/>
          </a:p>
          <a:p>
            <a:r>
              <a:rPr lang="en-US" dirty="0"/>
              <a:t>Disadvantages:</a:t>
            </a:r>
          </a:p>
          <a:p>
            <a:endParaRPr lang="en-US" dirty="0"/>
          </a:p>
          <a:p>
            <a:r>
              <a:rPr lang="en-US" dirty="0"/>
              <a:t>    Sorted Array Required: Binary search only works on arrays that are sorted.</a:t>
            </a:r>
          </a:p>
          <a:p>
            <a:r>
              <a:rPr lang="en-US" dirty="0"/>
              <a:t>    Fixed Size: Binary search is generally applied to arrays with fixed size or that can be indexed efficiently.</a:t>
            </a:r>
            <a:endParaRPr lang="en-CA" dirty="0"/>
          </a:p>
        </p:txBody>
      </p:sp>
      <p:sp>
        <p:nvSpPr>
          <p:cNvPr id="2" name="Footer Placeholder 1">
            <a:extLst>
              <a:ext uri="{FF2B5EF4-FFF2-40B4-BE49-F238E27FC236}">
                <a16:creationId xmlns:a16="http://schemas.microsoft.com/office/drawing/2014/main" id="{AED72AE3-1729-DA06-4E1C-2B3541C28613}"/>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8887985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E8B08-DD2F-1C66-5E4D-30BC174FC219}"/>
              </a:ext>
            </a:extLst>
          </p:cNvPr>
          <p:cNvSpPr>
            <a:spLocks noGrp="1"/>
          </p:cNvSpPr>
          <p:nvPr>
            <p:ph type="title"/>
          </p:nvPr>
        </p:nvSpPr>
        <p:spPr>
          <a:xfrm>
            <a:off x="838200" y="365125"/>
            <a:ext cx="10515600" cy="618101"/>
          </a:xfrm>
        </p:spPr>
        <p:txBody>
          <a:bodyPr>
            <a:normAutofit fontScale="90000"/>
          </a:bodyPr>
          <a:lstStyle/>
          <a:p>
            <a:pPr algn="ctr"/>
            <a:r>
              <a:rPr lang="en-CA" dirty="0"/>
              <a:t>SPARSE MATRIX</a:t>
            </a:r>
          </a:p>
        </p:txBody>
      </p:sp>
      <p:sp>
        <p:nvSpPr>
          <p:cNvPr id="3" name="Content Placeholder 2">
            <a:extLst>
              <a:ext uri="{FF2B5EF4-FFF2-40B4-BE49-F238E27FC236}">
                <a16:creationId xmlns:a16="http://schemas.microsoft.com/office/drawing/2014/main" id="{893CB08E-2EE1-84F3-1430-4FA383EFEB48}"/>
              </a:ext>
            </a:extLst>
          </p:cNvPr>
          <p:cNvSpPr>
            <a:spLocks noGrp="1"/>
          </p:cNvSpPr>
          <p:nvPr>
            <p:ph idx="1"/>
          </p:nvPr>
        </p:nvSpPr>
        <p:spPr>
          <a:xfrm>
            <a:off x="388374" y="983226"/>
            <a:ext cx="11415252" cy="5712542"/>
          </a:xfrm>
        </p:spPr>
        <p:txBody>
          <a:bodyPr>
            <a:normAutofit/>
          </a:bodyPr>
          <a:lstStyle/>
          <a:p>
            <a:r>
              <a:rPr lang="en-US" sz="2400" dirty="0"/>
              <a:t>Sparse matrix is a matrix that has many elements with a value zero.</a:t>
            </a:r>
          </a:p>
          <a:p>
            <a:pPr marL="0" indent="0">
              <a:buNone/>
            </a:pPr>
            <a:endParaRPr lang="en-US" sz="2400" dirty="0"/>
          </a:p>
          <a:p>
            <a:r>
              <a:rPr lang="en-US" sz="2400" dirty="0"/>
              <a:t>In order to efficiently utilize the memory, specialized algorithms and data structures that take advantage of the sparse structure of the matrix should be used. Otherwise, execution will slow down and the matrix will consume large amounts of memory.</a:t>
            </a:r>
          </a:p>
          <a:p>
            <a:pPr marL="0" indent="0">
              <a:buNone/>
            </a:pPr>
            <a:endParaRPr lang="en-US" sz="2400" dirty="0"/>
          </a:p>
          <a:p>
            <a:r>
              <a:rPr lang="en-US" sz="2400" dirty="0"/>
              <a:t>There are two types of sparse matrices. In the first type of sparse matrix, all elements above the main diagonal have a value zero. This type of sparse matrix is also called a (lower) triagonal matrix. In a lower triangular matrix, </a:t>
            </a:r>
            <a:r>
              <a:rPr lang="en-US" sz="2400" dirty="0" err="1"/>
              <a:t>Ai,j</a:t>
            </a:r>
            <a:r>
              <a:rPr lang="en-US" sz="2400" dirty="0"/>
              <a:t>= 0 where </a:t>
            </a:r>
            <a:r>
              <a:rPr lang="en-US" sz="2400" dirty="0" err="1"/>
              <a:t>i</a:t>
            </a:r>
            <a:r>
              <a:rPr lang="en-US" sz="2400" dirty="0"/>
              <a:t>&lt;j.</a:t>
            </a:r>
          </a:p>
          <a:p>
            <a:pPr marL="0" indent="0">
              <a:buNone/>
            </a:pPr>
            <a:endParaRPr lang="en-US" sz="2400" dirty="0"/>
          </a:p>
          <a:p>
            <a:r>
              <a:rPr lang="en-US" sz="2400" dirty="0"/>
              <a:t>An </a:t>
            </a:r>
            <a:r>
              <a:rPr lang="en-US" sz="2400" dirty="0" err="1"/>
              <a:t>nXnlower</a:t>
            </a:r>
            <a:r>
              <a:rPr lang="en-US" sz="2400" dirty="0"/>
              <a:t> triangular matrix A has one non zero element in the first row, two non zero element in the second row and likewise, n non zero elements in the nth row.</a:t>
            </a:r>
            <a:endParaRPr lang="en-CA" sz="2400" dirty="0"/>
          </a:p>
        </p:txBody>
      </p:sp>
      <p:sp>
        <p:nvSpPr>
          <p:cNvPr id="4" name="Footer Placeholder 3">
            <a:extLst>
              <a:ext uri="{FF2B5EF4-FFF2-40B4-BE49-F238E27FC236}">
                <a16:creationId xmlns:a16="http://schemas.microsoft.com/office/drawing/2014/main" id="{9C9CC2B6-8A84-BE6C-B3AD-D2EDB9FEECCF}"/>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42170675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BE11BA-94A2-20B1-43A8-2C3A5E66E0FF}"/>
              </a:ext>
            </a:extLst>
          </p:cNvPr>
          <p:cNvPicPr>
            <a:picLocks noGrp="1" noChangeAspect="1"/>
          </p:cNvPicPr>
          <p:nvPr>
            <p:ph idx="1"/>
          </p:nvPr>
        </p:nvPicPr>
        <p:blipFill>
          <a:blip r:embed="rId2"/>
          <a:stretch>
            <a:fillRect/>
          </a:stretch>
        </p:blipFill>
        <p:spPr>
          <a:xfrm>
            <a:off x="1759974" y="616974"/>
            <a:ext cx="8829367" cy="5624051"/>
          </a:xfrm>
        </p:spPr>
      </p:pic>
      <p:sp>
        <p:nvSpPr>
          <p:cNvPr id="2" name="Footer Placeholder 1">
            <a:extLst>
              <a:ext uri="{FF2B5EF4-FFF2-40B4-BE49-F238E27FC236}">
                <a16:creationId xmlns:a16="http://schemas.microsoft.com/office/drawing/2014/main" id="{621D3E38-BB5A-8BA0-057A-317CBD3E7D33}"/>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8189889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B0418-4024-EF10-2C9C-500025688556}"/>
              </a:ext>
            </a:extLst>
          </p:cNvPr>
          <p:cNvSpPr>
            <a:spLocks noGrp="1"/>
          </p:cNvSpPr>
          <p:nvPr>
            <p:ph type="title"/>
          </p:nvPr>
        </p:nvSpPr>
        <p:spPr>
          <a:xfrm>
            <a:off x="838200" y="365125"/>
            <a:ext cx="10515600" cy="608269"/>
          </a:xfrm>
        </p:spPr>
        <p:txBody>
          <a:bodyPr>
            <a:normAutofit/>
          </a:bodyPr>
          <a:lstStyle/>
          <a:p>
            <a:pPr algn="ctr"/>
            <a:r>
              <a:rPr lang="en-CA" sz="3200" dirty="0"/>
              <a:t>Functions</a:t>
            </a:r>
          </a:p>
        </p:txBody>
      </p:sp>
      <p:sp>
        <p:nvSpPr>
          <p:cNvPr id="3" name="Content Placeholder 2">
            <a:extLst>
              <a:ext uri="{FF2B5EF4-FFF2-40B4-BE49-F238E27FC236}">
                <a16:creationId xmlns:a16="http://schemas.microsoft.com/office/drawing/2014/main" id="{5ABC820E-D8BE-9084-5F26-5662804B1D1E}"/>
              </a:ext>
            </a:extLst>
          </p:cNvPr>
          <p:cNvSpPr>
            <a:spLocks noGrp="1"/>
          </p:cNvSpPr>
          <p:nvPr>
            <p:ph idx="1"/>
          </p:nvPr>
        </p:nvSpPr>
        <p:spPr>
          <a:xfrm>
            <a:off x="838200" y="1327355"/>
            <a:ext cx="10515600" cy="4849608"/>
          </a:xfrm>
        </p:spPr>
        <p:txBody>
          <a:bodyPr>
            <a:normAutofit/>
          </a:bodyPr>
          <a:lstStyle/>
          <a:p>
            <a:pPr marL="0" indent="0">
              <a:buNone/>
            </a:pPr>
            <a:r>
              <a:rPr lang="en-US" dirty="0"/>
              <a:t>The syntax of function can be divided into 3 aspects:</a:t>
            </a:r>
          </a:p>
          <a:p>
            <a:pPr marL="0" indent="0">
              <a:buNone/>
            </a:pPr>
            <a:endParaRPr lang="en-US" dirty="0"/>
          </a:p>
          <a:p>
            <a:pPr>
              <a:buFont typeface="+mj-lt"/>
              <a:buAutoNum type="arabicPeriod"/>
            </a:pPr>
            <a:r>
              <a:rPr lang="en-US" b="1" dirty="0"/>
              <a:t>Function Declaration</a:t>
            </a:r>
          </a:p>
          <a:p>
            <a:pPr marL="0" indent="0">
              <a:buNone/>
            </a:pPr>
            <a:r>
              <a:rPr lang="en-US" dirty="0" err="1"/>
              <a:t>return_type</a:t>
            </a:r>
            <a:r>
              <a:rPr lang="en-US" dirty="0"/>
              <a:t> </a:t>
            </a:r>
            <a:r>
              <a:rPr lang="en-US" dirty="0" err="1"/>
              <a:t>name_of_the_function</a:t>
            </a:r>
            <a:r>
              <a:rPr lang="en-US" dirty="0"/>
              <a:t> (parameter_1, parameter_2);</a:t>
            </a:r>
          </a:p>
          <a:p>
            <a:pPr marL="0" indent="0">
              <a:buNone/>
            </a:pPr>
            <a:r>
              <a:rPr lang="en-US" dirty="0"/>
              <a:t>The parameter name is not mandatory while declaring functions. We can also declare the function without using the name of the data variables.</a:t>
            </a:r>
          </a:p>
          <a:p>
            <a:pPr marL="0" indent="0">
              <a:buNone/>
            </a:pPr>
            <a:r>
              <a:rPr lang="en-US" dirty="0"/>
              <a:t>int sum(int a, int b);  // Function declaration with parameter names</a:t>
            </a:r>
          </a:p>
          <a:p>
            <a:pPr marL="0" indent="0">
              <a:buNone/>
            </a:pPr>
            <a:r>
              <a:rPr lang="en-US" dirty="0"/>
              <a:t>int sum(int , int);      // Function declaration without parameter names</a:t>
            </a:r>
          </a:p>
        </p:txBody>
      </p:sp>
      <p:sp>
        <p:nvSpPr>
          <p:cNvPr id="4" name="Footer Placeholder 3">
            <a:extLst>
              <a:ext uri="{FF2B5EF4-FFF2-40B4-BE49-F238E27FC236}">
                <a16:creationId xmlns:a16="http://schemas.microsoft.com/office/drawing/2014/main" id="{20214302-104C-AE20-C312-CEDD016EC2A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77312680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A0E066-2FDA-6943-7BF0-23DAC3416FCE}"/>
              </a:ext>
            </a:extLst>
          </p:cNvPr>
          <p:cNvSpPr>
            <a:spLocks noGrp="1"/>
          </p:cNvSpPr>
          <p:nvPr>
            <p:ph idx="1"/>
          </p:nvPr>
        </p:nvSpPr>
        <p:spPr>
          <a:xfrm>
            <a:off x="838200" y="393290"/>
            <a:ext cx="10515600" cy="5783673"/>
          </a:xfrm>
        </p:spPr>
        <p:txBody>
          <a:bodyPr/>
          <a:lstStyle/>
          <a:p>
            <a:pPr>
              <a:buFont typeface="+mj-lt"/>
              <a:buAutoNum type="arabicPeriod" startAt="2"/>
            </a:pPr>
            <a:r>
              <a:rPr lang="en-US" b="1" dirty="0"/>
              <a:t>Function Definition</a:t>
            </a:r>
          </a:p>
          <a:p>
            <a:pPr marL="0" indent="0">
              <a:buNone/>
            </a:pPr>
            <a:r>
              <a:rPr lang="en-US" dirty="0" err="1"/>
              <a:t>return_type</a:t>
            </a:r>
            <a:r>
              <a:rPr lang="en-US" dirty="0"/>
              <a:t> </a:t>
            </a:r>
            <a:r>
              <a:rPr lang="en-US" dirty="0" err="1"/>
              <a:t>function_name</a:t>
            </a:r>
            <a:r>
              <a:rPr lang="en-US" dirty="0"/>
              <a:t> (para1_type para1_name, para2_type para2_name)</a:t>
            </a:r>
          </a:p>
          <a:p>
            <a:pPr marL="0" indent="0">
              <a:buNone/>
            </a:pPr>
            <a:r>
              <a:rPr lang="en-US" dirty="0"/>
              <a:t>{</a:t>
            </a:r>
          </a:p>
          <a:p>
            <a:pPr marL="0" indent="0">
              <a:buNone/>
            </a:pPr>
            <a:r>
              <a:rPr lang="en-US" dirty="0"/>
              <a:t>    // body of the function</a:t>
            </a:r>
          </a:p>
          <a:p>
            <a:pPr marL="0" indent="0">
              <a:buNone/>
            </a:pPr>
            <a:r>
              <a:rPr lang="en-US" dirty="0"/>
              <a:t>}</a:t>
            </a:r>
          </a:p>
          <a:p>
            <a:pPr>
              <a:buFont typeface="+mj-lt"/>
              <a:buAutoNum type="arabicPeriod" startAt="3"/>
            </a:pPr>
            <a:r>
              <a:rPr lang="en-US" b="1" dirty="0"/>
              <a:t>Function Calls</a:t>
            </a:r>
          </a:p>
          <a:p>
            <a:pPr marL="0" indent="0">
              <a:buNone/>
            </a:pPr>
            <a:r>
              <a:rPr lang="en-US" dirty="0"/>
              <a:t>Function call is </a:t>
            </a:r>
            <a:r>
              <a:rPr lang="en-US" dirty="0" err="1"/>
              <a:t>neccessary</a:t>
            </a:r>
            <a:r>
              <a:rPr lang="en-US" dirty="0"/>
              <a:t> to bring the program control to the function definition. If not called, the function statements will not be executed.</a:t>
            </a:r>
          </a:p>
          <a:p>
            <a:endParaRPr lang="en-CA" dirty="0"/>
          </a:p>
        </p:txBody>
      </p:sp>
      <p:sp>
        <p:nvSpPr>
          <p:cNvPr id="2" name="Footer Placeholder 1">
            <a:extLst>
              <a:ext uri="{FF2B5EF4-FFF2-40B4-BE49-F238E27FC236}">
                <a16:creationId xmlns:a16="http://schemas.microsoft.com/office/drawing/2014/main" id="{B74A7552-E809-269F-5C75-241197C9AD32}"/>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8004606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B581FD4B-85CE-6692-8DA3-99B236662832}"/>
              </a:ext>
            </a:extLst>
          </p:cNvPr>
          <p:cNvSpPr txBox="1"/>
          <p:nvPr/>
        </p:nvSpPr>
        <p:spPr>
          <a:xfrm>
            <a:off x="592312" y="145494"/>
            <a:ext cx="6359094" cy="6186309"/>
          </a:xfrm>
          <a:prstGeom prst="rect">
            <a:avLst/>
          </a:prstGeom>
          <a:noFill/>
        </p:spPr>
        <p:txBody>
          <a:bodyPr wrap="square">
            <a:spAutoFit/>
          </a:bodyPr>
          <a:lstStyle/>
          <a:p>
            <a:r>
              <a:rPr lang="en-US" dirty="0"/>
              <a:t>// C program to show function</a:t>
            </a:r>
          </a:p>
          <a:p>
            <a:r>
              <a:rPr lang="en-US" dirty="0"/>
              <a:t>// call and definition</a:t>
            </a:r>
          </a:p>
          <a:p>
            <a:r>
              <a:rPr lang="en-US" dirty="0"/>
              <a:t>#include &lt;</a:t>
            </a:r>
            <a:r>
              <a:rPr lang="en-US" dirty="0" err="1"/>
              <a:t>stdio.h</a:t>
            </a:r>
            <a:r>
              <a:rPr lang="en-US" dirty="0"/>
              <a:t>&gt;</a:t>
            </a:r>
          </a:p>
          <a:p>
            <a:endParaRPr lang="en-US" dirty="0"/>
          </a:p>
          <a:p>
            <a:r>
              <a:rPr lang="en-US" dirty="0"/>
              <a:t>// Function that takes two parameters </a:t>
            </a:r>
          </a:p>
          <a:p>
            <a:r>
              <a:rPr lang="en-US" dirty="0"/>
              <a:t>// a and b as inputs and returns </a:t>
            </a:r>
          </a:p>
          <a:p>
            <a:r>
              <a:rPr lang="en-US" dirty="0"/>
              <a:t>// their sum</a:t>
            </a:r>
          </a:p>
          <a:p>
            <a:r>
              <a:rPr lang="en-US" dirty="0"/>
              <a:t>int sum(int a, int b) </a:t>
            </a:r>
          </a:p>
          <a:p>
            <a:r>
              <a:rPr lang="en-US" dirty="0"/>
              <a:t>{ </a:t>
            </a:r>
          </a:p>
          <a:p>
            <a:r>
              <a:rPr lang="en-US" dirty="0"/>
              <a:t>  return a + b; </a:t>
            </a:r>
          </a:p>
          <a:p>
            <a:r>
              <a:rPr lang="en-US" dirty="0"/>
              <a:t>}</a:t>
            </a:r>
          </a:p>
          <a:p>
            <a:endParaRPr lang="en-US" dirty="0"/>
          </a:p>
          <a:p>
            <a:r>
              <a:rPr lang="en-US" dirty="0"/>
              <a:t>// Driver code</a:t>
            </a:r>
          </a:p>
          <a:p>
            <a:r>
              <a:rPr lang="en-US" dirty="0"/>
              <a:t>int main()</a:t>
            </a:r>
          </a:p>
          <a:p>
            <a:r>
              <a:rPr lang="en-US" dirty="0"/>
              <a:t>{</a:t>
            </a:r>
          </a:p>
          <a:p>
            <a:r>
              <a:rPr lang="en-US" dirty="0"/>
              <a:t>  // Calling sum function and </a:t>
            </a:r>
          </a:p>
          <a:p>
            <a:r>
              <a:rPr lang="en-US" dirty="0"/>
              <a:t>  // storing its value in add variable</a:t>
            </a:r>
          </a:p>
          <a:p>
            <a:r>
              <a:rPr lang="en-US" dirty="0"/>
              <a:t>  int add = sum(10, 30);</a:t>
            </a:r>
          </a:p>
          <a:p>
            <a:r>
              <a:rPr lang="en-US" dirty="0"/>
              <a:t>  </a:t>
            </a:r>
          </a:p>
          <a:p>
            <a:r>
              <a:rPr lang="en-US" dirty="0"/>
              <a:t>  </a:t>
            </a:r>
            <a:r>
              <a:rPr lang="en-US" dirty="0" err="1"/>
              <a:t>printf</a:t>
            </a:r>
            <a:r>
              <a:rPr lang="en-US" dirty="0"/>
              <a:t>("Sum is: %d", add);</a:t>
            </a:r>
          </a:p>
          <a:p>
            <a:r>
              <a:rPr lang="en-US" dirty="0"/>
              <a:t>  return 0;</a:t>
            </a:r>
          </a:p>
          <a:p>
            <a:r>
              <a:rPr lang="en-US" dirty="0"/>
              <a:t>}</a:t>
            </a:r>
            <a:endParaRPr lang="en-CA" dirty="0"/>
          </a:p>
        </p:txBody>
      </p:sp>
      <p:sp>
        <p:nvSpPr>
          <p:cNvPr id="16" name="TextBox 15">
            <a:extLst>
              <a:ext uri="{FF2B5EF4-FFF2-40B4-BE49-F238E27FC236}">
                <a16:creationId xmlns:a16="http://schemas.microsoft.com/office/drawing/2014/main" id="{B002D7FC-BF79-A238-B035-97FBFCEA05D4}"/>
              </a:ext>
            </a:extLst>
          </p:cNvPr>
          <p:cNvSpPr txBox="1"/>
          <p:nvPr/>
        </p:nvSpPr>
        <p:spPr>
          <a:xfrm>
            <a:off x="6705600" y="2869316"/>
            <a:ext cx="3529781" cy="646331"/>
          </a:xfrm>
          <a:prstGeom prst="rect">
            <a:avLst/>
          </a:prstGeom>
          <a:noFill/>
        </p:spPr>
        <p:txBody>
          <a:bodyPr wrap="square">
            <a:spAutoFit/>
          </a:bodyPr>
          <a:lstStyle/>
          <a:p>
            <a:r>
              <a:rPr lang="en-CA" dirty="0"/>
              <a:t>Output:</a:t>
            </a:r>
          </a:p>
          <a:p>
            <a:r>
              <a:rPr lang="en-CA" dirty="0"/>
              <a:t>Sum is: 40</a:t>
            </a:r>
          </a:p>
        </p:txBody>
      </p:sp>
      <p:sp>
        <p:nvSpPr>
          <p:cNvPr id="2" name="Footer Placeholder 1">
            <a:extLst>
              <a:ext uri="{FF2B5EF4-FFF2-40B4-BE49-F238E27FC236}">
                <a16:creationId xmlns:a16="http://schemas.microsoft.com/office/drawing/2014/main" id="{471E7950-1C79-87E2-5040-05A77908DD36}"/>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28878188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A6481-F4B7-12AA-BC4F-6300907D4494}"/>
              </a:ext>
            </a:extLst>
          </p:cNvPr>
          <p:cNvSpPr>
            <a:spLocks noGrp="1"/>
          </p:cNvSpPr>
          <p:nvPr>
            <p:ph type="title"/>
          </p:nvPr>
        </p:nvSpPr>
        <p:spPr/>
        <p:txBody>
          <a:bodyPr>
            <a:normAutofit/>
          </a:bodyPr>
          <a:lstStyle/>
          <a:p>
            <a:pPr algn="ctr"/>
            <a:r>
              <a:rPr lang="en-US" sz="4000" dirty="0"/>
              <a:t>Conditions of Return Types and Arguments</a:t>
            </a:r>
            <a:endParaRPr lang="en-CA" sz="4000" dirty="0"/>
          </a:p>
        </p:txBody>
      </p:sp>
      <p:sp>
        <p:nvSpPr>
          <p:cNvPr id="3" name="Content Placeholder 2">
            <a:extLst>
              <a:ext uri="{FF2B5EF4-FFF2-40B4-BE49-F238E27FC236}">
                <a16:creationId xmlns:a16="http://schemas.microsoft.com/office/drawing/2014/main" id="{F4C95928-0522-0BB0-B7A5-B58B201CA115}"/>
              </a:ext>
            </a:extLst>
          </p:cNvPr>
          <p:cNvSpPr>
            <a:spLocks noGrp="1"/>
          </p:cNvSpPr>
          <p:nvPr>
            <p:ph idx="1"/>
          </p:nvPr>
        </p:nvSpPr>
        <p:spPr/>
        <p:txBody>
          <a:bodyPr/>
          <a:lstStyle/>
          <a:p>
            <a:pPr marL="0" indent="0">
              <a:buNone/>
            </a:pPr>
            <a:r>
              <a:rPr lang="en-US" dirty="0"/>
              <a:t>Functions can be called either with or without arguments and might return values. They may or might not return values to the calling functions.</a:t>
            </a:r>
          </a:p>
          <a:p>
            <a:pPr marL="0" indent="0">
              <a:buNone/>
            </a:pPr>
            <a:r>
              <a:rPr lang="sv-SE" dirty="0"/>
              <a:t>int function_name(int var1, int var2);</a:t>
            </a:r>
            <a:endParaRPr lang="en-US" dirty="0"/>
          </a:p>
          <a:p>
            <a:r>
              <a:rPr lang="en-US" dirty="0"/>
              <a:t>    Function with no arguments and no return value</a:t>
            </a:r>
          </a:p>
          <a:p>
            <a:r>
              <a:rPr lang="en-US" dirty="0"/>
              <a:t>    Function with no arguments and with return value</a:t>
            </a:r>
          </a:p>
          <a:p>
            <a:r>
              <a:rPr lang="en-US" dirty="0"/>
              <a:t>    Function with argument and with no return value</a:t>
            </a:r>
          </a:p>
          <a:p>
            <a:r>
              <a:rPr lang="en-US" dirty="0"/>
              <a:t>    Function with arguments and with return value</a:t>
            </a:r>
            <a:endParaRPr lang="en-CA" dirty="0"/>
          </a:p>
        </p:txBody>
      </p:sp>
      <p:sp>
        <p:nvSpPr>
          <p:cNvPr id="4" name="Footer Placeholder 3">
            <a:extLst>
              <a:ext uri="{FF2B5EF4-FFF2-40B4-BE49-F238E27FC236}">
                <a16:creationId xmlns:a16="http://schemas.microsoft.com/office/drawing/2014/main" id="{9963B090-705B-D226-37AC-DCE3F7E85F0A}"/>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4296289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AC858-32EB-C3A1-707F-D4AD1BE200C4}"/>
              </a:ext>
            </a:extLst>
          </p:cNvPr>
          <p:cNvSpPr>
            <a:spLocks noGrp="1"/>
          </p:cNvSpPr>
          <p:nvPr>
            <p:ph type="title"/>
          </p:nvPr>
        </p:nvSpPr>
        <p:spPr>
          <a:xfrm>
            <a:off x="838200" y="327075"/>
            <a:ext cx="10515600" cy="707923"/>
          </a:xfrm>
        </p:spPr>
        <p:txBody>
          <a:bodyPr>
            <a:normAutofit fontScale="90000"/>
          </a:bodyPr>
          <a:lstStyle/>
          <a:p>
            <a:pPr algn="ctr"/>
            <a:br>
              <a:rPr lang="en-CA" sz="3600" dirty="0"/>
            </a:br>
            <a:r>
              <a:rPr lang="en-CA" sz="3600" dirty="0"/>
              <a:t>Types of Functions</a:t>
            </a:r>
            <a:br>
              <a:rPr lang="en-CA" b="1" dirty="0"/>
            </a:br>
            <a:endParaRPr lang="en-CA" dirty="0"/>
          </a:p>
        </p:txBody>
      </p:sp>
      <p:sp>
        <p:nvSpPr>
          <p:cNvPr id="3" name="Content Placeholder 2">
            <a:extLst>
              <a:ext uri="{FF2B5EF4-FFF2-40B4-BE49-F238E27FC236}">
                <a16:creationId xmlns:a16="http://schemas.microsoft.com/office/drawing/2014/main" id="{90582D96-589B-9CF5-DFFE-CCDA284B0ED1}"/>
              </a:ext>
            </a:extLst>
          </p:cNvPr>
          <p:cNvSpPr>
            <a:spLocks noGrp="1"/>
          </p:cNvSpPr>
          <p:nvPr>
            <p:ph idx="1"/>
          </p:nvPr>
        </p:nvSpPr>
        <p:spPr>
          <a:xfrm>
            <a:off x="838200" y="1120877"/>
            <a:ext cx="10515600" cy="5056086"/>
          </a:xfrm>
        </p:spPr>
        <p:txBody>
          <a:bodyPr/>
          <a:lstStyle/>
          <a:p>
            <a:pPr rtl="0"/>
            <a:r>
              <a:rPr lang="en-US" dirty="0"/>
              <a:t>There are two types of functions in C:</a:t>
            </a:r>
          </a:p>
          <a:p>
            <a:pPr>
              <a:buFont typeface="+mj-lt"/>
              <a:buAutoNum type="arabicPeriod"/>
            </a:pPr>
            <a:r>
              <a:rPr lang="en-US" b="1" dirty="0"/>
              <a:t>Library Functions</a:t>
            </a:r>
            <a:endParaRPr lang="en-US" dirty="0"/>
          </a:p>
          <a:p>
            <a:pPr>
              <a:buFont typeface="+mj-lt"/>
              <a:buAutoNum type="arabicPeriod" startAt="2"/>
            </a:pPr>
            <a:r>
              <a:rPr lang="en-US" b="1" dirty="0"/>
              <a:t>User Defined Functions</a:t>
            </a:r>
            <a:endParaRPr lang="en-US" dirty="0"/>
          </a:p>
          <a:p>
            <a:endParaRPr lang="en-CA" dirty="0"/>
          </a:p>
        </p:txBody>
      </p:sp>
      <p:pic>
        <p:nvPicPr>
          <p:cNvPr id="5" name="Picture 4">
            <a:extLst>
              <a:ext uri="{FF2B5EF4-FFF2-40B4-BE49-F238E27FC236}">
                <a16:creationId xmlns:a16="http://schemas.microsoft.com/office/drawing/2014/main" id="{ABD28C9C-2C84-826D-DE24-44ADB79AD5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125" y="3132803"/>
            <a:ext cx="6286500" cy="2362200"/>
          </a:xfrm>
          <a:prstGeom prst="rect">
            <a:avLst/>
          </a:prstGeom>
        </p:spPr>
      </p:pic>
      <p:sp>
        <p:nvSpPr>
          <p:cNvPr id="4" name="Footer Placeholder 3">
            <a:extLst>
              <a:ext uri="{FF2B5EF4-FFF2-40B4-BE49-F238E27FC236}">
                <a16:creationId xmlns:a16="http://schemas.microsoft.com/office/drawing/2014/main" id="{105F5089-2CA9-ABC1-2459-E1FDE07D362C}"/>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6519880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21D31-90E5-F9A8-59EE-B2374B1B274C}"/>
              </a:ext>
            </a:extLst>
          </p:cNvPr>
          <p:cNvSpPr>
            <a:spLocks noGrp="1"/>
          </p:cNvSpPr>
          <p:nvPr>
            <p:ph type="title"/>
          </p:nvPr>
        </p:nvSpPr>
        <p:spPr>
          <a:xfrm>
            <a:off x="838200" y="365125"/>
            <a:ext cx="10515600" cy="922901"/>
          </a:xfrm>
        </p:spPr>
        <p:txBody>
          <a:bodyPr/>
          <a:lstStyle/>
          <a:p>
            <a:pPr algn="ctr"/>
            <a:r>
              <a:rPr lang="en-CA" dirty="0"/>
              <a:t> </a:t>
            </a:r>
            <a:r>
              <a:rPr lang="en-CA" sz="2800" b="1" dirty="0"/>
              <a:t>Library Function</a:t>
            </a:r>
          </a:p>
        </p:txBody>
      </p:sp>
      <p:sp>
        <p:nvSpPr>
          <p:cNvPr id="3" name="Content Placeholder 2">
            <a:extLst>
              <a:ext uri="{FF2B5EF4-FFF2-40B4-BE49-F238E27FC236}">
                <a16:creationId xmlns:a16="http://schemas.microsoft.com/office/drawing/2014/main" id="{40D2030D-F0A2-92E9-83C9-84ABC39A6372}"/>
              </a:ext>
            </a:extLst>
          </p:cNvPr>
          <p:cNvSpPr>
            <a:spLocks noGrp="1"/>
          </p:cNvSpPr>
          <p:nvPr>
            <p:ph idx="1"/>
          </p:nvPr>
        </p:nvSpPr>
        <p:spPr>
          <a:xfrm>
            <a:off x="668594" y="1543665"/>
            <a:ext cx="4178709" cy="4633298"/>
          </a:xfrm>
        </p:spPr>
        <p:txBody>
          <a:bodyPr/>
          <a:lstStyle/>
          <a:p>
            <a:r>
              <a:rPr lang="en-US" sz="2000" dirty="0"/>
              <a:t>is also referred to as a </a:t>
            </a:r>
            <a:r>
              <a:rPr lang="en-US" sz="2000" b="1" dirty="0"/>
              <a:t>“built-in function”</a:t>
            </a:r>
            <a:r>
              <a:rPr lang="en-US" sz="2000" dirty="0"/>
              <a:t>. A compiler package already exists that contains these functions.</a:t>
            </a:r>
          </a:p>
          <a:p>
            <a:r>
              <a:rPr lang="en-CA" sz="2000" dirty="0"/>
              <a:t>pow(), sqrt(), </a:t>
            </a:r>
            <a:r>
              <a:rPr lang="en-CA" sz="2000" dirty="0" err="1"/>
              <a:t>strcmp</a:t>
            </a:r>
            <a:r>
              <a:rPr lang="en-CA" sz="2000" dirty="0"/>
              <a:t>(), </a:t>
            </a:r>
            <a:r>
              <a:rPr lang="en-CA" sz="2000" dirty="0" err="1"/>
              <a:t>strcpy</a:t>
            </a:r>
            <a:r>
              <a:rPr lang="en-CA" sz="2000" dirty="0"/>
              <a:t>() etc.</a:t>
            </a:r>
          </a:p>
          <a:p>
            <a:endParaRPr lang="en-CA" dirty="0"/>
          </a:p>
        </p:txBody>
      </p:sp>
      <p:sp>
        <p:nvSpPr>
          <p:cNvPr id="9" name="TextBox 8">
            <a:extLst>
              <a:ext uri="{FF2B5EF4-FFF2-40B4-BE49-F238E27FC236}">
                <a16:creationId xmlns:a16="http://schemas.microsoft.com/office/drawing/2014/main" id="{6AD07137-1D85-A139-CCB2-41E64B11A098}"/>
              </a:ext>
            </a:extLst>
          </p:cNvPr>
          <p:cNvSpPr txBox="1"/>
          <p:nvPr/>
        </p:nvSpPr>
        <p:spPr>
          <a:xfrm>
            <a:off x="5626996" y="1375649"/>
            <a:ext cx="5726804" cy="4801314"/>
          </a:xfrm>
          <a:prstGeom prst="rect">
            <a:avLst/>
          </a:prstGeom>
          <a:noFill/>
        </p:spPr>
        <p:txBody>
          <a:bodyPr wrap="square">
            <a:spAutoFit/>
          </a:bodyPr>
          <a:lstStyle/>
          <a:p>
            <a:r>
              <a:rPr lang="en-US" dirty="0"/>
              <a:t>#include &lt;</a:t>
            </a:r>
            <a:r>
              <a:rPr lang="en-US" dirty="0" err="1"/>
              <a:t>math.h</a:t>
            </a:r>
            <a:r>
              <a:rPr lang="en-US" dirty="0"/>
              <a:t>&gt;</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double Number;</a:t>
            </a:r>
          </a:p>
          <a:p>
            <a:r>
              <a:rPr lang="en-US" dirty="0"/>
              <a:t>  Number = 49;</a:t>
            </a:r>
          </a:p>
          <a:p>
            <a:endParaRPr lang="en-US" dirty="0"/>
          </a:p>
          <a:p>
            <a:r>
              <a:rPr lang="en-US" dirty="0"/>
              <a:t>  // Computing the square root with </a:t>
            </a:r>
          </a:p>
          <a:p>
            <a:r>
              <a:rPr lang="en-US" dirty="0"/>
              <a:t>  // the help of predefined C </a:t>
            </a:r>
          </a:p>
          <a:p>
            <a:r>
              <a:rPr lang="en-US" dirty="0"/>
              <a:t>  // library function</a:t>
            </a:r>
          </a:p>
          <a:p>
            <a:r>
              <a:rPr lang="en-US" dirty="0"/>
              <a:t>  double </a:t>
            </a:r>
            <a:r>
              <a:rPr lang="en-US" dirty="0" err="1"/>
              <a:t>squareRoot</a:t>
            </a:r>
            <a:r>
              <a:rPr lang="en-US" dirty="0"/>
              <a:t> = sqrt(Number);</a:t>
            </a:r>
          </a:p>
          <a:p>
            <a:r>
              <a:rPr lang="en-US" dirty="0"/>
              <a:t>  </a:t>
            </a:r>
          </a:p>
          <a:p>
            <a:r>
              <a:rPr lang="en-US" dirty="0"/>
              <a:t>  </a:t>
            </a:r>
            <a:r>
              <a:rPr lang="en-US" dirty="0" err="1"/>
              <a:t>printf</a:t>
            </a:r>
            <a:r>
              <a:rPr lang="en-US" dirty="0"/>
              <a:t>("The Square root of %.2lf = %.2lf", </a:t>
            </a:r>
          </a:p>
          <a:p>
            <a:r>
              <a:rPr lang="en-US" dirty="0"/>
              <a:t>          Number, </a:t>
            </a:r>
            <a:r>
              <a:rPr lang="en-US" dirty="0" err="1"/>
              <a:t>squareRoot</a:t>
            </a:r>
            <a:r>
              <a:rPr lang="en-US" dirty="0"/>
              <a:t>);</a:t>
            </a:r>
          </a:p>
          <a:p>
            <a:r>
              <a:rPr lang="en-US" dirty="0"/>
              <a:t>  return 0;</a:t>
            </a:r>
          </a:p>
          <a:p>
            <a:r>
              <a:rPr lang="en-US" dirty="0"/>
              <a:t>}</a:t>
            </a:r>
            <a:endParaRPr lang="en-CA" dirty="0"/>
          </a:p>
        </p:txBody>
      </p:sp>
      <p:sp>
        <p:nvSpPr>
          <p:cNvPr id="12" name="TextBox 11">
            <a:extLst>
              <a:ext uri="{FF2B5EF4-FFF2-40B4-BE49-F238E27FC236}">
                <a16:creationId xmlns:a16="http://schemas.microsoft.com/office/drawing/2014/main" id="{CC4D2064-B9A7-9B1F-BA2F-C7A35D6C77F8}"/>
              </a:ext>
            </a:extLst>
          </p:cNvPr>
          <p:cNvSpPr txBox="1"/>
          <p:nvPr/>
        </p:nvSpPr>
        <p:spPr>
          <a:xfrm>
            <a:off x="757084" y="5482351"/>
            <a:ext cx="3283974" cy="646331"/>
          </a:xfrm>
          <a:prstGeom prst="rect">
            <a:avLst/>
          </a:prstGeom>
          <a:noFill/>
        </p:spPr>
        <p:txBody>
          <a:bodyPr wrap="square">
            <a:spAutoFit/>
          </a:bodyPr>
          <a:lstStyle/>
          <a:p>
            <a:r>
              <a:rPr lang="en-US" dirty="0"/>
              <a:t>Output:</a:t>
            </a:r>
          </a:p>
          <a:p>
            <a:r>
              <a:rPr lang="en-US" dirty="0"/>
              <a:t>The Square root of 49.00 = 7.00</a:t>
            </a:r>
            <a:endParaRPr lang="en-CA" dirty="0"/>
          </a:p>
        </p:txBody>
      </p:sp>
      <p:sp>
        <p:nvSpPr>
          <p:cNvPr id="4" name="Footer Placeholder 3">
            <a:extLst>
              <a:ext uri="{FF2B5EF4-FFF2-40B4-BE49-F238E27FC236}">
                <a16:creationId xmlns:a16="http://schemas.microsoft.com/office/drawing/2014/main" id="{3ED74604-7192-20DA-E8BA-C84E4E2F5129}"/>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7925952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54A26-98D5-D0D9-67F0-274639097166}"/>
              </a:ext>
            </a:extLst>
          </p:cNvPr>
          <p:cNvSpPr>
            <a:spLocks noGrp="1"/>
          </p:cNvSpPr>
          <p:nvPr>
            <p:ph type="title"/>
          </p:nvPr>
        </p:nvSpPr>
        <p:spPr>
          <a:xfrm>
            <a:off x="838200" y="365125"/>
            <a:ext cx="10515600" cy="844243"/>
          </a:xfrm>
        </p:spPr>
        <p:txBody>
          <a:bodyPr/>
          <a:lstStyle/>
          <a:p>
            <a:pPr algn="ctr"/>
            <a:r>
              <a:rPr lang="en-CA" dirty="0"/>
              <a:t> </a:t>
            </a:r>
            <a:r>
              <a:rPr lang="en-CA" sz="3200" dirty="0"/>
              <a:t>User Defined Function</a:t>
            </a:r>
          </a:p>
        </p:txBody>
      </p:sp>
      <p:sp>
        <p:nvSpPr>
          <p:cNvPr id="3" name="Content Placeholder 2">
            <a:extLst>
              <a:ext uri="{FF2B5EF4-FFF2-40B4-BE49-F238E27FC236}">
                <a16:creationId xmlns:a16="http://schemas.microsoft.com/office/drawing/2014/main" id="{58CE0015-65F8-8020-92AC-E426526744B1}"/>
              </a:ext>
            </a:extLst>
          </p:cNvPr>
          <p:cNvSpPr>
            <a:spLocks noGrp="1"/>
          </p:cNvSpPr>
          <p:nvPr>
            <p:ph idx="1"/>
          </p:nvPr>
        </p:nvSpPr>
        <p:spPr>
          <a:xfrm>
            <a:off x="1133167" y="1055638"/>
            <a:ext cx="7027606" cy="5437237"/>
          </a:xfrm>
        </p:spPr>
        <p:txBody>
          <a:bodyPr>
            <a:noAutofit/>
          </a:bodyPr>
          <a:lstStyle/>
          <a:p>
            <a:pPr marL="0" indent="0">
              <a:buNone/>
            </a:pPr>
            <a:r>
              <a:rPr lang="en-US" sz="1800" dirty="0"/>
              <a:t>#include &lt;</a:t>
            </a:r>
            <a:r>
              <a:rPr lang="en-US" sz="1800" dirty="0" err="1"/>
              <a:t>stdio.h</a:t>
            </a:r>
            <a:r>
              <a:rPr lang="en-US" sz="1800" dirty="0"/>
              <a:t>&gt;</a:t>
            </a:r>
          </a:p>
          <a:p>
            <a:pPr marL="0" indent="0">
              <a:buNone/>
            </a:pPr>
            <a:r>
              <a:rPr lang="en-US" sz="1800" dirty="0"/>
              <a:t>int sum(int a, int b) </a:t>
            </a:r>
          </a:p>
          <a:p>
            <a:pPr marL="0" indent="0">
              <a:buNone/>
            </a:pPr>
            <a:r>
              <a:rPr lang="en-US" sz="1800" dirty="0"/>
              <a:t>{ </a:t>
            </a:r>
          </a:p>
          <a:p>
            <a:pPr marL="0" indent="0">
              <a:buNone/>
            </a:pPr>
            <a:r>
              <a:rPr lang="en-US" sz="1800" dirty="0"/>
              <a:t>  return a + b; </a:t>
            </a:r>
          </a:p>
          <a:p>
            <a:pPr marL="0" indent="0">
              <a:buNone/>
            </a:pPr>
            <a:r>
              <a:rPr lang="en-US" sz="1800" dirty="0"/>
              <a:t>}</a:t>
            </a:r>
          </a:p>
          <a:p>
            <a:pPr marL="0" indent="0">
              <a:buNone/>
            </a:pPr>
            <a:r>
              <a:rPr lang="en-US" sz="1800" dirty="0"/>
              <a:t>int main()</a:t>
            </a:r>
          </a:p>
          <a:p>
            <a:pPr marL="0" indent="0">
              <a:buNone/>
            </a:pPr>
            <a:r>
              <a:rPr lang="en-US" sz="1800" dirty="0"/>
              <a:t>{</a:t>
            </a:r>
          </a:p>
          <a:p>
            <a:pPr marL="0" indent="0">
              <a:buNone/>
            </a:pPr>
            <a:r>
              <a:rPr lang="en-US" sz="1800" dirty="0"/>
              <a:t>  int a = 30, b = 40;</a:t>
            </a:r>
          </a:p>
          <a:p>
            <a:pPr marL="0" indent="0">
              <a:buNone/>
            </a:pPr>
            <a:r>
              <a:rPr lang="en-US" sz="1800" dirty="0"/>
              <a:t> </a:t>
            </a:r>
          </a:p>
          <a:p>
            <a:pPr marL="0" indent="0">
              <a:buNone/>
            </a:pPr>
            <a:r>
              <a:rPr lang="en-US" sz="1800" dirty="0"/>
              <a:t>  // function call</a:t>
            </a:r>
          </a:p>
          <a:p>
            <a:pPr marL="0" indent="0">
              <a:buNone/>
            </a:pPr>
            <a:r>
              <a:rPr lang="en-US" sz="1800" dirty="0"/>
              <a:t>  int res = sum(a, b);</a:t>
            </a:r>
          </a:p>
          <a:p>
            <a:pPr marL="0" indent="0">
              <a:buNone/>
            </a:pPr>
            <a:endParaRPr lang="en-US" sz="1800" dirty="0"/>
          </a:p>
          <a:p>
            <a:pPr marL="0" indent="0">
              <a:buNone/>
            </a:pPr>
            <a:r>
              <a:rPr lang="en-US" sz="1800" dirty="0"/>
              <a:t>  </a:t>
            </a:r>
            <a:r>
              <a:rPr lang="en-US" sz="1800" dirty="0" err="1"/>
              <a:t>printf</a:t>
            </a:r>
            <a:r>
              <a:rPr lang="en-US" sz="1800" dirty="0"/>
              <a:t>("Sum is: %d", res);</a:t>
            </a:r>
          </a:p>
          <a:p>
            <a:pPr marL="0" indent="0">
              <a:buNone/>
            </a:pPr>
            <a:r>
              <a:rPr lang="en-US" sz="1800" dirty="0"/>
              <a:t>  return 0;</a:t>
            </a:r>
          </a:p>
          <a:p>
            <a:pPr marL="0" indent="0">
              <a:buNone/>
            </a:pPr>
            <a:r>
              <a:rPr lang="en-US" sz="1800" dirty="0"/>
              <a:t>}</a:t>
            </a:r>
            <a:endParaRPr lang="en-CA" sz="1800" dirty="0"/>
          </a:p>
        </p:txBody>
      </p:sp>
      <p:sp>
        <p:nvSpPr>
          <p:cNvPr id="7" name="TextBox 6">
            <a:extLst>
              <a:ext uri="{FF2B5EF4-FFF2-40B4-BE49-F238E27FC236}">
                <a16:creationId xmlns:a16="http://schemas.microsoft.com/office/drawing/2014/main" id="{BE4BB380-16AA-D9A0-1C0C-B856BFB3F0D5}"/>
              </a:ext>
            </a:extLst>
          </p:cNvPr>
          <p:cNvSpPr txBox="1"/>
          <p:nvPr/>
        </p:nvSpPr>
        <p:spPr>
          <a:xfrm>
            <a:off x="5496232" y="2951824"/>
            <a:ext cx="3028336" cy="646331"/>
          </a:xfrm>
          <a:prstGeom prst="rect">
            <a:avLst/>
          </a:prstGeom>
          <a:noFill/>
        </p:spPr>
        <p:txBody>
          <a:bodyPr wrap="square">
            <a:spAutoFit/>
          </a:bodyPr>
          <a:lstStyle/>
          <a:p>
            <a:r>
              <a:rPr lang="en-CA" dirty="0"/>
              <a:t>Output:</a:t>
            </a:r>
          </a:p>
          <a:p>
            <a:r>
              <a:rPr lang="en-CA" dirty="0"/>
              <a:t>Sum is: 70</a:t>
            </a:r>
          </a:p>
        </p:txBody>
      </p:sp>
      <p:sp>
        <p:nvSpPr>
          <p:cNvPr id="4" name="Footer Placeholder 3">
            <a:extLst>
              <a:ext uri="{FF2B5EF4-FFF2-40B4-BE49-F238E27FC236}">
                <a16:creationId xmlns:a16="http://schemas.microsoft.com/office/drawing/2014/main" id="{0D2BEC91-4105-CD85-ECB2-FF7415A47A55}"/>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18219742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5239-8915-50F9-09E3-219B469F7E78}"/>
              </a:ext>
            </a:extLst>
          </p:cNvPr>
          <p:cNvSpPr>
            <a:spLocks noGrp="1"/>
          </p:cNvSpPr>
          <p:nvPr>
            <p:ph type="title"/>
          </p:nvPr>
        </p:nvSpPr>
        <p:spPr>
          <a:xfrm>
            <a:off x="838200" y="365125"/>
            <a:ext cx="10515600" cy="627933"/>
          </a:xfrm>
        </p:spPr>
        <p:txBody>
          <a:bodyPr>
            <a:normAutofit/>
          </a:bodyPr>
          <a:lstStyle/>
          <a:p>
            <a:pPr algn="ctr"/>
            <a:r>
              <a:rPr lang="en-CA" sz="3600" dirty="0"/>
              <a:t>Passing Parameters to Functions</a:t>
            </a:r>
          </a:p>
        </p:txBody>
      </p:sp>
      <p:sp>
        <p:nvSpPr>
          <p:cNvPr id="3" name="Content Placeholder 2">
            <a:extLst>
              <a:ext uri="{FF2B5EF4-FFF2-40B4-BE49-F238E27FC236}">
                <a16:creationId xmlns:a16="http://schemas.microsoft.com/office/drawing/2014/main" id="{379567DA-015D-031E-12BC-F801AF9E9991}"/>
              </a:ext>
            </a:extLst>
          </p:cNvPr>
          <p:cNvSpPr>
            <a:spLocks noGrp="1"/>
          </p:cNvSpPr>
          <p:nvPr>
            <p:ph idx="1"/>
          </p:nvPr>
        </p:nvSpPr>
        <p:spPr/>
        <p:txBody>
          <a:bodyPr/>
          <a:lstStyle/>
          <a:p>
            <a:pPr rtl="0"/>
            <a:r>
              <a:rPr lang="en-US" dirty="0"/>
              <a:t>We can pass arguments to the C function in two ways:</a:t>
            </a:r>
          </a:p>
          <a:p>
            <a:pPr>
              <a:buFont typeface="+mj-lt"/>
              <a:buAutoNum type="arabicPeriod"/>
            </a:pPr>
            <a:r>
              <a:rPr lang="en-US" dirty="0"/>
              <a:t>Pass by Value</a:t>
            </a:r>
          </a:p>
          <a:p>
            <a:pPr>
              <a:buFont typeface="+mj-lt"/>
              <a:buAutoNum type="arabicPeriod" startAt="2"/>
            </a:pPr>
            <a:r>
              <a:rPr lang="en-US" dirty="0"/>
              <a:t>Pass by Reference</a:t>
            </a:r>
          </a:p>
          <a:p>
            <a:endParaRPr lang="en-CA" dirty="0"/>
          </a:p>
        </p:txBody>
      </p:sp>
      <p:pic>
        <p:nvPicPr>
          <p:cNvPr id="5" name="Picture 4">
            <a:extLst>
              <a:ext uri="{FF2B5EF4-FFF2-40B4-BE49-F238E27FC236}">
                <a16:creationId xmlns:a16="http://schemas.microsoft.com/office/drawing/2014/main" id="{E91A90A0-8D24-7A0D-6147-9F515A018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6206" y="2225675"/>
            <a:ext cx="5286375" cy="4267200"/>
          </a:xfrm>
          <a:prstGeom prst="rect">
            <a:avLst/>
          </a:prstGeom>
        </p:spPr>
      </p:pic>
      <p:sp>
        <p:nvSpPr>
          <p:cNvPr id="4" name="Footer Placeholder 3">
            <a:extLst>
              <a:ext uri="{FF2B5EF4-FFF2-40B4-BE49-F238E27FC236}">
                <a16:creationId xmlns:a16="http://schemas.microsoft.com/office/drawing/2014/main" id="{5F099DAD-F0B6-D353-B895-2EE2314B7F68}"/>
              </a:ext>
            </a:extLst>
          </p:cNvPr>
          <p:cNvSpPr>
            <a:spLocks noGrp="1"/>
          </p:cNvSpPr>
          <p:nvPr>
            <p:ph type="ftr" sz="quarter" idx="11"/>
          </p:nvPr>
        </p:nvSpPr>
        <p:spPr/>
        <p:txBody>
          <a:bodyPr/>
          <a:lstStyle/>
          <a:p>
            <a:r>
              <a:rPr lang="en-US"/>
              <a:t>Padma T G, Dept of CSE,ACET</a:t>
            </a:r>
            <a:endParaRPr lang="en-CA"/>
          </a:p>
        </p:txBody>
      </p:sp>
    </p:spTree>
    <p:extLst>
      <p:ext uri="{BB962C8B-B14F-4D97-AF65-F5344CB8AC3E}">
        <p14:creationId xmlns:p14="http://schemas.microsoft.com/office/powerpoint/2010/main" val="34105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1029</TotalTime>
  <Words>12289</Words>
  <Application>Microsoft Office PowerPoint</Application>
  <PresentationFormat>Widescreen</PresentationFormat>
  <Paragraphs>1557</Paragraphs>
  <Slides>116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116</vt:i4>
      </vt:variant>
    </vt:vector>
  </HeadingPairs>
  <TitlesOfParts>
    <vt:vector size="123" baseType="lpstr">
      <vt:lpstr>Arial</vt:lpstr>
      <vt:lpstr>Arial Unicode MS</vt:lpstr>
      <vt:lpstr>Calibri</vt:lpstr>
      <vt:lpstr>Calibri Light</vt:lpstr>
      <vt:lpstr>Symbol</vt:lpstr>
      <vt:lpstr>Times New Roman</vt:lpstr>
      <vt:lpstr>Office Theme</vt:lpstr>
      <vt:lpstr>C Programming </vt:lpstr>
      <vt:lpstr>History and Importance of C Programming</vt:lpstr>
      <vt:lpstr>Advantages and Disadvantages of C</vt:lpstr>
      <vt:lpstr>Real-World Applications of C</vt:lpstr>
      <vt:lpstr>PowerPoint Presentation</vt:lpstr>
      <vt:lpstr>Structure of a C Program</vt:lpstr>
      <vt:lpstr>Example </vt:lpstr>
      <vt:lpstr>PowerPoint Presentation</vt:lpstr>
      <vt:lpstr>Compilation Process</vt:lpstr>
      <vt:lpstr>PowerPoint Presentation</vt:lpstr>
      <vt:lpstr>How to Execute a C Program</vt:lpstr>
      <vt:lpstr>Comments in C</vt:lpstr>
      <vt:lpstr>Tokens in C</vt:lpstr>
      <vt:lpstr>PowerPoint Presentation</vt:lpstr>
      <vt:lpstr>1. Keywords</vt:lpstr>
      <vt:lpstr>PowerPoint Presentation</vt:lpstr>
      <vt:lpstr>2. Identifiers: </vt:lpstr>
      <vt:lpstr>PowerPoint Presentation</vt:lpstr>
      <vt:lpstr>3. Constants</vt:lpstr>
      <vt:lpstr>Types of Constants in C</vt:lpstr>
      <vt:lpstr>PowerPoint Presentation</vt:lpstr>
      <vt:lpstr>Literals in C</vt:lpstr>
      <vt:lpstr>Types of C Literals</vt:lpstr>
      <vt:lpstr>PowerPoint Presentation</vt:lpstr>
      <vt:lpstr>4. Strings</vt:lpstr>
      <vt:lpstr>5. Special Symbols</vt:lpstr>
      <vt:lpstr>PowerPoint Presentation</vt:lpstr>
      <vt:lpstr>6. Operators</vt:lpstr>
      <vt:lpstr>C Variables</vt:lpstr>
      <vt:lpstr>3 aspects of defining a variable:</vt:lpstr>
      <vt:lpstr>PowerPoint Presentation</vt:lpstr>
      <vt:lpstr>PowerPoint Presentation</vt:lpstr>
      <vt:lpstr>C Variable Types</vt:lpstr>
      <vt:lpstr>PowerPoint Presentation</vt:lpstr>
      <vt:lpstr>PowerPoint Presentation</vt:lpstr>
      <vt:lpstr>Scope rules in C</vt:lpstr>
      <vt:lpstr>PowerPoint Presentation</vt:lpstr>
      <vt:lpstr>Data Types in C</vt:lpstr>
      <vt:lpstr>Integer Data Type</vt:lpstr>
      <vt:lpstr>PowerPoint Presentation</vt:lpstr>
      <vt:lpstr>Character Data Type</vt:lpstr>
      <vt:lpstr>PowerPoint Presentation</vt:lpstr>
      <vt:lpstr>Float Data Type </vt:lpstr>
      <vt:lpstr>PowerPoint Presentation</vt:lpstr>
      <vt:lpstr>Double Data Type </vt:lpstr>
      <vt:lpstr>PowerPoint Presentation</vt:lpstr>
      <vt:lpstr>Void Data Type  </vt:lpstr>
      <vt:lpstr>Size of Data Types in C</vt:lpstr>
      <vt:lpstr>PowerPoint Presentation</vt:lpstr>
      <vt:lpstr>Type Conversion in C</vt:lpstr>
      <vt:lpstr>PowerPoint Presentation</vt:lpstr>
      <vt:lpstr>PowerPoint Presentation</vt:lpstr>
      <vt:lpstr>PowerPoint Presentation</vt:lpstr>
      <vt:lpstr>Basic Input and Output in C</vt:lpstr>
      <vt:lpstr>PowerPoint Presentation</vt:lpstr>
      <vt:lpstr>Formatted and Unformatted Input/Output functions </vt:lpstr>
      <vt:lpstr>PowerPoint Presentation</vt:lpstr>
      <vt:lpstr>PowerPoint Presentation</vt:lpstr>
      <vt:lpstr>The conditional statements </vt:lpstr>
      <vt:lpstr>if in C </vt:lpstr>
      <vt:lpstr>PowerPoint Presentation</vt:lpstr>
      <vt:lpstr>if-else in C</vt:lpstr>
      <vt:lpstr>PowerPoint Presentation</vt:lpstr>
      <vt:lpstr>Nested if-else in C</vt:lpstr>
      <vt:lpstr>PowerPoint Presentation</vt:lpstr>
      <vt:lpstr>PowerPoint Presentation</vt:lpstr>
      <vt:lpstr>if-else-if Ladder in C</vt:lpstr>
      <vt:lpstr>PowerPoint Presentation</vt:lpstr>
      <vt:lpstr>switch Statement in C</vt:lpstr>
      <vt:lpstr>PowerPoint Presentation</vt:lpstr>
      <vt:lpstr>Conditional Operator in C</vt:lpstr>
      <vt:lpstr>PowerPoint Presentation</vt:lpstr>
      <vt:lpstr>Jump Statements in C</vt:lpstr>
      <vt:lpstr>PowerPoint Presentation</vt:lpstr>
      <vt:lpstr>PowerPoint Presentation</vt:lpstr>
      <vt:lpstr>PowerPoint Presentation</vt:lpstr>
      <vt:lpstr>C – Loops</vt:lpstr>
      <vt:lpstr>for Loop in C </vt:lpstr>
      <vt:lpstr>PowerPoint Presentation</vt:lpstr>
      <vt:lpstr>while loop in C </vt:lpstr>
      <vt:lpstr>PowerPoint Presentation</vt:lpstr>
      <vt:lpstr>do…while Loop in C </vt:lpstr>
      <vt:lpstr>PowerPoint Presentation</vt:lpstr>
      <vt:lpstr>C Arrays</vt:lpstr>
      <vt:lpstr>Syntax of Array Declaration</vt:lpstr>
      <vt:lpstr> Array Initialization with Declaration</vt:lpstr>
      <vt:lpstr>PowerPoint Presentation</vt:lpstr>
      <vt:lpstr>Array Initialization after Declaration (Using Loops) </vt:lpstr>
      <vt:lpstr>PowerPoint Presentation</vt:lpstr>
      <vt:lpstr>PowerPoint Presentation</vt:lpstr>
      <vt:lpstr>Access Array Elements</vt:lpstr>
      <vt:lpstr>PowerPoint Presentation</vt:lpstr>
      <vt:lpstr>Update Array Element</vt:lpstr>
      <vt:lpstr>Deleting an element from an array </vt:lpstr>
      <vt:lpstr>PowerPoint Presentation</vt:lpstr>
      <vt:lpstr>C Array Traversal</vt:lpstr>
      <vt:lpstr>Types of Array in C</vt:lpstr>
      <vt:lpstr>One Dimensional Arrays (1D Array) </vt:lpstr>
      <vt:lpstr> Multidimensional Array</vt:lpstr>
      <vt:lpstr>PowerPoint Presentation</vt:lpstr>
      <vt:lpstr>Linear Search</vt:lpstr>
      <vt:lpstr>PowerPoint Presentation</vt:lpstr>
      <vt:lpstr>Binary Search</vt:lpstr>
      <vt:lpstr>PowerPoint Presentation</vt:lpstr>
      <vt:lpstr>PowerPoint Presentation</vt:lpstr>
      <vt:lpstr>PowerPoint Presentation</vt:lpstr>
      <vt:lpstr>SPARSE MATRIX</vt:lpstr>
      <vt:lpstr>PowerPoint Presentation</vt:lpstr>
      <vt:lpstr>Functions</vt:lpstr>
      <vt:lpstr>PowerPoint Presentation</vt:lpstr>
      <vt:lpstr>PowerPoint Presentation</vt:lpstr>
      <vt:lpstr>Conditions of Return Types and Arguments</vt:lpstr>
      <vt:lpstr> Types of Functions </vt:lpstr>
      <vt:lpstr> Library Function</vt:lpstr>
      <vt:lpstr> User Defined Function</vt:lpstr>
      <vt:lpstr>Passing Parameters to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Padma Tatuskar</dc:creator>
  <cp:lastModifiedBy>Padma Tatuskar</cp:lastModifiedBy>
  <cp:revision>75</cp:revision>
  <dcterms:created xsi:type="dcterms:W3CDTF">2024-08-22T13:56:58Z</dcterms:created>
  <dcterms:modified xsi:type="dcterms:W3CDTF">2024-11-25T14:49:57Z</dcterms:modified>
</cp:coreProperties>
</file>