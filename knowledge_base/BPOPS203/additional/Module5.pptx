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82" r:id="rId23"/>
    <p:sldId id="278" r:id="rId24"/>
    <p:sldId id="279" r:id="rId25"/>
    <p:sldId id="280" r:id="rId26"/>
    <p:sldId id="281" r:id="rId27"/>
    <p:sldId id="283" r:id="rId28"/>
    <p:sldId id="284" r:id="rId29"/>
    <p:sldId id="285" r:id="rId30"/>
    <p:sldId id="286" r:id="rId31"/>
    <p:sldId id="287" r:id="rId32"/>
    <p:sldId id="288"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1765" autoAdjust="0"/>
  </p:normalViewPr>
  <p:slideViewPr>
    <p:cSldViewPr snapToGrid="0">
      <p:cViewPr varScale="1">
        <p:scale>
          <a:sx n="75" d="100"/>
          <a:sy n="75"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A6A1F8-2F14-47B3-8E44-CBC7742F0487}"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2320759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A6A1F8-2F14-47B3-8E44-CBC7742F0487}"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2134428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6A1F8-2F14-47B3-8E44-CBC7742F0487}"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1201791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A6A1F8-2F14-47B3-8E44-CBC7742F0487}"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995960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A6A1F8-2F14-47B3-8E44-CBC7742F0487}" type="datetimeFigureOut">
              <a:rPr lang="en-US" smtClean="0"/>
              <a:t>3/20/2023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2230890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A6A1F8-2F14-47B3-8E44-CBC7742F0487}" type="datetimeFigureOut">
              <a:rPr lang="en-US" smtClean="0"/>
              <a:t>3/20/2023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1437827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A6A1F8-2F14-47B3-8E44-CBC7742F0487}" type="datetimeFigureOut">
              <a:rPr lang="en-US" smtClean="0"/>
              <a:t>3/20/2023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3646644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A6A1F8-2F14-47B3-8E44-CBC7742F0487}"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2599872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A6A1F8-2F14-47B3-8E44-CBC7742F0487}" type="datetimeFigureOut">
              <a:rPr lang="en-US" smtClean="0"/>
              <a:t>3/20/2023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2944512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A6A1F8-2F14-47B3-8E44-CBC7742F0487}"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3656683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A6A1F8-2F14-47B3-8E44-CBC7742F0487}" type="datetimeFigureOut">
              <a:rPr lang="en-US" smtClean="0"/>
              <a:t>3/20/2023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FDE465-574D-44A4-8A19-7C33D75B0336}" type="slidenum">
              <a:rPr lang="en-US" smtClean="0"/>
              <a:t>‹#›</a:t>
            </a:fld>
            <a:endParaRPr lang="en-US"/>
          </a:p>
        </p:txBody>
      </p:sp>
    </p:spTree>
    <p:extLst>
      <p:ext uri="{BB962C8B-B14F-4D97-AF65-F5344CB8AC3E}">
        <p14:creationId xmlns:p14="http://schemas.microsoft.com/office/powerpoint/2010/main" val="766562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A6A1F8-2F14-47B3-8E44-CBC7742F0487}" type="datetimeFigureOut">
              <a:rPr lang="en-US" smtClean="0"/>
              <a:t>3/20/2023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DE465-574D-44A4-8A19-7C33D75B0336}" type="slidenum">
              <a:rPr lang="en-US" smtClean="0"/>
              <a:t>‹#›</a:t>
            </a:fld>
            <a:endParaRPr lang="en-US"/>
          </a:p>
        </p:txBody>
      </p:sp>
    </p:spTree>
    <p:extLst>
      <p:ext uri="{BB962C8B-B14F-4D97-AF65-F5344CB8AC3E}">
        <p14:creationId xmlns:p14="http://schemas.microsoft.com/office/powerpoint/2010/main" val="3038737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2387600"/>
          </a:xfrm>
        </p:spPr>
        <p:txBody>
          <a:bodyPr/>
          <a:lstStyle/>
          <a:p>
            <a:r>
              <a:rPr lang="en-US" dirty="0">
                <a:latin typeface="Times New Roman" panose="02020603050405020304" pitchFamily="18" charset="0"/>
                <a:cs typeface="Times New Roman" panose="02020603050405020304" pitchFamily="18" charset="0"/>
              </a:rPr>
              <a:t>Module 5 </a:t>
            </a:r>
          </a:p>
        </p:txBody>
      </p:sp>
      <p:sp>
        <p:nvSpPr>
          <p:cNvPr id="3" name="Subtitle 2"/>
          <p:cNvSpPr>
            <a:spLocks noGrp="1"/>
          </p:cNvSpPr>
          <p:nvPr>
            <p:ph type="subTitle" idx="1"/>
          </p:nvPr>
        </p:nvSpPr>
        <p:spPr>
          <a:xfrm>
            <a:off x="1639910" y="2958094"/>
            <a:ext cx="9144000" cy="1655762"/>
          </a:xfrm>
        </p:spPr>
        <p:txBody>
          <a:bodyPr>
            <a:normAutofit/>
          </a:bodyPr>
          <a:lstStyle/>
          <a:p>
            <a:r>
              <a:rPr lang="en-US" sz="3600" dirty="0">
                <a:latin typeface="Times New Roman" panose="02020603050405020304" pitchFamily="18" charset="0"/>
                <a:cs typeface="Times New Roman" panose="02020603050405020304" pitchFamily="18" charset="0"/>
              </a:rPr>
              <a:t>STRUCTURES AND FILE MANAGEMENT</a:t>
            </a:r>
          </a:p>
        </p:txBody>
      </p:sp>
    </p:spTree>
    <p:extLst>
      <p:ext uri="{BB962C8B-B14F-4D97-AF65-F5344CB8AC3E}">
        <p14:creationId xmlns:p14="http://schemas.microsoft.com/office/powerpoint/2010/main" val="2717674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latin typeface="Times New Roman" panose="02020603050405020304" pitchFamily="18" charset="0"/>
                <a:cs typeface="Times New Roman" panose="02020603050405020304" pitchFamily="18" charset="0"/>
              </a:rPr>
              <a:t>Overview</a:t>
            </a:r>
          </a:p>
        </p:txBody>
      </p:sp>
      <p:sp>
        <p:nvSpPr>
          <p:cNvPr id="3" name="Content Placeholder 2"/>
          <p:cNvSpPr>
            <a:spLocks noGrp="1"/>
          </p:cNvSpPr>
          <p:nvPr>
            <p:ph idx="1"/>
          </p:nvPr>
        </p:nvSpPr>
        <p:spPr/>
        <p:txBody>
          <a:bodyPr>
            <a:normAutofit/>
          </a:bodyPr>
          <a:lstStyle/>
          <a:p>
            <a:pPr marL="0" indent="0" algn="just">
              <a:buNone/>
            </a:pPr>
            <a:r>
              <a:rPr lang="en-US" sz="3600" dirty="0">
                <a:latin typeface="Times New Roman" panose="02020603050405020304" pitchFamily="18" charset="0"/>
                <a:cs typeface="Times New Roman" panose="02020603050405020304" pitchFamily="18" charset="0"/>
              </a:rPr>
              <a:t>Structures: Introduction, Defining a structure, declaring structure variables, accessing structure members, structure initialization, array of structures. </a:t>
            </a:r>
          </a:p>
          <a:p>
            <a:pPr marL="0" indent="0" algn="just">
              <a:buNone/>
            </a:pPr>
            <a:r>
              <a:rPr lang="en-US" sz="3600" dirty="0">
                <a:latin typeface="Times New Roman" panose="02020603050405020304" pitchFamily="18" charset="0"/>
                <a:cs typeface="Times New Roman" panose="02020603050405020304" pitchFamily="18" charset="0"/>
              </a:rPr>
              <a:t>File Management in C: Introduction, Defining and opening a file, closing a file, Input/output and Error Handling on Files. </a:t>
            </a:r>
          </a:p>
        </p:txBody>
      </p:sp>
    </p:spTree>
    <p:extLst>
      <p:ext uri="{BB962C8B-B14F-4D97-AF65-F5344CB8AC3E}">
        <p14:creationId xmlns:p14="http://schemas.microsoft.com/office/powerpoint/2010/main" val="2448937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Structures</a:t>
            </a:r>
          </a:p>
        </p:txBody>
      </p:sp>
      <p:sp>
        <p:nvSpPr>
          <p:cNvPr id="3" name="Content Placeholder 2"/>
          <p:cNvSpPr>
            <a:spLocks noGrp="1"/>
          </p:cNvSpPr>
          <p:nvPr>
            <p:ph idx="1"/>
          </p:nvPr>
        </p:nvSpPr>
        <p:spPr/>
        <p:txBody>
          <a:bodyPr/>
          <a:lstStyle/>
          <a:p>
            <a:pPr algn="just"/>
            <a:r>
              <a:rPr lang="en-US" sz="3200" dirty="0">
                <a:latin typeface="Times New Roman" panose="02020603050405020304" pitchFamily="18" charset="0"/>
                <a:cs typeface="Times New Roman" panose="02020603050405020304" pitchFamily="18" charset="0"/>
              </a:rPr>
              <a:t>Structures (also called structs) are a way to group several related variables into one place. </a:t>
            </a:r>
          </a:p>
          <a:p>
            <a:pPr algn="just"/>
            <a:r>
              <a:rPr lang="en-US" sz="3200" dirty="0">
                <a:latin typeface="Times New Roman" panose="02020603050405020304" pitchFamily="18" charset="0"/>
                <a:cs typeface="Times New Roman" panose="02020603050405020304" pitchFamily="18" charset="0"/>
              </a:rPr>
              <a:t>Each variable in the structure is known as a </a:t>
            </a:r>
            <a:r>
              <a:rPr lang="en-US" sz="3200" b="1" dirty="0">
                <a:latin typeface="Times New Roman" panose="02020603050405020304" pitchFamily="18" charset="0"/>
                <a:cs typeface="Times New Roman" panose="02020603050405020304" pitchFamily="18" charset="0"/>
              </a:rPr>
              <a:t>member</a:t>
            </a:r>
            <a:r>
              <a:rPr lang="en-US" sz="3200" dirty="0">
                <a:latin typeface="Times New Roman" panose="02020603050405020304" pitchFamily="18" charset="0"/>
                <a:cs typeface="Times New Roman" panose="02020603050405020304" pitchFamily="18" charset="0"/>
              </a:rPr>
              <a:t> of the structure.</a:t>
            </a:r>
          </a:p>
          <a:p>
            <a:pPr algn="just"/>
            <a:r>
              <a:rPr lang="en-US" sz="3200" dirty="0">
                <a:latin typeface="Times New Roman" panose="02020603050405020304" pitchFamily="18" charset="0"/>
                <a:cs typeface="Times New Roman" panose="02020603050405020304" pitchFamily="18" charset="0"/>
              </a:rPr>
              <a:t>Unlike an array, a structure can contain many different data types (int, float, char, etc.).</a:t>
            </a:r>
          </a:p>
          <a:p>
            <a:pPr algn="just"/>
            <a:endParaRPr lang="en-US" sz="3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86230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654" y="0"/>
            <a:ext cx="10515600" cy="6436172"/>
          </a:xfrm>
        </p:spPr>
        <p:txBody>
          <a:bodyPr/>
          <a:lstStyle/>
          <a:p>
            <a:pPr algn="just"/>
            <a:r>
              <a:rPr lang="en-US" dirty="0">
                <a:latin typeface="Times New Roman" panose="02020603050405020304" pitchFamily="18" charset="0"/>
                <a:cs typeface="Times New Roman" panose="02020603050405020304" pitchFamily="18" charset="0"/>
              </a:rPr>
              <a:t>Consider a book database consisting of book name, author, number of pages, and price. We can define a structure to hold this information as follows:</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struct book_bank { </a:t>
            </a:r>
          </a:p>
          <a:p>
            <a:pPr marL="0" indent="0" algn="just">
              <a:buNone/>
            </a:pPr>
            <a:r>
              <a:rPr lang="en-US" b="1" dirty="0">
                <a:latin typeface="Times New Roman" panose="02020603050405020304" pitchFamily="18" charset="0"/>
                <a:cs typeface="Times New Roman" panose="02020603050405020304" pitchFamily="18" charset="0"/>
              </a:rPr>
              <a:t>				char title[20]; </a:t>
            </a:r>
          </a:p>
          <a:p>
            <a:pPr marL="0" indent="0" algn="just">
              <a:buNone/>
            </a:pPr>
            <a:r>
              <a:rPr lang="en-US" b="1" dirty="0">
                <a:latin typeface="Times New Roman" panose="02020603050405020304" pitchFamily="18" charset="0"/>
                <a:cs typeface="Times New Roman" panose="02020603050405020304" pitchFamily="18" charset="0"/>
              </a:rPr>
              <a:t>				char author[15];</a:t>
            </a:r>
          </a:p>
          <a:p>
            <a:pPr marL="0" indent="0" algn="just">
              <a:buNone/>
            </a:pPr>
            <a:r>
              <a:rPr lang="en-US" b="1" dirty="0">
                <a:latin typeface="Times New Roman" panose="02020603050405020304" pitchFamily="18" charset="0"/>
                <a:cs typeface="Times New Roman" panose="02020603050405020304" pitchFamily="18" charset="0"/>
              </a:rPr>
              <a:t>				int pages; </a:t>
            </a:r>
          </a:p>
          <a:p>
            <a:pPr marL="0" indent="0" algn="just">
              <a:buNone/>
            </a:pPr>
            <a:r>
              <a:rPr lang="en-US" b="1" dirty="0">
                <a:latin typeface="Times New Roman" panose="02020603050405020304" pitchFamily="18" charset="0"/>
                <a:cs typeface="Times New Roman" panose="02020603050405020304" pitchFamily="18" charset="0"/>
              </a:rPr>
              <a:t>				float price; </a:t>
            </a:r>
          </a:p>
          <a:p>
            <a:pPr marL="0" indent="0" algn="just">
              <a:buNone/>
            </a:pPr>
            <a:r>
              <a:rPr lang="en-US" b="1"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keyword struct declares a structure to hold the details of four data fields, namely title, author, pages, and price.</a:t>
            </a:r>
          </a:p>
          <a:p>
            <a:pPr algn="just"/>
            <a:r>
              <a:rPr lang="en-US" dirty="0">
                <a:latin typeface="Times New Roman" panose="02020603050405020304" pitchFamily="18" charset="0"/>
                <a:cs typeface="Times New Roman" panose="02020603050405020304" pitchFamily="18" charset="0"/>
              </a:rPr>
              <a:t>These fields are called structure elements or members. </a:t>
            </a:r>
          </a:p>
          <a:p>
            <a:pPr algn="just"/>
            <a:r>
              <a:rPr lang="en-US" dirty="0">
                <a:latin typeface="Times New Roman" panose="02020603050405020304" pitchFamily="18" charset="0"/>
                <a:cs typeface="Times New Roman" panose="02020603050405020304" pitchFamily="18" charset="0"/>
              </a:rPr>
              <a:t>Each member may belong to a different type of data</a:t>
            </a:r>
          </a:p>
        </p:txBody>
      </p:sp>
    </p:spTree>
    <p:extLst>
      <p:ext uri="{BB962C8B-B14F-4D97-AF65-F5344CB8AC3E}">
        <p14:creationId xmlns:p14="http://schemas.microsoft.com/office/powerpoint/2010/main" val="3837029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169" y="274974"/>
            <a:ext cx="10515600" cy="948520"/>
          </a:xfrm>
        </p:spPr>
        <p:txBody>
          <a:bodyPr>
            <a:noAutofit/>
          </a:bodyPr>
          <a:lstStyle/>
          <a:p>
            <a:r>
              <a:rPr lang="en-US" sz="3600" dirty="0">
                <a:latin typeface="Times New Roman" panose="02020603050405020304" pitchFamily="18" charset="0"/>
                <a:cs typeface="Times New Roman" panose="02020603050405020304" pitchFamily="18" charset="0"/>
              </a:rPr>
              <a:t>The general format of a structure definition is as follows:</a:t>
            </a:r>
          </a:p>
        </p:txBody>
      </p:sp>
      <p:sp>
        <p:nvSpPr>
          <p:cNvPr id="3" name="Content Placeholder 2"/>
          <p:cNvSpPr>
            <a:spLocks noGrp="1"/>
          </p:cNvSpPr>
          <p:nvPr>
            <p:ph idx="1"/>
          </p:nvPr>
        </p:nvSpPr>
        <p:spPr>
          <a:xfrm>
            <a:off x="838200" y="1313646"/>
            <a:ext cx="10515600" cy="4351338"/>
          </a:xfrm>
        </p:spPr>
        <p:txBody>
          <a:bodyPr/>
          <a:lstStyle/>
          <a:p>
            <a:pPr marL="0" indent="0">
              <a:buNone/>
            </a:pPr>
            <a:r>
              <a:rPr lang="en-US" dirty="0"/>
              <a:t> </a:t>
            </a:r>
          </a:p>
        </p:txBody>
      </p:sp>
      <p:sp>
        <p:nvSpPr>
          <p:cNvPr id="4" name="Rounded Rectangle 3"/>
          <p:cNvSpPr/>
          <p:nvPr/>
        </p:nvSpPr>
        <p:spPr>
          <a:xfrm>
            <a:off x="3039414" y="1442434"/>
            <a:ext cx="4816699" cy="257577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367824" y="1700921"/>
            <a:ext cx="4488289" cy="2585323"/>
          </a:xfrm>
          <a:prstGeom prst="rect">
            <a:avLst/>
          </a:prstGeom>
          <a:noFill/>
        </p:spPr>
        <p:txBody>
          <a:bodyPr wrap="square" rtlCol="0">
            <a:spAutoFit/>
          </a:bodyPr>
          <a:lstStyle/>
          <a:p>
            <a:r>
              <a:rPr lang="en-US" sz="2400" dirty="0"/>
              <a:t>struct </a:t>
            </a:r>
            <a:r>
              <a:rPr lang="en-US" sz="2400" dirty="0" err="1"/>
              <a:t>tag_name</a:t>
            </a:r>
            <a:r>
              <a:rPr lang="en-US" sz="2400" dirty="0"/>
              <a:t> { </a:t>
            </a:r>
          </a:p>
          <a:p>
            <a:r>
              <a:rPr lang="en-US" sz="2400" dirty="0"/>
              <a:t>	  </a:t>
            </a:r>
            <a:r>
              <a:rPr lang="en-US" sz="2400" dirty="0" err="1"/>
              <a:t>data_type</a:t>
            </a:r>
            <a:r>
              <a:rPr lang="en-US" sz="2400" dirty="0"/>
              <a:t> member1;	</a:t>
            </a:r>
            <a:r>
              <a:rPr lang="en-US" sz="2400" dirty="0" err="1"/>
              <a:t>data_type</a:t>
            </a:r>
            <a:r>
              <a:rPr lang="en-US" sz="2400" dirty="0"/>
              <a:t> member2; </a:t>
            </a:r>
          </a:p>
          <a:p>
            <a:r>
              <a:rPr lang="en-US" sz="2400" dirty="0"/>
              <a:t>	– – – – – – – – –</a:t>
            </a:r>
          </a:p>
          <a:p>
            <a:r>
              <a:rPr lang="en-US" sz="2400" dirty="0"/>
              <a:t>	– – – – – – – </a:t>
            </a:r>
          </a:p>
          <a:p>
            <a:r>
              <a:rPr lang="en-US" sz="2400" dirty="0"/>
              <a:t>	};</a:t>
            </a:r>
          </a:p>
          <a:p>
            <a:endParaRPr lang="en-US" dirty="0"/>
          </a:p>
        </p:txBody>
      </p:sp>
    </p:spTree>
    <p:extLst>
      <p:ext uri="{BB962C8B-B14F-4D97-AF65-F5344CB8AC3E}">
        <p14:creationId xmlns:p14="http://schemas.microsoft.com/office/powerpoint/2010/main" val="4143386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In defining a structure you may note the following syntax</a:t>
            </a:r>
          </a:p>
        </p:txBody>
      </p:sp>
      <p:sp>
        <p:nvSpPr>
          <p:cNvPr id="3" name="Content Placeholder 2"/>
          <p:cNvSpPr>
            <a:spLocks noGrp="1"/>
          </p:cNvSpPr>
          <p:nvPr>
            <p:ph idx="1"/>
          </p:nvPr>
        </p:nvSpPr>
        <p:spPr/>
        <p:txBody>
          <a:bodyPr/>
          <a:lstStyle/>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The template is terminated with a semicolon. </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 While the entire definition is considered as a statement, each member is declared independently for its name and type in a separate statement inside the template. </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 The tag name such as book_bank can be used to declare structure variables of its type, later in the program</a:t>
            </a:r>
            <a:r>
              <a:rPr lang="en-US" dirty="0"/>
              <a:t>. </a:t>
            </a:r>
          </a:p>
        </p:txBody>
      </p:sp>
    </p:spTree>
    <p:extLst>
      <p:ext uri="{BB962C8B-B14F-4D97-AF65-F5344CB8AC3E}">
        <p14:creationId xmlns:p14="http://schemas.microsoft.com/office/powerpoint/2010/main" val="3030121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vs structures</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Both the arrays and structures are classified as structured data types as they provide a mechanism that enable us to access and manipulate data in a relatively easy manner. But they differ in a number of ways which are as follows</a:t>
            </a:r>
          </a:p>
          <a:p>
            <a:pPr marL="0" indent="0" algn="just">
              <a:buNone/>
            </a:pPr>
            <a:r>
              <a:rPr lang="en-US" dirty="0">
                <a:latin typeface="Times New Roman" panose="02020603050405020304" pitchFamily="18" charset="0"/>
                <a:cs typeface="Times New Roman" panose="02020603050405020304" pitchFamily="18" charset="0"/>
              </a:rPr>
              <a:t>1. An array is a collection of related data elements of same type. Structure can have elements of different types..</a:t>
            </a:r>
          </a:p>
          <a:p>
            <a:pPr marL="0" indent="0" algn="just">
              <a:buNone/>
            </a:pPr>
            <a:r>
              <a:rPr lang="en-US" dirty="0">
                <a:latin typeface="Times New Roman" panose="02020603050405020304" pitchFamily="18" charset="0"/>
                <a:cs typeface="Times New Roman" panose="02020603050405020304" pitchFamily="18" charset="0"/>
              </a:rPr>
              <a:t>2. Am array is derived data type whereas a structure is a programmer-defined one.</a:t>
            </a:r>
          </a:p>
          <a:p>
            <a:pPr marL="0" indent="0" algn="just">
              <a:buNone/>
            </a:pPr>
            <a:r>
              <a:rPr lang="en-US" dirty="0">
                <a:latin typeface="Times New Roman" panose="02020603050405020304" pitchFamily="18" charset="0"/>
                <a:cs typeface="Times New Roman" panose="02020603050405020304" pitchFamily="18" charset="0"/>
              </a:rPr>
              <a:t>3. Any array behaves like a built-in data type. All we have to do is to declare an array variable and use it. But in the case of a structure, first we have to design and declare a data structure before the variables of that type are declared and used.</a:t>
            </a:r>
          </a:p>
        </p:txBody>
      </p:sp>
    </p:spTree>
    <p:extLst>
      <p:ext uri="{BB962C8B-B14F-4D97-AF65-F5344CB8AC3E}">
        <p14:creationId xmlns:p14="http://schemas.microsoft.com/office/powerpoint/2010/main" val="957983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5337"/>
          </a:xfrm>
        </p:spPr>
        <p:txBody>
          <a:bodyPr>
            <a:normAutofit/>
          </a:bodyPr>
          <a:lstStyle/>
          <a:p>
            <a:r>
              <a:rPr lang="en-US" sz="2400" dirty="0">
                <a:latin typeface="Times New Roman" panose="02020603050405020304" pitchFamily="18" charset="0"/>
                <a:cs typeface="Times New Roman" panose="02020603050405020304" pitchFamily="18" charset="0"/>
              </a:rPr>
              <a:t>DECLARING STRUCTURE VARIABLES</a:t>
            </a:r>
          </a:p>
        </p:txBody>
      </p:sp>
      <p:sp>
        <p:nvSpPr>
          <p:cNvPr id="3" name="Content Placeholder 2"/>
          <p:cNvSpPr>
            <a:spLocks noGrp="1"/>
          </p:cNvSpPr>
          <p:nvPr>
            <p:ph idx="1"/>
          </p:nvPr>
        </p:nvSpPr>
        <p:spPr>
          <a:xfrm>
            <a:off x="838200" y="1275008"/>
            <a:ext cx="10515600" cy="4901955"/>
          </a:xfrm>
        </p:spPr>
        <p:txBody>
          <a:bodyPr/>
          <a:lstStyle/>
          <a:p>
            <a:r>
              <a:rPr lang="en-US" dirty="0"/>
              <a:t>After defining a structure format we can declare variables of that type. </a:t>
            </a:r>
          </a:p>
          <a:p>
            <a:r>
              <a:rPr lang="en-US" dirty="0"/>
              <a:t>A structure variable declaration is similar to the declaration of variables of any other data types. </a:t>
            </a:r>
          </a:p>
          <a:p>
            <a:r>
              <a:rPr lang="en-US" dirty="0"/>
              <a:t>It includes the following elements:</a:t>
            </a:r>
          </a:p>
          <a:p>
            <a:pPr marL="0" indent="0">
              <a:buNone/>
            </a:pPr>
            <a:r>
              <a:rPr lang="en-US" b="1" dirty="0"/>
              <a:t>1. The keyword struct.</a:t>
            </a:r>
          </a:p>
          <a:p>
            <a:pPr marL="0" indent="0">
              <a:buNone/>
            </a:pPr>
            <a:r>
              <a:rPr lang="en-US" b="1" dirty="0"/>
              <a:t>2. The structure tag name.</a:t>
            </a:r>
          </a:p>
          <a:p>
            <a:pPr marL="0" indent="0">
              <a:buNone/>
            </a:pPr>
            <a:r>
              <a:rPr lang="en-US" b="1" dirty="0"/>
              <a:t>3. List of variable names separated by commas.</a:t>
            </a:r>
          </a:p>
          <a:p>
            <a:pPr marL="0" indent="0">
              <a:buNone/>
            </a:pPr>
            <a:r>
              <a:rPr lang="en-US" b="1" dirty="0"/>
              <a:t>4. A terminating semicolon.</a:t>
            </a:r>
          </a:p>
        </p:txBody>
      </p:sp>
    </p:spTree>
    <p:extLst>
      <p:ext uri="{BB962C8B-B14F-4D97-AF65-F5344CB8AC3E}">
        <p14:creationId xmlns:p14="http://schemas.microsoft.com/office/powerpoint/2010/main" val="2635242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6062"/>
            <a:ext cx="10515600" cy="5970901"/>
          </a:xfrm>
        </p:spPr>
        <p:txBody>
          <a:bodyPr>
            <a:normAutofit fontScale="92500" lnSpcReduction="10000"/>
          </a:bodyPr>
          <a:lstStyle/>
          <a:p>
            <a:r>
              <a:rPr lang="en-US" dirty="0"/>
              <a:t>For example, the statement</a:t>
            </a:r>
          </a:p>
          <a:p>
            <a:pPr marL="0" indent="0">
              <a:buNone/>
            </a:pPr>
            <a:r>
              <a:rPr lang="en-US" dirty="0"/>
              <a:t>                       struct book_bank, book1, book2, book3;</a:t>
            </a:r>
          </a:p>
          <a:p>
            <a:pPr marL="0" indent="0">
              <a:buNone/>
            </a:pPr>
            <a:r>
              <a:rPr lang="en-US" dirty="0"/>
              <a:t>-&gt; declares book1, book2, and book3 as variables of type struct book_bank.</a:t>
            </a:r>
          </a:p>
          <a:p>
            <a:r>
              <a:rPr lang="en-US" dirty="0"/>
              <a:t>Each one of these variables has four members as specified by the template. The complete declaration might look like this</a:t>
            </a:r>
          </a:p>
          <a:p>
            <a:pPr marL="0" indent="0" algn="just">
              <a:buNone/>
            </a:pPr>
            <a:r>
              <a:rPr lang="en-US" dirty="0"/>
              <a:t>struct book_bank</a:t>
            </a:r>
          </a:p>
          <a:p>
            <a:pPr marL="0" indent="0" algn="just">
              <a:buNone/>
            </a:pPr>
            <a:r>
              <a:rPr lang="en-US" dirty="0"/>
              <a:t>{</a:t>
            </a:r>
          </a:p>
          <a:p>
            <a:pPr marL="0" indent="0" algn="just">
              <a:buNone/>
            </a:pPr>
            <a:r>
              <a:rPr lang="en-US" dirty="0"/>
              <a:t>char title[20];</a:t>
            </a:r>
          </a:p>
          <a:p>
            <a:pPr marL="0" indent="0" algn="just">
              <a:buNone/>
            </a:pPr>
            <a:r>
              <a:rPr lang="en-US" dirty="0"/>
              <a:t>char author[15];</a:t>
            </a:r>
          </a:p>
          <a:p>
            <a:pPr marL="0" indent="0" algn="just">
              <a:buNone/>
            </a:pPr>
            <a:r>
              <a:rPr lang="en-US" dirty="0"/>
              <a:t>int pages;</a:t>
            </a:r>
          </a:p>
          <a:p>
            <a:pPr marL="0" indent="0" algn="just">
              <a:buNone/>
            </a:pPr>
            <a:r>
              <a:rPr lang="en-US" dirty="0" err="1"/>
              <a:t>fl</a:t>
            </a:r>
            <a:r>
              <a:rPr lang="en-US" dirty="0"/>
              <a:t> oat price;</a:t>
            </a:r>
          </a:p>
          <a:p>
            <a:pPr marL="0" indent="0" algn="just">
              <a:buNone/>
            </a:pPr>
            <a:r>
              <a:rPr lang="en-US" dirty="0"/>
              <a:t>};</a:t>
            </a:r>
          </a:p>
          <a:p>
            <a:pPr marL="0" indent="0" algn="just">
              <a:buNone/>
            </a:pPr>
            <a:r>
              <a:rPr lang="en-US" dirty="0"/>
              <a:t>struct book_bank book1, book2, book3;</a:t>
            </a:r>
          </a:p>
        </p:txBody>
      </p:sp>
    </p:spTree>
    <p:extLst>
      <p:ext uri="{BB962C8B-B14F-4D97-AF65-F5344CB8AC3E}">
        <p14:creationId xmlns:p14="http://schemas.microsoft.com/office/powerpoint/2010/main" val="974659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5155"/>
            <a:ext cx="10515600" cy="5661808"/>
          </a:xfrm>
        </p:spPr>
        <p:txBody>
          <a:bodyPr/>
          <a:lstStyle/>
          <a:p>
            <a:r>
              <a:rPr lang="en-US" dirty="0"/>
              <a:t>Remember that the members of a structure themselves are not variables. </a:t>
            </a:r>
          </a:p>
          <a:p>
            <a:r>
              <a:rPr lang="en-US" dirty="0"/>
              <a:t>They do not occupy any memory until they are associated with the structure variables such as book1. </a:t>
            </a:r>
          </a:p>
          <a:p>
            <a:r>
              <a:rPr lang="en-US" dirty="0"/>
              <a:t>When the compiler comes across a declaration statement, it reserves memory space for the structure variables. </a:t>
            </a:r>
          </a:p>
          <a:p>
            <a:r>
              <a:rPr lang="en-US" dirty="0"/>
              <a:t>It is also allowed to combine both the structure definition and variables declaration in one statement.</a:t>
            </a:r>
          </a:p>
        </p:txBody>
      </p:sp>
    </p:spTree>
    <p:extLst>
      <p:ext uri="{BB962C8B-B14F-4D97-AF65-F5344CB8AC3E}">
        <p14:creationId xmlns:p14="http://schemas.microsoft.com/office/powerpoint/2010/main" val="1872266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6366"/>
            <a:ext cx="10515600" cy="5790597"/>
          </a:xfrm>
        </p:spPr>
        <p:txBody>
          <a:bodyPr/>
          <a:lstStyle/>
          <a:p>
            <a:r>
              <a:rPr lang="en-US" dirty="0"/>
              <a:t>The declaration</a:t>
            </a:r>
          </a:p>
          <a:p>
            <a:pPr marL="0" indent="0">
              <a:buNone/>
            </a:pPr>
            <a:endParaRPr lang="en-US" dirty="0"/>
          </a:p>
          <a:p>
            <a:pPr marL="0" indent="0">
              <a:buNone/>
            </a:pPr>
            <a:r>
              <a:rPr lang="en-US" dirty="0"/>
              <a:t>struct book_bank</a:t>
            </a:r>
          </a:p>
          <a:p>
            <a:pPr marL="0" indent="0">
              <a:buNone/>
            </a:pPr>
            <a:r>
              <a:rPr lang="en-US" dirty="0"/>
              <a:t>{</a:t>
            </a:r>
          </a:p>
          <a:p>
            <a:pPr marL="0" indent="0">
              <a:buNone/>
            </a:pPr>
            <a:r>
              <a:rPr lang="en-US" dirty="0"/>
              <a:t>char title[20];</a:t>
            </a:r>
          </a:p>
          <a:p>
            <a:pPr marL="0" indent="0">
              <a:buNone/>
            </a:pPr>
            <a:r>
              <a:rPr lang="en-US" dirty="0"/>
              <a:t>char author[15];</a:t>
            </a:r>
          </a:p>
          <a:p>
            <a:pPr marL="0" indent="0">
              <a:buNone/>
            </a:pPr>
            <a:r>
              <a:rPr lang="en-US" dirty="0"/>
              <a:t>int pages;</a:t>
            </a:r>
          </a:p>
          <a:p>
            <a:pPr marL="0" indent="0">
              <a:buNone/>
            </a:pPr>
            <a:r>
              <a:rPr lang="en-US" dirty="0"/>
              <a:t>float price;</a:t>
            </a:r>
          </a:p>
          <a:p>
            <a:pPr marL="0" indent="0">
              <a:buNone/>
            </a:pPr>
            <a:r>
              <a:rPr lang="en-US" dirty="0"/>
              <a:t>} book1, book2, book3;</a:t>
            </a:r>
          </a:p>
        </p:txBody>
      </p:sp>
    </p:spTree>
    <p:extLst>
      <p:ext uri="{BB962C8B-B14F-4D97-AF65-F5344CB8AC3E}">
        <p14:creationId xmlns:p14="http://schemas.microsoft.com/office/powerpoint/2010/main" val="198903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9564" y="2356834"/>
            <a:ext cx="10515600" cy="427089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declares book1, book2, and book3 as structure variables representing three books, but does not include a tag name.</a:t>
            </a:r>
          </a:p>
          <a:p>
            <a:pPr algn="just"/>
            <a:r>
              <a:rPr lang="en-US" dirty="0">
                <a:latin typeface="Times New Roman" panose="02020603050405020304" pitchFamily="18" charset="0"/>
                <a:cs typeface="Times New Roman" panose="02020603050405020304" pitchFamily="18" charset="0"/>
              </a:rPr>
              <a:t>However, this approach is not recommended for the following two reasons:</a:t>
            </a:r>
          </a:p>
          <a:p>
            <a:pPr algn="just"/>
            <a:r>
              <a:rPr lang="en-US" dirty="0">
                <a:latin typeface="Times New Roman" panose="02020603050405020304" pitchFamily="18" charset="0"/>
                <a:cs typeface="Times New Roman" panose="02020603050405020304" pitchFamily="18" charset="0"/>
              </a:rPr>
              <a:t>1. Without a tag name, we cannot use it for future declarations:</a:t>
            </a:r>
          </a:p>
          <a:p>
            <a:pPr algn="just"/>
            <a:r>
              <a:rPr lang="en-US" dirty="0">
                <a:latin typeface="Times New Roman" panose="02020603050405020304" pitchFamily="18" charset="0"/>
                <a:cs typeface="Times New Roman" panose="02020603050405020304" pitchFamily="18" charset="0"/>
              </a:rPr>
              <a:t>2. Normally, structure definitions appear at the beginning of the program fi le, before any variables or functions are defined. They may also appear before the main, along with macro definitions, such as #define. In such cases, the definition is global and can be used by other functions as well.</a:t>
            </a:r>
          </a:p>
        </p:txBody>
      </p:sp>
      <p:sp>
        <p:nvSpPr>
          <p:cNvPr id="4" name="Rectangle 3"/>
          <p:cNvSpPr/>
          <p:nvPr/>
        </p:nvSpPr>
        <p:spPr>
          <a:xfrm>
            <a:off x="979868" y="182124"/>
            <a:ext cx="6096000" cy="2031325"/>
          </a:xfrm>
          <a:prstGeom prst="rect">
            <a:avLst/>
          </a:prstGeom>
        </p:spPr>
        <p:txBody>
          <a:bodyPr>
            <a:spAutoFit/>
          </a:bodyPr>
          <a:lstStyle/>
          <a:p>
            <a:r>
              <a:rPr lang="en-US" dirty="0">
                <a:latin typeface="Generic500-Regular"/>
              </a:rPr>
              <a:t>The use of tag name is optional here. For example:</a:t>
            </a:r>
          </a:p>
          <a:p>
            <a:r>
              <a:rPr lang="en-US" dirty="0">
                <a:latin typeface="Generic510-Regular"/>
              </a:rPr>
              <a:t>struct</a:t>
            </a:r>
          </a:p>
          <a:p>
            <a:r>
              <a:rPr lang="en-US" dirty="0">
                <a:latin typeface="Generic510-Regular"/>
              </a:rPr>
              <a:t>{ ........</a:t>
            </a:r>
          </a:p>
          <a:p>
            <a:r>
              <a:rPr lang="en-US" dirty="0">
                <a:latin typeface="Generic510-Regular"/>
              </a:rPr>
              <a:t>........</a:t>
            </a:r>
          </a:p>
          <a:p>
            <a:r>
              <a:rPr lang="en-US" dirty="0">
                <a:latin typeface="Generic510-Regular"/>
              </a:rPr>
              <a:t>........</a:t>
            </a:r>
          </a:p>
          <a:p>
            <a:r>
              <a:rPr lang="en-US" dirty="0">
                <a:latin typeface="Generic510-Regular"/>
              </a:rPr>
              <a:t>} book1, book2, book3;</a:t>
            </a:r>
          </a:p>
          <a:p>
            <a:endParaRPr lang="en-US" dirty="0"/>
          </a:p>
        </p:txBody>
      </p:sp>
    </p:spTree>
    <p:extLst>
      <p:ext uri="{BB962C8B-B14F-4D97-AF65-F5344CB8AC3E}">
        <p14:creationId xmlns:p14="http://schemas.microsoft.com/office/powerpoint/2010/main" val="514237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ACCESSING STRUCTURE MEMBERS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We can access and assign values to the members of a structure in a number of ways. As mentioned earlier, the members themselves are not variables. They should be linked to the structure variables in order to make them meaningful members.</a:t>
            </a:r>
          </a:p>
          <a:p>
            <a:pPr algn="just"/>
            <a:r>
              <a:rPr lang="en-US" dirty="0">
                <a:latin typeface="Times New Roman" panose="02020603050405020304" pitchFamily="18" charset="0"/>
                <a:cs typeface="Times New Roman" panose="02020603050405020304" pitchFamily="18" charset="0"/>
              </a:rPr>
              <a:t>The link between a member and a variable is established using the </a:t>
            </a:r>
            <a:r>
              <a:rPr lang="en-US" b="1" dirty="0">
                <a:latin typeface="Times New Roman" panose="02020603050405020304" pitchFamily="18" charset="0"/>
                <a:cs typeface="Times New Roman" panose="02020603050405020304" pitchFamily="18" charset="0"/>
              </a:rPr>
              <a:t>member operator ‘.’ </a:t>
            </a:r>
            <a:r>
              <a:rPr lang="en-US" dirty="0">
                <a:latin typeface="Times New Roman" panose="02020603050405020304" pitchFamily="18" charset="0"/>
                <a:cs typeface="Times New Roman" panose="02020603050405020304" pitchFamily="18" charset="0"/>
              </a:rPr>
              <a:t>which is also known as ‘</a:t>
            </a:r>
            <a:r>
              <a:rPr lang="en-US" b="1" dirty="0">
                <a:latin typeface="Times New Roman" panose="02020603050405020304" pitchFamily="18" charset="0"/>
                <a:cs typeface="Times New Roman" panose="02020603050405020304" pitchFamily="18" charset="0"/>
              </a:rPr>
              <a:t>dot operator’ </a:t>
            </a:r>
            <a:r>
              <a:rPr lang="en-US" dirty="0">
                <a:latin typeface="Times New Roman" panose="02020603050405020304" pitchFamily="18" charset="0"/>
                <a:cs typeface="Times New Roman" panose="02020603050405020304" pitchFamily="18" charset="0"/>
              </a:rPr>
              <a:t>or ‘period operator’</a:t>
            </a:r>
          </a:p>
          <a:p>
            <a:pPr algn="just"/>
            <a:r>
              <a:rPr lang="en-US" dirty="0">
                <a:latin typeface="Times New Roman" panose="02020603050405020304" pitchFamily="18" charset="0"/>
                <a:cs typeface="Times New Roman" panose="02020603050405020304" pitchFamily="18" charset="0"/>
              </a:rPr>
              <a:t>For example:    </a:t>
            </a:r>
            <a:r>
              <a:rPr lang="en-US" b="1" dirty="0">
                <a:latin typeface="Times New Roman" panose="02020603050405020304" pitchFamily="18" charset="0"/>
                <a:cs typeface="Times New Roman" panose="02020603050405020304" pitchFamily="18" charset="0"/>
              </a:rPr>
              <a:t>book1.price</a:t>
            </a:r>
          </a:p>
          <a:p>
            <a:pPr algn="just"/>
            <a:r>
              <a:rPr lang="en-US" dirty="0"/>
              <a:t>is the variable representing the price of book1 and can be treated like any other ordinary variable</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083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3335"/>
            <a:ext cx="10515600" cy="5893628"/>
          </a:xfrm>
        </p:spPr>
        <p:txBody>
          <a:bodyPr>
            <a:noAutofit/>
          </a:bodyPr>
          <a:lstStyle/>
          <a:p>
            <a:pPr algn="just"/>
            <a:r>
              <a:rPr lang="en-US" sz="3200" dirty="0">
                <a:latin typeface="Times New Roman" panose="02020603050405020304" pitchFamily="18" charset="0"/>
                <a:cs typeface="Times New Roman" panose="02020603050405020304" pitchFamily="18" charset="0"/>
              </a:rPr>
              <a:t>Here is how we would assign values to the members of book1:</a:t>
            </a:r>
          </a:p>
          <a:p>
            <a:pPr marL="0" indent="0" algn="just">
              <a:buNone/>
            </a:pPr>
            <a:r>
              <a:rPr lang="en-US" sz="3200" dirty="0">
                <a:latin typeface="Times New Roman" panose="02020603050405020304" pitchFamily="18" charset="0"/>
                <a:cs typeface="Times New Roman" panose="02020603050405020304" pitchFamily="18" charset="0"/>
              </a:rPr>
              <a:t>book1.pages = 250;</a:t>
            </a:r>
          </a:p>
          <a:p>
            <a:pPr marL="0" indent="0" algn="just">
              <a:buNone/>
            </a:pPr>
            <a:r>
              <a:rPr lang="en-US" sz="3200" dirty="0">
                <a:latin typeface="Times New Roman" panose="02020603050405020304" pitchFamily="18" charset="0"/>
                <a:cs typeface="Times New Roman" panose="02020603050405020304" pitchFamily="18" charset="0"/>
              </a:rPr>
              <a:t>book1.price = 120.50;</a:t>
            </a:r>
          </a:p>
          <a:p>
            <a:pPr marL="0" indent="0" algn="just">
              <a:buNone/>
            </a:pPr>
            <a:r>
              <a:rPr lang="en-US" sz="3200" dirty="0" err="1">
                <a:latin typeface="Times New Roman" panose="02020603050405020304" pitchFamily="18" charset="0"/>
                <a:cs typeface="Times New Roman" panose="02020603050405020304" pitchFamily="18" charset="0"/>
              </a:rPr>
              <a:t>strcpy</a:t>
            </a:r>
            <a:r>
              <a:rPr lang="en-US" sz="3200" dirty="0">
                <a:latin typeface="Times New Roman" panose="02020603050405020304" pitchFamily="18" charset="0"/>
                <a:cs typeface="Times New Roman" panose="02020603050405020304" pitchFamily="18" charset="0"/>
              </a:rPr>
              <a:t>(book1.title, “BASIC”);</a:t>
            </a:r>
          </a:p>
          <a:p>
            <a:pPr marL="0" indent="0" algn="just">
              <a:buNone/>
            </a:pPr>
            <a:r>
              <a:rPr lang="en-US" sz="3200" dirty="0" err="1">
                <a:latin typeface="Times New Roman" panose="02020603050405020304" pitchFamily="18" charset="0"/>
                <a:cs typeface="Times New Roman" panose="02020603050405020304" pitchFamily="18" charset="0"/>
              </a:rPr>
              <a:t>strcpy</a:t>
            </a:r>
            <a:r>
              <a:rPr lang="en-US" sz="3200" dirty="0">
                <a:latin typeface="Times New Roman" panose="02020603050405020304" pitchFamily="18" charset="0"/>
                <a:cs typeface="Times New Roman" panose="02020603050405020304" pitchFamily="18" charset="0"/>
              </a:rPr>
              <a:t>(book1.author, “</a:t>
            </a:r>
            <a:r>
              <a:rPr lang="en-US" sz="3200" dirty="0" err="1">
                <a:latin typeface="Times New Roman" panose="02020603050405020304" pitchFamily="18" charset="0"/>
                <a:cs typeface="Times New Roman" panose="02020603050405020304" pitchFamily="18" charset="0"/>
              </a:rPr>
              <a:t>Balagurusamy</a:t>
            </a:r>
            <a:r>
              <a:rPr lang="en-US" sz="3200" dirty="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We can also use </a:t>
            </a:r>
            <a:r>
              <a:rPr lang="en-US" sz="3200" dirty="0" err="1">
                <a:latin typeface="Times New Roman" panose="02020603050405020304" pitchFamily="18" charset="0"/>
                <a:cs typeface="Times New Roman" panose="02020603050405020304" pitchFamily="18" charset="0"/>
              </a:rPr>
              <a:t>scanf</a:t>
            </a:r>
            <a:r>
              <a:rPr lang="en-US" sz="3200" dirty="0">
                <a:latin typeface="Times New Roman" panose="02020603050405020304" pitchFamily="18" charset="0"/>
                <a:cs typeface="Times New Roman" panose="02020603050405020304" pitchFamily="18" charset="0"/>
              </a:rPr>
              <a:t> to give the values through the keyboard.</a:t>
            </a:r>
          </a:p>
          <a:p>
            <a:pPr marL="0" indent="0" algn="just">
              <a:buNone/>
            </a:pPr>
            <a:r>
              <a:rPr lang="en-US" sz="3200" dirty="0" err="1">
                <a:latin typeface="Times New Roman" panose="02020603050405020304" pitchFamily="18" charset="0"/>
                <a:cs typeface="Times New Roman" panose="02020603050405020304" pitchFamily="18" charset="0"/>
              </a:rPr>
              <a:t>scanf</a:t>
            </a:r>
            <a:r>
              <a:rPr lang="en-US" sz="3200" dirty="0">
                <a:latin typeface="Times New Roman" panose="02020603050405020304" pitchFamily="18" charset="0"/>
                <a:cs typeface="Times New Roman" panose="02020603050405020304" pitchFamily="18" charset="0"/>
              </a:rPr>
              <a:t>(“%s\n”, book1.title);</a:t>
            </a:r>
          </a:p>
          <a:p>
            <a:pPr marL="0" indent="0" algn="just">
              <a:buNone/>
            </a:pPr>
            <a:r>
              <a:rPr lang="en-US" sz="3200" dirty="0" err="1">
                <a:latin typeface="Times New Roman" panose="02020603050405020304" pitchFamily="18" charset="0"/>
                <a:cs typeface="Times New Roman" panose="02020603050405020304" pitchFamily="18" charset="0"/>
              </a:rPr>
              <a:t>scanf</a:t>
            </a:r>
            <a:r>
              <a:rPr lang="en-US" sz="3200" dirty="0">
                <a:latin typeface="Times New Roman" panose="02020603050405020304" pitchFamily="18" charset="0"/>
                <a:cs typeface="Times New Roman" panose="02020603050405020304" pitchFamily="18" charset="0"/>
              </a:rPr>
              <a:t>(“%d\n”, &amp;book1.pages);</a:t>
            </a:r>
          </a:p>
        </p:txBody>
      </p:sp>
    </p:spTree>
    <p:extLst>
      <p:ext uri="{BB962C8B-B14F-4D97-AF65-F5344CB8AC3E}">
        <p14:creationId xmlns:p14="http://schemas.microsoft.com/office/powerpoint/2010/main" val="1578710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a:latin typeface="Times New Roman" panose="02020603050405020304" pitchFamily="18" charset="0"/>
                <a:cs typeface="Times New Roman" panose="02020603050405020304" pitchFamily="18" charset="0"/>
              </a:rPr>
              <a:t>Problem:</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Define a structure type, struct personal that would contain person name, date of joining and salary. </a:t>
            </a:r>
          </a:p>
          <a:p>
            <a:r>
              <a:rPr lang="en-US" dirty="0">
                <a:latin typeface="Times New Roman" panose="02020603050405020304" pitchFamily="18" charset="0"/>
                <a:cs typeface="Times New Roman" panose="02020603050405020304" pitchFamily="18" charset="0"/>
              </a:rPr>
              <a:t>Using this structure, write a program to read this information for one person from the keyboard and print the same on the screen.</a:t>
            </a:r>
            <a:endParaRPr lang="en-US" dirty="0"/>
          </a:p>
        </p:txBody>
      </p:sp>
    </p:spTree>
    <p:extLst>
      <p:ext uri="{BB962C8B-B14F-4D97-AF65-F5344CB8AC3E}">
        <p14:creationId xmlns:p14="http://schemas.microsoft.com/office/powerpoint/2010/main" val="2357855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7371" y="0"/>
            <a:ext cx="12393773" cy="489364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struct personal</a:t>
            </a:r>
          </a:p>
          <a:p>
            <a:pPr algn="just"/>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char name[20];</a:t>
            </a:r>
          </a:p>
          <a:p>
            <a:pPr algn="just"/>
            <a:r>
              <a:rPr lang="en-US" sz="2400" dirty="0">
                <a:latin typeface="Times New Roman" panose="02020603050405020304" pitchFamily="18" charset="0"/>
                <a:cs typeface="Times New Roman" panose="02020603050405020304" pitchFamily="18" charset="0"/>
              </a:rPr>
              <a:t>int day;</a:t>
            </a:r>
          </a:p>
          <a:p>
            <a:pPr algn="just"/>
            <a:r>
              <a:rPr lang="en-US" sz="2400" dirty="0">
                <a:latin typeface="Times New Roman" panose="02020603050405020304" pitchFamily="18" charset="0"/>
                <a:cs typeface="Times New Roman" panose="02020603050405020304" pitchFamily="18" charset="0"/>
              </a:rPr>
              <a:t>char month[10];</a:t>
            </a:r>
          </a:p>
          <a:p>
            <a:pPr algn="just"/>
            <a:r>
              <a:rPr lang="en-US" sz="2400" dirty="0">
                <a:latin typeface="Times New Roman" panose="02020603050405020304" pitchFamily="18" charset="0"/>
                <a:cs typeface="Times New Roman" panose="02020603050405020304" pitchFamily="18" charset="0"/>
              </a:rPr>
              <a:t>int year;</a:t>
            </a:r>
          </a:p>
          <a:p>
            <a:pPr algn="just"/>
            <a:r>
              <a:rPr lang="en-US" sz="2400" dirty="0">
                <a:latin typeface="Times New Roman" panose="02020603050405020304" pitchFamily="18" charset="0"/>
                <a:cs typeface="Times New Roman" panose="02020603050405020304" pitchFamily="18" charset="0"/>
              </a:rPr>
              <a:t>float salary;</a:t>
            </a:r>
          </a:p>
          <a:p>
            <a:pPr algn="just"/>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main()</a:t>
            </a:r>
          </a:p>
          <a:p>
            <a:pPr algn="just"/>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struct personal person;</a:t>
            </a:r>
          </a:p>
          <a:p>
            <a:pPr algn="just"/>
            <a:r>
              <a:rPr lang="en-US" sz="2400" dirty="0" err="1">
                <a:latin typeface="Times New Roman" panose="02020603050405020304" pitchFamily="18" charset="0"/>
                <a:cs typeface="Times New Roman" panose="02020603050405020304" pitchFamily="18" charset="0"/>
              </a:rPr>
              <a:t>printf</a:t>
            </a:r>
            <a:r>
              <a:rPr lang="en-US" sz="2400" dirty="0">
                <a:latin typeface="Times New Roman" panose="02020603050405020304" pitchFamily="18" charset="0"/>
                <a:cs typeface="Times New Roman" panose="02020603050405020304" pitchFamily="18" charset="0"/>
              </a:rPr>
              <a:t>(“Input Values\n”);</a:t>
            </a:r>
          </a:p>
          <a:p>
            <a:pPr algn="just"/>
            <a:r>
              <a:rPr lang="en-US" sz="2400" dirty="0" err="1">
                <a:latin typeface="Times New Roman" panose="02020603050405020304" pitchFamily="18" charset="0"/>
                <a:cs typeface="Times New Roman" panose="02020603050405020304" pitchFamily="18" charset="0"/>
              </a:rPr>
              <a:t>scanf</a:t>
            </a:r>
            <a:r>
              <a:rPr lang="en-US" sz="2400" dirty="0">
                <a:latin typeface="Times New Roman" panose="02020603050405020304" pitchFamily="18" charset="0"/>
                <a:cs typeface="Times New Roman" panose="02020603050405020304" pitchFamily="18" charset="0"/>
              </a:rPr>
              <a:t>(“%s%d%s%d%f”,person.name,&amp;person.day,person.month,&amp;person.year,&amp;person.salary);</a:t>
            </a:r>
          </a:p>
        </p:txBody>
      </p:sp>
      <p:sp>
        <p:nvSpPr>
          <p:cNvPr id="5" name="TextBox 4"/>
          <p:cNvSpPr txBox="1"/>
          <p:nvPr/>
        </p:nvSpPr>
        <p:spPr>
          <a:xfrm>
            <a:off x="0" y="4893647"/>
            <a:ext cx="12192000" cy="830997"/>
          </a:xfrm>
          <a:prstGeom prst="rect">
            <a:avLst/>
          </a:prstGeom>
          <a:noFill/>
        </p:spPr>
        <p:txBody>
          <a:bodyPr wrap="square" rtlCol="0">
            <a:spAutoFit/>
          </a:bodyPr>
          <a:lstStyle/>
          <a:p>
            <a:pPr algn="just"/>
            <a:r>
              <a:rPr lang="pt-BR" sz="2400" dirty="0">
                <a:latin typeface="Times New Roman" panose="02020603050405020304" pitchFamily="18" charset="0"/>
                <a:cs typeface="Times New Roman" panose="02020603050405020304" pitchFamily="18" charset="0"/>
              </a:rPr>
              <a:t>printf(“%s %d %s %d %f\n”,</a:t>
            </a:r>
            <a:r>
              <a:rPr lang="en-US" sz="2400" dirty="0" err="1">
                <a:latin typeface="Times New Roman" panose="02020603050405020304" pitchFamily="18" charset="0"/>
                <a:cs typeface="Times New Roman" panose="02020603050405020304" pitchFamily="18" charset="0"/>
              </a:rPr>
              <a:t>person.name,person.day,person.month,person.year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person.salary</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71655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4881"/>
          </a:xfrm>
        </p:spPr>
        <p:txBody>
          <a:bodyPr>
            <a:normAutofit fontScale="90000"/>
          </a:bodyPr>
          <a:lstStyle/>
          <a:p>
            <a:r>
              <a:rPr lang="en-US" sz="3600" dirty="0">
                <a:latin typeface="Times New Roman" panose="02020603050405020304" pitchFamily="18" charset="0"/>
                <a:cs typeface="Times New Roman" panose="02020603050405020304" pitchFamily="18" charset="0"/>
              </a:rPr>
              <a:t>STRUCTURE INITIALIZATION</a:t>
            </a:r>
          </a:p>
        </p:txBody>
      </p:sp>
      <p:sp>
        <p:nvSpPr>
          <p:cNvPr id="3" name="Content Placeholder 2"/>
          <p:cNvSpPr>
            <a:spLocks noGrp="1"/>
          </p:cNvSpPr>
          <p:nvPr>
            <p:ph idx="1"/>
          </p:nvPr>
        </p:nvSpPr>
        <p:spPr>
          <a:xfrm>
            <a:off x="838200" y="940158"/>
            <a:ext cx="10515600" cy="5782614"/>
          </a:xfrm>
        </p:spPr>
        <p:txBody>
          <a:bodyPr>
            <a:normAutofit fontScale="85000" lnSpcReduction="20000"/>
          </a:bodyPr>
          <a:lstStyle/>
          <a:p>
            <a:r>
              <a:rPr lang="en-US" dirty="0"/>
              <a:t>   Like any other data type, a structure variable can be initialized at compile time.</a:t>
            </a:r>
          </a:p>
          <a:p>
            <a:pPr marL="0" indent="0">
              <a:lnSpc>
                <a:spcPct val="110000"/>
              </a:lnSpc>
              <a:buNone/>
            </a:pPr>
            <a:r>
              <a:rPr lang="en-US" dirty="0"/>
              <a:t>main()</a:t>
            </a:r>
          </a:p>
          <a:p>
            <a:pPr marL="0" indent="0">
              <a:lnSpc>
                <a:spcPct val="110000"/>
              </a:lnSpc>
              <a:buNone/>
            </a:pPr>
            <a:r>
              <a:rPr lang="en-US" dirty="0"/>
              <a:t>{</a:t>
            </a:r>
          </a:p>
          <a:p>
            <a:pPr marL="0" indent="0">
              <a:lnSpc>
                <a:spcPct val="110000"/>
              </a:lnSpc>
              <a:buNone/>
            </a:pPr>
            <a:r>
              <a:rPr lang="en-US" dirty="0"/>
              <a:t>struct</a:t>
            </a:r>
          </a:p>
          <a:p>
            <a:pPr marL="0" indent="0">
              <a:lnSpc>
                <a:spcPct val="110000"/>
              </a:lnSpc>
              <a:buNone/>
            </a:pPr>
            <a:r>
              <a:rPr lang="en-US" dirty="0"/>
              <a:t>{</a:t>
            </a:r>
          </a:p>
          <a:p>
            <a:pPr marL="0" indent="0">
              <a:lnSpc>
                <a:spcPct val="110000"/>
              </a:lnSpc>
              <a:buNone/>
            </a:pPr>
            <a:r>
              <a:rPr lang="en-US" dirty="0"/>
              <a:t>int weight;</a:t>
            </a:r>
          </a:p>
          <a:p>
            <a:pPr marL="0" indent="0">
              <a:lnSpc>
                <a:spcPct val="110000"/>
              </a:lnSpc>
              <a:buNone/>
            </a:pPr>
            <a:r>
              <a:rPr lang="en-US" dirty="0"/>
              <a:t>float height;</a:t>
            </a:r>
          </a:p>
          <a:p>
            <a:pPr marL="0" indent="0">
              <a:lnSpc>
                <a:spcPct val="110000"/>
              </a:lnSpc>
              <a:buNone/>
            </a:pPr>
            <a:r>
              <a:rPr lang="en-US" dirty="0"/>
              <a:t>}</a:t>
            </a:r>
          </a:p>
          <a:p>
            <a:pPr marL="0" indent="0">
              <a:lnSpc>
                <a:spcPct val="110000"/>
              </a:lnSpc>
              <a:buNone/>
            </a:pPr>
            <a:r>
              <a:rPr lang="en-US" dirty="0"/>
              <a:t>student = {60, 180.75};</a:t>
            </a:r>
          </a:p>
          <a:p>
            <a:pPr marL="0" indent="0">
              <a:lnSpc>
                <a:spcPct val="110000"/>
              </a:lnSpc>
              <a:buNone/>
            </a:pPr>
            <a:r>
              <a:rPr lang="en-US" dirty="0"/>
              <a:t>.....</a:t>
            </a:r>
          </a:p>
          <a:p>
            <a:pPr marL="0" indent="0">
              <a:lnSpc>
                <a:spcPct val="110000"/>
              </a:lnSpc>
              <a:buNone/>
            </a:pPr>
            <a:r>
              <a:rPr lang="en-US" dirty="0"/>
              <a:t>.....</a:t>
            </a:r>
          </a:p>
          <a:p>
            <a:pPr marL="0" indent="0">
              <a:lnSpc>
                <a:spcPct val="110000"/>
              </a:lnSpc>
              <a:buNone/>
            </a:pPr>
            <a:r>
              <a:rPr lang="en-US" dirty="0"/>
              <a:t>}</a:t>
            </a:r>
          </a:p>
          <a:p>
            <a:pPr marL="0" indent="0">
              <a:buNone/>
            </a:pPr>
            <a:endParaRPr lang="en-US" dirty="0"/>
          </a:p>
        </p:txBody>
      </p:sp>
      <p:sp>
        <p:nvSpPr>
          <p:cNvPr id="5" name="TextBox 4"/>
          <p:cNvSpPr txBox="1"/>
          <p:nvPr/>
        </p:nvSpPr>
        <p:spPr>
          <a:xfrm>
            <a:off x="5241702" y="3013657"/>
            <a:ext cx="6413678"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assigns the value 60 to student. weight and 180.75 to student. height. There is a one-to-one correspondence between the members and their initializing values.</a:t>
            </a:r>
          </a:p>
          <a:p>
            <a:endParaRPr lang="en-US" dirty="0"/>
          </a:p>
        </p:txBody>
      </p:sp>
    </p:spTree>
    <p:extLst>
      <p:ext uri="{BB962C8B-B14F-4D97-AF65-F5344CB8AC3E}">
        <p14:creationId xmlns:p14="http://schemas.microsoft.com/office/powerpoint/2010/main" val="2301249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321972"/>
            <a:ext cx="10714149" cy="5854991"/>
          </a:xfrm>
        </p:spPr>
        <p:txBody>
          <a:bodyPr>
            <a:normAutofit fontScale="85000" lnSpcReduction="20000"/>
          </a:bodyPr>
          <a:lstStyle/>
          <a:p>
            <a:pPr algn="just">
              <a:lnSpc>
                <a:spcPct val="120000"/>
              </a:lnSpc>
            </a:pPr>
            <a:r>
              <a:rPr lang="en-US" dirty="0">
                <a:latin typeface="Times New Roman" panose="02020603050405020304" pitchFamily="18" charset="0"/>
                <a:cs typeface="Times New Roman" panose="02020603050405020304" pitchFamily="18" charset="0"/>
              </a:rPr>
              <a:t>A lot of variation is possible in initializing a structure. The following statements initialize two structure variables. Here, it is essential to use a tag name.</a:t>
            </a:r>
          </a:p>
          <a:p>
            <a:pPr marL="0" indent="0">
              <a:buNone/>
            </a:pPr>
            <a:r>
              <a:rPr lang="en-US" b="1" dirty="0">
                <a:latin typeface="Times New Roman" panose="02020603050405020304" pitchFamily="18" charset="0"/>
                <a:cs typeface="Times New Roman" panose="02020603050405020304" pitchFamily="18" charset="0"/>
              </a:rPr>
              <a:t>main()</a:t>
            </a:r>
          </a:p>
          <a:p>
            <a:pPr marL="0" indent="0">
              <a:buNone/>
            </a:pP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struct </a:t>
            </a:r>
            <a:r>
              <a:rPr lang="en-US" b="1" dirty="0" err="1">
                <a:latin typeface="Times New Roman" panose="02020603050405020304" pitchFamily="18" charset="0"/>
                <a:cs typeface="Times New Roman" panose="02020603050405020304" pitchFamily="18" charset="0"/>
              </a:rPr>
              <a:t>st_record</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int weight;</a:t>
            </a:r>
          </a:p>
          <a:p>
            <a:pPr marL="0" indent="0">
              <a:buNone/>
            </a:pPr>
            <a:r>
              <a:rPr lang="en-US" b="1" dirty="0">
                <a:latin typeface="Times New Roman" panose="02020603050405020304" pitchFamily="18" charset="0"/>
                <a:cs typeface="Times New Roman" panose="02020603050405020304" pitchFamily="18" charset="0"/>
              </a:rPr>
              <a:t>float height;</a:t>
            </a:r>
          </a:p>
          <a:p>
            <a:pPr marL="0" indent="0">
              <a:buNone/>
            </a:pP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struct </a:t>
            </a:r>
            <a:r>
              <a:rPr lang="en-US" b="1" dirty="0" err="1">
                <a:latin typeface="Times New Roman" panose="02020603050405020304" pitchFamily="18" charset="0"/>
                <a:cs typeface="Times New Roman" panose="02020603050405020304" pitchFamily="18" charset="0"/>
              </a:rPr>
              <a:t>st_record</a:t>
            </a:r>
            <a:r>
              <a:rPr lang="en-US" b="1" dirty="0">
                <a:latin typeface="Times New Roman" panose="02020603050405020304" pitchFamily="18" charset="0"/>
                <a:cs typeface="Times New Roman" panose="02020603050405020304" pitchFamily="18" charset="0"/>
              </a:rPr>
              <a:t> student1 = { 60, 180.75 };</a:t>
            </a:r>
          </a:p>
          <a:p>
            <a:pPr marL="0" indent="0">
              <a:buNone/>
            </a:pPr>
            <a:r>
              <a:rPr lang="en-US" b="1" dirty="0">
                <a:latin typeface="Times New Roman" panose="02020603050405020304" pitchFamily="18" charset="0"/>
                <a:cs typeface="Times New Roman" panose="02020603050405020304" pitchFamily="18" charset="0"/>
              </a:rPr>
              <a:t>struct </a:t>
            </a:r>
            <a:r>
              <a:rPr lang="en-US" b="1" dirty="0" err="1">
                <a:latin typeface="Times New Roman" panose="02020603050405020304" pitchFamily="18" charset="0"/>
                <a:cs typeface="Times New Roman" panose="02020603050405020304" pitchFamily="18" charset="0"/>
              </a:rPr>
              <a:t>st_record</a:t>
            </a:r>
            <a:r>
              <a:rPr lang="en-US" b="1" dirty="0">
                <a:latin typeface="Times New Roman" panose="02020603050405020304" pitchFamily="18" charset="0"/>
                <a:cs typeface="Times New Roman" panose="02020603050405020304" pitchFamily="18" charset="0"/>
              </a:rPr>
              <a:t> student2 = { 53, 170.60 };</a:t>
            </a:r>
          </a:p>
          <a:p>
            <a:pPr marL="0" indent="0">
              <a:buNone/>
            </a:pP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69562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3335"/>
            <a:ext cx="10515600" cy="5893628"/>
          </a:xfrm>
        </p:spPr>
        <p:txBody>
          <a:bodyPr>
            <a:normAutofit lnSpcReduction="10000"/>
          </a:bodyPr>
          <a:lstStyle/>
          <a:p>
            <a:r>
              <a:rPr lang="en-US" dirty="0"/>
              <a:t>Another method is to initialize a structure variable outside the function as shown below:</a:t>
            </a:r>
          </a:p>
          <a:p>
            <a:pPr marL="0" indent="0">
              <a:buNone/>
            </a:pPr>
            <a:r>
              <a:rPr lang="en-US" sz="2600" b="1" dirty="0">
                <a:latin typeface="Times New Roman" panose="02020603050405020304" pitchFamily="18" charset="0"/>
                <a:cs typeface="Times New Roman" panose="02020603050405020304" pitchFamily="18" charset="0"/>
              </a:rPr>
              <a:t>struct </a:t>
            </a:r>
            <a:r>
              <a:rPr lang="en-US" sz="2600" b="1" dirty="0" err="1">
                <a:latin typeface="Times New Roman" panose="02020603050405020304" pitchFamily="18" charset="0"/>
                <a:cs typeface="Times New Roman" panose="02020603050405020304" pitchFamily="18" charset="0"/>
              </a:rPr>
              <a:t>st_record</a:t>
            </a:r>
            <a:endParaRPr lang="en-US" sz="2600" b="1" dirty="0">
              <a:latin typeface="Times New Roman" panose="02020603050405020304" pitchFamily="18" charset="0"/>
              <a:cs typeface="Times New Roman" panose="02020603050405020304" pitchFamily="18" charset="0"/>
            </a:endParaRPr>
          </a:p>
          <a:p>
            <a:pPr marL="0" indent="0">
              <a:buNone/>
            </a:pPr>
            <a:r>
              <a:rPr lang="en-US" sz="2600" b="1" dirty="0">
                <a:latin typeface="Times New Roman" panose="02020603050405020304" pitchFamily="18" charset="0"/>
                <a:cs typeface="Times New Roman" panose="02020603050405020304" pitchFamily="18" charset="0"/>
              </a:rPr>
              <a:t>{</a:t>
            </a:r>
          </a:p>
          <a:p>
            <a:pPr marL="0" indent="0">
              <a:buNone/>
            </a:pPr>
            <a:r>
              <a:rPr lang="en-US" sz="2600" b="1" dirty="0">
                <a:latin typeface="Times New Roman" panose="02020603050405020304" pitchFamily="18" charset="0"/>
                <a:cs typeface="Times New Roman" panose="02020603050405020304" pitchFamily="18" charset="0"/>
              </a:rPr>
              <a:t>int weight;</a:t>
            </a:r>
          </a:p>
          <a:p>
            <a:pPr marL="0" indent="0">
              <a:buNone/>
            </a:pPr>
            <a:r>
              <a:rPr lang="en-US" sz="2600" b="1" dirty="0">
                <a:latin typeface="Times New Roman" panose="02020603050405020304" pitchFamily="18" charset="0"/>
                <a:cs typeface="Times New Roman" panose="02020603050405020304" pitchFamily="18" charset="0"/>
              </a:rPr>
              <a:t>float height;</a:t>
            </a:r>
          </a:p>
          <a:p>
            <a:pPr marL="0" indent="0">
              <a:buNone/>
            </a:pPr>
            <a:r>
              <a:rPr lang="en-US" sz="2600" b="1" dirty="0">
                <a:latin typeface="Times New Roman" panose="02020603050405020304" pitchFamily="18" charset="0"/>
                <a:cs typeface="Times New Roman" panose="02020603050405020304" pitchFamily="18" charset="0"/>
              </a:rPr>
              <a:t>} student1 = {60, 180.75};</a:t>
            </a:r>
          </a:p>
          <a:p>
            <a:pPr marL="0" indent="0">
              <a:buNone/>
            </a:pPr>
            <a:r>
              <a:rPr lang="en-US" sz="2600" b="1" dirty="0">
                <a:latin typeface="Times New Roman" panose="02020603050405020304" pitchFamily="18" charset="0"/>
                <a:cs typeface="Times New Roman" panose="02020603050405020304" pitchFamily="18" charset="0"/>
              </a:rPr>
              <a:t>main()</a:t>
            </a:r>
          </a:p>
          <a:p>
            <a:pPr marL="0" indent="0">
              <a:buNone/>
            </a:pPr>
            <a:r>
              <a:rPr lang="en-US" sz="2600" b="1" dirty="0">
                <a:latin typeface="Times New Roman" panose="02020603050405020304" pitchFamily="18" charset="0"/>
                <a:cs typeface="Times New Roman" panose="02020603050405020304" pitchFamily="18" charset="0"/>
              </a:rPr>
              <a:t>{</a:t>
            </a:r>
          </a:p>
          <a:p>
            <a:pPr marL="0" indent="0">
              <a:buNone/>
            </a:pPr>
            <a:r>
              <a:rPr lang="en-US" sz="2600" b="1" dirty="0">
                <a:latin typeface="Times New Roman" panose="02020603050405020304" pitchFamily="18" charset="0"/>
                <a:cs typeface="Times New Roman" panose="02020603050405020304" pitchFamily="18" charset="0"/>
              </a:rPr>
              <a:t>struct </a:t>
            </a:r>
            <a:r>
              <a:rPr lang="en-US" sz="2600" b="1" dirty="0" err="1">
                <a:latin typeface="Times New Roman" panose="02020603050405020304" pitchFamily="18" charset="0"/>
                <a:cs typeface="Times New Roman" panose="02020603050405020304" pitchFamily="18" charset="0"/>
              </a:rPr>
              <a:t>st_record</a:t>
            </a:r>
            <a:r>
              <a:rPr lang="en-US" sz="2600" b="1" dirty="0">
                <a:latin typeface="Times New Roman" panose="02020603050405020304" pitchFamily="18" charset="0"/>
                <a:cs typeface="Times New Roman" panose="02020603050405020304" pitchFamily="18" charset="0"/>
              </a:rPr>
              <a:t> student2 = {53, 170.60};</a:t>
            </a:r>
          </a:p>
          <a:p>
            <a:pPr marL="0" indent="0">
              <a:buNone/>
            </a:pPr>
            <a:r>
              <a:rPr lang="en-US" sz="2600" b="1" dirty="0">
                <a:latin typeface="Times New Roman" panose="02020603050405020304" pitchFamily="18" charset="0"/>
                <a:cs typeface="Times New Roman" panose="02020603050405020304" pitchFamily="18" charset="0"/>
              </a:rPr>
              <a:t>.....</a:t>
            </a:r>
          </a:p>
          <a:p>
            <a:pPr marL="0" indent="0">
              <a:buNone/>
            </a:pPr>
            <a:r>
              <a:rPr lang="en-US" sz="2600" b="1" dirty="0">
                <a:latin typeface="Times New Roman" panose="02020603050405020304" pitchFamily="18" charset="0"/>
                <a:cs typeface="Times New Roman" panose="02020603050405020304" pitchFamily="18" charset="0"/>
              </a:rPr>
              <a:t>.....</a:t>
            </a:r>
          </a:p>
          <a:p>
            <a:pPr marL="0" indent="0">
              <a:buNone/>
            </a:pPr>
            <a:r>
              <a:rPr lang="en-US" sz="2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68338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0456"/>
            <a:ext cx="10515600" cy="6387921"/>
          </a:xfrm>
        </p:spPr>
        <p:txBody>
          <a:bodyPr>
            <a:normAutofit/>
          </a:bodyPr>
          <a:lstStyle/>
          <a:p>
            <a:pPr algn="just"/>
            <a:r>
              <a:rPr lang="en-US" dirty="0">
                <a:latin typeface="Times New Roman" panose="02020603050405020304" pitchFamily="18" charset="0"/>
                <a:cs typeface="Times New Roman" panose="02020603050405020304" pitchFamily="18" charset="0"/>
              </a:rPr>
              <a:t>C language does not permit the initialization of individual structure members within the template. The initialization must be done only in the declaration of the actual variables.</a:t>
            </a:r>
          </a:p>
          <a:p>
            <a:pPr algn="just"/>
            <a:r>
              <a:rPr lang="en-US" dirty="0">
                <a:latin typeface="Times New Roman" panose="02020603050405020304" pitchFamily="18" charset="0"/>
                <a:cs typeface="Times New Roman" panose="02020603050405020304" pitchFamily="18" charset="0"/>
              </a:rPr>
              <a:t>Note that the compile-time initialization of a structure variable must have the following elements:</a:t>
            </a:r>
          </a:p>
          <a:p>
            <a:pPr marL="0" indent="0" algn="just">
              <a:buNone/>
            </a:pPr>
            <a:r>
              <a:rPr lang="en-US" b="1" dirty="0">
                <a:latin typeface="Times New Roman" panose="02020603050405020304" pitchFamily="18" charset="0"/>
                <a:cs typeface="Times New Roman" panose="02020603050405020304" pitchFamily="18" charset="0"/>
              </a:rPr>
              <a:t>1. The keyword struct.</a:t>
            </a:r>
          </a:p>
          <a:p>
            <a:pPr marL="0" indent="0" algn="just">
              <a:buNone/>
            </a:pPr>
            <a:r>
              <a:rPr lang="en-US" b="1" dirty="0">
                <a:latin typeface="Times New Roman" panose="02020603050405020304" pitchFamily="18" charset="0"/>
                <a:cs typeface="Times New Roman" panose="02020603050405020304" pitchFamily="18" charset="0"/>
              </a:rPr>
              <a:t>2. The structure tag name.</a:t>
            </a:r>
          </a:p>
          <a:p>
            <a:pPr marL="0" indent="0" algn="just">
              <a:buNone/>
            </a:pPr>
            <a:r>
              <a:rPr lang="en-US" b="1" dirty="0">
                <a:latin typeface="Times New Roman" panose="02020603050405020304" pitchFamily="18" charset="0"/>
                <a:cs typeface="Times New Roman" panose="02020603050405020304" pitchFamily="18" charset="0"/>
              </a:rPr>
              <a:t>3. The name of the variable to be declared.</a:t>
            </a:r>
          </a:p>
          <a:p>
            <a:pPr marL="0" indent="0" algn="just">
              <a:buNone/>
            </a:pPr>
            <a:r>
              <a:rPr lang="en-US" b="1" dirty="0">
                <a:latin typeface="Times New Roman" panose="02020603050405020304" pitchFamily="18" charset="0"/>
                <a:cs typeface="Times New Roman" panose="02020603050405020304" pitchFamily="18" charset="0"/>
              </a:rPr>
              <a:t>4. The assignment operator =.</a:t>
            </a:r>
          </a:p>
          <a:p>
            <a:pPr marL="0" indent="0" algn="just">
              <a:buNone/>
            </a:pPr>
            <a:r>
              <a:rPr lang="en-US" b="1" dirty="0">
                <a:latin typeface="Times New Roman" panose="02020603050405020304" pitchFamily="18" charset="0"/>
                <a:cs typeface="Times New Roman" panose="02020603050405020304" pitchFamily="18" charset="0"/>
              </a:rPr>
              <a:t>5. A set of values for the members of the structure variable, separated by commas and enclosed in</a:t>
            </a:r>
          </a:p>
          <a:p>
            <a:pPr marL="0" indent="0" algn="just">
              <a:buNone/>
            </a:pPr>
            <a:r>
              <a:rPr lang="en-US" b="1" dirty="0">
                <a:latin typeface="Times New Roman" panose="02020603050405020304" pitchFamily="18" charset="0"/>
                <a:cs typeface="Times New Roman" panose="02020603050405020304" pitchFamily="18" charset="0"/>
              </a:rPr>
              <a:t>braces.</a:t>
            </a:r>
          </a:p>
          <a:p>
            <a:pPr marL="0" indent="0" algn="just">
              <a:buNone/>
            </a:pPr>
            <a:r>
              <a:rPr lang="en-US" b="1" dirty="0">
                <a:latin typeface="Times New Roman" panose="02020603050405020304" pitchFamily="18" charset="0"/>
                <a:cs typeface="Times New Roman" panose="02020603050405020304" pitchFamily="18" charset="0"/>
              </a:rPr>
              <a:t>6. A terminating semicolon.</a:t>
            </a:r>
          </a:p>
        </p:txBody>
      </p:sp>
    </p:spTree>
    <p:extLst>
      <p:ext uri="{BB962C8B-B14F-4D97-AF65-F5344CB8AC3E}">
        <p14:creationId xmlns:p14="http://schemas.microsoft.com/office/powerpoint/2010/main" val="915279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07607"/>
          </a:xfrm>
        </p:spPr>
        <p:txBody>
          <a:bodyPr>
            <a:normAutofit fontScale="90000"/>
          </a:bodyPr>
          <a:lstStyle/>
          <a:p>
            <a:r>
              <a:rPr lang="en-US" dirty="0">
                <a:latin typeface="Times New Roman" panose="02020603050405020304" pitchFamily="18" charset="0"/>
                <a:cs typeface="Times New Roman" panose="02020603050405020304" pitchFamily="18" charset="0"/>
              </a:rPr>
              <a:t>Rules for Initializing Structures</a:t>
            </a:r>
          </a:p>
        </p:txBody>
      </p:sp>
      <p:sp>
        <p:nvSpPr>
          <p:cNvPr id="3" name="Content Placeholder 2"/>
          <p:cNvSpPr>
            <a:spLocks noGrp="1"/>
          </p:cNvSpPr>
          <p:nvPr>
            <p:ph idx="1"/>
          </p:nvPr>
        </p:nvSpPr>
        <p:spPr>
          <a:xfrm>
            <a:off x="838200" y="962740"/>
            <a:ext cx="10515600" cy="5463818"/>
          </a:xfrm>
        </p:spPr>
        <p:txBody>
          <a:bodyPr>
            <a:noAutofit/>
          </a:bodyPr>
          <a:lstStyle/>
          <a:p>
            <a:pPr algn="just">
              <a:lnSpc>
                <a:spcPct val="110000"/>
              </a:lnSpc>
            </a:pPr>
            <a:r>
              <a:rPr lang="en-US" sz="2400" dirty="0">
                <a:latin typeface="Times New Roman" panose="02020603050405020304" pitchFamily="18" charset="0"/>
                <a:cs typeface="Times New Roman" panose="02020603050405020304" pitchFamily="18" charset="0"/>
              </a:rPr>
              <a:t>There are a few rules to keep in mind while initializing structure variables at compile-time which are as follows:</a:t>
            </a:r>
          </a:p>
          <a:p>
            <a:pPr marL="514350" indent="-514350" algn="just">
              <a:lnSpc>
                <a:spcPct val="110000"/>
              </a:lnSpc>
              <a:buFont typeface="+mj-lt"/>
              <a:buAutoNum type="arabicPeriod"/>
            </a:pPr>
            <a:r>
              <a:rPr lang="en-US" sz="2400" dirty="0">
                <a:latin typeface="Times New Roman" panose="02020603050405020304" pitchFamily="18" charset="0"/>
                <a:cs typeface="Times New Roman" panose="02020603050405020304" pitchFamily="18" charset="0"/>
              </a:rPr>
              <a:t>We cannot initialize individual members inside the structure template.</a:t>
            </a:r>
          </a:p>
          <a:p>
            <a:pPr marL="514350" indent="-514350" algn="just">
              <a:lnSpc>
                <a:spcPct val="110000"/>
              </a:lnSpc>
              <a:buFont typeface="+mj-lt"/>
              <a:buAutoNum type="arabicPeriod"/>
            </a:pPr>
            <a:r>
              <a:rPr lang="en-US" sz="2400" dirty="0">
                <a:latin typeface="Times New Roman" panose="02020603050405020304" pitchFamily="18" charset="0"/>
                <a:cs typeface="Times New Roman" panose="02020603050405020304" pitchFamily="18" charset="0"/>
              </a:rPr>
              <a:t>The order of values enclosed in braces must match the order of members in the structure definition. </a:t>
            </a:r>
          </a:p>
          <a:p>
            <a:pPr marL="514350" indent="-514350" algn="just">
              <a:lnSpc>
                <a:spcPct val="110000"/>
              </a:lnSpc>
              <a:buFont typeface="+mj-lt"/>
              <a:buAutoNum type="arabicPeriod"/>
            </a:pPr>
            <a:r>
              <a:rPr lang="en-US" sz="2400" dirty="0">
                <a:latin typeface="Times New Roman" panose="02020603050405020304" pitchFamily="18" charset="0"/>
                <a:cs typeface="Times New Roman" panose="02020603050405020304" pitchFamily="18" charset="0"/>
              </a:rPr>
              <a:t>It is permitted to have a partial initialization. We can initialize only the first few members and leave the remaining blank. The uninitialized members should be only at the end of the list.</a:t>
            </a:r>
          </a:p>
          <a:p>
            <a:pPr marL="514350" indent="-514350" algn="just">
              <a:lnSpc>
                <a:spcPct val="110000"/>
              </a:lnSpc>
              <a:buFont typeface="+mj-lt"/>
              <a:buAutoNum type="arabicPeriod"/>
            </a:pPr>
            <a:r>
              <a:rPr lang="en-US" sz="2400" dirty="0">
                <a:latin typeface="Times New Roman" panose="02020603050405020304" pitchFamily="18" charset="0"/>
                <a:cs typeface="Times New Roman" panose="02020603050405020304" pitchFamily="18" charset="0"/>
              </a:rPr>
              <a:t>The uninitialized members will be assigned default values as follows:</a:t>
            </a:r>
          </a:p>
          <a:p>
            <a:pPr algn="just">
              <a:lnSpc>
                <a:spcPct val="110000"/>
              </a:lnSpc>
            </a:pPr>
            <a:r>
              <a:rPr lang="en-US" sz="2400" dirty="0">
                <a:latin typeface="Times New Roman" panose="02020603050405020304" pitchFamily="18" charset="0"/>
                <a:cs typeface="Times New Roman" panose="02020603050405020304" pitchFamily="18" charset="0"/>
              </a:rPr>
              <a:t>Zero for integer and floating point numbers.</a:t>
            </a:r>
          </a:p>
          <a:p>
            <a:pPr algn="just">
              <a:lnSpc>
                <a:spcPct val="110000"/>
              </a:lnSpc>
            </a:pPr>
            <a:r>
              <a:rPr lang="en-US" sz="2400" dirty="0">
                <a:latin typeface="Times New Roman" panose="02020603050405020304" pitchFamily="18" charset="0"/>
                <a:cs typeface="Times New Roman" panose="02020603050405020304" pitchFamily="18" charset="0"/>
              </a:rPr>
              <a:t>‘\0’ for characters and strings.</a:t>
            </a:r>
          </a:p>
        </p:txBody>
      </p:sp>
    </p:spTree>
    <p:extLst>
      <p:ext uri="{BB962C8B-B14F-4D97-AF65-F5344CB8AC3E}">
        <p14:creationId xmlns:p14="http://schemas.microsoft.com/office/powerpoint/2010/main" val="1977344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98490" y="0"/>
            <a:ext cx="8448541" cy="618630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#include&lt;</a:t>
            </a:r>
            <a:r>
              <a:rPr lang="en-US" dirty="0" err="1">
                <a:latin typeface="Times New Roman" panose="02020603050405020304" pitchFamily="18" charset="0"/>
                <a:cs typeface="Times New Roman" panose="02020603050405020304" pitchFamily="18" charset="0"/>
              </a:rPr>
              <a:t>stdio.h</a:t>
            </a:r>
            <a:r>
              <a:rPr lang="en-US" dirty="0">
                <a:latin typeface="Times New Roman" panose="02020603050405020304" pitchFamily="18" charset="0"/>
                <a:cs typeface="Times New Roman" panose="02020603050405020304" pitchFamily="18" charset="0"/>
              </a:rPr>
              <a:t>&gt;  </a:t>
            </a:r>
          </a:p>
          <a:p>
            <a:pPr algn="just"/>
            <a:r>
              <a:rPr lang="en-US" dirty="0">
                <a:latin typeface="Times New Roman" panose="02020603050405020304" pitchFamily="18" charset="0"/>
                <a:cs typeface="Times New Roman" panose="02020603050405020304" pitchFamily="18" charset="0"/>
              </a:rPr>
              <a:t>struct student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char name[20];  </a:t>
            </a:r>
          </a:p>
          <a:p>
            <a:pPr algn="just"/>
            <a:r>
              <a:rPr lang="en-US" dirty="0">
                <a:latin typeface="Times New Roman" panose="02020603050405020304" pitchFamily="18" charset="0"/>
                <a:cs typeface="Times New Roman" panose="02020603050405020304" pitchFamily="18" charset="0"/>
              </a:rPr>
              <a:t>    int id;  </a:t>
            </a:r>
          </a:p>
          <a:p>
            <a:pPr algn="just"/>
            <a:r>
              <a:rPr lang="en-US" dirty="0">
                <a:latin typeface="Times New Roman" panose="02020603050405020304" pitchFamily="18" charset="0"/>
                <a:cs typeface="Times New Roman" panose="02020603050405020304" pitchFamily="18" charset="0"/>
              </a:rPr>
              <a:t>    float marks;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void main()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struct student s1,s2,s3;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("Enter the name, id, and marks of student 1 ");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scanf</a:t>
            </a:r>
            <a:r>
              <a:rPr lang="en-US" dirty="0">
                <a:latin typeface="Times New Roman" panose="02020603050405020304" pitchFamily="18" charset="0"/>
                <a:cs typeface="Times New Roman" panose="02020603050405020304" pitchFamily="18" charset="0"/>
              </a:rPr>
              <a:t>("%s %d %f",s1.name,&amp;s1.id,&amp;s1.marks);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("Enter the name, id, and marks of student 2 ");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scanf</a:t>
            </a:r>
            <a:r>
              <a:rPr lang="en-US" dirty="0">
                <a:latin typeface="Times New Roman" panose="02020603050405020304" pitchFamily="18" charset="0"/>
                <a:cs typeface="Times New Roman" panose="02020603050405020304" pitchFamily="18" charset="0"/>
              </a:rPr>
              <a:t>("%s %d %f",s2.name,&amp;s2.id,&amp;s2.marks);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("Enter the name, id, and marks of student 3 ");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scanf</a:t>
            </a:r>
            <a:r>
              <a:rPr lang="en-US" dirty="0">
                <a:latin typeface="Times New Roman" panose="02020603050405020304" pitchFamily="18" charset="0"/>
                <a:cs typeface="Times New Roman" panose="02020603050405020304" pitchFamily="18" charset="0"/>
              </a:rPr>
              <a:t>("%s %d %f",s3.name,&amp;s3.id,&amp;s3.marks);  </a:t>
            </a:r>
          </a:p>
          <a:p>
            <a:pPr algn="just"/>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("Printing the details....\n");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("%s %d %f\n",s1.name,s1.id,s1.marks);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("%s %d %f\n",s2.name,s2.id,s2.marks);  </a:t>
            </a:r>
          </a:p>
          <a:p>
            <a:pPr algn="just"/>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("%s %d %f\n",s3.name,s3.id,s3.marks);  </a:t>
            </a:r>
          </a:p>
          <a:p>
            <a:pPr algn="just"/>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38911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17" y="184822"/>
            <a:ext cx="10515600" cy="678064"/>
          </a:xfrm>
        </p:spPr>
        <p:txBody>
          <a:bodyPr>
            <a:normAutofit/>
          </a:bodyPr>
          <a:lstStyle/>
          <a:p>
            <a:r>
              <a:rPr lang="en-US" sz="3600" dirty="0">
                <a:latin typeface="Times New Roman" panose="02020603050405020304" pitchFamily="18" charset="0"/>
                <a:cs typeface="Times New Roman" panose="02020603050405020304" pitchFamily="18" charset="0"/>
              </a:rPr>
              <a:t>ARRAYS OF STRUCTURES</a:t>
            </a:r>
          </a:p>
        </p:txBody>
      </p:sp>
      <p:sp>
        <p:nvSpPr>
          <p:cNvPr id="3" name="Content Placeholder 2"/>
          <p:cNvSpPr>
            <a:spLocks noGrp="1"/>
          </p:cNvSpPr>
          <p:nvPr>
            <p:ph idx="1"/>
          </p:nvPr>
        </p:nvSpPr>
        <p:spPr>
          <a:xfrm>
            <a:off x="129325" y="1040014"/>
            <a:ext cx="11546983" cy="5322150"/>
          </a:xfrm>
        </p:spPr>
        <p:txBody>
          <a:bodyPr>
            <a:normAutofit/>
          </a:bodyPr>
          <a:lstStyle/>
          <a:p>
            <a:pPr algn="just">
              <a:lnSpc>
                <a:spcPct val="100000"/>
              </a:lnSpc>
            </a:pPr>
            <a:r>
              <a:rPr lang="en-US" dirty="0">
                <a:latin typeface="Times New Roman" panose="02020603050405020304" pitchFamily="18" charset="0"/>
                <a:cs typeface="Times New Roman" panose="02020603050405020304" pitchFamily="18" charset="0"/>
              </a:rPr>
              <a:t>We use structures to describe the format of a number of related variables.</a:t>
            </a:r>
          </a:p>
          <a:p>
            <a:pPr algn="just">
              <a:lnSpc>
                <a:spcPct val="100000"/>
              </a:lnSpc>
            </a:pPr>
            <a:r>
              <a:rPr lang="en-US" dirty="0">
                <a:latin typeface="Times New Roman" panose="02020603050405020304" pitchFamily="18" charset="0"/>
                <a:cs typeface="Times New Roman" panose="02020603050405020304" pitchFamily="18" charset="0"/>
              </a:rPr>
              <a:t>For example, in analyzing the marks obtained by a class of students, we may use a template to describe student name and marks obtained in various subjects and then declare all the students as structure variables.</a:t>
            </a:r>
          </a:p>
          <a:p>
            <a:pPr algn="just">
              <a:lnSpc>
                <a:spcPct val="100000"/>
              </a:lnSpc>
            </a:pPr>
            <a:r>
              <a:rPr lang="en-US" dirty="0">
                <a:latin typeface="Times New Roman" panose="02020603050405020304" pitchFamily="18" charset="0"/>
                <a:cs typeface="Times New Roman" panose="02020603050405020304" pitchFamily="18" charset="0"/>
              </a:rPr>
              <a:t>In such cases, we may declare an array of structures, each element of the array representing a structure variable. </a:t>
            </a:r>
          </a:p>
          <a:p>
            <a:pPr algn="just">
              <a:lnSpc>
                <a:spcPct val="100000"/>
              </a:lnSpc>
            </a:pPr>
            <a:r>
              <a:rPr lang="en-US" dirty="0">
                <a:latin typeface="Times New Roman" panose="02020603050405020304" pitchFamily="18" charset="0"/>
                <a:cs typeface="Times New Roman" panose="02020603050405020304" pitchFamily="18" charset="0"/>
              </a:rPr>
              <a:t>For example:  struct class student[100];</a:t>
            </a:r>
          </a:p>
          <a:p>
            <a:pPr algn="just">
              <a:lnSpc>
                <a:spcPct val="100000"/>
              </a:lnSpc>
            </a:pPr>
            <a:r>
              <a:rPr lang="en-US" dirty="0">
                <a:latin typeface="Times New Roman" panose="02020603050405020304" pitchFamily="18" charset="0"/>
                <a:cs typeface="Times New Roman" panose="02020603050405020304" pitchFamily="18" charset="0"/>
              </a:rPr>
              <a:t>defines an array called student, that consists of 100 elements. Each element is defined to be of the type struct class.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453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4851"/>
            <a:ext cx="10515600" cy="5842112"/>
          </a:xfrm>
        </p:spPr>
        <p:txBody>
          <a:bodyPr/>
          <a:lstStyle/>
          <a:p>
            <a:r>
              <a:rPr lang="en-US" dirty="0"/>
              <a:t>Consider the following declaration:</a:t>
            </a:r>
          </a:p>
          <a:p>
            <a:pPr marL="0" indent="0">
              <a:buNone/>
            </a:pPr>
            <a:r>
              <a:rPr lang="en-US" dirty="0"/>
              <a:t>struct marks</a:t>
            </a:r>
          </a:p>
          <a:p>
            <a:pPr marL="0" indent="0">
              <a:buNone/>
            </a:pPr>
            <a:r>
              <a:rPr lang="en-US" dirty="0"/>
              <a:t>{</a:t>
            </a:r>
          </a:p>
          <a:p>
            <a:pPr marL="0" indent="0" algn="just">
              <a:buNone/>
            </a:pPr>
            <a:r>
              <a:rPr lang="en-US" dirty="0">
                <a:latin typeface="Times New Roman" panose="02020603050405020304" pitchFamily="18" charset="0"/>
                <a:cs typeface="Times New Roman" panose="02020603050405020304" pitchFamily="18" charset="0"/>
              </a:rPr>
              <a:t>int subject1;</a:t>
            </a:r>
          </a:p>
          <a:p>
            <a:pPr marL="0" indent="0" algn="just">
              <a:buNone/>
            </a:pPr>
            <a:r>
              <a:rPr lang="en-US" dirty="0">
                <a:latin typeface="Times New Roman" panose="02020603050405020304" pitchFamily="18" charset="0"/>
                <a:cs typeface="Times New Roman" panose="02020603050405020304" pitchFamily="18" charset="0"/>
              </a:rPr>
              <a:t>int subject2;</a:t>
            </a:r>
          </a:p>
          <a:p>
            <a:pPr marL="0" indent="0" algn="just">
              <a:buNone/>
            </a:pPr>
            <a:r>
              <a:rPr lang="en-US" dirty="0">
                <a:latin typeface="Times New Roman" panose="02020603050405020304" pitchFamily="18" charset="0"/>
                <a:cs typeface="Times New Roman" panose="02020603050405020304" pitchFamily="18" charset="0"/>
              </a:rPr>
              <a:t>int subject3;</a:t>
            </a: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main()</a:t>
            </a: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struct marks student[3] ={{45,68,81}, {75,53,69}, {57,36,71}};</a:t>
            </a:r>
          </a:p>
          <a:p>
            <a:pPr marL="0" indent="0" algn="just">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57631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6214"/>
            <a:ext cx="10515600" cy="5880749"/>
          </a:xfrm>
        </p:spPr>
        <p:txBody>
          <a:bodyPr/>
          <a:lstStyle/>
          <a:p>
            <a:pPr algn="just"/>
            <a:r>
              <a:rPr lang="en-US" dirty="0">
                <a:latin typeface="Times New Roman" panose="02020603050405020304" pitchFamily="18" charset="0"/>
                <a:cs typeface="Times New Roman" panose="02020603050405020304" pitchFamily="18" charset="0"/>
              </a:rPr>
              <a:t>This declares the student as an array of three elements student[0], student[1], and student[2] and initializes their members as follows</a:t>
            </a:r>
          </a:p>
          <a:p>
            <a:pPr marL="0" indent="0" algn="just">
              <a:buNone/>
            </a:pPr>
            <a:r>
              <a:rPr lang="en-US" b="1" dirty="0">
                <a:latin typeface="Times New Roman" panose="02020603050405020304" pitchFamily="18" charset="0"/>
                <a:cs typeface="Times New Roman" panose="02020603050405020304" pitchFamily="18" charset="0"/>
              </a:rPr>
              <a:t>student[0].subject1 = 45;</a:t>
            </a:r>
          </a:p>
          <a:p>
            <a:pPr marL="0" indent="0" algn="just">
              <a:buNone/>
            </a:pPr>
            <a:r>
              <a:rPr lang="en-US" b="1" dirty="0">
                <a:latin typeface="Times New Roman" panose="02020603050405020304" pitchFamily="18" charset="0"/>
                <a:cs typeface="Times New Roman" panose="02020603050405020304" pitchFamily="18" charset="0"/>
              </a:rPr>
              <a:t>student[0].subject2 = 65;</a:t>
            </a:r>
          </a:p>
          <a:p>
            <a:pPr marL="0" indent="0" algn="just">
              <a:buNone/>
            </a:pPr>
            <a:r>
              <a:rPr lang="en-US" b="1" dirty="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student[2].subject3 = 71;</a:t>
            </a:r>
          </a:p>
          <a:p>
            <a:pPr algn="just"/>
            <a:r>
              <a:rPr lang="en-US" dirty="0">
                <a:latin typeface="Times New Roman" panose="02020603050405020304" pitchFamily="18" charset="0"/>
                <a:cs typeface="Times New Roman" panose="02020603050405020304" pitchFamily="18" charset="0"/>
              </a:rPr>
              <a:t>Note that the array is declared just as it would have been with any other array. Since student is an array, we use the usual array-accessing methods to access individual elements and then the member operator to access members</a:t>
            </a:r>
          </a:p>
          <a:p>
            <a:pPr algn="just"/>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4684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7730"/>
            <a:ext cx="10515600" cy="5829233"/>
          </a:xfrm>
        </p:spPr>
        <p:txBody>
          <a:bodyPr/>
          <a:lstStyle/>
          <a:p>
            <a:r>
              <a:rPr lang="en-US" dirty="0"/>
              <a:t>An array of structures is stored inside the memory in the same way as a multi-dimensional array. The array student actually looks as shown in Fig.</a:t>
            </a:r>
          </a:p>
          <a:p>
            <a:pPr marL="0" indent="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934950855"/>
              </p:ext>
            </p:extLst>
          </p:nvPr>
        </p:nvGraphicFramePr>
        <p:xfrm>
          <a:off x="5370490" y="1521404"/>
          <a:ext cx="1880316" cy="4450528"/>
        </p:xfrm>
        <a:graphic>
          <a:graphicData uri="http://schemas.openxmlformats.org/drawingml/2006/table">
            <a:tbl>
              <a:tblPr firstRow="1" bandRow="1">
                <a:tableStyleId>{5C22544A-7EE6-4342-B048-85BDC9FD1C3A}</a:tableStyleId>
              </a:tblPr>
              <a:tblGrid>
                <a:gridCol w="1880316">
                  <a:extLst>
                    <a:ext uri="{9D8B030D-6E8A-4147-A177-3AD203B41FA5}">
                      <a16:colId xmlns:a16="http://schemas.microsoft.com/office/drawing/2014/main" val="20000"/>
                    </a:ext>
                  </a:extLst>
                </a:gridCol>
              </a:tblGrid>
              <a:tr h="476306">
                <a:tc>
                  <a:txBody>
                    <a:bodyPr/>
                    <a:lstStyle/>
                    <a:p>
                      <a:pPr algn="ctr"/>
                      <a:r>
                        <a:rPr lang="en-US" dirty="0"/>
                        <a:t>45</a:t>
                      </a:r>
                    </a:p>
                  </a:txBody>
                  <a:tcPr/>
                </a:tc>
                <a:extLst>
                  <a:ext uri="{0D108BD9-81ED-4DB2-BD59-A6C34878D82A}">
                    <a16:rowId xmlns:a16="http://schemas.microsoft.com/office/drawing/2014/main" val="10000"/>
                  </a:ext>
                </a:extLst>
              </a:tr>
              <a:tr h="476306">
                <a:tc>
                  <a:txBody>
                    <a:bodyPr/>
                    <a:lstStyle/>
                    <a:p>
                      <a:pPr algn="ctr"/>
                      <a:r>
                        <a:rPr lang="en-US" dirty="0"/>
                        <a:t>68</a:t>
                      </a:r>
                    </a:p>
                  </a:txBody>
                  <a:tcPr/>
                </a:tc>
                <a:extLst>
                  <a:ext uri="{0D108BD9-81ED-4DB2-BD59-A6C34878D82A}">
                    <a16:rowId xmlns:a16="http://schemas.microsoft.com/office/drawing/2014/main" val="10001"/>
                  </a:ext>
                </a:extLst>
              </a:tr>
              <a:tr h="476306">
                <a:tc>
                  <a:txBody>
                    <a:bodyPr/>
                    <a:lstStyle/>
                    <a:p>
                      <a:pPr algn="ctr"/>
                      <a:r>
                        <a:rPr lang="en-US" dirty="0"/>
                        <a:t>81</a:t>
                      </a:r>
                    </a:p>
                  </a:txBody>
                  <a:tcPr/>
                </a:tc>
                <a:extLst>
                  <a:ext uri="{0D108BD9-81ED-4DB2-BD59-A6C34878D82A}">
                    <a16:rowId xmlns:a16="http://schemas.microsoft.com/office/drawing/2014/main" val="10002"/>
                  </a:ext>
                </a:extLst>
              </a:tr>
              <a:tr h="476306">
                <a:tc>
                  <a:txBody>
                    <a:bodyPr/>
                    <a:lstStyle/>
                    <a:p>
                      <a:pPr algn="ctr"/>
                      <a:r>
                        <a:rPr lang="en-US" dirty="0"/>
                        <a:t>75</a:t>
                      </a:r>
                    </a:p>
                  </a:txBody>
                  <a:tcPr/>
                </a:tc>
                <a:extLst>
                  <a:ext uri="{0D108BD9-81ED-4DB2-BD59-A6C34878D82A}">
                    <a16:rowId xmlns:a16="http://schemas.microsoft.com/office/drawing/2014/main" val="10003"/>
                  </a:ext>
                </a:extLst>
              </a:tr>
              <a:tr h="476306">
                <a:tc>
                  <a:txBody>
                    <a:bodyPr/>
                    <a:lstStyle/>
                    <a:p>
                      <a:pPr algn="ctr"/>
                      <a:r>
                        <a:rPr lang="en-US" dirty="0"/>
                        <a:t>53</a:t>
                      </a:r>
                    </a:p>
                  </a:txBody>
                  <a:tcPr/>
                </a:tc>
                <a:extLst>
                  <a:ext uri="{0D108BD9-81ED-4DB2-BD59-A6C34878D82A}">
                    <a16:rowId xmlns:a16="http://schemas.microsoft.com/office/drawing/2014/main" val="10004"/>
                  </a:ext>
                </a:extLst>
              </a:tr>
              <a:tr h="476306">
                <a:tc>
                  <a:txBody>
                    <a:bodyPr/>
                    <a:lstStyle/>
                    <a:p>
                      <a:pPr algn="ctr"/>
                      <a:r>
                        <a:rPr lang="en-US" dirty="0"/>
                        <a:t>69</a:t>
                      </a:r>
                    </a:p>
                  </a:txBody>
                  <a:tcPr/>
                </a:tc>
                <a:extLst>
                  <a:ext uri="{0D108BD9-81ED-4DB2-BD59-A6C34878D82A}">
                    <a16:rowId xmlns:a16="http://schemas.microsoft.com/office/drawing/2014/main" val="10005"/>
                  </a:ext>
                </a:extLst>
              </a:tr>
              <a:tr h="476306">
                <a:tc>
                  <a:txBody>
                    <a:bodyPr/>
                    <a:lstStyle/>
                    <a:p>
                      <a:pPr algn="ctr"/>
                      <a:r>
                        <a:rPr lang="en-US" dirty="0"/>
                        <a:t>57</a:t>
                      </a:r>
                    </a:p>
                  </a:txBody>
                  <a:tcPr/>
                </a:tc>
                <a:extLst>
                  <a:ext uri="{0D108BD9-81ED-4DB2-BD59-A6C34878D82A}">
                    <a16:rowId xmlns:a16="http://schemas.microsoft.com/office/drawing/2014/main" val="10006"/>
                  </a:ext>
                </a:extLst>
              </a:tr>
              <a:tr h="47630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36</a:t>
                      </a:r>
                    </a:p>
                    <a:p>
                      <a:pPr algn="ctr"/>
                      <a:endParaRPr lang="en-US" dirty="0"/>
                    </a:p>
                  </a:txBody>
                  <a:tcPr/>
                </a:tc>
                <a:extLst>
                  <a:ext uri="{0D108BD9-81ED-4DB2-BD59-A6C34878D82A}">
                    <a16:rowId xmlns:a16="http://schemas.microsoft.com/office/drawing/2014/main" val="10007"/>
                  </a:ext>
                </a:extLst>
              </a:tr>
              <a:tr h="476306">
                <a:tc>
                  <a:txBody>
                    <a:bodyPr/>
                    <a:lstStyle/>
                    <a:p>
                      <a:pPr algn="ctr"/>
                      <a:r>
                        <a:rPr lang="en-US" dirty="0"/>
                        <a:t>71</a:t>
                      </a:r>
                    </a:p>
                  </a:txBody>
                  <a:tcPr/>
                </a:tc>
                <a:extLst>
                  <a:ext uri="{0D108BD9-81ED-4DB2-BD59-A6C34878D82A}">
                    <a16:rowId xmlns:a16="http://schemas.microsoft.com/office/drawing/2014/main" val="1000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43435780"/>
              </p:ext>
            </p:extLst>
          </p:nvPr>
        </p:nvGraphicFramePr>
        <p:xfrm>
          <a:off x="2730321" y="1572925"/>
          <a:ext cx="2640169" cy="4454388"/>
        </p:xfrm>
        <a:graphic>
          <a:graphicData uri="http://schemas.openxmlformats.org/drawingml/2006/table">
            <a:tbl>
              <a:tblPr firstRow="1" bandRow="1">
                <a:tableStyleId>{5940675A-B579-460E-94D1-54222C63F5DA}</a:tableStyleId>
              </a:tblPr>
              <a:tblGrid>
                <a:gridCol w="2640169">
                  <a:extLst>
                    <a:ext uri="{9D8B030D-6E8A-4147-A177-3AD203B41FA5}">
                      <a16:colId xmlns:a16="http://schemas.microsoft.com/office/drawing/2014/main" val="20000"/>
                    </a:ext>
                  </a:extLst>
                </a:gridCol>
              </a:tblGrid>
              <a:tr h="494932">
                <a:tc>
                  <a:txBody>
                    <a:bodyPr/>
                    <a:lstStyle/>
                    <a:p>
                      <a:pPr algn="ctr"/>
                      <a:r>
                        <a:rPr lang="en-US" dirty="0"/>
                        <a:t>Student[0].subject1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94932">
                <a:tc>
                  <a:txBody>
                    <a:bodyPr/>
                    <a:lstStyle/>
                    <a:p>
                      <a:pPr algn="ctr"/>
                      <a:r>
                        <a:rPr lang="en-US" dirty="0"/>
                        <a:t>.subject2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94932">
                <a:tc>
                  <a:txBody>
                    <a:bodyPr/>
                    <a:lstStyle/>
                    <a:p>
                      <a:pPr algn="ctr"/>
                      <a:r>
                        <a:rPr lang="en-US" dirty="0"/>
                        <a:t>.subject3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94932">
                <a:tc>
                  <a:txBody>
                    <a:bodyPr/>
                    <a:lstStyle/>
                    <a:p>
                      <a:pPr algn="ctr"/>
                      <a:r>
                        <a:rPr lang="en-US" sz="1800" b="0" i="0" u="none" strike="noStrike" kern="1200" baseline="0" dirty="0">
                          <a:solidFill>
                            <a:schemeClr val="tx1"/>
                          </a:solidFill>
                          <a:latin typeface="+mn-lt"/>
                          <a:ea typeface="+mn-ea"/>
                          <a:cs typeface="+mn-cs"/>
                        </a:rPr>
                        <a:t>student [1].subject 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94932">
                <a:tc>
                  <a:txBody>
                    <a:bodyPr/>
                    <a:lstStyle/>
                    <a:p>
                      <a:pPr algn="ctr"/>
                      <a:r>
                        <a:rPr lang="en-US" sz="1800" b="0" i="0" u="none" strike="noStrike" kern="1200" baseline="0" dirty="0">
                          <a:solidFill>
                            <a:schemeClr val="tx1"/>
                          </a:solidFill>
                          <a:latin typeface="+mn-lt"/>
                          <a:ea typeface="+mn-ea"/>
                          <a:cs typeface="+mn-cs"/>
                        </a:rPr>
                        <a:t>.subject 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94932">
                <a:tc>
                  <a:txBody>
                    <a:bodyPr/>
                    <a:lstStyle/>
                    <a:p>
                      <a:pPr algn="ctr"/>
                      <a:r>
                        <a:rPr lang="en-US" sz="1800" b="0" i="0" u="none" strike="noStrike" kern="1200" baseline="0" dirty="0">
                          <a:solidFill>
                            <a:schemeClr val="tx1"/>
                          </a:solidFill>
                          <a:latin typeface="+mn-lt"/>
                          <a:ea typeface="+mn-ea"/>
                          <a:cs typeface="+mn-cs"/>
                        </a:rPr>
                        <a:t>.subject 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94932">
                <a:tc>
                  <a:txBody>
                    <a:bodyPr/>
                    <a:lstStyle/>
                    <a:p>
                      <a:pPr algn="ctr"/>
                      <a:r>
                        <a:rPr lang="en-US" sz="1800" b="0" i="0" u="none" strike="noStrike" kern="1200" baseline="0" dirty="0">
                          <a:solidFill>
                            <a:schemeClr val="tx1"/>
                          </a:solidFill>
                          <a:latin typeface="+mn-lt"/>
                          <a:ea typeface="+mn-ea"/>
                          <a:cs typeface="+mn-cs"/>
                        </a:rPr>
                        <a:t>student [2].subject 1</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94932">
                <a:tc>
                  <a:txBody>
                    <a:bodyPr/>
                    <a:lstStyle/>
                    <a:p>
                      <a:pPr algn="ctr"/>
                      <a:r>
                        <a:rPr lang="en-US" sz="1800" b="0" i="0" u="none" strike="noStrike" kern="1200" baseline="0" dirty="0">
                          <a:solidFill>
                            <a:schemeClr val="tx1"/>
                          </a:solidFill>
                          <a:latin typeface="+mn-lt"/>
                          <a:ea typeface="+mn-ea"/>
                          <a:cs typeface="+mn-cs"/>
                        </a:rPr>
                        <a:t>.subject 2</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94932">
                <a:tc>
                  <a:txBody>
                    <a:bodyPr/>
                    <a:lstStyle/>
                    <a:p>
                      <a:pPr algn="ctr"/>
                      <a:r>
                        <a:rPr lang="en-US" sz="1800" b="0" i="0" u="none" strike="noStrike" kern="1200" baseline="0" dirty="0">
                          <a:solidFill>
                            <a:schemeClr val="tx1"/>
                          </a:solidFill>
                          <a:latin typeface="+mn-lt"/>
                          <a:ea typeface="+mn-ea"/>
                          <a:cs typeface="+mn-cs"/>
                        </a:rPr>
                        <a:t>.subject 3</a:t>
                      </a:r>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7" name="TextBox 6"/>
          <p:cNvSpPr txBox="1"/>
          <p:nvPr/>
        </p:nvSpPr>
        <p:spPr>
          <a:xfrm>
            <a:off x="3850783" y="6176963"/>
            <a:ext cx="4056845" cy="369332"/>
          </a:xfrm>
          <a:prstGeom prst="rect">
            <a:avLst/>
          </a:prstGeom>
          <a:noFill/>
        </p:spPr>
        <p:txBody>
          <a:bodyPr wrap="square" rtlCol="0">
            <a:spAutoFit/>
          </a:bodyPr>
          <a:lstStyle/>
          <a:p>
            <a:r>
              <a:rPr lang="en-US" dirty="0"/>
              <a:t>The array student inside memory</a:t>
            </a:r>
          </a:p>
        </p:txBody>
      </p:sp>
    </p:spTree>
    <p:extLst>
      <p:ext uri="{BB962C8B-B14F-4D97-AF65-F5344CB8AC3E}">
        <p14:creationId xmlns:p14="http://schemas.microsoft.com/office/powerpoint/2010/main" val="15139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5541" y="357433"/>
            <a:ext cx="9997259" cy="5914578"/>
          </a:xfrm>
        </p:spPr>
      </p:pic>
    </p:spTree>
    <p:extLst>
      <p:ext uri="{BB962C8B-B14F-4D97-AF65-F5344CB8AC3E}">
        <p14:creationId xmlns:p14="http://schemas.microsoft.com/office/powerpoint/2010/main" val="857382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4248" y="0"/>
            <a:ext cx="7740203" cy="6863417"/>
          </a:xfrm>
          <a:prstGeom prst="rect">
            <a:avLst/>
          </a:prstGeom>
          <a:noFill/>
        </p:spPr>
        <p:txBody>
          <a:bodyPr wrap="square" rtlCol="0">
            <a:spAutoFit/>
          </a:bodyPr>
          <a:lstStyle/>
          <a:p>
            <a:r>
              <a:rPr lang="en-US" sz="2000" dirty="0"/>
              <a:t>#include&lt;</a:t>
            </a:r>
            <a:r>
              <a:rPr lang="en-US" sz="2000" dirty="0" err="1"/>
              <a:t>stdio.h</a:t>
            </a:r>
            <a:r>
              <a:rPr lang="en-US" sz="2000" dirty="0"/>
              <a:t>&gt;  </a:t>
            </a:r>
          </a:p>
          <a:p>
            <a:r>
              <a:rPr lang="en-US" sz="2000" dirty="0"/>
              <a:t>#include &lt;</a:t>
            </a:r>
            <a:r>
              <a:rPr lang="en-US" sz="2000" dirty="0" err="1"/>
              <a:t>string.h</a:t>
            </a:r>
            <a:r>
              <a:rPr lang="en-US" sz="2000" dirty="0"/>
              <a:t>&gt;    </a:t>
            </a:r>
          </a:p>
          <a:p>
            <a:r>
              <a:rPr lang="en-US" sz="2000" dirty="0"/>
              <a:t>struct student{    </a:t>
            </a:r>
          </a:p>
          <a:p>
            <a:r>
              <a:rPr lang="en-US" sz="2000" dirty="0"/>
              <a:t>int </a:t>
            </a:r>
            <a:r>
              <a:rPr lang="en-US" sz="2000" dirty="0" err="1"/>
              <a:t>rollno</a:t>
            </a:r>
            <a:r>
              <a:rPr lang="en-US" sz="2000" dirty="0"/>
              <a:t>;    </a:t>
            </a:r>
          </a:p>
          <a:p>
            <a:r>
              <a:rPr lang="en-US" sz="2000" dirty="0"/>
              <a:t>char name[10];    </a:t>
            </a:r>
          </a:p>
          <a:p>
            <a:r>
              <a:rPr lang="en-US" sz="2000" dirty="0"/>
              <a:t>};    </a:t>
            </a:r>
          </a:p>
          <a:p>
            <a:r>
              <a:rPr lang="en-US" sz="2000" dirty="0"/>
              <a:t>int main(){    </a:t>
            </a:r>
          </a:p>
          <a:p>
            <a:r>
              <a:rPr lang="en-US" sz="2000" dirty="0"/>
              <a:t>int </a:t>
            </a:r>
            <a:r>
              <a:rPr lang="en-US" sz="2000" dirty="0" err="1"/>
              <a:t>i</a:t>
            </a:r>
            <a:r>
              <a:rPr lang="en-US" sz="2000" dirty="0"/>
              <a:t>;    </a:t>
            </a:r>
          </a:p>
          <a:p>
            <a:r>
              <a:rPr lang="en-US" sz="2000" dirty="0"/>
              <a:t>struct student </a:t>
            </a:r>
            <a:r>
              <a:rPr lang="en-US" sz="2000" dirty="0" err="1"/>
              <a:t>st</a:t>
            </a:r>
            <a:r>
              <a:rPr lang="en-US" sz="2000" dirty="0"/>
              <a:t>[5];    </a:t>
            </a:r>
          </a:p>
          <a:p>
            <a:r>
              <a:rPr lang="en-US" sz="2000" dirty="0" err="1"/>
              <a:t>printf</a:t>
            </a:r>
            <a:r>
              <a:rPr lang="en-US" sz="2000" dirty="0"/>
              <a:t>("Enter Records of 5 students");    </a:t>
            </a:r>
          </a:p>
          <a:p>
            <a:r>
              <a:rPr lang="en-US" sz="2000" dirty="0"/>
              <a:t>for(</a:t>
            </a:r>
            <a:r>
              <a:rPr lang="en-US" sz="2000" dirty="0" err="1"/>
              <a:t>i</a:t>
            </a:r>
            <a:r>
              <a:rPr lang="en-US" sz="2000" dirty="0"/>
              <a:t>=0;i&lt;5;i++){    </a:t>
            </a:r>
          </a:p>
          <a:p>
            <a:r>
              <a:rPr lang="en-US" sz="2000" dirty="0" err="1"/>
              <a:t>printf</a:t>
            </a:r>
            <a:r>
              <a:rPr lang="en-US" sz="2000" dirty="0"/>
              <a:t>("\</a:t>
            </a:r>
            <a:r>
              <a:rPr lang="en-US" sz="2000" dirty="0" err="1"/>
              <a:t>nEnter</a:t>
            </a:r>
            <a:r>
              <a:rPr lang="en-US" sz="2000" dirty="0"/>
              <a:t> </a:t>
            </a:r>
            <a:r>
              <a:rPr lang="en-US" sz="2000" dirty="0" err="1"/>
              <a:t>Rollno</a:t>
            </a:r>
            <a:r>
              <a:rPr lang="en-US" sz="2000" dirty="0"/>
              <a:t>:");    </a:t>
            </a:r>
          </a:p>
          <a:p>
            <a:r>
              <a:rPr lang="en-US" sz="2000" dirty="0" err="1"/>
              <a:t>scanf</a:t>
            </a:r>
            <a:r>
              <a:rPr lang="en-US" sz="2000" dirty="0"/>
              <a:t>("%d",&amp;</a:t>
            </a:r>
            <a:r>
              <a:rPr lang="en-US" sz="2000" dirty="0" err="1"/>
              <a:t>st</a:t>
            </a:r>
            <a:r>
              <a:rPr lang="en-US" sz="2000" dirty="0"/>
              <a:t>[</a:t>
            </a:r>
            <a:r>
              <a:rPr lang="en-US" sz="2000" dirty="0" err="1"/>
              <a:t>i</a:t>
            </a:r>
            <a:r>
              <a:rPr lang="en-US" sz="2000" dirty="0"/>
              <a:t>].</a:t>
            </a:r>
            <a:r>
              <a:rPr lang="en-US" sz="2000" dirty="0" err="1"/>
              <a:t>rollno</a:t>
            </a:r>
            <a:r>
              <a:rPr lang="en-US" sz="2000" dirty="0"/>
              <a:t>);    </a:t>
            </a:r>
          </a:p>
          <a:p>
            <a:r>
              <a:rPr lang="en-US" sz="2000" dirty="0" err="1"/>
              <a:t>printf</a:t>
            </a:r>
            <a:r>
              <a:rPr lang="en-US" sz="2000" dirty="0"/>
              <a:t>("\</a:t>
            </a:r>
            <a:r>
              <a:rPr lang="en-US" sz="2000" dirty="0" err="1"/>
              <a:t>nEnter</a:t>
            </a:r>
            <a:r>
              <a:rPr lang="en-US" sz="2000" dirty="0"/>
              <a:t> Name:");    </a:t>
            </a:r>
          </a:p>
          <a:p>
            <a:r>
              <a:rPr lang="en-US" sz="2000" dirty="0" err="1"/>
              <a:t>scanf</a:t>
            </a:r>
            <a:r>
              <a:rPr lang="en-US" sz="2000" dirty="0"/>
              <a:t>("%s",&amp;</a:t>
            </a:r>
            <a:r>
              <a:rPr lang="en-US" sz="2000" dirty="0" err="1"/>
              <a:t>st</a:t>
            </a:r>
            <a:r>
              <a:rPr lang="en-US" sz="2000" dirty="0"/>
              <a:t>[</a:t>
            </a:r>
            <a:r>
              <a:rPr lang="en-US" sz="2000" dirty="0" err="1"/>
              <a:t>i</a:t>
            </a:r>
            <a:r>
              <a:rPr lang="en-US" sz="2000" dirty="0"/>
              <a:t>].name);    </a:t>
            </a:r>
          </a:p>
          <a:p>
            <a:r>
              <a:rPr lang="en-US" sz="2000" dirty="0"/>
              <a:t>}    </a:t>
            </a:r>
          </a:p>
          <a:p>
            <a:r>
              <a:rPr lang="en-US" sz="2000" dirty="0" err="1"/>
              <a:t>printf</a:t>
            </a:r>
            <a:r>
              <a:rPr lang="en-US" sz="2000" dirty="0"/>
              <a:t>("\</a:t>
            </a:r>
            <a:r>
              <a:rPr lang="en-US" sz="2000" dirty="0" err="1"/>
              <a:t>nStudent</a:t>
            </a:r>
            <a:r>
              <a:rPr lang="en-US" sz="2000" dirty="0"/>
              <a:t> Information List:");    </a:t>
            </a:r>
          </a:p>
          <a:p>
            <a:r>
              <a:rPr lang="en-US" sz="2000" dirty="0"/>
              <a:t>for(</a:t>
            </a:r>
            <a:r>
              <a:rPr lang="en-US" sz="2000" dirty="0" err="1"/>
              <a:t>i</a:t>
            </a:r>
            <a:r>
              <a:rPr lang="en-US" sz="2000" dirty="0"/>
              <a:t>=0;i&lt;5;i++){    </a:t>
            </a:r>
          </a:p>
          <a:p>
            <a:r>
              <a:rPr lang="en-US" sz="2000" dirty="0" err="1"/>
              <a:t>printf</a:t>
            </a:r>
            <a:r>
              <a:rPr lang="en-US" sz="2000" dirty="0"/>
              <a:t>("\</a:t>
            </a:r>
            <a:r>
              <a:rPr lang="en-US" sz="2000" dirty="0" err="1"/>
              <a:t>nRollno</a:t>
            </a:r>
            <a:r>
              <a:rPr lang="en-US" sz="2000" dirty="0"/>
              <a:t>:%d, Name:%s",</a:t>
            </a:r>
            <a:r>
              <a:rPr lang="en-US" sz="2000" dirty="0" err="1"/>
              <a:t>st</a:t>
            </a:r>
            <a:r>
              <a:rPr lang="en-US" sz="2000" dirty="0"/>
              <a:t>[</a:t>
            </a:r>
            <a:r>
              <a:rPr lang="en-US" sz="2000" dirty="0" err="1"/>
              <a:t>i</a:t>
            </a:r>
            <a:r>
              <a:rPr lang="en-US" sz="2000" dirty="0"/>
              <a:t>].</a:t>
            </a:r>
            <a:r>
              <a:rPr lang="en-US" sz="2000" dirty="0" err="1"/>
              <a:t>rollno,st</a:t>
            </a:r>
            <a:r>
              <a:rPr lang="en-US" sz="2000" dirty="0"/>
              <a:t>[</a:t>
            </a:r>
            <a:r>
              <a:rPr lang="en-US" sz="2000" dirty="0" err="1"/>
              <a:t>i</a:t>
            </a:r>
            <a:r>
              <a:rPr lang="en-US" sz="2000" dirty="0"/>
              <a:t>].name);    </a:t>
            </a:r>
          </a:p>
          <a:p>
            <a:r>
              <a:rPr lang="en-US" sz="2000" dirty="0"/>
              <a:t>}    </a:t>
            </a:r>
          </a:p>
          <a:p>
            <a:r>
              <a:rPr lang="en-US" sz="2000" dirty="0"/>
              <a:t>   return 0;    </a:t>
            </a:r>
          </a:p>
          <a:p>
            <a:r>
              <a:rPr lang="en-US" sz="2000" dirty="0"/>
              <a:t>} </a:t>
            </a:r>
          </a:p>
        </p:txBody>
      </p:sp>
    </p:spTree>
    <p:extLst>
      <p:ext uri="{BB962C8B-B14F-4D97-AF65-F5344CB8AC3E}">
        <p14:creationId xmlns:p14="http://schemas.microsoft.com/office/powerpoint/2010/main" val="3128474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56092"/>
          </a:xfrm>
        </p:spPr>
        <p:txBody>
          <a:bodyPr>
            <a:normAutofit fontScale="90000"/>
          </a:bodyPr>
          <a:lstStyle/>
          <a:p>
            <a:r>
              <a:rPr lang="en-US" sz="3200" dirty="0">
                <a:latin typeface="Times New Roman" panose="02020603050405020304" pitchFamily="18" charset="0"/>
                <a:cs typeface="Times New Roman" panose="02020603050405020304" pitchFamily="18" charset="0"/>
              </a:rPr>
              <a:t>ARRAYS WITHIN STRUCTURES</a:t>
            </a:r>
          </a:p>
        </p:txBody>
      </p:sp>
      <p:sp>
        <p:nvSpPr>
          <p:cNvPr id="3" name="Content Placeholder 2"/>
          <p:cNvSpPr>
            <a:spLocks noGrp="1"/>
          </p:cNvSpPr>
          <p:nvPr>
            <p:ph idx="1"/>
          </p:nvPr>
        </p:nvSpPr>
        <p:spPr>
          <a:xfrm>
            <a:off x="838200" y="888642"/>
            <a:ext cx="10515600" cy="5288321"/>
          </a:xfrm>
        </p:spPr>
        <p:txBody>
          <a:bodyPr>
            <a:normAutofit/>
          </a:bodyPr>
          <a:lstStyle/>
          <a:p>
            <a:r>
              <a:rPr lang="en-US" dirty="0"/>
              <a:t>C permits the use of arrays as structure members. We have already used arrays of characters inside a structure. Similarly, we can use single-dimensional or multi-dimensional arrays of type int or float.</a:t>
            </a:r>
          </a:p>
          <a:p>
            <a:r>
              <a:rPr lang="en-US" dirty="0"/>
              <a:t>Example:  </a:t>
            </a:r>
            <a:r>
              <a:rPr lang="en-US" b="1" dirty="0"/>
              <a:t>struct marks</a:t>
            </a:r>
          </a:p>
          <a:p>
            <a:pPr marL="0" indent="0">
              <a:buNone/>
            </a:pPr>
            <a:r>
              <a:rPr lang="en-US" b="1" dirty="0"/>
              <a:t>		{</a:t>
            </a:r>
          </a:p>
          <a:p>
            <a:pPr marL="0" indent="0">
              <a:buNone/>
            </a:pPr>
            <a:r>
              <a:rPr lang="en-US" b="1" dirty="0"/>
              <a:t>		int number;</a:t>
            </a:r>
          </a:p>
          <a:p>
            <a:pPr marL="0" indent="0">
              <a:buNone/>
            </a:pPr>
            <a:r>
              <a:rPr lang="en-US" b="1" dirty="0"/>
              <a:t>		float subject[3];</a:t>
            </a:r>
          </a:p>
          <a:p>
            <a:pPr marL="0" indent="0">
              <a:buNone/>
            </a:pPr>
            <a:r>
              <a:rPr lang="en-US" b="1" dirty="0"/>
              <a:t>		} student[2];</a:t>
            </a:r>
          </a:p>
          <a:p>
            <a:r>
              <a:rPr lang="en-US" dirty="0"/>
              <a:t>Here, the member subject contains three elements, subject[0], subject[1], and subject[2]. </a:t>
            </a:r>
            <a:endParaRPr lang="en-US" b="1" dirty="0"/>
          </a:p>
        </p:txBody>
      </p:sp>
    </p:spTree>
    <p:extLst>
      <p:ext uri="{BB962C8B-B14F-4D97-AF65-F5344CB8AC3E}">
        <p14:creationId xmlns:p14="http://schemas.microsoft.com/office/powerpoint/2010/main" val="2724585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9411" y="898346"/>
            <a:ext cx="10515600" cy="4351338"/>
          </a:xfrm>
        </p:spPr>
        <p:txBody>
          <a:bodyPr/>
          <a:lstStyle/>
          <a:p>
            <a:r>
              <a:rPr lang="en-US" dirty="0"/>
              <a:t>These elements can be accessed using appropriate subscripts. For example, the name</a:t>
            </a:r>
          </a:p>
          <a:p>
            <a:pPr marL="0" indent="0" algn="ctr">
              <a:buNone/>
            </a:pPr>
            <a:r>
              <a:rPr lang="en-US" b="1" dirty="0"/>
              <a:t>student[1].subject[2];</a:t>
            </a:r>
          </a:p>
          <a:p>
            <a:r>
              <a:rPr lang="en-US" dirty="0"/>
              <a:t>would refer to the marks obtained in the third subject by the second student</a:t>
            </a:r>
            <a:endParaRPr lang="en-US" b="1" dirty="0"/>
          </a:p>
          <a:p>
            <a:endParaRPr lang="en-US" dirty="0"/>
          </a:p>
        </p:txBody>
      </p:sp>
    </p:spTree>
    <p:extLst>
      <p:ext uri="{BB962C8B-B14F-4D97-AF65-F5344CB8AC3E}">
        <p14:creationId xmlns:p14="http://schemas.microsoft.com/office/powerpoint/2010/main" val="2242580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dirty="0">
                <a:latin typeface="Times New Roman" panose="02020603050405020304" pitchFamily="18" charset="0"/>
                <a:cs typeface="Times New Roman" panose="02020603050405020304" pitchFamily="18" charset="0"/>
              </a:rPr>
              <a:t>File management in c</a:t>
            </a:r>
          </a:p>
        </p:txBody>
      </p:sp>
      <p:sp>
        <p:nvSpPr>
          <p:cNvPr id="3" name="Content Placeholder 2"/>
          <p:cNvSpPr>
            <a:spLocks noGrp="1"/>
          </p:cNvSpPr>
          <p:nvPr>
            <p:ph idx="1"/>
          </p:nvPr>
        </p:nvSpPr>
        <p:spPr>
          <a:xfrm>
            <a:off x="838200" y="1325562"/>
            <a:ext cx="10515600" cy="5165389"/>
          </a:xfrm>
        </p:spPr>
        <p:txBody>
          <a:bodyPr/>
          <a:lstStyle/>
          <a:p>
            <a:r>
              <a:rPr lang="en-US" dirty="0"/>
              <a:t>Until now we have been using the functions such as </a:t>
            </a:r>
            <a:r>
              <a:rPr lang="en-US" dirty="0" err="1"/>
              <a:t>scanf</a:t>
            </a:r>
            <a:r>
              <a:rPr lang="en-US" dirty="0"/>
              <a:t> and </a:t>
            </a:r>
            <a:r>
              <a:rPr lang="en-US" dirty="0" err="1"/>
              <a:t>printf</a:t>
            </a:r>
            <a:r>
              <a:rPr lang="en-US" dirty="0"/>
              <a:t> to read and write data.</a:t>
            </a:r>
          </a:p>
          <a:p>
            <a:r>
              <a:rPr lang="en-US" dirty="0"/>
              <a:t>These are console oriented I/O functions, which always use the terminal (keyboard and screen) as the target place.</a:t>
            </a:r>
          </a:p>
          <a:p>
            <a:r>
              <a:rPr lang="en-US" dirty="0"/>
              <a:t>console oriented I/O operations pose two major problems.</a:t>
            </a:r>
          </a:p>
          <a:p>
            <a:pPr marL="514350" indent="-514350">
              <a:buFont typeface="+mj-lt"/>
              <a:buAutoNum type="arabicPeriod"/>
            </a:pPr>
            <a:r>
              <a:rPr lang="en-US" dirty="0"/>
              <a:t>It becomes cumbersome and time consuming to handle large volumes of data through terminals.</a:t>
            </a:r>
          </a:p>
          <a:p>
            <a:pPr marL="514350" indent="-514350">
              <a:buFont typeface="+mj-lt"/>
              <a:buAutoNum type="arabicPeriod"/>
            </a:pPr>
            <a:r>
              <a:rPr lang="en-US" dirty="0"/>
              <a:t>The entire data is lost when either the program is terminated or the computer is turned off.</a:t>
            </a:r>
          </a:p>
        </p:txBody>
      </p:sp>
    </p:spTree>
    <p:extLst>
      <p:ext uri="{BB962C8B-B14F-4D97-AF65-F5344CB8AC3E}">
        <p14:creationId xmlns:p14="http://schemas.microsoft.com/office/powerpoint/2010/main" val="2698956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882"/>
            <a:ext cx="10515600" cy="5739081"/>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It is therefore necessary to have a more flexible approach where data can be stored on the disks and read whenever necessary, without destroying the data.</a:t>
            </a:r>
          </a:p>
          <a:p>
            <a:pPr algn="just"/>
            <a:r>
              <a:rPr lang="en-US" dirty="0">
                <a:latin typeface="Times New Roman" panose="02020603050405020304" pitchFamily="18" charset="0"/>
                <a:cs typeface="Times New Roman" panose="02020603050405020304" pitchFamily="18" charset="0"/>
              </a:rPr>
              <a:t>It is therefore necessary to have a more flexible approach where data can be stored on the disks and read whenever necessary, without destroying the data.</a:t>
            </a:r>
          </a:p>
          <a:p>
            <a:pPr algn="just"/>
            <a:r>
              <a:rPr lang="en-US" dirty="0">
                <a:latin typeface="Times New Roman" panose="02020603050405020304" pitchFamily="18" charset="0"/>
                <a:cs typeface="Times New Roman" panose="02020603050405020304" pitchFamily="18" charset="0"/>
              </a:rPr>
              <a:t>Like most other languages, C supports a number of functions that have the ability to perform basic fi le operations, which include:</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naming a file,</a:t>
            </a:r>
          </a:p>
          <a:p>
            <a:pPr marL="514350" indent="-514350" algn="just">
              <a:buFont typeface="+mj-lt"/>
              <a:buAutoNum type="arabicPeriod"/>
            </a:pPr>
            <a:r>
              <a:rPr lang="it-IT" b="1" dirty="0">
                <a:latin typeface="Times New Roman" panose="02020603050405020304" pitchFamily="18" charset="0"/>
                <a:cs typeface="Times New Roman" panose="02020603050405020304" pitchFamily="18" charset="0"/>
              </a:rPr>
              <a:t>opening a file,</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 reading data from a file,</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writing data to a file, and</a:t>
            </a:r>
          </a:p>
          <a:p>
            <a:pPr marL="514350" indent="-514350" algn="just">
              <a:buFont typeface="+mj-lt"/>
              <a:buAutoNum type="arabicPeriod"/>
            </a:pPr>
            <a:r>
              <a:rPr lang="en-US" b="1" dirty="0">
                <a:latin typeface="Times New Roman" panose="02020603050405020304" pitchFamily="18" charset="0"/>
                <a:cs typeface="Times New Roman" panose="02020603050405020304" pitchFamily="18" charset="0"/>
              </a:rPr>
              <a:t>closing a file.</a:t>
            </a:r>
          </a:p>
        </p:txBody>
      </p:sp>
    </p:spTree>
    <p:extLst>
      <p:ext uri="{BB962C8B-B14F-4D97-AF65-F5344CB8AC3E}">
        <p14:creationId xmlns:p14="http://schemas.microsoft.com/office/powerpoint/2010/main" val="1854075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7E2B71E-F642-45ED-1C96-0A23775FC392}"/>
              </a:ext>
            </a:extLst>
          </p:cNvPr>
          <p:cNvGraphicFramePr>
            <a:graphicFrameLocks noGrp="1"/>
          </p:cNvGraphicFramePr>
          <p:nvPr>
            <p:ph idx="1"/>
            <p:extLst>
              <p:ext uri="{D42A27DB-BD31-4B8C-83A1-F6EECF244321}">
                <p14:modId xmlns:p14="http://schemas.microsoft.com/office/powerpoint/2010/main" val="753122940"/>
              </p:ext>
            </p:extLst>
          </p:nvPr>
        </p:nvGraphicFramePr>
        <p:xfrm>
          <a:off x="767080" y="650242"/>
          <a:ext cx="10515600" cy="620775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18663850"/>
                    </a:ext>
                  </a:extLst>
                </a:gridCol>
                <a:gridCol w="5257800">
                  <a:extLst>
                    <a:ext uri="{9D8B030D-6E8A-4147-A177-3AD203B41FA5}">
                      <a16:colId xmlns:a16="http://schemas.microsoft.com/office/drawing/2014/main" val="1868473923"/>
                    </a:ext>
                  </a:extLst>
                </a:gridCol>
              </a:tblGrid>
              <a:tr h="424060">
                <a:tc>
                  <a:txBody>
                    <a:bodyPr/>
                    <a:lstStyle/>
                    <a:p>
                      <a:r>
                        <a:rPr lang="en-IN" dirty="0"/>
                        <a:t>Function name</a:t>
                      </a:r>
                    </a:p>
                  </a:txBody>
                  <a:tcPr/>
                </a:tc>
                <a:tc>
                  <a:txBody>
                    <a:bodyPr/>
                    <a:lstStyle/>
                    <a:p>
                      <a:r>
                        <a:rPr lang="en-IN" dirty="0"/>
                        <a:t>Operation</a:t>
                      </a:r>
                    </a:p>
                  </a:txBody>
                  <a:tcPr/>
                </a:tc>
                <a:extLst>
                  <a:ext uri="{0D108BD9-81ED-4DB2-BD59-A6C34878D82A}">
                    <a16:rowId xmlns:a16="http://schemas.microsoft.com/office/drawing/2014/main" val="646680512"/>
                  </a:ext>
                </a:extLst>
              </a:tr>
              <a:tr h="742104">
                <a:tc>
                  <a:txBody>
                    <a:bodyPr/>
                    <a:lstStyle/>
                    <a:p>
                      <a:r>
                        <a:rPr lang="en-US" dirty="0" err="1"/>
                        <a:t>fopen</a:t>
                      </a:r>
                      <a:r>
                        <a:rPr lang="en-US" dirty="0"/>
                        <a:t>()*</a:t>
                      </a:r>
                      <a:endParaRPr lang="en-IN" dirty="0"/>
                    </a:p>
                  </a:txBody>
                  <a:tcPr/>
                </a:tc>
                <a:tc>
                  <a:txBody>
                    <a:bodyPr/>
                    <a:lstStyle/>
                    <a:p>
                      <a:r>
                        <a:rPr lang="en-US" dirty="0"/>
                        <a:t>* Creates a new fi le for use. * Opens an existing fi le for use* Closes a fi le which has been opened for use</a:t>
                      </a:r>
                      <a:endParaRPr lang="en-IN" dirty="0"/>
                    </a:p>
                  </a:txBody>
                  <a:tcPr/>
                </a:tc>
                <a:extLst>
                  <a:ext uri="{0D108BD9-81ED-4DB2-BD59-A6C34878D82A}">
                    <a16:rowId xmlns:a16="http://schemas.microsoft.com/office/drawing/2014/main" val="165658150"/>
                  </a:ext>
                </a:extLst>
              </a:tr>
              <a:tr h="429949">
                <a:tc>
                  <a:txBody>
                    <a:bodyPr/>
                    <a:lstStyle/>
                    <a:p>
                      <a:r>
                        <a:rPr lang="en-US" dirty="0" err="1"/>
                        <a:t>fclose</a:t>
                      </a:r>
                      <a:r>
                        <a:rPr lang="en-US" dirty="0"/>
                        <a:t>(). </a:t>
                      </a:r>
                      <a:endParaRPr lang="en-IN" dirty="0"/>
                    </a:p>
                  </a:txBody>
                  <a:tcPr/>
                </a:tc>
                <a:tc>
                  <a:txBody>
                    <a:bodyPr/>
                    <a:lstStyle/>
                    <a:p>
                      <a:r>
                        <a:rPr lang="en-US" dirty="0"/>
                        <a:t>* Closes a fi le which has been opened for use</a:t>
                      </a:r>
                      <a:endParaRPr lang="en-IN" dirty="0"/>
                    </a:p>
                  </a:txBody>
                  <a:tcPr/>
                </a:tc>
                <a:extLst>
                  <a:ext uri="{0D108BD9-81ED-4DB2-BD59-A6C34878D82A}">
                    <a16:rowId xmlns:a16="http://schemas.microsoft.com/office/drawing/2014/main" val="2406088708"/>
                  </a:ext>
                </a:extLst>
              </a:tr>
              <a:tr h="429949">
                <a:tc>
                  <a:txBody>
                    <a:bodyPr/>
                    <a:lstStyle/>
                    <a:p>
                      <a:r>
                        <a:rPr lang="en-US" dirty="0" err="1"/>
                        <a:t>getc</a:t>
                      </a:r>
                      <a:r>
                        <a:rPr lang="en-US" dirty="0"/>
                        <a:t>()</a:t>
                      </a:r>
                      <a:endParaRPr lang="en-IN" dirty="0"/>
                    </a:p>
                  </a:txBody>
                  <a:tcPr/>
                </a:tc>
                <a:tc>
                  <a:txBody>
                    <a:bodyPr/>
                    <a:lstStyle/>
                    <a:p>
                      <a:r>
                        <a:rPr lang="en-US" dirty="0"/>
                        <a:t>* Reads a character from a fi le. </a:t>
                      </a:r>
                      <a:endParaRPr lang="en-IN" dirty="0"/>
                    </a:p>
                  </a:txBody>
                  <a:tcPr/>
                </a:tc>
                <a:extLst>
                  <a:ext uri="{0D108BD9-81ED-4DB2-BD59-A6C34878D82A}">
                    <a16:rowId xmlns:a16="http://schemas.microsoft.com/office/drawing/2014/main" val="450646265"/>
                  </a:ext>
                </a:extLst>
              </a:tr>
              <a:tr h="429949">
                <a:tc>
                  <a:txBody>
                    <a:bodyPr/>
                    <a:lstStyle/>
                    <a:p>
                      <a:r>
                        <a:rPr lang="en-US" dirty="0" err="1"/>
                        <a:t>putc</a:t>
                      </a:r>
                      <a:r>
                        <a:rPr lang="en-US" dirty="0"/>
                        <a:t>()</a:t>
                      </a:r>
                      <a:endParaRPr lang="en-IN" dirty="0"/>
                    </a:p>
                  </a:txBody>
                  <a:tcPr/>
                </a:tc>
                <a:tc>
                  <a:txBody>
                    <a:bodyPr/>
                    <a:lstStyle/>
                    <a:p>
                      <a:r>
                        <a:rPr lang="en-US" dirty="0"/>
                        <a:t>* Writes a character to a fi le</a:t>
                      </a:r>
                      <a:endParaRPr lang="en-IN" dirty="0"/>
                    </a:p>
                  </a:txBody>
                  <a:tcPr/>
                </a:tc>
                <a:extLst>
                  <a:ext uri="{0D108BD9-81ED-4DB2-BD59-A6C34878D82A}">
                    <a16:rowId xmlns:a16="http://schemas.microsoft.com/office/drawing/2014/main" val="2928008714"/>
                  </a:ext>
                </a:extLst>
              </a:tr>
              <a:tr h="429949">
                <a:tc>
                  <a:txBody>
                    <a:bodyPr/>
                    <a:lstStyle/>
                    <a:p>
                      <a:r>
                        <a:rPr lang="en-US" dirty="0" err="1"/>
                        <a:t>getc</a:t>
                      </a:r>
                      <a:r>
                        <a:rPr lang="en-US" dirty="0"/>
                        <a:t>() </a:t>
                      </a:r>
                      <a:endParaRPr lang="en-IN" dirty="0"/>
                    </a:p>
                  </a:txBody>
                  <a:tcPr/>
                </a:tc>
                <a:tc>
                  <a:txBody>
                    <a:bodyPr/>
                    <a:lstStyle/>
                    <a:p>
                      <a:r>
                        <a:rPr lang="en-US" dirty="0"/>
                        <a:t>* Reads a character from a fi le..</a:t>
                      </a:r>
                      <a:endParaRPr lang="en-IN" dirty="0"/>
                    </a:p>
                  </a:txBody>
                  <a:tcPr/>
                </a:tc>
                <a:extLst>
                  <a:ext uri="{0D108BD9-81ED-4DB2-BD59-A6C34878D82A}">
                    <a16:rowId xmlns:a16="http://schemas.microsoft.com/office/drawing/2014/main" val="432178986"/>
                  </a:ext>
                </a:extLst>
              </a:tr>
              <a:tr h="429949">
                <a:tc>
                  <a:txBody>
                    <a:bodyPr/>
                    <a:lstStyle/>
                    <a:p>
                      <a:r>
                        <a:rPr lang="en-US" dirty="0" err="1"/>
                        <a:t>fprintf</a:t>
                      </a:r>
                      <a:r>
                        <a:rPr lang="en-US" dirty="0"/>
                        <a:t>()</a:t>
                      </a:r>
                      <a:endParaRPr lang="en-IN" dirty="0"/>
                    </a:p>
                  </a:txBody>
                  <a:tcPr/>
                </a:tc>
                <a:tc>
                  <a:txBody>
                    <a:bodyPr/>
                    <a:lstStyle/>
                    <a:p>
                      <a:r>
                        <a:rPr lang="en-US" dirty="0"/>
                        <a:t>* Writes a set of data values to a fi le. </a:t>
                      </a:r>
                      <a:endParaRPr lang="en-IN" dirty="0"/>
                    </a:p>
                  </a:txBody>
                  <a:tcPr/>
                </a:tc>
                <a:extLst>
                  <a:ext uri="{0D108BD9-81ED-4DB2-BD59-A6C34878D82A}">
                    <a16:rowId xmlns:a16="http://schemas.microsoft.com/office/drawing/2014/main" val="2611388193"/>
                  </a:ext>
                </a:extLst>
              </a:tr>
              <a:tr h="429949">
                <a:tc>
                  <a:txBody>
                    <a:bodyPr/>
                    <a:lstStyle/>
                    <a:p>
                      <a:r>
                        <a:rPr lang="en-US" dirty="0" err="1"/>
                        <a:t>fscanf</a:t>
                      </a:r>
                      <a:r>
                        <a:rPr lang="en-US" dirty="0"/>
                        <a:t>() </a:t>
                      </a:r>
                      <a:endParaRPr lang="en-IN" dirty="0"/>
                    </a:p>
                  </a:txBody>
                  <a:tcPr/>
                </a:tc>
                <a:tc>
                  <a:txBody>
                    <a:bodyPr/>
                    <a:lstStyle/>
                    <a:p>
                      <a:r>
                        <a:rPr lang="en-US" dirty="0"/>
                        <a:t>* Reads a set of data values from a fi le. </a:t>
                      </a:r>
                      <a:endParaRPr lang="en-IN" dirty="0"/>
                    </a:p>
                  </a:txBody>
                  <a:tcPr/>
                </a:tc>
                <a:extLst>
                  <a:ext uri="{0D108BD9-81ED-4DB2-BD59-A6C34878D82A}">
                    <a16:rowId xmlns:a16="http://schemas.microsoft.com/office/drawing/2014/main" val="217784606"/>
                  </a:ext>
                </a:extLst>
              </a:tr>
              <a:tr h="429949">
                <a:tc>
                  <a:txBody>
                    <a:bodyPr/>
                    <a:lstStyle/>
                    <a:p>
                      <a:r>
                        <a:rPr lang="en-US" dirty="0" err="1"/>
                        <a:t>getw</a:t>
                      </a:r>
                      <a:r>
                        <a:rPr lang="en-US" dirty="0"/>
                        <a:t>()</a:t>
                      </a:r>
                      <a:endParaRPr lang="en-IN" dirty="0"/>
                    </a:p>
                  </a:txBody>
                  <a:tcPr/>
                </a:tc>
                <a:tc>
                  <a:txBody>
                    <a:bodyPr/>
                    <a:lstStyle/>
                    <a:p>
                      <a:pPr marL="285750" indent="-285750">
                        <a:buFont typeface="Arial" panose="020B0604020202020204" pitchFamily="34" charset="0"/>
                        <a:buChar char="•"/>
                      </a:pPr>
                      <a:r>
                        <a:rPr lang="en-US" dirty="0"/>
                        <a:t>Reads an integer from a fi le. </a:t>
                      </a:r>
                    </a:p>
                  </a:txBody>
                  <a:tcPr/>
                </a:tc>
                <a:extLst>
                  <a:ext uri="{0D108BD9-81ED-4DB2-BD59-A6C34878D82A}">
                    <a16:rowId xmlns:a16="http://schemas.microsoft.com/office/drawing/2014/main" val="4229632416"/>
                  </a:ext>
                </a:extLst>
              </a:tr>
              <a:tr h="429949">
                <a:tc>
                  <a:txBody>
                    <a:bodyPr/>
                    <a:lstStyle/>
                    <a:p>
                      <a:r>
                        <a:rPr lang="en-US" dirty="0" err="1"/>
                        <a:t>putw</a:t>
                      </a:r>
                      <a:r>
                        <a:rPr lang="en-US" dirty="0"/>
                        <a:t>() </a:t>
                      </a:r>
                      <a:endParaRPr lang="en-IN" dirty="0"/>
                    </a:p>
                  </a:txBody>
                  <a:tcPr/>
                </a:tc>
                <a:tc>
                  <a:txBody>
                    <a:bodyPr/>
                    <a:lstStyle/>
                    <a:p>
                      <a:pPr marL="285750" indent="-285750">
                        <a:buFont typeface="Arial" panose="020B0604020202020204" pitchFamily="34" charset="0"/>
                        <a:buChar char="•"/>
                      </a:pPr>
                      <a:r>
                        <a:rPr lang="en-US" dirty="0"/>
                        <a:t>* Writes an integer to a fi le. </a:t>
                      </a:r>
                    </a:p>
                  </a:txBody>
                  <a:tcPr/>
                </a:tc>
                <a:extLst>
                  <a:ext uri="{0D108BD9-81ED-4DB2-BD59-A6C34878D82A}">
                    <a16:rowId xmlns:a16="http://schemas.microsoft.com/office/drawing/2014/main" val="4065379312"/>
                  </a:ext>
                </a:extLst>
              </a:tr>
              <a:tr h="429949">
                <a:tc>
                  <a:txBody>
                    <a:bodyPr/>
                    <a:lstStyle/>
                    <a:p>
                      <a:r>
                        <a:rPr lang="en-US" dirty="0" err="1"/>
                        <a:t>fseek</a:t>
                      </a:r>
                      <a:r>
                        <a:rPr lang="en-US" dirty="0"/>
                        <a:t>() </a:t>
                      </a:r>
                      <a:endParaRPr lang="en-IN" dirty="0"/>
                    </a:p>
                  </a:txBody>
                  <a:tcPr/>
                </a:tc>
                <a:tc>
                  <a:txBody>
                    <a:bodyPr/>
                    <a:lstStyle/>
                    <a:p>
                      <a:pPr marL="285750" indent="-285750">
                        <a:buFont typeface="Arial" panose="020B0604020202020204" pitchFamily="34" charset="0"/>
                        <a:buChar char="•"/>
                      </a:pPr>
                      <a:r>
                        <a:rPr lang="en-US" dirty="0"/>
                        <a:t>* Sets the position to a desired point in the fi le. </a:t>
                      </a:r>
                    </a:p>
                  </a:txBody>
                  <a:tcPr/>
                </a:tc>
                <a:extLst>
                  <a:ext uri="{0D108BD9-81ED-4DB2-BD59-A6C34878D82A}">
                    <a16:rowId xmlns:a16="http://schemas.microsoft.com/office/drawing/2014/main" val="1662715877"/>
                  </a:ext>
                </a:extLst>
              </a:tr>
              <a:tr h="742104">
                <a:tc>
                  <a:txBody>
                    <a:bodyPr/>
                    <a:lstStyle/>
                    <a:p>
                      <a:r>
                        <a:rPr lang="en-US" dirty="0"/>
                        <a:t>. </a:t>
                      </a:r>
                      <a:r>
                        <a:rPr lang="en-US" dirty="0" err="1"/>
                        <a:t>ftell</a:t>
                      </a:r>
                      <a:r>
                        <a:rPr lang="en-US" dirty="0"/>
                        <a:t>() </a:t>
                      </a:r>
                      <a:endParaRPr lang="en-IN" dirty="0"/>
                    </a:p>
                  </a:txBody>
                  <a:tcPr/>
                </a:tc>
                <a:tc>
                  <a:txBody>
                    <a:bodyPr/>
                    <a:lstStyle/>
                    <a:p>
                      <a:pPr marL="285750" indent="-285750">
                        <a:buFont typeface="Arial" panose="020B0604020202020204" pitchFamily="34" charset="0"/>
                        <a:buChar char="•"/>
                      </a:pPr>
                      <a:r>
                        <a:rPr lang="en-US" dirty="0"/>
                        <a:t>Gives the current position in the fi le (in terms of bytes from the start). </a:t>
                      </a:r>
                    </a:p>
                  </a:txBody>
                  <a:tcPr/>
                </a:tc>
                <a:extLst>
                  <a:ext uri="{0D108BD9-81ED-4DB2-BD59-A6C34878D82A}">
                    <a16:rowId xmlns:a16="http://schemas.microsoft.com/office/drawing/2014/main" val="676842497"/>
                  </a:ext>
                </a:extLst>
              </a:tr>
              <a:tr h="429949">
                <a:tc>
                  <a:txBody>
                    <a:bodyPr/>
                    <a:lstStyle/>
                    <a:p>
                      <a:r>
                        <a:rPr lang="en-US" dirty="0"/>
                        <a:t>rewind() </a:t>
                      </a:r>
                      <a:endParaRPr lang="en-IN" dirty="0"/>
                    </a:p>
                  </a:txBody>
                  <a:tcPr/>
                </a:tc>
                <a:tc>
                  <a:txBody>
                    <a:bodyPr/>
                    <a:lstStyle/>
                    <a:p>
                      <a:pPr marL="285750" indent="-285750">
                        <a:buFont typeface="Arial" panose="020B0604020202020204" pitchFamily="34" charset="0"/>
                        <a:buChar char="•"/>
                      </a:pPr>
                      <a:r>
                        <a:rPr lang="en-US" dirty="0"/>
                        <a:t>* Sets the position to the beginning of the fi le</a:t>
                      </a:r>
                    </a:p>
                  </a:txBody>
                  <a:tcPr/>
                </a:tc>
                <a:extLst>
                  <a:ext uri="{0D108BD9-81ED-4DB2-BD59-A6C34878D82A}">
                    <a16:rowId xmlns:a16="http://schemas.microsoft.com/office/drawing/2014/main" val="3930583268"/>
                  </a:ext>
                </a:extLst>
              </a:tr>
            </a:tbl>
          </a:graphicData>
        </a:graphic>
      </p:graphicFrame>
    </p:spTree>
    <p:extLst>
      <p:ext uri="{BB962C8B-B14F-4D97-AF65-F5344CB8AC3E}">
        <p14:creationId xmlns:p14="http://schemas.microsoft.com/office/powerpoint/2010/main" val="1136225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1217C-C5B8-A579-B90F-050B1D5FC71A}"/>
              </a:ext>
            </a:extLst>
          </p:cNvPr>
          <p:cNvSpPr>
            <a:spLocks noGrp="1"/>
          </p:cNvSpPr>
          <p:nvPr>
            <p:ph type="title"/>
          </p:nvPr>
        </p:nvSpPr>
        <p:spPr>
          <a:xfrm>
            <a:off x="838200" y="365125"/>
            <a:ext cx="10515600" cy="650875"/>
          </a:xfrm>
        </p:spPr>
        <p:txBody>
          <a:bodyPr>
            <a:normAutofit fontScale="90000"/>
          </a:bodyPr>
          <a:lstStyle/>
          <a:p>
            <a:r>
              <a:rPr lang="en-US" dirty="0"/>
              <a:t>DEFINING AND OPENING A FILE</a:t>
            </a:r>
            <a:endParaRPr lang="en-IN" dirty="0"/>
          </a:p>
        </p:txBody>
      </p:sp>
      <p:sp>
        <p:nvSpPr>
          <p:cNvPr id="3" name="Content Placeholder 2">
            <a:extLst>
              <a:ext uri="{FF2B5EF4-FFF2-40B4-BE49-F238E27FC236}">
                <a16:creationId xmlns:a16="http://schemas.microsoft.com/office/drawing/2014/main" id="{E065EE07-C4F1-C74A-B0EB-8E0C65A047CD}"/>
              </a:ext>
            </a:extLst>
          </p:cNvPr>
          <p:cNvSpPr>
            <a:spLocks noGrp="1"/>
          </p:cNvSpPr>
          <p:nvPr>
            <p:ph idx="1"/>
          </p:nvPr>
        </p:nvSpPr>
        <p:spPr>
          <a:xfrm>
            <a:off x="838200" y="1249680"/>
            <a:ext cx="10515600" cy="4927283"/>
          </a:xfrm>
        </p:spPr>
        <p:txBody>
          <a:bodyPr/>
          <a:lstStyle/>
          <a:p>
            <a:r>
              <a:rPr lang="en-US" dirty="0"/>
              <a:t>if we want to store data in a fi le in the secondary memory, we must specify certain things about the fi le, to the operating system. </a:t>
            </a:r>
          </a:p>
          <a:p>
            <a:r>
              <a:rPr lang="en-US" dirty="0"/>
              <a:t>They include the following: </a:t>
            </a:r>
          </a:p>
          <a:p>
            <a:pPr marL="514350" indent="-514350">
              <a:buAutoNum type="arabicPeriod"/>
            </a:pPr>
            <a:r>
              <a:rPr lang="en-US" dirty="0"/>
              <a:t>Filename </a:t>
            </a:r>
          </a:p>
          <a:p>
            <a:pPr marL="514350" indent="-514350">
              <a:buAutoNum type="arabicPeriod"/>
            </a:pPr>
            <a:r>
              <a:rPr lang="en-US" dirty="0"/>
              <a:t> Data structure </a:t>
            </a:r>
          </a:p>
          <a:p>
            <a:pPr marL="514350" indent="-514350">
              <a:buAutoNum type="arabicPeriod"/>
            </a:pPr>
            <a:r>
              <a:rPr lang="en-US" dirty="0"/>
              <a:t> Purpose</a:t>
            </a:r>
          </a:p>
          <a:p>
            <a:pPr marL="0" indent="0">
              <a:buNone/>
            </a:pPr>
            <a:endParaRPr lang="en-IN" dirty="0"/>
          </a:p>
        </p:txBody>
      </p:sp>
    </p:spTree>
    <p:extLst>
      <p:ext uri="{BB962C8B-B14F-4D97-AF65-F5344CB8AC3E}">
        <p14:creationId xmlns:p14="http://schemas.microsoft.com/office/powerpoint/2010/main" val="7619397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ED0DA1-92B7-06E1-7EFD-FA13F183F8A6}"/>
              </a:ext>
            </a:extLst>
          </p:cNvPr>
          <p:cNvSpPr>
            <a:spLocks noGrp="1"/>
          </p:cNvSpPr>
          <p:nvPr>
            <p:ph idx="1"/>
          </p:nvPr>
        </p:nvSpPr>
        <p:spPr>
          <a:xfrm>
            <a:off x="838200" y="457200"/>
            <a:ext cx="10515600" cy="5719763"/>
          </a:xfrm>
        </p:spPr>
        <p:txBody>
          <a:bodyPr>
            <a:normAutofit lnSpcReduction="10000"/>
          </a:bodyPr>
          <a:lstStyle/>
          <a:p>
            <a:r>
              <a:rPr lang="en-US" dirty="0"/>
              <a:t>Filename is a string of characters that make up a valid fi </a:t>
            </a:r>
            <a:r>
              <a:rPr lang="en-US" dirty="0" err="1"/>
              <a:t>lename</a:t>
            </a:r>
            <a:r>
              <a:rPr lang="en-US" dirty="0"/>
              <a:t> for the operating system. It may contain two parts, a primary name and an optional period with the extension. </a:t>
            </a:r>
          </a:p>
          <a:p>
            <a:r>
              <a:rPr lang="en-US" dirty="0"/>
              <a:t>Examples:</a:t>
            </a:r>
          </a:p>
          <a:p>
            <a:pPr lvl="1"/>
            <a:r>
              <a:rPr lang="en-US" dirty="0"/>
              <a:t> </a:t>
            </a:r>
            <a:r>
              <a:rPr lang="en-US" dirty="0" err="1"/>
              <a:t>Input.data</a:t>
            </a:r>
            <a:r>
              <a:rPr lang="en-US" dirty="0"/>
              <a:t> </a:t>
            </a:r>
          </a:p>
          <a:p>
            <a:pPr lvl="1"/>
            <a:r>
              <a:rPr lang="en-US" dirty="0"/>
              <a:t>store </a:t>
            </a:r>
          </a:p>
          <a:p>
            <a:pPr lvl="1"/>
            <a:r>
              <a:rPr lang="en-US" dirty="0"/>
              <a:t>PROG.C </a:t>
            </a:r>
          </a:p>
          <a:p>
            <a:pPr lvl="1"/>
            <a:r>
              <a:rPr lang="en-US" dirty="0" err="1"/>
              <a:t>Student.c</a:t>
            </a:r>
            <a:r>
              <a:rPr lang="en-US" dirty="0"/>
              <a:t> </a:t>
            </a:r>
          </a:p>
          <a:p>
            <a:pPr lvl="1"/>
            <a:r>
              <a:rPr lang="en-US" dirty="0" err="1"/>
              <a:t>Text.out</a:t>
            </a:r>
            <a:endParaRPr lang="en-US" dirty="0"/>
          </a:p>
          <a:p>
            <a:r>
              <a:rPr lang="en-US" dirty="0"/>
              <a:t>Data structure of a fi le is defined as FILE in the library of standard I/O function definitions. </a:t>
            </a:r>
          </a:p>
          <a:p>
            <a:r>
              <a:rPr lang="en-US" dirty="0"/>
              <a:t>Therefore, all fi les should be declared as type FILE before they are used. </a:t>
            </a:r>
          </a:p>
          <a:p>
            <a:r>
              <a:rPr lang="en-US" dirty="0"/>
              <a:t>FILE is a defined data type</a:t>
            </a:r>
            <a:endParaRPr lang="en-IN" dirty="0"/>
          </a:p>
          <a:p>
            <a:pPr marL="457200" lvl="1" indent="0">
              <a:buNone/>
            </a:pPr>
            <a:endParaRPr lang="en-US" dirty="0"/>
          </a:p>
        </p:txBody>
      </p:sp>
    </p:spTree>
    <p:extLst>
      <p:ext uri="{BB962C8B-B14F-4D97-AF65-F5344CB8AC3E}">
        <p14:creationId xmlns:p14="http://schemas.microsoft.com/office/powerpoint/2010/main" val="1511536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E93BC-A916-B88D-4141-831A8649F068}"/>
              </a:ext>
            </a:extLst>
          </p:cNvPr>
          <p:cNvSpPr>
            <a:spLocks noGrp="1"/>
          </p:cNvSpPr>
          <p:nvPr>
            <p:ph idx="1"/>
          </p:nvPr>
        </p:nvSpPr>
        <p:spPr>
          <a:xfrm>
            <a:off x="736600" y="314960"/>
            <a:ext cx="10927080" cy="6146483"/>
          </a:xfrm>
        </p:spPr>
        <p:txBody>
          <a:bodyPr>
            <a:normAutofit lnSpcReduction="10000"/>
          </a:bodyPr>
          <a:lstStyle/>
          <a:p>
            <a:r>
              <a:rPr lang="en-US" dirty="0"/>
              <a:t>When we open a fi le, we must specify what we want to do with the file. </a:t>
            </a:r>
          </a:p>
          <a:p>
            <a:r>
              <a:rPr lang="en-US" dirty="0"/>
              <a:t>For example, we may write data to the fi le or read the already existing data.</a:t>
            </a:r>
          </a:p>
          <a:p>
            <a:r>
              <a:rPr lang="en-US" dirty="0"/>
              <a:t>Following is the general format for declaring and opening a fi le: </a:t>
            </a:r>
          </a:p>
          <a:p>
            <a:pPr marL="0" indent="0">
              <a:buNone/>
            </a:pPr>
            <a:r>
              <a:rPr lang="en-US" b="1" dirty="0"/>
              <a:t>FILE *</a:t>
            </a:r>
            <a:r>
              <a:rPr lang="en-US" b="1" dirty="0" err="1"/>
              <a:t>fp</a:t>
            </a:r>
            <a:r>
              <a:rPr lang="en-US" b="1" dirty="0"/>
              <a:t>; </a:t>
            </a:r>
          </a:p>
          <a:p>
            <a:pPr marL="0" indent="0">
              <a:buNone/>
            </a:pPr>
            <a:r>
              <a:rPr lang="en-US" b="1" dirty="0" err="1"/>
              <a:t>fp</a:t>
            </a:r>
            <a:r>
              <a:rPr lang="en-US" b="1" dirty="0"/>
              <a:t> = </a:t>
            </a:r>
            <a:r>
              <a:rPr lang="en-US" b="1" dirty="0" err="1"/>
              <a:t>fopen</a:t>
            </a:r>
            <a:r>
              <a:rPr lang="en-US" b="1" dirty="0"/>
              <a:t>(“fi </a:t>
            </a:r>
            <a:r>
              <a:rPr lang="en-US" b="1" dirty="0" err="1"/>
              <a:t>lename</a:t>
            </a:r>
            <a:r>
              <a:rPr lang="en-US" b="1" dirty="0"/>
              <a:t>”, “mode”);</a:t>
            </a:r>
          </a:p>
          <a:p>
            <a:r>
              <a:rPr lang="en-US" dirty="0"/>
              <a:t>The fi </a:t>
            </a:r>
            <a:r>
              <a:rPr lang="en-US" dirty="0" err="1"/>
              <a:t>rst</a:t>
            </a:r>
            <a:r>
              <a:rPr lang="en-US" dirty="0"/>
              <a:t> statement declares the variable </a:t>
            </a:r>
            <a:r>
              <a:rPr lang="en-US" dirty="0" err="1"/>
              <a:t>fp</a:t>
            </a:r>
            <a:r>
              <a:rPr lang="en-US" dirty="0"/>
              <a:t> as a “pointer to the data type FILE”.</a:t>
            </a:r>
          </a:p>
          <a:p>
            <a:r>
              <a:rPr lang="en-US" dirty="0"/>
              <a:t>As stated earlier, FILE is a structure that is defi </a:t>
            </a:r>
            <a:r>
              <a:rPr lang="en-US" dirty="0" err="1"/>
              <a:t>ned</a:t>
            </a:r>
            <a:r>
              <a:rPr lang="en-US" dirty="0"/>
              <a:t> in the I/O library</a:t>
            </a:r>
          </a:p>
          <a:p>
            <a:r>
              <a:rPr lang="en-US" dirty="0"/>
              <a:t>. The second statement opens the fi le named fi </a:t>
            </a:r>
            <a:r>
              <a:rPr lang="en-US" dirty="0" err="1"/>
              <a:t>lename</a:t>
            </a:r>
            <a:r>
              <a:rPr lang="en-US" dirty="0"/>
              <a:t> and assigns an identifier to the FILE type pointer fp.</a:t>
            </a:r>
          </a:p>
          <a:p>
            <a:r>
              <a:rPr lang="en-US" dirty="0"/>
              <a:t>This pointer, which contains all the information about the file is subsequently used as a communication link between the system and the program</a:t>
            </a:r>
            <a:endParaRPr lang="en-IN" b="1" dirty="0"/>
          </a:p>
        </p:txBody>
      </p:sp>
    </p:spTree>
    <p:extLst>
      <p:ext uri="{BB962C8B-B14F-4D97-AF65-F5344CB8AC3E}">
        <p14:creationId xmlns:p14="http://schemas.microsoft.com/office/powerpoint/2010/main" val="276955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E51462-9E45-ED80-95DE-974FCAFA5F18}"/>
              </a:ext>
            </a:extLst>
          </p:cNvPr>
          <p:cNvSpPr>
            <a:spLocks noGrp="1"/>
          </p:cNvSpPr>
          <p:nvPr>
            <p:ph idx="1"/>
          </p:nvPr>
        </p:nvSpPr>
        <p:spPr>
          <a:xfrm>
            <a:off x="838200" y="325120"/>
            <a:ext cx="10515600" cy="5851843"/>
          </a:xfrm>
        </p:spPr>
        <p:txBody>
          <a:bodyPr/>
          <a:lstStyle/>
          <a:p>
            <a:r>
              <a:rPr lang="en-US" dirty="0"/>
              <a:t>The second statement also specifies the purpose of opening this file. The mode does this job. </a:t>
            </a:r>
          </a:p>
          <a:p>
            <a:r>
              <a:rPr lang="en-US" dirty="0"/>
              <a:t>Mode can be one of the following:</a:t>
            </a:r>
          </a:p>
          <a:p>
            <a:pPr marL="514350" indent="-514350">
              <a:buFont typeface="+mj-lt"/>
              <a:buAutoNum type="arabicPeriod"/>
            </a:pPr>
            <a:r>
              <a:rPr lang="en-US" b="1" dirty="0"/>
              <a:t> r open the file for reading only.</a:t>
            </a:r>
          </a:p>
          <a:p>
            <a:pPr marL="514350" indent="-514350">
              <a:buFont typeface="+mj-lt"/>
              <a:buAutoNum type="arabicPeriod"/>
            </a:pPr>
            <a:r>
              <a:rPr lang="en-US" b="1" dirty="0"/>
              <a:t> w open the file for writing only. </a:t>
            </a:r>
          </a:p>
          <a:p>
            <a:pPr marL="514350" indent="-514350">
              <a:buFont typeface="+mj-lt"/>
              <a:buAutoNum type="arabicPeriod"/>
            </a:pPr>
            <a:r>
              <a:rPr lang="en-US" b="1" dirty="0"/>
              <a:t>a open the file for appending (or adding) data to it.</a:t>
            </a:r>
          </a:p>
          <a:p>
            <a:r>
              <a:rPr lang="en-US" dirty="0"/>
              <a:t>Note that both the filename and mode are specified as strings. They should be enclosed in double quotation marks.</a:t>
            </a:r>
            <a:endParaRPr lang="en-IN" b="1" dirty="0"/>
          </a:p>
        </p:txBody>
      </p:sp>
    </p:spTree>
    <p:extLst>
      <p:ext uri="{BB962C8B-B14F-4D97-AF65-F5344CB8AC3E}">
        <p14:creationId xmlns:p14="http://schemas.microsoft.com/office/powerpoint/2010/main" val="1785775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1CCB1-E2E9-1927-E9E9-434FE13042FB}"/>
              </a:ext>
            </a:extLst>
          </p:cNvPr>
          <p:cNvSpPr>
            <a:spLocks noGrp="1"/>
          </p:cNvSpPr>
          <p:nvPr>
            <p:ph idx="1"/>
          </p:nvPr>
        </p:nvSpPr>
        <p:spPr>
          <a:xfrm>
            <a:off x="838200" y="386080"/>
            <a:ext cx="10515600" cy="5790883"/>
          </a:xfrm>
        </p:spPr>
        <p:txBody>
          <a:bodyPr/>
          <a:lstStyle/>
          <a:p>
            <a:r>
              <a:rPr lang="en-US" dirty="0"/>
              <a:t>When trying to open a file, one of the following things may happen:</a:t>
            </a:r>
          </a:p>
          <a:p>
            <a:pPr marL="514350" indent="-514350" algn="just">
              <a:buFont typeface="+mj-lt"/>
              <a:buAutoNum type="arabicPeriod"/>
            </a:pPr>
            <a:r>
              <a:rPr lang="en-US" dirty="0"/>
              <a:t>When the mode is ‘writing’, a file with the specified name is created if the file does not exist. The contents are deleted, if the file already exists. </a:t>
            </a:r>
          </a:p>
          <a:p>
            <a:pPr marL="514350" indent="-514350" algn="just">
              <a:buFont typeface="+mj-lt"/>
              <a:buAutoNum type="arabicPeriod"/>
            </a:pPr>
            <a:r>
              <a:rPr lang="en-US" dirty="0"/>
              <a:t>When the purpose is ‘appending’, the file is opened with the current contents safe. A file with the specified name is created if the file does not exist.</a:t>
            </a:r>
          </a:p>
          <a:p>
            <a:pPr marL="514350" indent="-514350" algn="just">
              <a:buFont typeface="+mj-lt"/>
              <a:buAutoNum type="arabicPeriod"/>
            </a:pPr>
            <a:r>
              <a:rPr lang="en-US" dirty="0"/>
              <a:t>If the purpose is ‘reading’, and if it exists, then the file is opened with the current contents safe otherwise an error occurs.</a:t>
            </a:r>
          </a:p>
          <a:p>
            <a:pPr marL="0" indent="0" algn="just">
              <a:buNone/>
            </a:pPr>
            <a:endParaRPr lang="en-IN" dirty="0"/>
          </a:p>
        </p:txBody>
      </p:sp>
    </p:spTree>
    <p:extLst>
      <p:ext uri="{BB962C8B-B14F-4D97-AF65-F5344CB8AC3E}">
        <p14:creationId xmlns:p14="http://schemas.microsoft.com/office/powerpoint/2010/main" val="12012134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4F0AC6-051A-BFA5-8529-6A6DD4526E98}"/>
              </a:ext>
            </a:extLst>
          </p:cNvPr>
          <p:cNvSpPr>
            <a:spLocks noGrp="1"/>
          </p:cNvSpPr>
          <p:nvPr>
            <p:ph idx="1"/>
          </p:nvPr>
        </p:nvSpPr>
        <p:spPr>
          <a:xfrm>
            <a:off x="838200" y="416560"/>
            <a:ext cx="10515600" cy="5760403"/>
          </a:xfrm>
        </p:spPr>
        <p:txBody>
          <a:bodyPr/>
          <a:lstStyle/>
          <a:p>
            <a:r>
              <a:rPr lang="en-US" dirty="0"/>
              <a:t>Consider the following statements: </a:t>
            </a:r>
          </a:p>
          <a:p>
            <a:pPr marL="0" indent="0">
              <a:buNone/>
            </a:pPr>
            <a:r>
              <a:rPr lang="en-US" b="1" dirty="0"/>
              <a:t>FILE *p1, *p2; </a:t>
            </a:r>
          </a:p>
          <a:p>
            <a:pPr marL="0" indent="0">
              <a:buNone/>
            </a:pPr>
            <a:r>
              <a:rPr lang="en-US" b="1" dirty="0"/>
              <a:t>p1 = </a:t>
            </a:r>
            <a:r>
              <a:rPr lang="en-US" b="1" dirty="0" err="1"/>
              <a:t>fopen</a:t>
            </a:r>
            <a:r>
              <a:rPr lang="en-US" b="1" dirty="0"/>
              <a:t>(“data”, “r”); </a:t>
            </a:r>
          </a:p>
          <a:p>
            <a:pPr marL="0" indent="0">
              <a:buNone/>
            </a:pPr>
            <a:r>
              <a:rPr lang="en-US" b="1" dirty="0"/>
              <a:t>p2 = </a:t>
            </a:r>
            <a:r>
              <a:rPr lang="en-US" b="1" dirty="0" err="1"/>
              <a:t>fopen</a:t>
            </a:r>
            <a:r>
              <a:rPr lang="en-US" b="1" dirty="0"/>
              <a:t>(“results”, “w”);</a:t>
            </a:r>
          </a:p>
          <a:p>
            <a:r>
              <a:rPr lang="en-US" dirty="0"/>
              <a:t>The file data is opened for reading and results is opened for writing.</a:t>
            </a:r>
          </a:p>
          <a:p>
            <a:r>
              <a:rPr lang="en-US" dirty="0"/>
              <a:t>In case, the results file already exists, its contents are deleted and the file is opened as a new file. </a:t>
            </a:r>
          </a:p>
          <a:p>
            <a:r>
              <a:rPr lang="en-US" dirty="0"/>
              <a:t>If data file does not exist, an error will occur</a:t>
            </a:r>
            <a:endParaRPr lang="en-IN" b="1" dirty="0"/>
          </a:p>
        </p:txBody>
      </p:sp>
    </p:spTree>
    <p:extLst>
      <p:ext uri="{BB962C8B-B14F-4D97-AF65-F5344CB8AC3E}">
        <p14:creationId xmlns:p14="http://schemas.microsoft.com/office/powerpoint/2010/main" val="1149254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66EE3-1A0A-8362-A4E2-36DDCE3C52E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30065C-79D1-ABB3-BD83-FD50D666DCB7}"/>
              </a:ext>
            </a:extLst>
          </p:cNvPr>
          <p:cNvSpPr>
            <a:spLocks noGrp="1"/>
          </p:cNvSpPr>
          <p:nvPr>
            <p:ph idx="1"/>
          </p:nvPr>
        </p:nvSpPr>
        <p:spPr/>
        <p:txBody>
          <a:bodyPr/>
          <a:lstStyle/>
          <a:p>
            <a:r>
              <a:rPr lang="en-US" dirty="0"/>
              <a:t>Many recent compilers include additional modes of operation. They include: </a:t>
            </a:r>
          </a:p>
          <a:p>
            <a:pPr marL="514350" indent="-514350">
              <a:buFont typeface="+mj-lt"/>
              <a:buAutoNum type="arabicPeriod"/>
            </a:pPr>
            <a:r>
              <a:rPr lang="en-US" b="1" dirty="0"/>
              <a:t>r+ The existing file is opened to the beginning for both reading and writing. </a:t>
            </a:r>
          </a:p>
          <a:p>
            <a:pPr marL="514350" indent="-514350">
              <a:buFont typeface="+mj-lt"/>
              <a:buAutoNum type="arabicPeriod"/>
            </a:pPr>
            <a:r>
              <a:rPr lang="en-US" b="1" dirty="0"/>
              <a:t>w+ Same as w except both for reading and writing. </a:t>
            </a:r>
          </a:p>
          <a:p>
            <a:pPr marL="514350" indent="-514350">
              <a:buFont typeface="+mj-lt"/>
              <a:buAutoNum type="arabicPeriod"/>
            </a:pPr>
            <a:r>
              <a:rPr lang="en-US" b="1" dirty="0"/>
              <a:t>a+ Same as a except both for reading and writing.</a:t>
            </a:r>
          </a:p>
          <a:p>
            <a:r>
              <a:rPr lang="en-US" dirty="0"/>
              <a:t> We can open and use a number of files at a time. This number however depends on the system we use</a:t>
            </a:r>
            <a:endParaRPr lang="en-IN" dirty="0"/>
          </a:p>
        </p:txBody>
      </p:sp>
    </p:spTree>
    <p:extLst>
      <p:ext uri="{BB962C8B-B14F-4D97-AF65-F5344CB8AC3E}">
        <p14:creationId xmlns:p14="http://schemas.microsoft.com/office/powerpoint/2010/main" val="22746853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65B7-36B0-8F32-581C-416BD2BD642D}"/>
              </a:ext>
            </a:extLst>
          </p:cNvPr>
          <p:cNvSpPr>
            <a:spLocks noGrp="1"/>
          </p:cNvSpPr>
          <p:nvPr>
            <p:ph type="title"/>
          </p:nvPr>
        </p:nvSpPr>
        <p:spPr/>
        <p:txBody>
          <a:bodyPr/>
          <a:lstStyle/>
          <a:p>
            <a:r>
              <a:rPr lang="en-IN" dirty="0"/>
              <a:t>CLOSING A FILE</a:t>
            </a:r>
          </a:p>
        </p:txBody>
      </p:sp>
      <p:sp>
        <p:nvSpPr>
          <p:cNvPr id="3" name="Content Placeholder 2">
            <a:extLst>
              <a:ext uri="{FF2B5EF4-FFF2-40B4-BE49-F238E27FC236}">
                <a16:creationId xmlns:a16="http://schemas.microsoft.com/office/drawing/2014/main" id="{F0291FD9-DA3D-8D4A-6C80-2137FE4BB6E5}"/>
              </a:ext>
            </a:extLst>
          </p:cNvPr>
          <p:cNvSpPr>
            <a:spLocks noGrp="1"/>
          </p:cNvSpPr>
          <p:nvPr>
            <p:ph idx="1"/>
          </p:nvPr>
        </p:nvSpPr>
        <p:spPr>
          <a:xfrm>
            <a:off x="838200" y="1452880"/>
            <a:ext cx="10515600" cy="4724083"/>
          </a:xfrm>
        </p:spPr>
        <p:txBody>
          <a:bodyPr/>
          <a:lstStyle/>
          <a:p>
            <a:r>
              <a:rPr lang="en-US" dirty="0"/>
              <a:t>A file must be closed as soon as all operations on it have been completed. </a:t>
            </a:r>
          </a:p>
          <a:p>
            <a:r>
              <a:rPr lang="en-US" dirty="0"/>
              <a:t>This ensures that all outstanding information associated with the file is flushed out from the buffers and all links to the file are broken. </a:t>
            </a:r>
          </a:p>
          <a:p>
            <a:r>
              <a:rPr lang="en-US" dirty="0"/>
              <a:t>It also prevents any accidental misuse of the file. In case, there is a limit to the number of files that can be kept open simultaneously, closing of unwanted files might help open the required files.</a:t>
            </a:r>
          </a:p>
          <a:p>
            <a:r>
              <a:rPr lang="en-US" dirty="0"/>
              <a:t>Another instance where we have to close a file is when we want to reopen the same file in a different mode</a:t>
            </a:r>
            <a:endParaRPr lang="en-IN" dirty="0"/>
          </a:p>
        </p:txBody>
      </p:sp>
    </p:spTree>
    <p:extLst>
      <p:ext uri="{BB962C8B-B14F-4D97-AF65-F5344CB8AC3E}">
        <p14:creationId xmlns:p14="http://schemas.microsoft.com/office/powerpoint/2010/main" val="2576506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ADDFA5-92F7-9AA8-9619-AEE006825BF7}"/>
              </a:ext>
            </a:extLst>
          </p:cNvPr>
          <p:cNvSpPr>
            <a:spLocks noGrp="1"/>
          </p:cNvSpPr>
          <p:nvPr>
            <p:ph idx="1"/>
          </p:nvPr>
        </p:nvSpPr>
        <p:spPr>
          <a:xfrm>
            <a:off x="838200" y="365760"/>
            <a:ext cx="10515600" cy="5811203"/>
          </a:xfrm>
        </p:spPr>
        <p:txBody>
          <a:bodyPr>
            <a:normAutofit lnSpcReduction="10000"/>
          </a:bodyPr>
          <a:lstStyle/>
          <a:p>
            <a:r>
              <a:rPr lang="en-US" dirty="0"/>
              <a:t>The I/O library supports a function to do this for us. It takes the following form:</a:t>
            </a:r>
          </a:p>
          <a:p>
            <a:pPr marL="0" indent="0">
              <a:buNone/>
            </a:pPr>
            <a:r>
              <a:rPr lang="en-US" dirty="0"/>
              <a:t> </a:t>
            </a:r>
            <a:r>
              <a:rPr lang="en-US" b="1" dirty="0" err="1"/>
              <a:t>fclose</a:t>
            </a:r>
            <a:r>
              <a:rPr lang="en-US" b="1" dirty="0"/>
              <a:t>(</a:t>
            </a:r>
            <a:r>
              <a:rPr lang="en-US" b="1" dirty="0" err="1"/>
              <a:t>file_pointer</a:t>
            </a:r>
            <a:r>
              <a:rPr lang="en-US" b="1" dirty="0"/>
              <a:t>);</a:t>
            </a:r>
          </a:p>
          <a:p>
            <a:r>
              <a:rPr lang="en-US" dirty="0"/>
              <a:t>This would close the file associated with the FILE pointer </a:t>
            </a:r>
            <a:r>
              <a:rPr lang="en-US" dirty="0" err="1"/>
              <a:t>file_pointer</a:t>
            </a:r>
            <a:r>
              <a:rPr lang="en-US" dirty="0"/>
              <a:t>. Look at the following segment of a program. </a:t>
            </a:r>
            <a:endParaRPr lang="en-US" b="1" dirty="0"/>
          </a:p>
          <a:p>
            <a:pPr marL="0" indent="0">
              <a:lnSpc>
                <a:spcPct val="110000"/>
              </a:lnSpc>
              <a:spcBef>
                <a:spcPts val="0"/>
              </a:spcBef>
              <a:buNone/>
            </a:pPr>
            <a:r>
              <a:rPr lang="en-IN" b="1" dirty="0"/>
              <a:t>..... ..... </a:t>
            </a:r>
          </a:p>
          <a:p>
            <a:pPr marL="0" indent="0">
              <a:lnSpc>
                <a:spcPct val="110000"/>
              </a:lnSpc>
              <a:spcBef>
                <a:spcPts val="0"/>
              </a:spcBef>
              <a:buNone/>
            </a:pPr>
            <a:r>
              <a:rPr lang="en-IN" b="1" dirty="0"/>
              <a:t>FILE *p1, *p2; </a:t>
            </a:r>
          </a:p>
          <a:p>
            <a:pPr marL="0" indent="0">
              <a:lnSpc>
                <a:spcPct val="110000"/>
              </a:lnSpc>
              <a:spcBef>
                <a:spcPts val="0"/>
              </a:spcBef>
              <a:buNone/>
            </a:pPr>
            <a:r>
              <a:rPr lang="en-IN" b="1" dirty="0"/>
              <a:t>p1 = </a:t>
            </a:r>
            <a:r>
              <a:rPr lang="en-IN" b="1" dirty="0" err="1"/>
              <a:t>fopen</a:t>
            </a:r>
            <a:r>
              <a:rPr lang="en-IN" b="1" dirty="0"/>
              <a:t>(“INPUT”, “w”); </a:t>
            </a:r>
          </a:p>
          <a:p>
            <a:pPr marL="0" indent="0">
              <a:lnSpc>
                <a:spcPct val="110000"/>
              </a:lnSpc>
              <a:spcBef>
                <a:spcPts val="0"/>
              </a:spcBef>
              <a:buNone/>
            </a:pPr>
            <a:r>
              <a:rPr lang="en-IN" b="1" dirty="0"/>
              <a:t>p2 = </a:t>
            </a:r>
            <a:r>
              <a:rPr lang="en-IN" b="1" dirty="0" err="1"/>
              <a:t>fopen</a:t>
            </a:r>
            <a:r>
              <a:rPr lang="en-IN" b="1" dirty="0"/>
              <a:t>(“OUTPUT”, “r”);</a:t>
            </a:r>
          </a:p>
          <a:p>
            <a:pPr marL="0" indent="0">
              <a:lnSpc>
                <a:spcPct val="110000"/>
              </a:lnSpc>
              <a:spcBef>
                <a:spcPts val="0"/>
              </a:spcBef>
              <a:buNone/>
            </a:pPr>
            <a:r>
              <a:rPr lang="en-IN" b="1" dirty="0"/>
              <a:t> ..... .....</a:t>
            </a:r>
          </a:p>
          <a:p>
            <a:pPr marL="0" indent="0">
              <a:lnSpc>
                <a:spcPct val="110000"/>
              </a:lnSpc>
              <a:spcBef>
                <a:spcPts val="0"/>
              </a:spcBef>
              <a:buNone/>
            </a:pPr>
            <a:r>
              <a:rPr lang="en-IN" b="1" dirty="0" err="1"/>
              <a:t>fclose</a:t>
            </a:r>
            <a:r>
              <a:rPr lang="en-IN" b="1" dirty="0"/>
              <a:t>(p1); </a:t>
            </a:r>
          </a:p>
          <a:p>
            <a:pPr marL="0" indent="0">
              <a:lnSpc>
                <a:spcPct val="110000"/>
              </a:lnSpc>
              <a:spcBef>
                <a:spcPts val="0"/>
              </a:spcBef>
              <a:buNone/>
            </a:pPr>
            <a:r>
              <a:rPr lang="en-IN" b="1" dirty="0" err="1"/>
              <a:t>fclose</a:t>
            </a:r>
            <a:r>
              <a:rPr lang="en-IN" b="1" dirty="0"/>
              <a:t>(p2);</a:t>
            </a:r>
          </a:p>
          <a:p>
            <a:pPr marL="0" indent="0">
              <a:lnSpc>
                <a:spcPct val="110000"/>
              </a:lnSpc>
              <a:spcBef>
                <a:spcPts val="0"/>
              </a:spcBef>
              <a:buNone/>
            </a:pPr>
            <a:r>
              <a:rPr lang="en-IN" b="1" dirty="0"/>
              <a:t> .....</a:t>
            </a:r>
          </a:p>
        </p:txBody>
      </p:sp>
    </p:spTree>
    <p:extLst>
      <p:ext uri="{BB962C8B-B14F-4D97-AF65-F5344CB8AC3E}">
        <p14:creationId xmlns:p14="http://schemas.microsoft.com/office/powerpoint/2010/main" val="3421059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52DD3-9B48-8132-C58D-D0734684816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4C0F1E-94EF-EFD1-BD98-4EBA5E16A23E}"/>
              </a:ext>
            </a:extLst>
          </p:cNvPr>
          <p:cNvSpPr>
            <a:spLocks noGrp="1"/>
          </p:cNvSpPr>
          <p:nvPr>
            <p:ph idx="1"/>
          </p:nvPr>
        </p:nvSpPr>
        <p:spPr/>
        <p:txBody>
          <a:bodyPr/>
          <a:lstStyle/>
          <a:p>
            <a:r>
              <a:rPr lang="en-US" dirty="0"/>
              <a:t>this program opens two fi les and closes them after all operations on them are completed. </a:t>
            </a:r>
          </a:p>
          <a:p>
            <a:r>
              <a:rPr lang="en-US" dirty="0"/>
              <a:t>Once a fi le is closed, its fi le pointer can be reused for another fi le.</a:t>
            </a:r>
          </a:p>
          <a:p>
            <a:r>
              <a:rPr lang="en-US" dirty="0"/>
              <a:t>As a matter of fact all fi les are closed automatically whenever a program terminates. </a:t>
            </a:r>
          </a:p>
          <a:p>
            <a:r>
              <a:rPr lang="en-US" dirty="0"/>
              <a:t>However, closing a fi le as soon as you are done with it is a good programming habit</a:t>
            </a:r>
            <a:endParaRPr lang="en-IN" dirty="0"/>
          </a:p>
        </p:txBody>
      </p:sp>
    </p:spTree>
    <p:extLst>
      <p:ext uri="{BB962C8B-B14F-4D97-AF65-F5344CB8AC3E}">
        <p14:creationId xmlns:p14="http://schemas.microsoft.com/office/powerpoint/2010/main" val="40527307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57EF1-4B0C-A95F-0BAA-DAFE2D3B263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413A6B3-7990-38B5-BA38-F070380A87CC}"/>
              </a:ext>
            </a:extLst>
          </p:cNvPr>
          <p:cNvSpPr>
            <a:spLocks noGrp="1"/>
          </p:cNvSpPr>
          <p:nvPr>
            <p:ph idx="1"/>
          </p:nvPr>
        </p:nvSpPr>
        <p:spPr/>
        <p:txBody>
          <a:bodyPr>
            <a:normAutofit/>
          </a:bodyPr>
          <a:lstStyle/>
          <a:p>
            <a:pPr marL="0" indent="0" algn="ctr">
              <a:buNone/>
            </a:pPr>
            <a:endParaRPr lang="en-US" sz="3600" b="1" dirty="0">
              <a:latin typeface="Times New Roman" panose="02020603050405020304" pitchFamily="18" charset="0"/>
              <a:cs typeface="Times New Roman" panose="02020603050405020304" pitchFamily="18" charset="0"/>
            </a:endParaRPr>
          </a:p>
          <a:p>
            <a:pPr marL="0" indent="0" algn="ctr">
              <a:buNone/>
            </a:pPr>
            <a:endParaRPr lang="en-US" sz="3600" b="1" dirty="0">
              <a:latin typeface="Times New Roman" panose="02020603050405020304" pitchFamily="18" charset="0"/>
              <a:cs typeface="Times New Roman" panose="02020603050405020304" pitchFamily="18" charset="0"/>
            </a:endParaRPr>
          </a:p>
          <a:p>
            <a:pPr marL="0" indent="0" algn="ctr">
              <a:buNone/>
            </a:pPr>
            <a:r>
              <a:rPr lang="en-US" sz="3600" b="1" dirty="0">
                <a:latin typeface="Times New Roman" panose="02020603050405020304" pitchFamily="18" charset="0"/>
                <a:cs typeface="Times New Roman" panose="02020603050405020304" pitchFamily="18" charset="0"/>
              </a:rPr>
              <a:t>INPUT/OUTPUT OPERATIONS ON FILES</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50467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D10F-407C-3C2F-CDBF-A5492B4D830E}"/>
              </a:ext>
            </a:extLst>
          </p:cNvPr>
          <p:cNvSpPr>
            <a:spLocks noGrp="1"/>
          </p:cNvSpPr>
          <p:nvPr>
            <p:ph type="title"/>
          </p:nvPr>
        </p:nvSpPr>
        <p:spPr/>
        <p:txBody>
          <a:bodyPr/>
          <a:lstStyle/>
          <a:p>
            <a:r>
              <a:rPr lang="en-US" dirty="0"/>
              <a:t>The </a:t>
            </a:r>
            <a:r>
              <a:rPr lang="en-US" dirty="0" err="1"/>
              <a:t>getc</a:t>
            </a:r>
            <a:r>
              <a:rPr lang="en-US" dirty="0"/>
              <a:t> and </a:t>
            </a:r>
            <a:r>
              <a:rPr lang="en-US" dirty="0" err="1"/>
              <a:t>putc</a:t>
            </a:r>
            <a:r>
              <a:rPr lang="en-US" dirty="0"/>
              <a:t> Functions</a:t>
            </a:r>
            <a:endParaRPr lang="en-IN" dirty="0"/>
          </a:p>
        </p:txBody>
      </p:sp>
      <p:sp>
        <p:nvSpPr>
          <p:cNvPr id="3" name="Content Placeholder 2">
            <a:extLst>
              <a:ext uri="{FF2B5EF4-FFF2-40B4-BE49-F238E27FC236}">
                <a16:creationId xmlns:a16="http://schemas.microsoft.com/office/drawing/2014/main" id="{497E0CDA-40D0-D283-7AD7-1D15CAC3BEDB}"/>
              </a:ext>
            </a:extLst>
          </p:cNvPr>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simplest fi le I/O functions are </a:t>
            </a:r>
            <a:r>
              <a:rPr lang="en-US" dirty="0" err="1">
                <a:latin typeface="Times New Roman" panose="02020603050405020304" pitchFamily="18" charset="0"/>
                <a:cs typeface="Times New Roman" panose="02020603050405020304" pitchFamily="18" charset="0"/>
              </a:rPr>
              <a:t>getc</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putc</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These are analogous to </a:t>
            </a:r>
            <a:r>
              <a:rPr lang="en-US" dirty="0" err="1">
                <a:latin typeface="Times New Roman" panose="02020603050405020304" pitchFamily="18" charset="0"/>
                <a:cs typeface="Times New Roman" panose="02020603050405020304" pitchFamily="18" charset="0"/>
              </a:rPr>
              <a:t>getchar</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putchar</a:t>
            </a:r>
            <a:r>
              <a:rPr lang="en-US" dirty="0">
                <a:latin typeface="Times New Roman" panose="02020603050405020304" pitchFamily="18" charset="0"/>
                <a:cs typeface="Times New Roman" panose="02020603050405020304" pitchFamily="18" charset="0"/>
              </a:rPr>
              <a:t> functions and handle one character at a time.</a:t>
            </a:r>
          </a:p>
          <a:p>
            <a:pPr algn="just"/>
            <a:r>
              <a:rPr lang="en-US" dirty="0">
                <a:latin typeface="Times New Roman" panose="02020603050405020304" pitchFamily="18" charset="0"/>
                <a:cs typeface="Times New Roman" panose="02020603050405020304" pitchFamily="18" charset="0"/>
              </a:rPr>
              <a:t> Assume that a fi le is opened with mode w and fi le pointer fp1. Then, the statement </a:t>
            </a:r>
          </a:p>
          <a:p>
            <a:pPr marL="0" indent="0" algn="ctr">
              <a:buNone/>
            </a:pPr>
            <a:r>
              <a:rPr lang="en-US" sz="3200" b="1" dirty="0" err="1">
                <a:latin typeface="Times New Roman" panose="02020603050405020304" pitchFamily="18" charset="0"/>
                <a:cs typeface="Times New Roman" panose="02020603050405020304" pitchFamily="18" charset="0"/>
              </a:rPr>
              <a:t>putc</a:t>
            </a:r>
            <a:r>
              <a:rPr lang="en-US" sz="3200" b="1" dirty="0">
                <a:latin typeface="Times New Roman" panose="02020603050405020304" pitchFamily="18" charset="0"/>
                <a:cs typeface="Times New Roman" panose="02020603050405020304" pitchFamily="18" charset="0"/>
              </a:rPr>
              <a:t>(c, fp1);</a:t>
            </a:r>
            <a:endParaRPr lang="en-IN" sz="3200"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writes the character contained in the character variable c to the fi le associated with FILE pointer fp1.</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29166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E15817-7323-0A3A-29FE-F4B5AEF82385}"/>
              </a:ext>
            </a:extLst>
          </p:cNvPr>
          <p:cNvSpPr>
            <a:spLocks noGrp="1"/>
          </p:cNvSpPr>
          <p:nvPr>
            <p:ph idx="1"/>
          </p:nvPr>
        </p:nvSpPr>
        <p:spPr>
          <a:xfrm>
            <a:off x="838200" y="457200"/>
            <a:ext cx="10515600" cy="5719763"/>
          </a:xfrm>
        </p:spPr>
        <p:txBody>
          <a:bodyPr>
            <a:normAutofit/>
          </a:bodyPr>
          <a:lstStyle/>
          <a:p>
            <a:pPr algn="just"/>
            <a:r>
              <a:rPr lang="en-US" dirty="0">
                <a:latin typeface="Times New Roman" panose="02020603050405020304" pitchFamily="18" charset="0"/>
                <a:cs typeface="Times New Roman" panose="02020603050405020304" pitchFamily="18" charset="0"/>
              </a:rPr>
              <a:t>Similarly, </a:t>
            </a:r>
            <a:r>
              <a:rPr lang="en-US" dirty="0" err="1">
                <a:latin typeface="Times New Roman" panose="02020603050405020304" pitchFamily="18" charset="0"/>
                <a:cs typeface="Times New Roman" panose="02020603050405020304" pitchFamily="18" charset="0"/>
              </a:rPr>
              <a:t>getc</a:t>
            </a:r>
            <a:r>
              <a:rPr lang="en-US" dirty="0">
                <a:latin typeface="Times New Roman" panose="02020603050405020304" pitchFamily="18" charset="0"/>
                <a:cs typeface="Times New Roman" panose="02020603050405020304" pitchFamily="18" charset="0"/>
              </a:rPr>
              <a:t> is used to read a character from a fi le that has been opened in read mode.</a:t>
            </a:r>
          </a:p>
          <a:p>
            <a:pPr algn="just"/>
            <a:r>
              <a:rPr lang="en-US" dirty="0">
                <a:latin typeface="Times New Roman" panose="02020603050405020304" pitchFamily="18" charset="0"/>
                <a:cs typeface="Times New Roman" panose="02020603050405020304" pitchFamily="18" charset="0"/>
              </a:rPr>
              <a:t> For example, the statement </a:t>
            </a:r>
          </a:p>
          <a:p>
            <a:pPr marL="0" indent="0" algn="ctr">
              <a:buNone/>
            </a:pPr>
            <a:r>
              <a:rPr lang="en-US" b="1" dirty="0">
                <a:latin typeface="Times New Roman" panose="02020603050405020304" pitchFamily="18" charset="0"/>
                <a:cs typeface="Times New Roman" panose="02020603050405020304" pitchFamily="18" charset="0"/>
              </a:rPr>
              <a:t>c = </a:t>
            </a:r>
            <a:r>
              <a:rPr lang="en-US" b="1" dirty="0" err="1">
                <a:latin typeface="Times New Roman" panose="02020603050405020304" pitchFamily="18" charset="0"/>
                <a:cs typeface="Times New Roman" panose="02020603050405020304" pitchFamily="18" charset="0"/>
              </a:rPr>
              <a:t>getc</a:t>
            </a:r>
            <a:r>
              <a:rPr lang="en-US" b="1" dirty="0">
                <a:latin typeface="Times New Roman" panose="02020603050405020304" pitchFamily="18" charset="0"/>
                <a:cs typeface="Times New Roman" panose="02020603050405020304" pitchFamily="18" charset="0"/>
              </a:rPr>
              <a:t>(fp2); </a:t>
            </a:r>
          </a:p>
          <a:p>
            <a:pPr algn="just"/>
            <a:r>
              <a:rPr lang="en-US" dirty="0">
                <a:latin typeface="Times New Roman" panose="02020603050405020304" pitchFamily="18" charset="0"/>
                <a:cs typeface="Times New Roman" panose="02020603050405020304" pitchFamily="18" charset="0"/>
              </a:rPr>
              <a:t>would read a character from the fi le whose fi le pointer is fp2. </a:t>
            </a:r>
          </a:p>
          <a:p>
            <a:pPr algn="just"/>
            <a:r>
              <a:rPr lang="en-US" dirty="0">
                <a:latin typeface="Times New Roman" panose="02020603050405020304" pitchFamily="18" charset="0"/>
                <a:cs typeface="Times New Roman" panose="02020603050405020304" pitchFamily="18" charset="0"/>
              </a:rPr>
              <a:t>The file pointer moves by one character position for every operation of </a:t>
            </a:r>
            <a:r>
              <a:rPr lang="en-US" dirty="0" err="1">
                <a:latin typeface="Times New Roman" panose="02020603050405020304" pitchFamily="18" charset="0"/>
                <a:cs typeface="Times New Roman" panose="02020603050405020304" pitchFamily="18" charset="0"/>
              </a:rPr>
              <a:t>getc</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putc</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getc</a:t>
            </a:r>
            <a:r>
              <a:rPr lang="en-US" dirty="0">
                <a:latin typeface="Times New Roman" panose="02020603050405020304" pitchFamily="18" charset="0"/>
                <a:cs typeface="Times New Roman" panose="02020603050405020304" pitchFamily="18" charset="0"/>
              </a:rPr>
              <a:t> will return an end-of-file marker EOF, when end of the fi le has been reached. </a:t>
            </a:r>
          </a:p>
          <a:p>
            <a:pPr algn="just"/>
            <a:r>
              <a:rPr lang="en-US" dirty="0">
                <a:latin typeface="Times New Roman" panose="02020603050405020304" pitchFamily="18" charset="0"/>
                <a:cs typeface="Times New Roman" panose="02020603050405020304" pitchFamily="18" charset="0"/>
              </a:rPr>
              <a:t>Therefore, the reading should be terminated when EOF is encountered.</a:t>
            </a:r>
          </a:p>
          <a:p>
            <a:endParaRPr lang="en-IN" dirty="0"/>
          </a:p>
        </p:txBody>
      </p:sp>
    </p:spTree>
    <p:extLst>
      <p:ext uri="{BB962C8B-B14F-4D97-AF65-F5344CB8AC3E}">
        <p14:creationId xmlns:p14="http://schemas.microsoft.com/office/powerpoint/2010/main" val="19795715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3A4DD0-E63C-36D2-DB1D-5F2D41268F84}"/>
              </a:ext>
            </a:extLst>
          </p:cNvPr>
          <p:cNvSpPr txBox="1"/>
          <p:nvPr/>
        </p:nvSpPr>
        <p:spPr>
          <a:xfrm>
            <a:off x="1178560" y="69572"/>
            <a:ext cx="6126480" cy="6463308"/>
          </a:xfrm>
          <a:prstGeom prst="rect">
            <a:avLst/>
          </a:prstGeom>
          <a:noFill/>
        </p:spPr>
        <p:txBody>
          <a:bodyPr wrap="square" rtlCol="0">
            <a:spAutoFit/>
          </a:bodyPr>
          <a:lstStyle/>
          <a:p>
            <a:r>
              <a:rPr lang="en-US" dirty="0"/>
              <a:t>#include &lt;</a:t>
            </a:r>
            <a:r>
              <a:rPr lang="en-US" dirty="0" err="1"/>
              <a:t>stdio.h</a:t>
            </a:r>
            <a:r>
              <a:rPr lang="en-US" dirty="0"/>
              <a:t>&gt;</a:t>
            </a:r>
          </a:p>
          <a:p>
            <a:r>
              <a:rPr lang="en-US" dirty="0"/>
              <a:t>main() { </a:t>
            </a:r>
          </a:p>
          <a:p>
            <a:r>
              <a:rPr lang="en-US" dirty="0"/>
              <a:t>FILE *f1; </a:t>
            </a:r>
          </a:p>
          <a:p>
            <a:r>
              <a:rPr lang="en-US" dirty="0"/>
              <a:t>char c; </a:t>
            </a:r>
          </a:p>
          <a:p>
            <a:r>
              <a:rPr lang="en-IN" dirty="0" err="1"/>
              <a:t>printf</a:t>
            </a:r>
            <a:r>
              <a:rPr lang="en-IN" dirty="0"/>
              <a:t>(“Data Input\n\n”); </a:t>
            </a:r>
          </a:p>
          <a:p>
            <a:r>
              <a:rPr lang="en-IN" dirty="0"/>
              <a:t>/* Open the file INPUT */ </a:t>
            </a:r>
          </a:p>
          <a:p>
            <a:r>
              <a:rPr lang="en-IN" dirty="0"/>
              <a:t>f1 = </a:t>
            </a:r>
            <a:r>
              <a:rPr lang="en-IN" dirty="0" err="1"/>
              <a:t>fopen</a:t>
            </a:r>
            <a:r>
              <a:rPr lang="en-IN" dirty="0"/>
              <a:t>(“INPUT”, “w”);</a:t>
            </a:r>
          </a:p>
          <a:p>
            <a:r>
              <a:rPr lang="en-IN" dirty="0"/>
              <a:t> /* Get a character from keyboard */ </a:t>
            </a:r>
          </a:p>
          <a:p>
            <a:r>
              <a:rPr lang="en-IN" dirty="0"/>
              <a:t>while((c=</a:t>
            </a:r>
            <a:r>
              <a:rPr lang="en-IN" dirty="0" err="1"/>
              <a:t>getchar</a:t>
            </a:r>
            <a:r>
              <a:rPr lang="en-IN" dirty="0"/>
              <a:t>()) != EOF) </a:t>
            </a:r>
          </a:p>
          <a:p>
            <a:r>
              <a:rPr lang="en-IN" dirty="0"/>
              <a:t>/* Write a character to INPUT */ </a:t>
            </a:r>
          </a:p>
          <a:p>
            <a:r>
              <a:rPr lang="en-IN" dirty="0" err="1"/>
              <a:t>putc</a:t>
            </a:r>
            <a:r>
              <a:rPr lang="en-IN" dirty="0"/>
              <a:t>(c,f1); </a:t>
            </a:r>
          </a:p>
          <a:p>
            <a:r>
              <a:rPr lang="en-IN" dirty="0"/>
              <a:t>/* Close the file INPUT */</a:t>
            </a:r>
          </a:p>
          <a:p>
            <a:r>
              <a:rPr lang="en-IN" dirty="0"/>
              <a:t> </a:t>
            </a:r>
            <a:r>
              <a:rPr lang="en-IN" dirty="0" err="1"/>
              <a:t>fclose</a:t>
            </a:r>
            <a:r>
              <a:rPr lang="en-IN" dirty="0"/>
              <a:t>(f1);</a:t>
            </a:r>
          </a:p>
          <a:p>
            <a:r>
              <a:rPr lang="en-IN" dirty="0"/>
              <a:t> </a:t>
            </a:r>
            <a:r>
              <a:rPr lang="en-IN" dirty="0" err="1"/>
              <a:t>printf</a:t>
            </a:r>
            <a:r>
              <a:rPr lang="en-IN" dirty="0"/>
              <a:t>(“\</a:t>
            </a:r>
            <a:r>
              <a:rPr lang="en-IN" dirty="0" err="1"/>
              <a:t>nData</a:t>
            </a:r>
            <a:r>
              <a:rPr lang="en-IN" dirty="0"/>
              <a:t> Output\n\n”); </a:t>
            </a:r>
          </a:p>
          <a:p>
            <a:r>
              <a:rPr lang="en-IN" dirty="0"/>
              <a:t>/* Reopen the file INPUT */</a:t>
            </a:r>
          </a:p>
          <a:p>
            <a:r>
              <a:rPr lang="en-IN" dirty="0"/>
              <a:t> f1 = </a:t>
            </a:r>
            <a:r>
              <a:rPr lang="en-IN" dirty="0" err="1"/>
              <a:t>fopen</a:t>
            </a:r>
            <a:r>
              <a:rPr lang="en-IN" dirty="0"/>
              <a:t>(“</a:t>
            </a:r>
            <a:r>
              <a:rPr lang="en-IN" dirty="0" err="1"/>
              <a:t>INPUT”,”r</a:t>
            </a:r>
            <a:r>
              <a:rPr lang="en-IN" dirty="0"/>
              <a:t>”);</a:t>
            </a:r>
          </a:p>
          <a:p>
            <a:r>
              <a:rPr lang="en-IN" dirty="0"/>
              <a:t> /* Read a character from INPUT*/</a:t>
            </a:r>
          </a:p>
          <a:p>
            <a:r>
              <a:rPr lang="en-IN" dirty="0"/>
              <a:t> while((c=</a:t>
            </a:r>
            <a:r>
              <a:rPr lang="en-IN" dirty="0" err="1"/>
              <a:t>getc</a:t>
            </a:r>
            <a:r>
              <a:rPr lang="en-IN" dirty="0"/>
              <a:t>(f1)) != EOF) </a:t>
            </a:r>
          </a:p>
          <a:p>
            <a:r>
              <a:rPr lang="en-IN" dirty="0"/>
              <a:t>/* Display a character on screen */ </a:t>
            </a:r>
          </a:p>
          <a:p>
            <a:r>
              <a:rPr lang="en-IN" dirty="0" err="1"/>
              <a:t>printf</a:t>
            </a:r>
            <a:r>
              <a:rPr lang="en-IN" dirty="0"/>
              <a:t>(“%</a:t>
            </a:r>
            <a:r>
              <a:rPr lang="en-IN" dirty="0" err="1"/>
              <a:t>c”,c</a:t>
            </a:r>
            <a:r>
              <a:rPr lang="en-IN" dirty="0"/>
              <a:t>); </a:t>
            </a:r>
          </a:p>
          <a:p>
            <a:r>
              <a:rPr lang="en-IN" dirty="0"/>
              <a:t>/* Close the file INPUT */ </a:t>
            </a:r>
          </a:p>
          <a:p>
            <a:r>
              <a:rPr lang="en-IN" dirty="0" err="1"/>
              <a:t>fclose</a:t>
            </a:r>
            <a:r>
              <a:rPr lang="en-IN" dirty="0"/>
              <a:t>(f1);</a:t>
            </a:r>
          </a:p>
          <a:p>
            <a:r>
              <a:rPr lang="en-IN" dirty="0"/>
              <a:t> } </a:t>
            </a:r>
          </a:p>
        </p:txBody>
      </p:sp>
    </p:spTree>
    <p:extLst>
      <p:ext uri="{BB962C8B-B14F-4D97-AF65-F5344CB8AC3E}">
        <p14:creationId xmlns:p14="http://schemas.microsoft.com/office/powerpoint/2010/main" val="22174820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DEE8F-69E9-47A4-F88F-C5B5261E5AAB}"/>
              </a:ext>
            </a:extLst>
          </p:cNvPr>
          <p:cNvSpPr>
            <a:spLocks noGrp="1"/>
          </p:cNvSpPr>
          <p:nvPr>
            <p:ph type="title"/>
          </p:nvPr>
        </p:nvSpPr>
        <p:spPr/>
        <p:txBody>
          <a:bodyPr/>
          <a:lstStyle/>
          <a:p>
            <a:r>
              <a:rPr lang="en-US" dirty="0"/>
              <a:t>The </a:t>
            </a:r>
            <a:r>
              <a:rPr lang="en-US" dirty="0" err="1"/>
              <a:t>getw</a:t>
            </a:r>
            <a:r>
              <a:rPr lang="en-US" dirty="0"/>
              <a:t> and </a:t>
            </a:r>
            <a:r>
              <a:rPr lang="en-US" dirty="0" err="1"/>
              <a:t>putw</a:t>
            </a:r>
            <a:r>
              <a:rPr lang="en-US" dirty="0"/>
              <a:t> Functions</a:t>
            </a:r>
            <a:endParaRPr lang="en-IN" dirty="0"/>
          </a:p>
        </p:txBody>
      </p:sp>
      <p:sp>
        <p:nvSpPr>
          <p:cNvPr id="3" name="Content Placeholder 2">
            <a:extLst>
              <a:ext uri="{FF2B5EF4-FFF2-40B4-BE49-F238E27FC236}">
                <a16:creationId xmlns:a16="http://schemas.microsoft.com/office/drawing/2014/main" id="{0E7F4852-96F2-6C44-0195-071880E55CF8}"/>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getw</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putw</a:t>
            </a:r>
            <a:r>
              <a:rPr lang="en-US" dirty="0">
                <a:latin typeface="Times New Roman" panose="02020603050405020304" pitchFamily="18" charset="0"/>
                <a:cs typeface="Times New Roman" panose="02020603050405020304" pitchFamily="18" charset="0"/>
              </a:rPr>
              <a:t> are integer-oriented functions. </a:t>
            </a:r>
          </a:p>
          <a:p>
            <a:pPr algn="just"/>
            <a:r>
              <a:rPr lang="en-US" dirty="0">
                <a:latin typeface="Times New Roman" panose="02020603050405020304" pitchFamily="18" charset="0"/>
                <a:cs typeface="Times New Roman" panose="02020603050405020304" pitchFamily="18" charset="0"/>
              </a:rPr>
              <a:t>They are similar to the </a:t>
            </a:r>
            <a:r>
              <a:rPr lang="en-US" dirty="0" err="1">
                <a:latin typeface="Times New Roman" panose="02020603050405020304" pitchFamily="18" charset="0"/>
                <a:cs typeface="Times New Roman" panose="02020603050405020304" pitchFamily="18" charset="0"/>
              </a:rPr>
              <a:t>getc</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putc</a:t>
            </a:r>
            <a:r>
              <a:rPr lang="en-US" dirty="0">
                <a:latin typeface="Times New Roman" panose="02020603050405020304" pitchFamily="18" charset="0"/>
                <a:cs typeface="Times New Roman" panose="02020603050405020304" pitchFamily="18" charset="0"/>
              </a:rPr>
              <a:t> functions and are used to read and write integer values. </a:t>
            </a:r>
          </a:p>
          <a:p>
            <a:pPr algn="just"/>
            <a:r>
              <a:rPr lang="en-US" dirty="0">
                <a:latin typeface="Times New Roman" panose="02020603050405020304" pitchFamily="18" charset="0"/>
                <a:cs typeface="Times New Roman" panose="02020603050405020304" pitchFamily="18" charset="0"/>
              </a:rPr>
              <a:t>These functions would be useful when we deal with only integer data. </a:t>
            </a:r>
          </a:p>
          <a:p>
            <a:pPr algn="just"/>
            <a:r>
              <a:rPr lang="en-US" dirty="0">
                <a:latin typeface="Times New Roman" panose="02020603050405020304" pitchFamily="18" charset="0"/>
                <a:cs typeface="Times New Roman" panose="02020603050405020304" pitchFamily="18" charset="0"/>
              </a:rPr>
              <a:t>The general forms of </a:t>
            </a:r>
            <a:r>
              <a:rPr lang="en-US" dirty="0" err="1">
                <a:latin typeface="Times New Roman" panose="02020603050405020304" pitchFamily="18" charset="0"/>
                <a:cs typeface="Times New Roman" panose="02020603050405020304" pitchFamily="18" charset="0"/>
              </a:rPr>
              <a:t>getw</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putw</a:t>
            </a:r>
            <a:r>
              <a:rPr lang="en-US" dirty="0">
                <a:latin typeface="Times New Roman" panose="02020603050405020304" pitchFamily="18" charset="0"/>
                <a:cs typeface="Times New Roman" panose="02020603050405020304" pitchFamily="18" charset="0"/>
              </a:rPr>
              <a:t> are as follows: </a:t>
            </a:r>
          </a:p>
          <a:p>
            <a:pPr marL="0" indent="0" algn="ctr">
              <a:buNone/>
            </a:pPr>
            <a:r>
              <a:rPr lang="en-US" b="1" dirty="0" err="1">
                <a:latin typeface="Times New Roman" panose="02020603050405020304" pitchFamily="18" charset="0"/>
                <a:cs typeface="Times New Roman" panose="02020603050405020304" pitchFamily="18" charset="0"/>
              </a:rPr>
              <a:t>putw</a:t>
            </a:r>
            <a:r>
              <a:rPr lang="en-US" b="1" dirty="0">
                <a:latin typeface="Times New Roman" panose="02020603050405020304" pitchFamily="18" charset="0"/>
                <a:cs typeface="Times New Roman" panose="02020603050405020304" pitchFamily="18" charset="0"/>
              </a:rPr>
              <a:t>(integer, </a:t>
            </a:r>
            <a:r>
              <a:rPr lang="en-US" b="1" dirty="0" err="1">
                <a:latin typeface="Times New Roman" panose="02020603050405020304" pitchFamily="18" charset="0"/>
                <a:cs typeface="Times New Roman" panose="02020603050405020304" pitchFamily="18" charset="0"/>
              </a:rPr>
              <a:t>fp</a:t>
            </a:r>
            <a:r>
              <a:rPr lang="en-US" b="1" dirty="0">
                <a:latin typeface="Times New Roman" panose="02020603050405020304" pitchFamily="18" charset="0"/>
                <a:cs typeface="Times New Roman" panose="02020603050405020304" pitchFamily="18" charset="0"/>
              </a:rPr>
              <a:t>); </a:t>
            </a:r>
          </a:p>
          <a:p>
            <a:pPr marL="0" indent="0" algn="ctr">
              <a:buNone/>
            </a:pPr>
            <a:r>
              <a:rPr lang="en-US" b="1" dirty="0" err="1">
                <a:latin typeface="Times New Roman" panose="02020603050405020304" pitchFamily="18" charset="0"/>
                <a:cs typeface="Times New Roman" panose="02020603050405020304" pitchFamily="18" charset="0"/>
              </a:rPr>
              <a:t>getw</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fp</a:t>
            </a:r>
            <a:r>
              <a:rPr 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365503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084AEF-F60F-4039-48EC-BAC77CECCEBA}"/>
              </a:ext>
            </a:extLst>
          </p:cNvPr>
          <p:cNvSpPr txBox="1"/>
          <p:nvPr/>
        </p:nvSpPr>
        <p:spPr>
          <a:xfrm>
            <a:off x="0" y="172719"/>
            <a:ext cx="5811520" cy="6863417"/>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#include &lt;</a:t>
            </a:r>
            <a:r>
              <a:rPr lang="en-IN" sz="2000" dirty="0" err="1">
                <a:latin typeface="Times New Roman" panose="02020603050405020304" pitchFamily="18" charset="0"/>
                <a:cs typeface="Times New Roman" panose="02020603050405020304" pitchFamily="18" charset="0"/>
              </a:rPr>
              <a:t>stdio.h</a:t>
            </a:r>
            <a:r>
              <a:rPr lang="en-IN" sz="2000" dirty="0">
                <a:latin typeface="Times New Roman" panose="02020603050405020304" pitchFamily="18" charset="0"/>
                <a:cs typeface="Times New Roman" panose="02020603050405020304" pitchFamily="18" charset="0"/>
              </a:rPr>
              <a:t>&gt;</a:t>
            </a:r>
          </a:p>
          <a:p>
            <a:r>
              <a:rPr lang="en-IN" sz="2000" dirty="0">
                <a:latin typeface="Times New Roman" panose="02020603050405020304" pitchFamily="18" charset="0"/>
                <a:cs typeface="Times New Roman" panose="02020603050405020304" pitchFamily="18" charset="0"/>
              </a:rPr>
              <a:t>Void  main() { </a:t>
            </a:r>
          </a:p>
          <a:p>
            <a:r>
              <a:rPr lang="en-IN" sz="2000" dirty="0">
                <a:latin typeface="Times New Roman" panose="02020603050405020304" pitchFamily="18" charset="0"/>
                <a:cs typeface="Times New Roman" panose="02020603050405020304" pitchFamily="18" charset="0"/>
              </a:rPr>
              <a:t>FILE *f1, *f2, *f3; </a:t>
            </a:r>
          </a:p>
          <a:p>
            <a:r>
              <a:rPr lang="en-IN" sz="2000" dirty="0">
                <a:latin typeface="Times New Roman" panose="02020603050405020304" pitchFamily="18" charset="0"/>
                <a:cs typeface="Times New Roman" panose="02020603050405020304" pitchFamily="18" charset="0"/>
              </a:rPr>
              <a:t>int number,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a:t>
            </a:r>
          </a:p>
          <a:p>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(“Contents of DATA fi le\n\n”); </a:t>
            </a:r>
          </a:p>
          <a:p>
            <a:r>
              <a:rPr lang="en-IN" sz="2000" dirty="0">
                <a:latin typeface="Times New Roman" panose="02020603050405020304" pitchFamily="18" charset="0"/>
                <a:cs typeface="Times New Roman" panose="02020603050405020304" pitchFamily="18" charset="0"/>
              </a:rPr>
              <a:t>f1 = </a:t>
            </a:r>
            <a:r>
              <a:rPr lang="en-IN" sz="2000" dirty="0" err="1">
                <a:latin typeface="Times New Roman" panose="02020603050405020304" pitchFamily="18" charset="0"/>
                <a:cs typeface="Times New Roman" panose="02020603050405020304" pitchFamily="18" charset="0"/>
              </a:rPr>
              <a:t>fopen</a:t>
            </a:r>
            <a:r>
              <a:rPr lang="en-IN" sz="2000" dirty="0">
                <a:latin typeface="Times New Roman" panose="02020603050405020304" pitchFamily="18" charset="0"/>
                <a:cs typeface="Times New Roman" panose="02020603050405020304" pitchFamily="18" charset="0"/>
              </a:rPr>
              <a:t>(“DATA”, “w”);</a:t>
            </a:r>
          </a:p>
          <a:p>
            <a:r>
              <a:rPr lang="en-IN" sz="2000" dirty="0">
                <a:latin typeface="Times New Roman" panose="02020603050405020304" pitchFamily="18" charset="0"/>
                <a:cs typeface="Times New Roman" panose="02020603050405020304" pitchFamily="18" charset="0"/>
              </a:rPr>
              <a:t> /* Create DATA fi le */ </a:t>
            </a:r>
          </a:p>
          <a:p>
            <a:r>
              <a:rPr lang="en-IN" sz="2000" dirty="0">
                <a:latin typeface="Times New Roman" panose="02020603050405020304" pitchFamily="18" charset="0"/>
                <a:cs typeface="Times New Roman" panose="02020603050405020304" pitchFamily="18" charset="0"/>
              </a:rPr>
              <a:t>for(</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1;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&lt;= 30; </a:t>
            </a:r>
            <a:r>
              <a:rPr lang="en-IN" sz="2000" dirty="0" err="1">
                <a:latin typeface="Times New Roman" panose="02020603050405020304" pitchFamily="18" charset="0"/>
                <a:cs typeface="Times New Roman" panose="02020603050405020304" pitchFamily="18" charset="0"/>
              </a:rPr>
              <a:t>i</a:t>
            </a:r>
            <a:r>
              <a:rPr lang="en-IN" sz="2000" dirty="0">
                <a:latin typeface="Times New Roman" panose="02020603050405020304" pitchFamily="18" charset="0"/>
                <a:cs typeface="Times New Roman" panose="02020603050405020304" pitchFamily="18" charset="0"/>
              </a:rPr>
              <a:t>++) { </a:t>
            </a:r>
          </a:p>
          <a:p>
            <a:r>
              <a:rPr lang="en-IN" sz="2000" dirty="0" err="1">
                <a:latin typeface="Times New Roman" panose="02020603050405020304" pitchFamily="18" charset="0"/>
                <a:cs typeface="Times New Roman" panose="02020603050405020304" pitchFamily="18" charset="0"/>
              </a:rPr>
              <a:t>scanf</a:t>
            </a:r>
            <a:r>
              <a:rPr lang="en-IN" sz="2000" dirty="0">
                <a:latin typeface="Times New Roman" panose="02020603050405020304" pitchFamily="18" charset="0"/>
                <a:cs typeface="Times New Roman" panose="02020603050405020304" pitchFamily="18" charset="0"/>
              </a:rPr>
              <a:t>(“%d”, &amp;number); </a:t>
            </a:r>
          </a:p>
          <a:p>
            <a:r>
              <a:rPr lang="en-IN" sz="2000" dirty="0">
                <a:latin typeface="Times New Roman" panose="02020603050405020304" pitchFamily="18" charset="0"/>
                <a:cs typeface="Times New Roman" panose="02020603050405020304" pitchFamily="18" charset="0"/>
              </a:rPr>
              <a:t>if(number == -1) break; </a:t>
            </a:r>
          </a:p>
          <a:p>
            <a:r>
              <a:rPr lang="en-IN" sz="2000" dirty="0" err="1">
                <a:latin typeface="Times New Roman" panose="02020603050405020304" pitchFamily="18" charset="0"/>
                <a:cs typeface="Times New Roman" panose="02020603050405020304" pitchFamily="18" charset="0"/>
              </a:rPr>
              <a:t>putw</a:t>
            </a:r>
            <a:r>
              <a:rPr lang="en-IN" sz="2000" dirty="0">
                <a:latin typeface="Times New Roman" panose="02020603050405020304" pitchFamily="18" charset="0"/>
                <a:cs typeface="Times New Roman" panose="02020603050405020304" pitchFamily="18" charset="0"/>
              </a:rPr>
              <a:t>(number,f1); } </a:t>
            </a:r>
          </a:p>
          <a:p>
            <a:r>
              <a:rPr lang="en-IN" sz="2000" dirty="0" err="1">
                <a:latin typeface="Times New Roman" panose="02020603050405020304" pitchFamily="18" charset="0"/>
                <a:cs typeface="Times New Roman" panose="02020603050405020304" pitchFamily="18" charset="0"/>
              </a:rPr>
              <a:t>fclose</a:t>
            </a:r>
            <a:r>
              <a:rPr lang="en-IN" sz="2000" dirty="0">
                <a:latin typeface="Times New Roman" panose="02020603050405020304" pitchFamily="18" charset="0"/>
                <a:cs typeface="Times New Roman" panose="02020603050405020304" pitchFamily="18" charset="0"/>
              </a:rPr>
              <a:t>(f1);</a:t>
            </a:r>
          </a:p>
          <a:p>
            <a:r>
              <a:rPr lang="en-IN" sz="2000" dirty="0">
                <a:latin typeface="Times New Roman" panose="02020603050405020304" pitchFamily="18" charset="0"/>
                <a:cs typeface="Times New Roman" panose="02020603050405020304" pitchFamily="18" charset="0"/>
              </a:rPr>
              <a:t> f1 = </a:t>
            </a:r>
            <a:r>
              <a:rPr lang="en-IN" sz="2000" dirty="0" err="1">
                <a:latin typeface="Times New Roman" panose="02020603050405020304" pitchFamily="18" charset="0"/>
                <a:cs typeface="Times New Roman" panose="02020603050405020304" pitchFamily="18" charset="0"/>
              </a:rPr>
              <a:t>fopen</a:t>
            </a:r>
            <a:r>
              <a:rPr lang="en-IN" sz="2000" dirty="0">
                <a:latin typeface="Times New Roman" panose="02020603050405020304" pitchFamily="18" charset="0"/>
                <a:cs typeface="Times New Roman" panose="02020603050405020304" pitchFamily="18" charset="0"/>
              </a:rPr>
              <a:t>(“DATA”, “r”);</a:t>
            </a:r>
          </a:p>
          <a:p>
            <a:r>
              <a:rPr lang="en-IN" sz="2000" dirty="0">
                <a:latin typeface="Times New Roman" panose="02020603050405020304" pitchFamily="18" charset="0"/>
                <a:cs typeface="Times New Roman" panose="02020603050405020304" pitchFamily="18" charset="0"/>
              </a:rPr>
              <a:t>f2 = </a:t>
            </a:r>
            <a:r>
              <a:rPr lang="en-IN" sz="2000" dirty="0" err="1">
                <a:latin typeface="Times New Roman" panose="02020603050405020304" pitchFamily="18" charset="0"/>
                <a:cs typeface="Times New Roman" panose="02020603050405020304" pitchFamily="18" charset="0"/>
              </a:rPr>
              <a:t>fopen</a:t>
            </a:r>
            <a:r>
              <a:rPr lang="en-IN" sz="2000" dirty="0">
                <a:latin typeface="Times New Roman" panose="02020603050405020304" pitchFamily="18" charset="0"/>
                <a:cs typeface="Times New Roman" panose="02020603050405020304" pitchFamily="18" charset="0"/>
              </a:rPr>
              <a:t>(“ODD”, “w”);</a:t>
            </a:r>
          </a:p>
          <a:p>
            <a:r>
              <a:rPr lang="en-IN" sz="2000" dirty="0">
                <a:latin typeface="Times New Roman" panose="02020603050405020304" pitchFamily="18" charset="0"/>
                <a:cs typeface="Times New Roman" panose="02020603050405020304" pitchFamily="18" charset="0"/>
              </a:rPr>
              <a:t> f3 = </a:t>
            </a:r>
            <a:r>
              <a:rPr lang="en-IN" sz="2000" dirty="0" err="1">
                <a:latin typeface="Times New Roman" panose="02020603050405020304" pitchFamily="18" charset="0"/>
                <a:cs typeface="Times New Roman" panose="02020603050405020304" pitchFamily="18" charset="0"/>
              </a:rPr>
              <a:t>fopen</a:t>
            </a:r>
            <a:r>
              <a:rPr lang="en-IN" sz="2000" dirty="0">
                <a:latin typeface="Times New Roman" panose="02020603050405020304" pitchFamily="18" charset="0"/>
                <a:cs typeface="Times New Roman" panose="02020603050405020304" pitchFamily="18" charset="0"/>
              </a:rPr>
              <a:t>(“EVEN”, “w”); /* Read from DATA file */ </a:t>
            </a:r>
          </a:p>
          <a:p>
            <a:r>
              <a:rPr lang="en-IN" sz="2000" dirty="0">
                <a:latin typeface="Times New Roman" panose="02020603050405020304" pitchFamily="18" charset="0"/>
                <a:cs typeface="Times New Roman" panose="02020603050405020304" pitchFamily="18" charset="0"/>
              </a:rPr>
              <a:t>while((number = </a:t>
            </a:r>
            <a:r>
              <a:rPr lang="en-IN" sz="2000" dirty="0" err="1">
                <a:latin typeface="Times New Roman" panose="02020603050405020304" pitchFamily="18" charset="0"/>
                <a:cs typeface="Times New Roman" panose="02020603050405020304" pitchFamily="18" charset="0"/>
              </a:rPr>
              <a:t>getw</a:t>
            </a:r>
            <a:r>
              <a:rPr lang="en-IN" sz="2000" dirty="0">
                <a:latin typeface="Times New Roman" panose="02020603050405020304" pitchFamily="18" charset="0"/>
                <a:cs typeface="Times New Roman" panose="02020603050405020304" pitchFamily="18" charset="0"/>
              </a:rPr>
              <a:t>(f1)) != EOF) { </a:t>
            </a:r>
          </a:p>
          <a:p>
            <a:r>
              <a:rPr lang="en-IN" sz="2000" dirty="0">
                <a:latin typeface="Times New Roman" panose="02020603050405020304" pitchFamily="18" charset="0"/>
                <a:cs typeface="Times New Roman" panose="02020603050405020304" pitchFamily="18" charset="0"/>
              </a:rPr>
              <a:t>if(number %2 == 0)</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putw</a:t>
            </a:r>
            <a:r>
              <a:rPr lang="en-IN" sz="2000" dirty="0">
                <a:latin typeface="Times New Roman" panose="02020603050405020304" pitchFamily="18" charset="0"/>
                <a:cs typeface="Times New Roman" panose="02020603050405020304" pitchFamily="18" charset="0"/>
              </a:rPr>
              <a:t>(number, f3); /* Write to EVEN file */</a:t>
            </a:r>
          </a:p>
          <a:p>
            <a:r>
              <a:rPr lang="en-IN" sz="2000" dirty="0">
                <a:latin typeface="Times New Roman" panose="02020603050405020304" pitchFamily="18" charset="0"/>
                <a:cs typeface="Times New Roman" panose="02020603050405020304" pitchFamily="18" charset="0"/>
              </a:rPr>
              <a:t> else</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putw</a:t>
            </a:r>
            <a:r>
              <a:rPr lang="en-IN" sz="2000" dirty="0">
                <a:latin typeface="Times New Roman" panose="02020603050405020304" pitchFamily="18" charset="0"/>
                <a:cs typeface="Times New Roman" panose="02020603050405020304" pitchFamily="18" charset="0"/>
              </a:rPr>
              <a:t>(number, f2); /* Write to ODD file */ </a:t>
            </a:r>
          </a:p>
          <a:p>
            <a:r>
              <a:rPr lang="en-IN" sz="2000" dirty="0">
                <a:latin typeface="Times New Roman" panose="02020603050405020304" pitchFamily="18" charset="0"/>
                <a:cs typeface="Times New Roman" panose="02020603050405020304" pitchFamily="18" charset="0"/>
              </a:rPr>
              <a:t>} </a:t>
            </a:r>
          </a:p>
          <a:p>
            <a:r>
              <a:rPr lang="en-IN" sz="2000" dirty="0" err="1">
                <a:latin typeface="Times New Roman" panose="02020603050405020304" pitchFamily="18" charset="0"/>
                <a:cs typeface="Times New Roman" panose="02020603050405020304" pitchFamily="18" charset="0"/>
              </a:rPr>
              <a:t>fclose</a:t>
            </a:r>
            <a:r>
              <a:rPr lang="en-IN" sz="2000" dirty="0">
                <a:latin typeface="Times New Roman" panose="02020603050405020304" pitchFamily="18" charset="0"/>
                <a:cs typeface="Times New Roman" panose="02020603050405020304" pitchFamily="18" charset="0"/>
              </a:rPr>
              <a:t>(f1); </a:t>
            </a:r>
          </a:p>
        </p:txBody>
      </p:sp>
      <p:sp>
        <p:nvSpPr>
          <p:cNvPr id="5" name="TextBox 4">
            <a:extLst>
              <a:ext uri="{FF2B5EF4-FFF2-40B4-BE49-F238E27FC236}">
                <a16:creationId xmlns:a16="http://schemas.microsoft.com/office/drawing/2014/main" id="{93D02760-1364-844D-0863-4F6E6AE8A42C}"/>
              </a:ext>
            </a:extLst>
          </p:cNvPr>
          <p:cNvSpPr txBox="1"/>
          <p:nvPr/>
        </p:nvSpPr>
        <p:spPr>
          <a:xfrm>
            <a:off x="7101840" y="172719"/>
            <a:ext cx="4775200" cy="4093428"/>
          </a:xfrm>
          <a:prstGeom prst="rect">
            <a:avLst/>
          </a:prstGeom>
          <a:noFill/>
        </p:spPr>
        <p:txBody>
          <a:bodyPr wrap="square" rtlCol="0">
            <a:spAutoFit/>
          </a:bodyPr>
          <a:lstStyle/>
          <a:p>
            <a:r>
              <a:rPr lang="en-IN" sz="2000" dirty="0" err="1">
                <a:latin typeface="Times New Roman" panose="02020603050405020304" pitchFamily="18" charset="0"/>
                <a:cs typeface="Times New Roman" panose="02020603050405020304" pitchFamily="18" charset="0"/>
              </a:rPr>
              <a:t>fclose</a:t>
            </a:r>
            <a:r>
              <a:rPr lang="en-IN" sz="2000" dirty="0">
                <a:latin typeface="Times New Roman" panose="02020603050405020304" pitchFamily="18" charset="0"/>
                <a:cs typeface="Times New Roman" panose="02020603050405020304" pitchFamily="18" charset="0"/>
              </a:rPr>
              <a:t>(f2);</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fclose</a:t>
            </a:r>
            <a:r>
              <a:rPr lang="en-IN" sz="2000" dirty="0">
                <a:latin typeface="Times New Roman" panose="02020603050405020304" pitchFamily="18" charset="0"/>
                <a:cs typeface="Times New Roman" panose="02020603050405020304" pitchFamily="18" charset="0"/>
              </a:rPr>
              <a:t>(f3); </a:t>
            </a:r>
          </a:p>
          <a:p>
            <a:r>
              <a:rPr lang="en-IN" sz="2000" dirty="0">
                <a:latin typeface="Times New Roman" panose="02020603050405020304" pitchFamily="18" charset="0"/>
                <a:cs typeface="Times New Roman" panose="02020603050405020304" pitchFamily="18" charset="0"/>
              </a:rPr>
              <a:t>f2 = </a:t>
            </a:r>
            <a:r>
              <a:rPr lang="en-IN" sz="2000" dirty="0" err="1">
                <a:latin typeface="Times New Roman" panose="02020603050405020304" pitchFamily="18" charset="0"/>
                <a:cs typeface="Times New Roman" panose="02020603050405020304" pitchFamily="18" charset="0"/>
              </a:rPr>
              <a:t>fopen</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ODD”,”r</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f3 = </a:t>
            </a:r>
            <a:r>
              <a:rPr lang="en-IN" sz="2000" dirty="0" err="1">
                <a:latin typeface="Times New Roman" panose="02020603050405020304" pitchFamily="18" charset="0"/>
                <a:cs typeface="Times New Roman" panose="02020603050405020304" pitchFamily="18" charset="0"/>
              </a:rPr>
              <a:t>fopen</a:t>
            </a:r>
            <a:r>
              <a:rPr lang="en-IN" sz="2000" dirty="0">
                <a:latin typeface="Times New Roman" panose="02020603050405020304" pitchFamily="18" charset="0"/>
                <a:cs typeface="Times New Roman" panose="02020603050405020304" pitchFamily="18" charset="0"/>
              </a:rPr>
              <a:t>(“EVEN”, “r”);</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(“\n\</a:t>
            </a:r>
            <a:r>
              <a:rPr lang="en-IN" sz="2000" dirty="0" err="1">
                <a:latin typeface="Times New Roman" panose="02020603050405020304" pitchFamily="18" charset="0"/>
                <a:cs typeface="Times New Roman" panose="02020603050405020304" pitchFamily="18" charset="0"/>
              </a:rPr>
              <a:t>nContents</a:t>
            </a:r>
            <a:r>
              <a:rPr lang="en-IN" sz="2000" dirty="0">
                <a:latin typeface="Times New Roman" panose="02020603050405020304" pitchFamily="18" charset="0"/>
                <a:cs typeface="Times New Roman" panose="02020603050405020304" pitchFamily="18" charset="0"/>
              </a:rPr>
              <a:t> of ODD file\n\n”); while((number = </a:t>
            </a:r>
            <a:r>
              <a:rPr lang="en-IN" sz="2000" dirty="0" err="1">
                <a:latin typeface="Times New Roman" panose="02020603050405020304" pitchFamily="18" charset="0"/>
                <a:cs typeface="Times New Roman" panose="02020603050405020304" pitchFamily="18" charset="0"/>
              </a:rPr>
              <a:t>getw</a:t>
            </a:r>
            <a:r>
              <a:rPr lang="en-IN" sz="2000" dirty="0">
                <a:latin typeface="Times New Roman" panose="02020603050405020304" pitchFamily="18" charset="0"/>
                <a:cs typeface="Times New Roman" panose="02020603050405020304" pitchFamily="18" charset="0"/>
              </a:rPr>
              <a:t>(f2)) != EOF)</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(“%4d”, number); </a:t>
            </a:r>
          </a:p>
          <a:p>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(“\n\</a:t>
            </a:r>
            <a:r>
              <a:rPr lang="en-IN" sz="2000" dirty="0" err="1">
                <a:latin typeface="Times New Roman" panose="02020603050405020304" pitchFamily="18" charset="0"/>
                <a:cs typeface="Times New Roman" panose="02020603050405020304" pitchFamily="18" charset="0"/>
              </a:rPr>
              <a:t>nContents</a:t>
            </a:r>
            <a:r>
              <a:rPr lang="en-IN" sz="2000" dirty="0">
                <a:latin typeface="Times New Roman" panose="02020603050405020304" pitchFamily="18" charset="0"/>
                <a:cs typeface="Times New Roman" panose="02020603050405020304" pitchFamily="18" charset="0"/>
              </a:rPr>
              <a:t> of EVEN file\n\n”); while((number = </a:t>
            </a:r>
            <a:r>
              <a:rPr lang="en-IN" sz="2000" dirty="0" err="1">
                <a:latin typeface="Times New Roman" panose="02020603050405020304" pitchFamily="18" charset="0"/>
                <a:cs typeface="Times New Roman" panose="02020603050405020304" pitchFamily="18" charset="0"/>
              </a:rPr>
              <a:t>getw</a:t>
            </a:r>
            <a:r>
              <a:rPr lang="en-IN" sz="2000" dirty="0">
                <a:latin typeface="Times New Roman" panose="02020603050405020304" pitchFamily="18" charset="0"/>
                <a:cs typeface="Times New Roman" panose="02020603050405020304" pitchFamily="18" charset="0"/>
              </a:rPr>
              <a:t>(f3)) != EOF) </a:t>
            </a:r>
          </a:p>
          <a:p>
            <a:r>
              <a:rPr lang="en-IN" sz="2000" dirty="0" err="1">
                <a:latin typeface="Times New Roman" panose="02020603050405020304" pitchFamily="18" charset="0"/>
                <a:cs typeface="Times New Roman" panose="02020603050405020304" pitchFamily="18" charset="0"/>
              </a:rPr>
              <a:t>printf</a:t>
            </a:r>
            <a:r>
              <a:rPr lang="en-IN" sz="2000" dirty="0">
                <a:latin typeface="Times New Roman" panose="02020603050405020304" pitchFamily="18" charset="0"/>
                <a:cs typeface="Times New Roman" panose="02020603050405020304" pitchFamily="18" charset="0"/>
              </a:rPr>
              <a:t>(“%4d”, number);</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fclose</a:t>
            </a:r>
            <a:r>
              <a:rPr lang="en-IN" sz="2000" dirty="0">
                <a:latin typeface="Times New Roman" panose="02020603050405020304" pitchFamily="18" charset="0"/>
                <a:cs typeface="Times New Roman" panose="02020603050405020304" pitchFamily="18" charset="0"/>
              </a:rPr>
              <a:t>(f2); </a:t>
            </a:r>
          </a:p>
          <a:p>
            <a:r>
              <a:rPr lang="en-IN" sz="2000" dirty="0" err="1">
                <a:latin typeface="Times New Roman" panose="02020603050405020304" pitchFamily="18" charset="0"/>
                <a:cs typeface="Times New Roman" panose="02020603050405020304" pitchFamily="18" charset="0"/>
              </a:rPr>
              <a:t>fclose</a:t>
            </a:r>
            <a:r>
              <a:rPr lang="en-IN" sz="2000" dirty="0">
                <a:latin typeface="Times New Roman" panose="02020603050405020304" pitchFamily="18" charset="0"/>
                <a:cs typeface="Times New Roman" panose="02020603050405020304" pitchFamily="18" charset="0"/>
              </a:rPr>
              <a:t>(f3); </a:t>
            </a:r>
          </a:p>
          <a:p>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30277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7C909-1F1D-2C9C-A675-D7F241EA0A13}"/>
              </a:ext>
            </a:extLst>
          </p:cNvPr>
          <p:cNvSpPr>
            <a:spLocks noGrp="1"/>
          </p:cNvSpPr>
          <p:nvPr>
            <p:ph type="title"/>
          </p:nvPr>
        </p:nvSpPr>
        <p:spPr/>
        <p:txBody>
          <a:bodyPr/>
          <a:lstStyle/>
          <a:p>
            <a:r>
              <a:rPr lang="en-US" dirty="0"/>
              <a:t>The </a:t>
            </a:r>
            <a:r>
              <a:rPr lang="en-US" dirty="0" err="1"/>
              <a:t>fprintf</a:t>
            </a:r>
            <a:r>
              <a:rPr lang="en-US" dirty="0"/>
              <a:t> and </a:t>
            </a:r>
            <a:r>
              <a:rPr lang="en-US" dirty="0" err="1"/>
              <a:t>fscanf</a:t>
            </a:r>
            <a:r>
              <a:rPr lang="en-US" dirty="0"/>
              <a:t> Functions</a:t>
            </a:r>
            <a:endParaRPr lang="en-IN" dirty="0"/>
          </a:p>
        </p:txBody>
      </p:sp>
      <p:sp>
        <p:nvSpPr>
          <p:cNvPr id="3" name="Content Placeholder 2">
            <a:extLst>
              <a:ext uri="{FF2B5EF4-FFF2-40B4-BE49-F238E27FC236}">
                <a16:creationId xmlns:a16="http://schemas.microsoft.com/office/drawing/2014/main" id="{294ACF62-C094-34DF-09C4-65F66D7B58D6}"/>
              </a:ext>
            </a:extLst>
          </p:cNvPr>
          <p:cNvSpPr>
            <a:spLocks noGrp="1"/>
          </p:cNvSpPr>
          <p:nvPr>
            <p:ph idx="1"/>
          </p:nvPr>
        </p:nvSpPr>
        <p:spPr>
          <a:xfrm>
            <a:off x="838200" y="1483360"/>
            <a:ext cx="10515600" cy="5516880"/>
          </a:xfrm>
        </p:spPr>
        <p:txBody>
          <a:bodyPr>
            <a:noAutofit/>
          </a:bodyPr>
          <a:lstStyle/>
          <a:p>
            <a:pPr algn="just"/>
            <a:r>
              <a:rPr lang="en-US" sz="3000" dirty="0">
                <a:latin typeface="Times New Roman" panose="02020603050405020304" pitchFamily="18" charset="0"/>
                <a:cs typeface="Times New Roman" panose="02020603050405020304" pitchFamily="18" charset="0"/>
              </a:rPr>
              <a:t>Most compilers support two other functions, namely </a:t>
            </a:r>
            <a:r>
              <a:rPr lang="en-US" sz="3000" dirty="0" err="1">
                <a:latin typeface="Times New Roman" panose="02020603050405020304" pitchFamily="18" charset="0"/>
                <a:cs typeface="Times New Roman" panose="02020603050405020304" pitchFamily="18" charset="0"/>
              </a:rPr>
              <a:t>fprintf</a:t>
            </a:r>
            <a:r>
              <a:rPr lang="en-US" sz="3000" dirty="0">
                <a:latin typeface="Times New Roman" panose="02020603050405020304" pitchFamily="18" charset="0"/>
                <a:cs typeface="Times New Roman" panose="02020603050405020304" pitchFamily="18" charset="0"/>
              </a:rPr>
              <a:t> and </a:t>
            </a:r>
            <a:r>
              <a:rPr lang="en-US" sz="3000" dirty="0" err="1">
                <a:latin typeface="Times New Roman" panose="02020603050405020304" pitchFamily="18" charset="0"/>
                <a:cs typeface="Times New Roman" panose="02020603050405020304" pitchFamily="18" charset="0"/>
              </a:rPr>
              <a:t>fscanf</a:t>
            </a:r>
            <a:r>
              <a:rPr lang="en-US" sz="3000" dirty="0">
                <a:latin typeface="Times New Roman" panose="02020603050405020304" pitchFamily="18" charset="0"/>
                <a:cs typeface="Times New Roman" panose="02020603050405020304" pitchFamily="18" charset="0"/>
              </a:rPr>
              <a:t>, that can handle a group of mixed data simultaneously. </a:t>
            </a:r>
          </a:p>
          <a:p>
            <a:pPr algn="just"/>
            <a:r>
              <a:rPr lang="en-US" sz="3000" dirty="0">
                <a:latin typeface="Times New Roman" panose="02020603050405020304" pitchFamily="18" charset="0"/>
                <a:cs typeface="Times New Roman" panose="02020603050405020304" pitchFamily="18" charset="0"/>
              </a:rPr>
              <a:t>The functions </a:t>
            </a:r>
            <a:r>
              <a:rPr lang="en-US" sz="3000" dirty="0" err="1">
                <a:latin typeface="Times New Roman" panose="02020603050405020304" pitchFamily="18" charset="0"/>
                <a:cs typeface="Times New Roman" panose="02020603050405020304" pitchFamily="18" charset="0"/>
              </a:rPr>
              <a:t>fprintf</a:t>
            </a:r>
            <a:r>
              <a:rPr lang="en-US" sz="3000" dirty="0">
                <a:latin typeface="Times New Roman" panose="02020603050405020304" pitchFamily="18" charset="0"/>
                <a:cs typeface="Times New Roman" panose="02020603050405020304" pitchFamily="18" charset="0"/>
              </a:rPr>
              <a:t> and </a:t>
            </a:r>
            <a:r>
              <a:rPr lang="en-US" sz="3000" dirty="0" err="1">
                <a:latin typeface="Times New Roman" panose="02020603050405020304" pitchFamily="18" charset="0"/>
                <a:cs typeface="Times New Roman" panose="02020603050405020304" pitchFamily="18" charset="0"/>
              </a:rPr>
              <a:t>fscanf</a:t>
            </a:r>
            <a:r>
              <a:rPr lang="en-US" sz="3000" dirty="0">
                <a:latin typeface="Times New Roman" panose="02020603050405020304" pitchFamily="18" charset="0"/>
                <a:cs typeface="Times New Roman" panose="02020603050405020304" pitchFamily="18" charset="0"/>
              </a:rPr>
              <a:t> perform I/O operations that are identical to the </a:t>
            </a:r>
            <a:r>
              <a:rPr lang="en-US" sz="3000" dirty="0" err="1">
                <a:latin typeface="Times New Roman" panose="02020603050405020304" pitchFamily="18" charset="0"/>
                <a:cs typeface="Times New Roman" panose="02020603050405020304" pitchFamily="18" charset="0"/>
              </a:rPr>
              <a:t>familar</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printf</a:t>
            </a:r>
            <a:r>
              <a:rPr lang="en-US" sz="3000" dirty="0">
                <a:latin typeface="Times New Roman" panose="02020603050405020304" pitchFamily="18" charset="0"/>
                <a:cs typeface="Times New Roman" panose="02020603050405020304" pitchFamily="18" charset="0"/>
              </a:rPr>
              <a:t> and </a:t>
            </a:r>
            <a:r>
              <a:rPr lang="en-US" sz="3000" dirty="0" err="1">
                <a:latin typeface="Times New Roman" panose="02020603050405020304" pitchFamily="18" charset="0"/>
                <a:cs typeface="Times New Roman" panose="02020603050405020304" pitchFamily="18" charset="0"/>
              </a:rPr>
              <a:t>scanf</a:t>
            </a:r>
            <a:r>
              <a:rPr lang="en-US" sz="3000" dirty="0">
                <a:latin typeface="Times New Roman" panose="02020603050405020304" pitchFamily="18" charset="0"/>
                <a:cs typeface="Times New Roman" panose="02020603050405020304" pitchFamily="18" charset="0"/>
              </a:rPr>
              <a:t> functions, except of course that they work on files.</a:t>
            </a:r>
          </a:p>
          <a:p>
            <a:pPr algn="just"/>
            <a:r>
              <a:rPr lang="en-US" sz="3000" dirty="0">
                <a:latin typeface="Times New Roman" panose="02020603050405020304" pitchFamily="18" charset="0"/>
                <a:cs typeface="Times New Roman" panose="02020603050405020304" pitchFamily="18" charset="0"/>
              </a:rPr>
              <a:t> The first argument of these functions is a file pointer which specifies the file to be used. </a:t>
            </a:r>
          </a:p>
          <a:p>
            <a:pPr algn="just"/>
            <a:r>
              <a:rPr lang="en-US" sz="3000" dirty="0">
                <a:latin typeface="Times New Roman" panose="02020603050405020304" pitchFamily="18" charset="0"/>
                <a:cs typeface="Times New Roman" panose="02020603050405020304" pitchFamily="18" charset="0"/>
              </a:rPr>
              <a:t>The general form of </a:t>
            </a:r>
            <a:r>
              <a:rPr lang="en-US" sz="3000" dirty="0" err="1">
                <a:latin typeface="Times New Roman" panose="02020603050405020304" pitchFamily="18" charset="0"/>
                <a:cs typeface="Times New Roman" panose="02020603050405020304" pitchFamily="18" charset="0"/>
              </a:rPr>
              <a:t>fprintf</a:t>
            </a:r>
            <a:r>
              <a:rPr lang="en-US" sz="3000" dirty="0">
                <a:latin typeface="Times New Roman" panose="02020603050405020304" pitchFamily="18" charset="0"/>
                <a:cs typeface="Times New Roman" panose="02020603050405020304" pitchFamily="18" charset="0"/>
              </a:rPr>
              <a:t> is</a:t>
            </a:r>
          </a:p>
          <a:p>
            <a:pPr marL="0" indent="0" algn="ctr">
              <a:buNone/>
            </a:pPr>
            <a:r>
              <a:rPr lang="en-US" sz="3000"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fprintf</a:t>
            </a:r>
            <a:r>
              <a:rPr lang="en-US" sz="3000" b="1" dirty="0">
                <a:latin typeface="Times New Roman" panose="02020603050405020304" pitchFamily="18" charset="0"/>
                <a:cs typeface="Times New Roman" panose="02020603050405020304" pitchFamily="18" charset="0"/>
              </a:rPr>
              <a:t>(</a:t>
            </a:r>
            <a:r>
              <a:rPr lang="en-US" sz="3000" b="1" dirty="0" err="1">
                <a:latin typeface="Times New Roman" panose="02020603050405020304" pitchFamily="18" charset="0"/>
                <a:cs typeface="Times New Roman" panose="02020603050405020304" pitchFamily="18" charset="0"/>
              </a:rPr>
              <a:t>fp</a:t>
            </a:r>
            <a:r>
              <a:rPr lang="en-US" sz="3000" b="1" dirty="0">
                <a:latin typeface="Times New Roman" panose="02020603050405020304" pitchFamily="18" charset="0"/>
                <a:cs typeface="Times New Roman" panose="02020603050405020304" pitchFamily="18" charset="0"/>
              </a:rPr>
              <a:t>, “control string”, list); </a:t>
            </a:r>
          </a:p>
          <a:p>
            <a:pPr algn="just"/>
            <a:r>
              <a:rPr lang="en-US" sz="3000" dirty="0">
                <a:latin typeface="Times New Roman" panose="02020603050405020304" pitchFamily="18" charset="0"/>
                <a:cs typeface="Times New Roman" panose="02020603050405020304" pitchFamily="18" charset="0"/>
              </a:rPr>
              <a:t>where </a:t>
            </a:r>
            <a:r>
              <a:rPr lang="en-US" sz="3000" dirty="0" err="1">
                <a:latin typeface="Times New Roman" panose="02020603050405020304" pitchFamily="18" charset="0"/>
                <a:cs typeface="Times New Roman" panose="02020603050405020304" pitchFamily="18" charset="0"/>
              </a:rPr>
              <a:t>fp</a:t>
            </a:r>
            <a:r>
              <a:rPr lang="en-US" sz="3000" dirty="0">
                <a:latin typeface="Times New Roman" panose="02020603050405020304" pitchFamily="18" charset="0"/>
                <a:cs typeface="Times New Roman" panose="02020603050405020304" pitchFamily="18" charset="0"/>
              </a:rPr>
              <a:t> is a fi le pointer associated with a fi le that has been opened for writing</a:t>
            </a:r>
          </a:p>
        </p:txBody>
      </p:sp>
    </p:spTree>
    <p:extLst>
      <p:ext uri="{BB962C8B-B14F-4D97-AF65-F5344CB8AC3E}">
        <p14:creationId xmlns:p14="http://schemas.microsoft.com/office/powerpoint/2010/main" val="24826228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44E217-76B0-A82C-DEBE-B2C621CB1187}"/>
              </a:ext>
            </a:extLst>
          </p:cNvPr>
          <p:cNvSpPr>
            <a:spLocks noGrp="1"/>
          </p:cNvSpPr>
          <p:nvPr>
            <p:ph idx="1"/>
          </p:nvPr>
        </p:nvSpPr>
        <p:spPr>
          <a:xfrm>
            <a:off x="838200" y="172720"/>
            <a:ext cx="10515600" cy="7122160"/>
          </a:xfrm>
        </p:spPr>
        <p:txBody>
          <a:bodyPr>
            <a:noAutofit/>
          </a:bodyPr>
          <a:lstStyle/>
          <a:p>
            <a:pPr algn="just"/>
            <a:r>
              <a:rPr lang="en-US" sz="3000" dirty="0">
                <a:latin typeface="Times New Roman" panose="02020603050405020304" pitchFamily="18" charset="0"/>
                <a:cs typeface="Times New Roman" panose="02020603050405020304" pitchFamily="18" charset="0"/>
              </a:rPr>
              <a:t>The control string contains output specifications for the items in the list. </a:t>
            </a:r>
          </a:p>
          <a:p>
            <a:pPr algn="just"/>
            <a:r>
              <a:rPr lang="en-US" sz="3000" dirty="0">
                <a:latin typeface="Times New Roman" panose="02020603050405020304" pitchFamily="18" charset="0"/>
                <a:cs typeface="Times New Roman" panose="02020603050405020304" pitchFamily="18" charset="0"/>
              </a:rPr>
              <a:t>The list may include variables, constants and strings. </a:t>
            </a:r>
          </a:p>
          <a:p>
            <a:pPr algn="just"/>
            <a:r>
              <a:rPr lang="en-US" sz="3000" dirty="0">
                <a:latin typeface="Times New Roman" panose="02020603050405020304" pitchFamily="18" charset="0"/>
                <a:cs typeface="Times New Roman" panose="02020603050405020304" pitchFamily="18" charset="0"/>
              </a:rPr>
              <a:t>Example: </a:t>
            </a:r>
            <a:r>
              <a:rPr lang="en-US" sz="3000" b="1" dirty="0" err="1">
                <a:latin typeface="Times New Roman" panose="02020603050405020304" pitchFamily="18" charset="0"/>
                <a:cs typeface="Times New Roman" panose="02020603050405020304" pitchFamily="18" charset="0"/>
              </a:rPr>
              <a:t>fprintf</a:t>
            </a:r>
            <a:r>
              <a:rPr lang="en-US" sz="3000" b="1" dirty="0">
                <a:latin typeface="Times New Roman" panose="02020603050405020304" pitchFamily="18" charset="0"/>
                <a:cs typeface="Times New Roman" panose="02020603050405020304" pitchFamily="18" charset="0"/>
              </a:rPr>
              <a:t>(f1, “%s %d %f”, name, age, 7.5); </a:t>
            </a:r>
          </a:p>
          <a:p>
            <a:pPr algn="just"/>
            <a:r>
              <a:rPr lang="en-US" sz="3000" dirty="0">
                <a:latin typeface="Times New Roman" panose="02020603050405020304" pitchFamily="18" charset="0"/>
                <a:cs typeface="Times New Roman" panose="02020603050405020304" pitchFamily="18" charset="0"/>
              </a:rPr>
              <a:t>Here, name is an array variable of type char and age is an int variable. The general format of </a:t>
            </a:r>
            <a:r>
              <a:rPr lang="en-US" sz="3000" dirty="0" err="1">
                <a:latin typeface="Times New Roman" panose="02020603050405020304" pitchFamily="18" charset="0"/>
                <a:cs typeface="Times New Roman" panose="02020603050405020304" pitchFamily="18" charset="0"/>
              </a:rPr>
              <a:t>fscanf</a:t>
            </a:r>
            <a:r>
              <a:rPr lang="en-US" sz="3000" dirty="0">
                <a:latin typeface="Times New Roman" panose="02020603050405020304" pitchFamily="18" charset="0"/>
                <a:cs typeface="Times New Roman" panose="02020603050405020304" pitchFamily="18" charset="0"/>
              </a:rPr>
              <a:t> is </a:t>
            </a:r>
          </a:p>
          <a:p>
            <a:pPr marL="0" indent="0" algn="ctr">
              <a:buNone/>
            </a:pPr>
            <a:r>
              <a:rPr lang="en-US" sz="3000" b="1" dirty="0" err="1">
                <a:latin typeface="Times New Roman" panose="02020603050405020304" pitchFamily="18" charset="0"/>
                <a:cs typeface="Times New Roman" panose="02020603050405020304" pitchFamily="18" charset="0"/>
              </a:rPr>
              <a:t>fprintf</a:t>
            </a:r>
            <a:r>
              <a:rPr lang="en-US" sz="3000" b="1" dirty="0">
                <a:latin typeface="Times New Roman" panose="02020603050405020304" pitchFamily="18" charset="0"/>
                <a:cs typeface="Times New Roman" panose="02020603050405020304" pitchFamily="18" charset="0"/>
              </a:rPr>
              <a:t>(</a:t>
            </a:r>
            <a:r>
              <a:rPr lang="en-US" sz="3000" b="1" dirty="0" err="1">
                <a:latin typeface="Times New Roman" panose="02020603050405020304" pitchFamily="18" charset="0"/>
                <a:cs typeface="Times New Roman" panose="02020603050405020304" pitchFamily="18" charset="0"/>
              </a:rPr>
              <a:t>fp</a:t>
            </a:r>
            <a:r>
              <a:rPr lang="en-US" sz="3000" b="1" dirty="0">
                <a:latin typeface="Times New Roman" panose="02020603050405020304" pitchFamily="18" charset="0"/>
                <a:cs typeface="Times New Roman" panose="02020603050405020304" pitchFamily="18" charset="0"/>
              </a:rPr>
              <a:t>, “control string”, list); </a:t>
            </a:r>
          </a:p>
          <a:p>
            <a:pPr algn="just"/>
            <a:r>
              <a:rPr lang="en-US" sz="3000" dirty="0">
                <a:latin typeface="Times New Roman" panose="02020603050405020304" pitchFamily="18" charset="0"/>
                <a:cs typeface="Times New Roman" panose="02020603050405020304" pitchFamily="18" charset="0"/>
              </a:rPr>
              <a:t>This statement would cause the reading of the items in the list from the fi le specified by </a:t>
            </a:r>
            <a:r>
              <a:rPr lang="en-US" sz="3000" dirty="0" err="1">
                <a:latin typeface="Times New Roman" panose="02020603050405020304" pitchFamily="18" charset="0"/>
                <a:cs typeface="Times New Roman" panose="02020603050405020304" pitchFamily="18" charset="0"/>
              </a:rPr>
              <a:t>fp</a:t>
            </a:r>
            <a:r>
              <a:rPr lang="en-US" sz="3000" dirty="0">
                <a:latin typeface="Times New Roman" panose="02020603050405020304" pitchFamily="18" charset="0"/>
                <a:cs typeface="Times New Roman" panose="02020603050405020304" pitchFamily="18" charset="0"/>
              </a:rPr>
              <a:t>, according to the specifications contained in the control string. </a:t>
            </a:r>
          </a:p>
          <a:p>
            <a:pPr algn="just"/>
            <a:r>
              <a:rPr lang="en-US" sz="3000" dirty="0">
                <a:latin typeface="Times New Roman" panose="02020603050405020304" pitchFamily="18" charset="0"/>
                <a:cs typeface="Times New Roman" panose="02020603050405020304" pitchFamily="18" charset="0"/>
              </a:rPr>
              <a:t>Example: </a:t>
            </a:r>
            <a:r>
              <a:rPr lang="en-US" sz="3000" b="1" dirty="0" err="1">
                <a:latin typeface="Times New Roman" panose="02020603050405020304" pitchFamily="18" charset="0"/>
                <a:cs typeface="Times New Roman" panose="02020603050405020304" pitchFamily="18" charset="0"/>
              </a:rPr>
              <a:t>fscanf</a:t>
            </a:r>
            <a:r>
              <a:rPr lang="en-US" sz="3000" b="1" dirty="0">
                <a:latin typeface="Times New Roman" panose="02020603050405020304" pitchFamily="18" charset="0"/>
                <a:cs typeface="Times New Roman" panose="02020603050405020304" pitchFamily="18" charset="0"/>
              </a:rPr>
              <a:t>(f2, “%s %d”, item, &amp;quantity); </a:t>
            </a:r>
          </a:p>
          <a:p>
            <a:pPr algn="just"/>
            <a:r>
              <a:rPr lang="en-US" sz="3000" dirty="0">
                <a:latin typeface="Times New Roman" panose="02020603050405020304" pitchFamily="18" charset="0"/>
                <a:cs typeface="Times New Roman" panose="02020603050405020304" pitchFamily="18" charset="0"/>
              </a:rPr>
              <a:t>Like </a:t>
            </a:r>
            <a:r>
              <a:rPr lang="en-US" sz="3000" dirty="0" err="1">
                <a:latin typeface="Times New Roman" panose="02020603050405020304" pitchFamily="18" charset="0"/>
                <a:cs typeface="Times New Roman" panose="02020603050405020304" pitchFamily="18" charset="0"/>
              </a:rPr>
              <a:t>scanf</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fscanf</a:t>
            </a:r>
            <a:r>
              <a:rPr lang="en-US" sz="3000" dirty="0">
                <a:latin typeface="Times New Roman" panose="02020603050405020304" pitchFamily="18" charset="0"/>
                <a:cs typeface="Times New Roman" panose="02020603050405020304" pitchFamily="18" charset="0"/>
              </a:rPr>
              <a:t> also returns the number of items that are successfully read. </a:t>
            </a:r>
          </a:p>
          <a:p>
            <a:pPr algn="just"/>
            <a:r>
              <a:rPr lang="en-US" sz="3000" dirty="0">
                <a:latin typeface="Times New Roman" panose="02020603050405020304" pitchFamily="18" charset="0"/>
                <a:cs typeface="Times New Roman" panose="02020603050405020304" pitchFamily="18" charset="0"/>
              </a:rPr>
              <a:t>When the end of file is reached, it returns the value EOF.</a:t>
            </a:r>
            <a:endParaRPr lang="en-IN" sz="3000" dirty="0">
              <a:latin typeface="Times New Roman" panose="02020603050405020304" pitchFamily="18" charset="0"/>
              <a:cs typeface="Times New Roman" panose="02020603050405020304" pitchFamily="18" charset="0"/>
            </a:endParaRPr>
          </a:p>
          <a:p>
            <a:pPr algn="just"/>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6126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91B0-E8CB-8E3D-1204-911F576EC562}"/>
              </a:ext>
            </a:extLst>
          </p:cNvPr>
          <p:cNvSpPr>
            <a:spLocks noGrp="1"/>
          </p:cNvSpPr>
          <p:nvPr>
            <p:ph type="title"/>
          </p:nvPr>
        </p:nvSpPr>
        <p:spPr>
          <a:xfrm>
            <a:off x="838200" y="324485"/>
            <a:ext cx="10515600" cy="1325563"/>
          </a:xfrm>
        </p:spPr>
        <p:txBody>
          <a:bodyPr/>
          <a:lstStyle/>
          <a:p>
            <a:r>
              <a:rPr lang="en-IN" dirty="0"/>
              <a:t>ERROR HANDLING DURING I/O OPERATIONS</a:t>
            </a:r>
          </a:p>
        </p:txBody>
      </p:sp>
      <p:sp>
        <p:nvSpPr>
          <p:cNvPr id="3" name="Content Placeholder 2">
            <a:extLst>
              <a:ext uri="{FF2B5EF4-FFF2-40B4-BE49-F238E27FC236}">
                <a16:creationId xmlns:a16="http://schemas.microsoft.com/office/drawing/2014/main" id="{A37D51DA-E289-9041-730D-321AB25DBBE8}"/>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It is possible that an error may occur during I/O operations on a fi le. </a:t>
            </a:r>
          </a:p>
          <a:p>
            <a:pPr algn="just"/>
            <a:r>
              <a:rPr lang="en-US" dirty="0">
                <a:latin typeface="Times New Roman" panose="02020603050405020304" pitchFamily="18" charset="0"/>
                <a:cs typeface="Times New Roman" panose="02020603050405020304" pitchFamily="18" charset="0"/>
              </a:rPr>
              <a:t>Typical error situations include the following: </a:t>
            </a:r>
          </a:p>
          <a:p>
            <a:pPr marL="0" indent="0" algn="just">
              <a:buNone/>
            </a:pPr>
            <a:r>
              <a:rPr lang="en-US" dirty="0">
                <a:latin typeface="Times New Roman" panose="02020603050405020304" pitchFamily="18" charset="0"/>
                <a:cs typeface="Times New Roman" panose="02020603050405020304" pitchFamily="18" charset="0"/>
              </a:rPr>
              <a:t>1. Trying to read beyond the end-of-fi le mark. </a:t>
            </a:r>
          </a:p>
          <a:p>
            <a:pPr marL="0" indent="0" algn="just">
              <a:buNone/>
            </a:pPr>
            <a:r>
              <a:rPr lang="en-US" dirty="0">
                <a:latin typeface="Times New Roman" panose="02020603050405020304" pitchFamily="18" charset="0"/>
                <a:cs typeface="Times New Roman" panose="02020603050405020304" pitchFamily="18" charset="0"/>
              </a:rPr>
              <a:t>2. Device overflow. </a:t>
            </a:r>
          </a:p>
          <a:p>
            <a:pPr marL="0" indent="0" algn="just">
              <a:buNone/>
            </a:pPr>
            <a:r>
              <a:rPr lang="en-US" dirty="0">
                <a:latin typeface="Times New Roman" panose="02020603050405020304" pitchFamily="18" charset="0"/>
                <a:cs typeface="Times New Roman" panose="02020603050405020304" pitchFamily="18" charset="0"/>
              </a:rPr>
              <a:t>3. Trying to use a file that has not been opened.</a:t>
            </a:r>
          </a:p>
          <a:p>
            <a:pPr marL="0" indent="0" algn="just">
              <a:buNone/>
            </a:pPr>
            <a:r>
              <a:rPr lang="en-US" dirty="0">
                <a:latin typeface="Times New Roman" panose="02020603050405020304" pitchFamily="18" charset="0"/>
                <a:cs typeface="Times New Roman" panose="02020603050405020304" pitchFamily="18" charset="0"/>
              </a:rPr>
              <a:t>4. Trying to perform an operation on a file, when the file is opened for                      another type of operation.</a:t>
            </a:r>
          </a:p>
          <a:p>
            <a:pPr marL="0" indent="0" algn="just">
              <a:buNone/>
            </a:pPr>
            <a:r>
              <a:rPr lang="en-US" dirty="0">
                <a:latin typeface="Times New Roman" panose="02020603050405020304" pitchFamily="18" charset="0"/>
                <a:cs typeface="Times New Roman" panose="02020603050405020304" pitchFamily="18" charset="0"/>
              </a:rPr>
              <a:t> 5. Opening a file with an invalid filename. </a:t>
            </a:r>
          </a:p>
          <a:p>
            <a:pPr marL="0" indent="0" algn="just">
              <a:buNone/>
            </a:pPr>
            <a:r>
              <a:rPr lang="en-US" dirty="0">
                <a:latin typeface="Times New Roman" panose="02020603050405020304" pitchFamily="18" charset="0"/>
                <a:cs typeface="Times New Roman" panose="02020603050405020304" pitchFamily="18" charset="0"/>
              </a:rPr>
              <a:t>6. Attempting to write to a write-protected file.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61251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57D38D-EFEB-EC87-5DE0-F32F967C1658}"/>
              </a:ext>
            </a:extLst>
          </p:cNvPr>
          <p:cNvSpPr>
            <a:spLocks noGrp="1"/>
          </p:cNvSpPr>
          <p:nvPr>
            <p:ph idx="1"/>
          </p:nvPr>
        </p:nvSpPr>
        <p:spPr>
          <a:xfrm>
            <a:off x="838200" y="203200"/>
            <a:ext cx="10515600" cy="5973763"/>
          </a:xfrm>
        </p:spPr>
        <p:txBody>
          <a:bodyPr/>
          <a:lstStyle/>
          <a:p>
            <a:r>
              <a:rPr lang="en-US" dirty="0"/>
              <a:t>if we fail to check such read and write errors, a program may behave abnormally when an error occurs. </a:t>
            </a:r>
          </a:p>
          <a:p>
            <a:r>
              <a:rPr lang="en-US" dirty="0"/>
              <a:t>An unchecked error may result in a premature termination of the program or incorrect output. </a:t>
            </a:r>
          </a:p>
          <a:p>
            <a:r>
              <a:rPr lang="en-US" dirty="0"/>
              <a:t>Fortunately, we have two status-inquiry library functions; </a:t>
            </a:r>
            <a:r>
              <a:rPr lang="en-US" b="1" dirty="0" err="1"/>
              <a:t>feof</a:t>
            </a:r>
            <a:r>
              <a:rPr lang="en-US" b="1" dirty="0"/>
              <a:t> and </a:t>
            </a:r>
            <a:r>
              <a:rPr lang="en-US" b="1" dirty="0" err="1"/>
              <a:t>ferror</a:t>
            </a:r>
            <a:r>
              <a:rPr lang="en-US" b="1" dirty="0"/>
              <a:t> that can help us detect I/O errors in the fi les</a:t>
            </a:r>
          </a:p>
          <a:p>
            <a:r>
              <a:rPr lang="en-US" dirty="0"/>
              <a:t>The </a:t>
            </a:r>
            <a:r>
              <a:rPr lang="en-US" dirty="0" err="1"/>
              <a:t>feof</a:t>
            </a:r>
            <a:r>
              <a:rPr lang="en-US" dirty="0"/>
              <a:t> function can be used to test for an end of fi le condition. </a:t>
            </a:r>
            <a:endParaRPr lang="en-US" b="1" dirty="0"/>
          </a:p>
          <a:p>
            <a:r>
              <a:rPr lang="en-US" dirty="0"/>
              <a:t>It takes a FILE pointer as its only argument and returns a nonzero integer value if all of the data from the </a:t>
            </a:r>
            <a:r>
              <a:rPr lang="en-US" dirty="0" err="1"/>
              <a:t>specifi</a:t>
            </a:r>
            <a:r>
              <a:rPr lang="en-US" dirty="0"/>
              <a:t> ed fi le has been read, and returns zero otherwise</a:t>
            </a:r>
            <a:endParaRPr lang="en-IN" b="1" dirty="0"/>
          </a:p>
        </p:txBody>
      </p:sp>
    </p:spTree>
    <p:extLst>
      <p:ext uri="{BB962C8B-B14F-4D97-AF65-F5344CB8AC3E}">
        <p14:creationId xmlns:p14="http://schemas.microsoft.com/office/powerpoint/2010/main" val="20309118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4BF2EC-4303-C837-2B94-AA5447A66299}"/>
              </a:ext>
            </a:extLst>
          </p:cNvPr>
          <p:cNvSpPr>
            <a:spLocks noGrp="1"/>
          </p:cNvSpPr>
          <p:nvPr>
            <p:ph idx="1"/>
          </p:nvPr>
        </p:nvSpPr>
        <p:spPr>
          <a:xfrm>
            <a:off x="838200" y="243840"/>
            <a:ext cx="10515600" cy="5933123"/>
          </a:xfrm>
        </p:spPr>
        <p:txBody>
          <a:bodyPr>
            <a:normAutofit/>
          </a:bodyPr>
          <a:lstStyle/>
          <a:p>
            <a:pPr algn="just"/>
            <a:r>
              <a:rPr lang="en-US" sz="2400" dirty="0">
                <a:latin typeface="Times New Roman" panose="02020603050405020304" pitchFamily="18" charset="0"/>
                <a:cs typeface="Times New Roman" panose="02020603050405020304" pitchFamily="18" charset="0"/>
              </a:rPr>
              <a:t>If </a:t>
            </a:r>
            <a:r>
              <a:rPr lang="en-US" sz="2400" dirty="0" err="1">
                <a:latin typeface="Times New Roman" panose="02020603050405020304" pitchFamily="18" charset="0"/>
                <a:cs typeface="Times New Roman" panose="02020603050405020304" pitchFamily="18" charset="0"/>
              </a:rPr>
              <a:t>fp</a:t>
            </a:r>
            <a:r>
              <a:rPr lang="en-US" sz="2400" dirty="0">
                <a:latin typeface="Times New Roman" panose="02020603050405020304" pitchFamily="18" charset="0"/>
                <a:cs typeface="Times New Roman" panose="02020603050405020304" pitchFamily="18" charset="0"/>
              </a:rPr>
              <a:t> is a pointer to fi le that has just been opened for reading, then the statement</a:t>
            </a:r>
          </a:p>
          <a:p>
            <a:pPr marL="0" indent="0" algn="ctr">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if(</a:t>
            </a:r>
            <a:r>
              <a:rPr lang="en-US" sz="2400" b="1" dirty="0" err="1">
                <a:latin typeface="Times New Roman" panose="02020603050405020304" pitchFamily="18" charset="0"/>
                <a:cs typeface="Times New Roman" panose="02020603050405020304" pitchFamily="18" charset="0"/>
              </a:rPr>
              <a:t>feof</a:t>
            </a: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fp</a:t>
            </a: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err="1">
                <a:latin typeface="Times New Roman" panose="02020603050405020304" pitchFamily="18" charset="0"/>
                <a:cs typeface="Times New Roman" panose="02020603050405020304" pitchFamily="18" charset="0"/>
              </a:rPr>
              <a:t>printf</a:t>
            </a:r>
            <a:r>
              <a:rPr lang="en-US" sz="2400" b="1" dirty="0">
                <a:latin typeface="Times New Roman" panose="02020603050405020304" pitchFamily="18" charset="0"/>
                <a:cs typeface="Times New Roman" panose="02020603050405020304" pitchFamily="18" charset="0"/>
              </a:rPr>
              <a:t>(“End of data.\n”); </a:t>
            </a:r>
          </a:p>
          <a:p>
            <a:pPr algn="just"/>
            <a:r>
              <a:rPr lang="en-US" sz="2400" dirty="0">
                <a:latin typeface="Times New Roman" panose="02020603050405020304" pitchFamily="18" charset="0"/>
                <a:cs typeface="Times New Roman" panose="02020603050405020304" pitchFamily="18" charset="0"/>
              </a:rPr>
              <a:t>would display the message “End of data.” on reaching the end of file condition.</a:t>
            </a:r>
          </a:p>
          <a:p>
            <a:pPr algn="just"/>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ferror</a:t>
            </a:r>
            <a:r>
              <a:rPr lang="en-US" sz="2400" dirty="0">
                <a:latin typeface="Times New Roman" panose="02020603050405020304" pitchFamily="18" charset="0"/>
                <a:cs typeface="Times New Roman" panose="02020603050405020304" pitchFamily="18" charset="0"/>
              </a:rPr>
              <a:t> function reports the status of the fi le indicated.</a:t>
            </a:r>
          </a:p>
          <a:p>
            <a:pPr algn="just"/>
            <a:r>
              <a:rPr lang="en-US" sz="2400" dirty="0">
                <a:latin typeface="Times New Roman" panose="02020603050405020304" pitchFamily="18" charset="0"/>
                <a:cs typeface="Times New Roman" panose="02020603050405020304" pitchFamily="18" charset="0"/>
              </a:rPr>
              <a:t> It also takes a FILE pointer as its argument and returns a nonzero integer if an error has been detected up to that point, during processing. </a:t>
            </a:r>
          </a:p>
          <a:p>
            <a:pPr algn="just"/>
            <a:r>
              <a:rPr lang="en-US" sz="2400" dirty="0">
                <a:latin typeface="Times New Roman" panose="02020603050405020304" pitchFamily="18" charset="0"/>
                <a:cs typeface="Times New Roman" panose="02020603050405020304" pitchFamily="18" charset="0"/>
              </a:rPr>
              <a:t>It returns zero otherwise. </a:t>
            </a:r>
          </a:p>
          <a:p>
            <a:pPr algn="just"/>
            <a:r>
              <a:rPr lang="en-US" sz="2400" dirty="0">
                <a:latin typeface="Times New Roman" panose="02020603050405020304" pitchFamily="18" charset="0"/>
                <a:cs typeface="Times New Roman" panose="02020603050405020304" pitchFamily="18" charset="0"/>
              </a:rPr>
              <a:t>The statement </a:t>
            </a:r>
          </a:p>
          <a:p>
            <a:pPr marL="0" indent="0" algn="ctr">
              <a:buNone/>
            </a:pPr>
            <a:r>
              <a:rPr lang="en-US" sz="2400" b="1" dirty="0">
                <a:latin typeface="Times New Roman" panose="02020603050405020304" pitchFamily="18" charset="0"/>
                <a:cs typeface="Times New Roman" panose="02020603050405020304" pitchFamily="18" charset="0"/>
              </a:rPr>
              <a:t>if(</a:t>
            </a:r>
            <a:r>
              <a:rPr lang="en-US" sz="2400" b="1" dirty="0" err="1">
                <a:latin typeface="Times New Roman" panose="02020603050405020304" pitchFamily="18" charset="0"/>
                <a:cs typeface="Times New Roman" panose="02020603050405020304" pitchFamily="18" charset="0"/>
              </a:rPr>
              <a:t>ferror</a:t>
            </a:r>
            <a:r>
              <a:rPr lang="en-US" sz="2400" b="1" dirty="0">
                <a:latin typeface="Times New Roman" panose="02020603050405020304" pitchFamily="18" charset="0"/>
                <a:cs typeface="Times New Roman" panose="02020603050405020304" pitchFamily="18" charset="0"/>
              </a:rPr>
              <a:t>(</a:t>
            </a:r>
            <a:r>
              <a:rPr lang="en-US" sz="2400" b="1" dirty="0" err="1">
                <a:latin typeface="Times New Roman" panose="02020603050405020304" pitchFamily="18" charset="0"/>
                <a:cs typeface="Times New Roman" panose="02020603050405020304" pitchFamily="18" charset="0"/>
              </a:rPr>
              <a:t>fp</a:t>
            </a:r>
            <a:r>
              <a:rPr lang="en-US" sz="2400" b="1" dirty="0">
                <a:latin typeface="Times New Roman" panose="02020603050405020304" pitchFamily="18" charset="0"/>
                <a:cs typeface="Times New Roman" panose="02020603050405020304" pitchFamily="18" charset="0"/>
              </a:rPr>
              <a:t>) != 0) </a:t>
            </a:r>
          </a:p>
          <a:p>
            <a:pPr marL="0" indent="0" algn="ctr">
              <a:buNone/>
            </a:pPr>
            <a:r>
              <a:rPr lang="en-US" sz="2400" b="1" dirty="0" err="1">
                <a:latin typeface="Times New Roman" panose="02020603050405020304" pitchFamily="18" charset="0"/>
                <a:cs typeface="Times New Roman" panose="02020603050405020304" pitchFamily="18" charset="0"/>
              </a:rPr>
              <a:t>printf</a:t>
            </a:r>
            <a:r>
              <a:rPr lang="en-US" sz="2400" b="1" dirty="0">
                <a:latin typeface="Times New Roman" panose="02020603050405020304" pitchFamily="18" charset="0"/>
                <a:cs typeface="Times New Roman" panose="02020603050405020304" pitchFamily="18" charset="0"/>
              </a:rPr>
              <a:t>(“An error has occurred.\n”);</a:t>
            </a:r>
          </a:p>
          <a:p>
            <a:r>
              <a:rPr lang="en-US" dirty="0">
                <a:latin typeface="Times New Roman" panose="02020603050405020304" pitchFamily="18" charset="0"/>
                <a:cs typeface="Times New Roman" panose="02020603050405020304" pitchFamily="18" charset="0"/>
              </a:rPr>
              <a:t>would print the error message, if the reading is not successful.</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47429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DCB54F-7A9B-D18D-C075-DF6ED2665CC9}"/>
              </a:ext>
            </a:extLst>
          </p:cNvPr>
          <p:cNvSpPr txBox="1"/>
          <p:nvPr/>
        </p:nvSpPr>
        <p:spPr>
          <a:xfrm>
            <a:off x="975360" y="284480"/>
            <a:ext cx="4876800" cy="6309420"/>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#include &lt;</a:t>
            </a:r>
            <a:r>
              <a:rPr lang="en-IN" sz="2400" dirty="0" err="1">
                <a:latin typeface="Times New Roman" panose="02020603050405020304" pitchFamily="18" charset="0"/>
                <a:cs typeface="Times New Roman" panose="02020603050405020304" pitchFamily="18" charset="0"/>
              </a:rPr>
              <a:t>stdio.h</a:t>
            </a:r>
            <a:r>
              <a:rPr lang="en-IN" sz="2400" dirty="0">
                <a:latin typeface="Times New Roman" panose="02020603050405020304" pitchFamily="18" charset="0"/>
                <a:cs typeface="Times New Roman" panose="02020603050405020304" pitchFamily="18" charset="0"/>
              </a:rPr>
              <a:t>&gt;</a:t>
            </a:r>
          </a:p>
          <a:p>
            <a:r>
              <a:rPr lang="en-IN" sz="2400" dirty="0">
                <a:latin typeface="Times New Roman" panose="02020603050405020304" pitchFamily="18" charset="0"/>
                <a:cs typeface="Times New Roman" panose="02020603050405020304" pitchFamily="18" charset="0"/>
              </a:rPr>
              <a:t>Void main() { </a:t>
            </a:r>
          </a:p>
          <a:p>
            <a:r>
              <a:rPr lang="en-IN" sz="2400" dirty="0">
                <a:latin typeface="Times New Roman" panose="02020603050405020304" pitchFamily="18" charset="0"/>
                <a:cs typeface="Times New Roman" panose="02020603050405020304" pitchFamily="18" charset="0"/>
              </a:rPr>
              <a:t>char *filename; FILE *fp1, *fp2;</a:t>
            </a:r>
          </a:p>
          <a:p>
            <a:r>
              <a:rPr lang="en-IN" sz="2400" dirty="0">
                <a:latin typeface="Times New Roman" panose="02020603050405020304" pitchFamily="18" charset="0"/>
                <a:cs typeface="Times New Roman" panose="02020603050405020304" pitchFamily="18" charset="0"/>
              </a:rPr>
              <a:t> int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number;</a:t>
            </a:r>
          </a:p>
          <a:p>
            <a:r>
              <a:rPr lang="en-IN" sz="2400" dirty="0">
                <a:latin typeface="Times New Roman" panose="02020603050405020304" pitchFamily="18" charset="0"/>
                <a:cs typeface="Times New Roman" panose="02020603050405020304" pitchFamily="18" charset="0"/>
              </a:rPr>
              <a:t> fp1 = </a:t>
            </a:r>
            <a:r>
              <a:rPr lang="en-IN" sz="2400" dirty="0" err="1">
                <a:latin typeface="Times New Roman" panose="02020603050405020304" pitchFamily="18" charset="0"/>
                <a:cs typeface="Times New Roman" panose="02020603050405020304" pitchFamily="18" charset="0"/>
              </a:rPr>
              <a:t>fopen</a:t>
            </a:r>
            <a:r>
              <a:rPr lang="en-IN" sz="2400" dirty="0">
                <a:latin typeface="Times New Roman" panose="02020603050405020304" pitchFamily="18" charset="0"/>
                <a:cs typeface="Times New Roman" panose="02020603050405020304" pitchFamily="18" charset="0"/>
              </a:rPr>
              <a:t>(“TEST”, “w”); </a:t>
            </a:r>
          </a:p>
          <a:p>
            <a:r>
              <a:rPr lang="en-IN" sz="2400" dirty="0">
                <a:latin typeface="Times New Roman" panose="02020603050405020304" pitchFamily="18" charset="0"/>
                <a:cs typeface="Times New Roman" panose="02020603050405020304" pitchFamily="18" charset="0"/>
              </a:rPr>
              <a:t>for(</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10;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&lt;= 100; </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 10) </a:t>
            </a:r>
          </a:p>
          <a:p>
            <a:r>
              <a:rPr lang="en-IN" sz="2400" dirty="0" err="1">
                <a:latin typeface="Times New Roman" panose="02020603050405020304" pitchFamily="18" charset="0"/>
                <a:cs typeface="Times New Roman" panose="02020603050405020304" pitchFamily="18" charset="0"/>
              </a:rPr>
              <a:t>putw</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a:t>
            </a:r>
            <a:r>
              <a:rPr lang="en-IN" sz="2400" dirty="0">
                <a:latin typeface="Times New Roman" panose="02020603050405020304" pitchFamily="18" charset="0"/>
                <a:cs typeface="Times New Roman" panose="02020603050405020304" pitchFamily="18" charset="0"/>
              </a:rPr>
              <a:t>, fp1);</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fclose</a:t>
            </a:r>
            <a:r>
              <a:rPr lang="en-IN" sz="2400" dirty="0">
                <a:latin typeface="Times New Roman" panose="02020603050405020304" pitchFamily="18" charset="0"/>
                <a:cs typeface="Times New Roman" panose="02020603050405020304" pitchFamily="18" charset="0"/>
              </a:rPr>
              <a:t>(fp1); </a:t>
            </a:r>
          </a:p>
          <a:p>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nInput</a:t>
            </a:r>
            <a:r>
              <a:rPr lang="en-IN" sz="2400" dirty="0">
                <a:latin typeface="Times New Roman" panose="02020603050405020304" pitchFamily="18" charset="0"/>
                <a:cs typeface="Times New Roman" panose="02020603050405020304" pitchFamily="18" charset="0"/>
              </a:rPr>
              <a:t> filename\n”);</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open_file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scanf</a:t>
            </a:r>
            <a:r>
              <a:rPr lang="en-IN" sz="2400" dirty="0">
                <a:latin typeface="Times New Roman" panose="02020603050405020304" pitchFamily="18" charset="0"/>
                <a:cs typeface="Times New Roman" panose="02020603050405020304" pitchFamily="18" charset="0"/>
              </a:rPr>
              <a:t>(“%s”, filename);</a:t>
            </a:r>
          </a:p>
          <a:p>
            <a:r>
              <a:rPr lang="en-IN" sz="2400" dirty="0">
                <a:latin typeface="Times New Roman" panose="02020603050405020304" pitchFamily="18" charset="0"/>
                <a:cs typeface="Times New Roman" panose="02020603050405020304" pitchFamily="18" charset="0"/>
              </a:rPr>
              <a:t> if((fp2 = </a:t>
            </a:r>
            <a:r>
              <a:rPr lang="en-IN" sz="2400" dirty="0" err="1">
                <a:latin typeface="Times New Roman" panose="02020603050405020304" pitchFamily="18" charset="0"/>
                <a:cs typeface="Times New Roman" panose="02020603050405020304" pitchFamily="18" charset="0"/>
              </a:rPr>
              <a:t>fopen</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filename,”r</a:t>
            </a:r>
            <a:r>
              <a:rPr lang="en-IN" sz="2400" dirty="0">
                <a:latin typeface="Times New Roman" panose="02020603050405020304" pitchFamily="18" charset="0"/>
                <a:cs typeface="Times New Roman" panose="02020603050405020304" pitchFamily="18" charset="0"/>
              </a:rPr>
              <a:t>”)) == NULL)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(“Cannot open the file.\n”); </a:t>
            </a:r>
          </a:p>
          <a:p>
            <a:r>
              <a:rPr lang="en-IN" sz="2400" dirty="0" err="1">
                <a:latin typeface="Times New Roman" panose="02020603050405020304" pitchFamily="18" charset="0"/>
                <a:cs typeface="Times New Roman" panose="02020603050405020304" pitchFamily="18" charset="0"/>
              </a:rPr>
              <a:t>printf</a:t>
            </a:r>
            <a:r>
              <a:rPr lang="en-IN" sz="2400" dirty="0">
                <a:latin typeface="Times New Roman" panose="02020603050405020304" pitchFamily="18" charset="0"/>
                <a:cs typeface="Times New Roman" panose="02020603050405020304" pitchFamily="18" charset="0"/>
              </a:rPr>
              <a:t>(“Type filename again.\n\n”); </a:t>
            </a:r>
          </a:p>
          <a:p>
            <a:r>
              <a:rPr lang="en-IN" sz="2400" dirty="0" err="1">
                <a:latin typeface="Times New Roman" panose="02020603050405020304" pitchFamily="18" charset="0"/>
                <a:cs typeface="Times New Roman" panose="02020603050405020304" pitchFamily="18" charset="0"/>
              </a:rPr>
              <a:t>goto</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open_file</a:t>
            </a:r>
            <a:r>
              <a:rPr lang="en-IN" sz="2400" dirty="0">
                <a:latin typeface="Times New Roman" panose="02020603050405020304" pitchFamily="18" charset="0"/>
                <a:cs typeface="Times New Roman" panose="02020603050405020304" pitchFamily="18" charset="0"/>
              </a:rPr>
              <a:t>; } </a:t>
            </a:r>
          </a:p>
          <a:p>
            <a:r>
              <a:rPr lang="en-IN" sz="2400" dirty="0">
                <a:latin typeface="Times New Roman" panose="02020603050405020304" pitchFamily="18" charset="0"/>
                <a:cs typeface="Times New Roman" panose="02020603050405020304" pitchFamily="18" charset="0"/>
              </a:rPr>
              <a:t>else </a:t>
            </a:r>
          </a:p>
          <a:p>
            <a:endParaRPr lang="en-IN" sz="2000" dirty="0"/>
          </a:p>
        </p:txBody>
      </p:sp>
      <p:sp>
        <p:nvSpPr>
          <p:cNvPr id="5" name="TextBox 4">
            <a:extLst>
              <a:ext uri="{FF2B5EF4-FFF2-40B4-BE49-F238E27FC236}">
                <a16:creationId xmlns:a16="http://schemas.microsoft.com/office/drawing/2014/main" id="{EA918E80-8980-55E7-3256-FC2121BA35D9}"/>
              </a:ext>
            </a:extLst>
          </p:cNvPr>
          <p:cNvSpPr txBox="1"/>
          <p:nvPr/>
        </p:nvSpPr>
        <p:spPr>
          <a:xfrm>
            <a:off x="6329680" y="325120"/>
            <a:ext cx="5648960" cy="3785652"/>
          </a:xfrm>
          <a:prstGeom prst="rect">
            <a:avLst/>
          </a:prstGeom>
          <a:noFill/>
        </p:spPr>
        <p:txBody>
          <a:bodyPr wrap="square" rtlCol="0">
            <a:spAutoFit/>
          </a:bodyPr>
          <a:lstStyle/>
          <a:p>
            <a:r>
              <a:rPr lang="en-IN" sz="2400" dirty="0"/>
              <a:t>for(</a:t>
            </a:r>
            <a:r>
              <a:rPr lang="en-IN" sz="2400" dirty="0" err="1"/>
              <a:t>i</a:t>
            </a:r>
            <a:r>
              <a:rPr lang="en-IN" sz="2400" dirty="0"/>
              <a:t> = 1; </a:t>
            </a:r>
            <a:r>
              <a:rPr lang="en-IN" sz="2400" dirty="0" err="1"/>
              <a:t>i</a:t>
            </a:r>
            <a:r>
              <a:rPr lang="en-IN" sz="2400" dirty="0"/>
              <a:t> &lt;= 20; </a:t>
            </a:r>
            <a:r>
              <a:rPr lang="en-IN" sz="2400" dirty="0" err="1"/>
              <a:t>i</a:t>
            </a:r>
            <a:r>
              <a:rPr lang="en-IN" sz="2400" dirty="0"/>
              <a:t>++) { </a:t>
            </a:r>
          </a:p>
          <a:p>
            <a:r>
              <a:rPr lang="en-IN" sz="2400" dirty="0"/>
              <a:t>number = </a:t>
            </a:r>
            <a:r>
              <a:rPr lang="en-IN" sz="2400" dirty="0" err="1"/>
              <a:t>getw</a:t>
            </a:r>
            <a:r>
              <a:rPr lang="en-IN" sz="2400" dirty="0"/>
              <a:t>(fp2);</a:t>
            </a:r>
          </a:p>
          <a:p>
            <a:r>
              <a:rPr lang="en-IN" sz="2400" dirty="0"/>
              <a:t> if(</a:t>
            </a:r>
            <a:r>
              <a:rPr lang="en-IN" sz="2400" dirty="0" err="1"/>
              <a:t>feof</a:t>
            </a:r>
            <a:r>
              <a:rPr lang="en-IN" sz="2400" dirty="0"/>
              <a:t>(fp2)) { </a:t>
            </a:r>
          </a:p>
          <a:p>
            <a:r>
              <a:rPr lang="en-IN" sz="2400" dirty="0" err="1"/>
              <a:t>printf</a:t>
            </a:r>
            <a:r>
              <a:rPr lang="en-IN" sz="2400" dirty="0"/>
              <a:t>(“\</a:t>
            </a:r>
            <a:r>
              <a:rPr lang="en-IN" sz="2400" dirty="0" err="1"/>
              <a:t>nRan</a:t>
            </a:r>
            <a:r>
              <a:rPr lang="en-IN" sz="2400" dirty="0"/>
              <a:t> out of data.\n”); </a:t>
            </a:r>
          </a:p>
          <a:p>
            <a:r>
              <a:rPr lang="en-IN" sz="2400" dirty="0"/>
              <a:t>break; }</a:t>
            </a:r>
          </a:p>
          <a:p>
            <a:r>
              <a:rPr lang="en-IN" sz="2400" dirty="0"/>
              <a:t> else</a:t>
            </a:r>
            <a:endParaRPr lang="en-US" sz="2400" dirty="0"/>
          </a:p>
          <a:p>
            <a:r>
              <a:rPr lang="en-US" sz="2400" dirty="0" err="1"/>
              <a:t>printf</a:t>
            </a:r>
            <a:r>
              <a:rPr lang="en-US" sz="2400" dirty="0"/>
              <a:t>(“%d\n”, number); </a:t>
            </a:r>
          </a:p>
          <a:p>
            <a:r>
              <a:rPr lang="en-US" sz="2400" dirty="0"/>
              <a:t>} </a:t>
            </a:r>
          </a:p>
          <a:p>
            <a:r>
              <a:rPr lang="en-US" sz="2400" dirty="0" err="1"/>
              <a:t>fclose</a:t>
            </a:r>
            <a:r>
              <a:rPr lang="en-US" sz="2400" dirty="0"/>
              <a:t>(fp2);</a:t>
            </a:r>
          </a:p>
          <a:p>
            <a:r>
              <a:rPr lang="en-US" sz="2400" dirty="0"/>
              <a:t> }</a:t>
            </a:r>
            <a:endParaRPr lang="en-IN" sz="2400" dirty="0"/>
          </a:p>
        </p:txBody>
      </p:sp>
    </p:spTree>
    <p:extLst>
      <p:ext uri="{BB962C8B-B14F-4D97-AF65-F5344CB8AC3E}">
        <p14:creationId xmlns:p14="http://schemas.microsoft.com/office/powerpoint/2010/main" val="59925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786</TotalTime>
  <Words>5141</Words>
  <Application>Microsoft Office PowerPoint</Application>
  <PresentationFormat>Widescreen</PresentationFormat>
  <Paragraphs>517</Paragraphs>
  <Slides>55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Calibri</vt:lpstr>
      <vt:lpstr>Calibri Light</vt:lpstr>
      <vt:lpstr>Generic500-Regular</vt:lpstr>
      <vt:lpstr>Generic510-Regular</vt:lpstr>
      <vt:lpstr>Times New Roman</vt:lpstr>
      <vt:lpstr>Office Theme</vt:lpstr>
      <vt:lpstr>Module 5 </vt:lpstr>
      <vt:lpstr>Overview</vt:lpstr>
      <vt:lpstr>Structures</vt:lpstr>
      <vt:lpstr>PowerPoint Presentation</vt:lpstr>
      <vt:lpstr>The general format of a structure definition is as follows:</vt:lpstr>
      <vt:lpstr>In defining a structure you may note the following syntax</vt:lpstr>
      <vt:lpstr>arrays vs structures</vt:lpstr>
      <vt:lpstr>DECLARING STRUCTURE VARIABLES</vt:lpstr>
      <vt:lpstr>PowerPoint Presentation</vt:lpstr>
      <vt:lpstr>PowerPoint Presentation</vt:lpstr>
      <vt:lpstr>PowerPoint Presentation</vt:lpstr>
      <vt:lpstr>PowerPoint Presentation</vt:lpstr>
      <vt:lpstr>ACCESSING STRUCTURE MEMBERS</vt:lpstr>
      <vt:lpstr>PowerPoint Presentation</vt:lpstr>
      <vt:lpstr>Problem:</vt:lpstr>
      <vt:lpstr>PowerPoint Presentation</vt:lpstr>
      <vt:lpstr>STRUCTURE INITIALIZATION</vt:lpstr>
      <vt:lpstr>PowerPoint Presentation</vt:lpstr>
      <vt:lpstr>PowerPoint Presentation</vt:lpstr>
      <vt:lpstr>PowerPoint Presentation</vt:lpstr>
      <vt:lpstr>Rules for Initializing Structures</vt:lpstr>
      <vt:lpstr>PowerPoint Presentation</vt:lpstr>
      <vt:lpstr>ARRAYS OF STRUCTURES</vt:lpstr>
      <vt:lpstr>PowerPoint Presentation</vt:lpstr>
      <vt:lpstr>PowerPoint Presentation</vt:lpstr>
      <vt:lpstr>PowerPoint Presentation</vt:lpstr>
      <vt:lpstr>PowerPoint Presentation</vt:lpstr>
      <vt:lpstr>PowerPoint Presentation</vt:lpstr>
      <vt:lpstr>ARRAYS WITHIN STRUCTURES</vt:lpstr>
      <vt:lpstr>PowerPoint Presentation</vt:lpstr>
      <vt:lpstr>File management in c</vt:lpstr>
      <vt:lpstr>PowerPoint Presentation</vt:lpstr>
      <vt:lpstr>PowerPoint Presentation</vt:lpstr>
      <vt:lpstr>DEFINING AND OPENING A FILE</vt:lpstr>
      <vt:lpstr>PowerPoint Presentation</vt:lpstr>
      <vt:lpstr>PowerPoint Presentation</vt:lpstr>
      <vt:lpstr>PowerPoint Presentation</vt:lpstr>
      <vt:lpstr>PowerPoint Presentation</vt:lpstr>
      <vt:lpstr>PowerPoint Presentation</vt:lpstr>
      <vt:lpstr>PowerPoint Presentation</vt:lpstr>
      <vt:lpstr>CLOSING A FILE</vt:lpstr>
      <vt:lpstr>PowerPoint Presentation</vt:lpstr>
      <vt:lpstr>PowerPoint Presentation</vt:lpstr>
      <vt:lpstr>PowerPoint Presentation</vt:lpstr>
      <vt:lpstr>The getc and putc Functions</vt:lpstr>
      <vt:lpstr>PowerPoint Presentation</vt:lpstr>
      <vt:lpstr>PowerPoint Presentation</vt:lpstr>
      <vt:lpstr>The getw and putw Functions</vt:lpstr>
      <vt:lpstr>PowerPoint Presentation</vt:lpstr>
      <vt:lpstr>The fprintf and fscanf Functions</vt:lpstr>
      <vt:lpstr>PowerPoint Presentation</vt:lpstr>
      <vt:lpstr>ERROR HANDLING DURING I/O OPERATIONS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dc:title>
  <dc:creator>Faculty</dc:creator>
  <cp:lastModifiedBy>Pushpa latha</cp:lastModifiedBy>
  <cp:revision>27</cp:revision>
  <dcterms:created xsi:type="dcterms:W3CDTF">2023-03-10T08:10:04Z</dcterms:created>
  <dcterms:modified xsi:type="dcterms:W3CDTF">2023-03-20T05:28:13Z</dcterms:modified>
</cp:coreProperties>
</file>