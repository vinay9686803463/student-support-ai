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8229-92FE-4726-BF1A-D68E040A4855}" type="datetimeFigureOut">
              <a:rPr lang="en-US" smtClean="0"/>
              <a:t>3/20/2023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4598E-14A6-4FB4-B51E-0EAA1D840E2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8229-92FE-4726-BF1A-D68E040A4855}" type="datetimeFigureOut">
              <a:rPr lang="en-US" smtClean="0"/>
              <a:t>3/20/2023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4598E-14A6-4FB4-B51E-0EAA1D840E2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8229-92FE-4726-BF1A-D68E040A4855}" type="datetimeFigureOut">
              <a:rPr lang="en-US" smtClean="0"/>
              <a:t>3/20/2023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4598E-14A6-4FB4-B51E-0EAA1D840E2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8229-92FE-4726-BF1A-D68E040A4855}" type="datetimeFigureOut">
              <a:rPr lang="en-US" smtClean="0"/>
              <a:t>3/20/2023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4598E-14A6-4FB4-B51E-0EAA1D840E2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8229-92FE-4726-BF1A-D68E040A4855}" type="datetimeFigureOut">
              <a:rPr lang="en-US" smtClean="0"/>
              <a:t>3/20/2023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4598E-14A6-4FB4-B51E-0EAA1D840E2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8229-92FE-4726-BF1A-D68E040A4855}" type="datetimeFigureOut">
              <a:rPr lang="en-US" smtClean="0"/>
              <a:t>3/20/2023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4598E-14A6-4FB4-B51E-0EAA1D840E2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8229-92FE-4726-BF1A-D68E040A4855}" type="datetimeFigureOut">
              <a:rPr lang="en-US" smtClean="0"/>
              <a:t>3/20/2023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4598E-14A6-4FB4-B51E-0EAA1D840E2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8229-92FE-4726-BF1A-D68E040A4855}" type="datetimeFigureOut">
              <a:rPr lang="en-US" smtClean="0"/>
              <a:t>3/20/2023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4598E-14A6-4FB4-B51E-0EAA1D840E2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8229-92FE-4726-BF1A-D68E040A4855}" type="datetimeFigureOut">
              <a:rPr lang="en-US" smtClean="0"/>
              <a:t>3/20/2023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4598E-14A6-4FB4-B51E-0EAA1D840E2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8229-92FE-4726-BF1A-D68E040A4855}" type="datetimeFigureOut">
              <a:rPr lang="en-US" smtClean="0"/>
              <a:t>3/20/2023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4598E-14A6-4FB4-B51E-0EAA1D840E2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8229-92FE-4726-BF1A-D68E040A4855}" type="datetimeFigureOut">
              <a:rPr lang="en-US" smtClean="0"/>
              <a:t>3/20/2023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4598E-14A6-4FB4-B51E-0EAA1D840E2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B8229-92FE-4726-BF1A-D68E040A4855}" type="datetimeFigureOut">
              <a:rPr lang="en-US" smtClean="0"/>
              <a:t>3/20/2023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4598E-14A6-4FB4-B51E-0EAA1D840E2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483854" y="6435788"/>
            <a:ext cx="1612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r>
              <a:rPr sz="1200" dirty="0">
                <a:solidFill>
                  <a:srgbClr val="878787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502190-B394-FD5F-4946-44858DCA32BF}"/>
              </a:ext>
            </a:extLst>
          </p:cNvPr>
          <p:cNvSpPr txBox="1">
            <a:spLocks/>
          </p:cNvSpPr>
          <p:nvPr/>
        </p:nvSpPr>
        <p:spPr>
          <a:xfrm>
            <a:off x="838200" y="1325217"/>
            <a:ext cx="7645654" cy="485174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itchFamily="34" charset="0"/>
              <a:buNone/>
            </a:pPr>
            <a:endParaRPr lang="en-US" sz="4400" b="1" dirty="0">
              <a:solidFill>
                <a:srgbClr val="FF0000"/>
              </a:solidFill>
            </a:endParaRPr>
          </a:p>
          <a:p>
            <a:pPr algn="ctr">
              <a:buFont typeface="Arial" pitchFamily="34" charset="0"/>
              <a:buNone/>
            </a:pPr>
            <a:r>
              <a:rPr lang="en-US" sz="4400" b="1" dirty="0">
                <a:solidFill>
                  <a:srgbClr val="FF0000"/>
                </a:solidFill>
              </a:rPr>
              <a:t>MODULE-5</a:t>
            </a:r>
          </a:p>
          <a:p>
            <a:pPr algn="ctr">
              <a:buFont typeface="Arial" pitchFamily="34" charset="0"/>
              <a:buNone/>
            </a:pPr>
            <a:r>
              <a:rPr lang="en-US" sz="4400" b="1" dirty="0">
                <a:solidFill>
                  <a:srgbClr val="FF0000"/>
                </a:solidFill>
              </a:rPr>
              <a:t>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8263" y="1424939"/>
            <a:ext cx="8001000" cy="9525"/>
          </a:xfrm>
          <a:custGeom>
            <a:avLst/>
            <a:gdLst/>
            <a:ahLst/>
            <a:cxnLst/>
            <a:rect l="l" t="t" r="r" b="b"/>
            <a:pathLst>
              <a:path w="8001000" h="9525">
                <a:moveTo>
                  <a:pt x="8001000" y="0"/>
                </a:moveTo>
                <a:lnTo>
                  <a:pt x="0" y="0"/>
                </a:lnTo>
                <a:lnTo>
                  <a:pt x="0" y="9144"/>
                </a:lnTo>
                <a:lnTo>
                  <a:pt x="8001000" y="9144"/>
                </a:lnTo>
                <a:lnTo>
                  <a:pt x="8001000" y="0"/>
                </a:lnTo>
                <a:close/>
              </a:path>
            </a:pathLst>
          </a:custGeom>
          <a:solidFill>
            <a:srgbClr val="71A2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520" y="500043"/>
            <a:ext cx="8496874" cy="59148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118745" indent="-292735">
              <a:lnSpc>
                <a:spcPct val="100000"/>
              </a:lnSpc>
              <a:spcBef>
                <a:spcPts val="100"/>
              </a:spcBef>
            </a:pPr>
            <a:r>
              <a:rPr lang="en-US" sz="3600" b="1" spc="-155" dirty="0">
                <a:latin typeface="Cambria"/>
                <a:cs typeface="Cambria"/>
              </a:rPr>
              <a:t>                          Introduction</a:t>
            </a:r>
            <a:r>
              <a:rPr sz="3600" b="1" spc="-150" dirty="0">
                <a:latin typeface="Cambria"/>
                <a:cs typeface="Cambria"/>
              </a:rPr>
              <a:t> </a:t>
            </a:r>
            <a:r>
              <a:rPr lang="en-US" sz="3600" b="1" spc="-150" dirty="0">
                <a:latin typeface="Cambria"/>
                <a:cs typeface="Cambria"/>
              </a:rPr>
              <a:t>to Files</a:t>
            </a:r>
          </a:p>
          <a:p>
            <a:pPr marL="304800" marR="118745" indent="-292735">
              <a:lnSpc>
                <a:spcPct val="100000"/>
              </a:lnSpc>
              <a:spcBef>
                <a:spcPts val="100"/>
              </a:spcBef>
            </a:pPr>
            <a:endParaRPr lang="en-US" sz="1650" spc="-150" dirty="0">
              <a:solidFill>
                <a:srgbClr val="71A276"/>
              </a:solidFill>
              <a:latin typeface="Cambria"/>
              <a:cs typeface="Times New Roman"/>
            </a:endParaRPr>
          </a:p>
          <a:p>
            <a:pPr marL="304800" marR="118745" indent="-292735">
              <a:lnSpc>
                <a:spcPct val="100000"/>
              </a:lnSpc>
              <a:spcBef>
                <a:spcPts val="100"/>
              </a:spcBef>
            </a:pPr>
            <a:endParaRPr lang="en-US" sz="1650" spc="-150" dirty="0">
              <a:solidFill>
                <a:srgbClr val="71A276"/>
              </a:solidFill>
              <a:latin typeface="Cambria"/>
              <a:cs typeface="Times New Roman"/>
            </a:endParaRPr>
          </a:p>
          <a:p>
            <a:pPr marL="304800" marR="118745" indent="-292735" algn="just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functions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5" dirty="0">
                <a:latin typeface="Times New Roman"/>
                <a:cs typeface="Times New Roman"/>
              </a:rPr>
              <a:t>we use such as scanf( </a:t>
            </a:r>
            <a:r>
              <a:rPr sz="2400" dirty="0">
                <a:latin typeface="Times New Roman"/>
                <a:cs typeface="Times New Roman"/>
              </a:rPr>
              <a:t>) &amp; printf( ) are there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read and write data. These I/O functions always </a:t>
            </a:r>
            <a:r>
              <a:rPr sz="2400" spc="-5" dirty="0">
                <a:latin typeface="Times New Roman"/>
                <a:cs typeface="Times New Roman"/>
              </a:rPr>
              <a:t>use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terminal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(Keyboard 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Screen)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target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place.</a:t>
            </a:r>
          </a:p>
          <a:p>
            <a:pPr algn="just"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304800" marR="5080" indent="-292735" algn="just">
              <a:lnSpc>
                <a:spcPct val="100000"/>
              </a:lnSpc>
            </a:pPr>
            <a:r>
              <a:rPr sz="1650" spc="-155" dirty="0">
                <a:latin typeface="Cambria"/>
                <a:cs typeface="Cambria"/>
              </a:rPr>
              <a:t>⦿</a:t>
            </a:r>
            <a:r>
              <a:rPr sz="1650" spc="-150" dirty="0">
                <a:latin typeface="Cambria"/>
                <a:cs typeface="Cambria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 functions work where the data </a:t>
            </a:r>
            <a:r>
              <a:rPr sz="2400" spc="-5" dirty="0">
                <a:latin typeface="Times New Roman"/>
                <a:cs typeface="Times New Roman"/>
              </a:rPr>
              <a:t>is small, </a:t>
            </a:r>
            <a:r>
              <a:rPr sz="2400" dirty="0">
                <a:latin typeface="Times New Roman"/>
                <a:cs typeface="Times New Roman"/>
              </a:rPr>
              <a:t>but the entire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becomes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cumbersome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time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consuming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when</a:t>
            </a:r>
            <a:r>
              <a:rPr sz="2400" dirty="0">
                <a:latin typeface="Times New Roman"/>
                <a:cs typeface="Times New Roman"/>
              </a:rPr>
              <a:t> it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real-life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problems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which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large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volumes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data through </a:t>
            </a:r>
            <a:r>
              <a:rPr sz="2400" spc="-5" dirty="0">
                <a:latin typeface="Times New Roman"/>
                <a:cs typeface="Times New Roman"/>
              </a:rPr>
              <a:t>terminals </a:t>
            </a:r>
            <a:r>
              <a:rPr sz="2400" dirty="0">
                <a:latin typeface="Times New Roman"/>
                <a:cs typeface="Times New Roman"/>
              </a:rPr>
              <a:t>&amp; due to this the entire data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lost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when</a:t>
            </a:r>
            <a:r>
              <a:rPr sz="2400" dirty="0">
                <a:latin typeface="Times New Roman"/>
                <a:cs typeface="Times New Roman"/>
              </a:rPr>
              <a:t> either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terminated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computer 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turned</a:t>
            </a:r>
            <a:r>
              <a:rPr sz="2400" spc="-15" dirty="0">
                <a:latin typeface="Times New Roman"/>
                <a:cs typeface="Times New Roman"/>
              </a:rPr>
              <a:t> off.</a:t>
            </a:r>
            <a:endParaRPr sz="24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304800" marR="231775" indent="-292735" algn="just">
              <a:lnSpc>
                <a:spcPct val="100000"/>
              </a:lnSpc>
              <a:spcBef>
                <a:spcPts val="5"/>
              </a:spcBef>
            </a:pPr>
            <a:r>
              <a:rPr sz="1650" spc="-155" dirty="0">
                <a:latin typeface="Cambria"/>
                <a:cs typeface="Cambria"/>
              </a:rPr>
              <a:t>⦿</a:t>
            </a:r>
            <a:r>
              <a:rPr sz="1650" spc="25" dirty="0">
                <a:latin typeface="Cambria"/>
                <a:cs typeface="Cambria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flexible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was brought in,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concept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files </a:t>
            </a:r>
            <a:r>
              <a:rPr sz="2400" dirty="0">
                <a:latin typeface="Times New Roman"/>
                <a:cs typeface="Times New Roman"/>
              </a:rPr>
              <a:t>in which data can be stored on the </a:t>
            </a:r>
            <a:r>
              <a:rPr sz="2400" spc="-5" dirty="0">
                <a:latin typeface="Times New Roman"/>
                <a:cs typeface="Times New Roman"/>
              </a:rPr>
              <a:t>disks </a:t>
            </a:r>
            <a:r>
              <a:rPr sz="2400" dirty="0">
                <a:latin typeface="Times New Roman"/>
                <a:cs typeface="Times New Roman"/>
              </a:rPr>
              <a:t>and read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whenever</a:t>
            </a:r>
            <a:r>
              <a:rPr sz="2400" spc="-15" dirty="0">
                <a:latin typeface="Times New Roman"/>
                <a:cs typeface="Times New Roman"/>
              </a:rPr>
              <a:t> necessary,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without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destroying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748394" y="6533182"/>
            <a:ext cx="302259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pPr marL="38100">
                <a:lnSpc>
                  <a:spcPts val="1864"/>
                </a:lnSpc>
              </a:pPr>
              <a:t>2</a:t>
            </a:fld>
            <a:endParaRPr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8263" y="1424939"/>
            <a:ext cx="8001000" cy="9525"/>
          </a:xfrm>
          <a:custGeom>
            <a:avLst/>
            <a:gdLst/>
            <a:ahLst/>
            <a:cxnLst/>
            <a:rect l="l" t="t" r="r" b="b"/>
            <a:pathLst>
              <a:path w="8001000" h="9525">
                <a:moveTo>
                  <a:pt x="8001000" y="0"/>
                </a:moveTo>
                <a:lnTo>
                  <a:pt x="0" y="0"/>
                </a:lnTo>
                <a:lnTo>
                  <a:pt x="0" y="9144"/>
                </a:lnTo>
                <a:lnTo>
                  <a:pt x="8001000" y="9144"/>
                </a:lnTo>
                <a:lnTo>
                  <a:pt x="8001000" y="0"/>
                </a:lnTo>
                <a:close/>
              </a:path>
            </a:pathLst>
          </a:custGeom>
          <a:solidFill>
            <a:srgbClr val="71A27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644" y="870203"/>
            <a:ext cx="35463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756105"/>
            <a:ext cx="8073390" cy="481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95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20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file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a</a:t>
            </a:r>
            <a:r>
              <a:rPr sz="2400" spc="-5" dirty="0">
                <a:latin typeface="Times New Roman"/>
                <a:cs typeface="Times New Roman"/>
              </a:rPr>
              <a:t> place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disk where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group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</a:p>
          <a:p>
            <a:pPr marL="762000" lvl="1">
              <a:lnSpc>
                <a:spcPts val="2595"/>
              </a:lnSpc>
            </a:pPr>
            <a:r>
              <a:rPr sz="2400" dirty="0">
                <a:latin typeface="Times New Roman"/>
                <a:cs typeface="Times New Roman"/>
              </a:rPr>
              <a:t>stored.</a:t>
            </a:r>
          </a:p>
          <a:p>
            <a:pPr marL="762000" marR="150495" lvl="1" indent="-292735">
              <a:lnSpc>
                <a:spcPts val="2300"/>
              </a:lnSpc>
              <a:spcBef>
                <a:spcPts val="2290"/>
              </a:spcBef>
            </a:pPr>
            <a:r>
              <a:rPr sz="1650" spc="-155" dirty="0">
                <a:latin typeface="Cambria"/>
                <a:cs typeface="Cambria"/>
              </a:rPr>
              <a:t>⦿</a:t>
            </a:r>
            <a:r>
              <a:rPr sz="1650" spc="35" dirty="0">
                <a:latin typeface="Cambria"/>
                <a:cs typeface="Cambria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Computers</a:t>
            </a:r>
            <a:r>
              <a:rPr sz="2400" dirty="0">
                <a:latin typeface="Times New Roman"/>
                <a:cs typeface="Times New Roman"/>
              </a:rPr>
              <a:t> store</a:t>
            </a:r>
            <a:r>
              <a:rPr sz="2400" spc="-5" dirty="0">
                <a:latin typeface="Times New Roman"/>
                <a:cs typeface="Times New Roman"/>
              </a:rPr>
              <a:t> files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secondary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storage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contents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files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remain</a:t>
            </a:r>
            <a:r>
              <a:rPr sz="2400" dirty="0">
                <a:latin typeface="Times New Roman"/>
                <a:cs typeface="Times New Roman"/>
              </a:rPr>
              <a:t> intact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computer shuts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down.</a:t>
            </a:r>
            <a:endParaRPr sz="2400" dirty="0">
              <a:latin typeface="Times New Roman"/>
              <a:cs typeface="Times New Roman"/>
            </a:endParaRPr>
          </a:p>
          <a:p>
            <a:pPr marL="762000" marR="5080" lvl="1" indent="-292735">
              <a:lnSpc>
                <a:spcPts val="2300"/>
              </a:lnSpc>
              <a:spcBef>
                <a:spcPts val="2315"/>
              </a:spcBef>
            </a:pPr>
            <a:r>
              <a:rPr sz="1650" spc="-155" dirty="0">
                <a:latin typeface="Cambria"/>
                <a:cs typeface="Cambria"/>
              </a:rPr>
              <a:t>⦿</a:t>
            </a:r>
            <a:r>
              <a:rPr sz="1650" spc="30" dirty="0">
                <a:latin typeface="Cambria"/>
                <a:cs typeface="Cambria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When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computer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reads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copies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storage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memory;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writes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transfers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memory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storage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device.</a:t>
            </a:r>
          </a:p>
          <a:p>
            <a:pPr marL="469900" lvl="1">
              <a:spcBef>
                <a:spcPts val="1755"/>
              </a:spcBef>
            </a:pPr>
            <a:r>
              <a:rPr sz="1650" spc="-155" dirty="0">
                <a:latin typeface="Cambria"/>
                <a:cs typeface="Cambria"/>
              </a:rPr>
              <a:t>⦿</a:t>
            </a:r>
            <a:r>
              <a:rPr sz="1650" spc="30" dirty="0">
                <a:latin typeface="Cambria"/>
                <a:cs typeface="Cambria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Two</a:t>
            </a:r>
            <a:r>
              <a:rPr sz="2400" dirty="0">
                <a:latin typeface="Times New Roman"/>
                <a:cs typeface="Times New Roman"/>
              </a:rPr>
              <a:t> distinct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</a:t>
            </a:r>
            <a:r>
              <a:rPr sz="2400" spc="-5" dirty="0">
                <a:latin typeface="Times New Roman"/>
                <a:cs typeface="Times New Roman"/>
              </a:rPr>
              <a:t> file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C:-</a:t>
            </a:r>
            <a:endParaRPr sz="2400" dirty="0">
              <a:latin typeface="Times New Roman"/>
              <a:cs typeface="Times New Roman"/>
            </a:endParaRPr>
          </a:p>
          <a:p>
            <a:pPr marL="850900" lvl="1">
              <a:spcBef>
                <a:spcPts val="1730"/>
              </a:spcBef>
            </a:pPr>
            <a:r>
              <a:rPr sz="2400" i="1" dirty="0">
                <a:latin typeface="Times New Roman"/>
                <a:cs typeface="Times New Roman"/>
              </a:rPr>
              <a:t>low-level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I/O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UNIX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calls.</a:t>
            </a:r>
          </a:p>
          <a:p>
            <a:pPr marL="850900" lvl="1">
              <a:spcBef>
                <a:spcPts val="1730"/>
              </a:spcBef>
            </a:pPr>
            <a:r>
              <a:rPr sz="2400" i="1" dirty="0">
                <a:latin typeface="Times New Roman"/>
                <a:cs typeface="Times New Roman"/>
              </a:rPr>
              <a:t>high-level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I/O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" dirty="0">
                <a:latin typeface="Times New Roman"/>
                <a:cs typeface="Times New Roman"/>
              </a:rPr>
              <a:t> Uses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C’s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I/O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library.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748394" y="6533182"/>
            <a:ext cx="302259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pPr marL="38100">
                <a:lnSpc>
                  <a:spcPts val="1864"/>
                </a:lnSpc>
              </a:pPr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33222" y="912875"/>
          <a:ext cx="8099425" cy="5514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2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78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Function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Operation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71A276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71A276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712">
                <a:tc>
                  <a:txBody>
                    <a:bodyPr/>
                    <a:lstStyle/>
                    <a:p>
                      <a:pPr marL="635" algn="ctr">
                        <a:lnSpc>
                          <a:spcPts val="1910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fopen()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71A276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0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Creates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new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file/Opens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an existing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file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use.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71A276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fclose()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Closes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file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which</a:t>
                      </a:r>
                      <a:r>
                        <a:rPr sz="18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has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been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opened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for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use.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6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getc()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Reads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 file.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putc()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Writes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a character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 file.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fprintf()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Writes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a set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values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file.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fscanf()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Reads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 set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of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values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 file.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6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getw()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Reads an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integer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from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file.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putw()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Writes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integer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file.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fseek()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the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position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desired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point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file.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8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ftell()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Gives the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correct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position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file.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8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rewind()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Sets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the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position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beginning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the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file.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127" y="303275"/>
            <a:ext cx="5396484" cy="5318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8748394" y="6533182"/>
            <a:ext cx="302259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pPr marL="38100">
                <a:lnSpc>
                  <a:spcPts val="1864"/>
                </a:lnSpc>
              </a:pPr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2168" y="795527"/>
            <a:ext cx="8007350" cy="638810"/>
            <a:chOff x="582168" y="795527"/>
            <a:chExt cx="8007350" cy="638810"/>
          </a:xfrm>
        </p:grpSpPr>
        <p:sp>
          <p:nvSpPr>
            <p:cNvPr id="3" name="object 3"/>
            <p:cNvSpPr/>
            <p:nvPr/>
          </p:nvSpPr>
          <p:spPr>
            <a:xfrm>
              <a:off x="588264" y="142494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8001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8001000" y="9144"/>
                  </a:lnTo>
                  <a:lnTo>
                    <a:pt x="8001000" y="0"/>
                  </a:lnTo>
                  <a:close/>
                </a:path>
              </a:pathLst>
            </a:custGeom>
            <a:solidFill>
              <a:srgbClr val="71A2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168" y="795527"/>
              <a:ext cx="6327648" cy="5943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1668602"/>
            <a:ext cx="8049895" cy="1005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en-US" sz="1650" spc="440" dirty="0">
                <a:solidFill>
                  <a:srgbClr val="71A276"/>
                </a:solidFill>
                <a:latin typeface="Cambria"/>
                <a:cs typeface="Cambria"/>
              </a:rPr>
            </a:br>
            <a:r>
              <a:rPr sz="2400" i="1">
                <a:latin typeface="Times New Roman"/>
                <a:cs typeface="Times New Roman"/>
              </a:rPr>
              <a:t>Filename</a:t>
            </a:r>
            <a:r>
              <a:rPr sz="2400" i="1" spc="-35">
                <a:latin typeface="Times New Roman"/>
                <a:cs typeface="Times New Roman"/>
              </a:rPr>
              <a:t> </a:t>
            </a:r>
            <a:r>
              <a:rPr sz="2400" dirty="0"/>
              <a:t>is a</a:t>
            </a:r>
            <a:r>
              <a:rPr sz="2400" spc="-5" dirty="0"/>
              <a:t> </a:t>
            </a:r>
            <a:r>
              <a:rPr sz="2400" dirty="0"/>
              <a:t>string</a:t>
            </a:r>
            <a:r>
              <a:rPr sz="2400" spc="-30" dirty="0"/>
              <a:t> </a:t>
            </a:r>
            <a:r>
              <a:rPr sz="2400" dirty="0"/>
              <a:t>of characters</a:t>
            </a:r>
            <a:r>
              <a:rPr sz="2400" spc="-45" dirty="0"/>
              <a:t> </a:t>
            </a:r>
            <a:r>
              <a:rPr sz="2400" dirty="0"/>
              <a:t>that</a:t>
            </a:r>
            <a:r>
              <a:rPr sz="2400" spc="-20" dirty="0"/>
              <a:t> </a:t>
            </a:r>
            <a:r>
              <a:rPr sz="2400" spc="-5" dirty="0"/>
              <a:t>make</a:t>
            </a:r>
            <a:r>
              <a:rPr sz="2400" spc="10" dirty="0"/>
              <a:t> </a:t>
            </a:r>
            <a:r>
              <a:rPr sz="2400" dirty="0"/>
              <a:t>up</a:t>
            </a:r>
            <a:r>
              <a:rPr sz="2400" spc="-5" dirty="0"/>
              <a:t> </a:t>
            </a:r>
            <a:r>
              <a:rPr sz="2400" dirty="0"/>
              <a:t>a</a:t>
            </a:r>
            <a:r>
              <a:rPr sz="2400" spc="-15" dirty="0"/>
              <a:t> </a:t>
            </a:r>
            <a:r>
              <a:rPr sz="2400" dirty="0"/>
              <a:t>valid</a:t>
            </a:r>
            <a:r>
              <a:rPr sz="2400" spc="-35" dirty="0"/>
              <a:t> </a:t>
            </a:r>
            <a:r>
              <a:rPr sz="2400" spc="-5" dirty="0"/>
              <a:t>filename</a:t>
            </a:r>
            <a:endParaRPr sz="105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5"/>
              </a:spcBef>
            </a:pPr>
            <a:r>
              <a:rPr sz="2400" dirty="0"/>
              <a:t>for</a:t>
            </a:r>
            <a:r>
              <a:rPr sz="2400" spc="-15" dirty="0"/>
              <a:t> </a:t>
            </a:r>
            <a:r>
              <a:rPr sz="2400" dirty="0"/>
              <a:t>the</a:t>
            </a:r>
            <a:r>
              <a:rPr sz="2400" spc="-25" dirty="0"/>
              <a:t> </a:t>
            </a:r>
            <a:r>
              <a:rPr sz="2400" dirty="0"/>
              <a:t>operating</a:t>
            </a:r>
            <a:r>
              <a:rPr sz="2400" spc="-45" dirty="0"/>
              <a:t> </a:t>
            </a:r>
            <a:r>
              <a:rPr sz="2400" spc="-5" dirty="0"/>
              <a:t>system.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86555" y="3787140"/>
            <a:ext cx="1048512" cy="6797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07964" y="3787140"/>
            <a:ext cx="1228343" cy="6797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5940" y="2766440"/>
            <a:ext cx="7828280" cy="262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353695" indent="-292735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25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Data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structure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FILE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library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I/O functions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definitions.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04800" marR="5080" indent="-292735">
              <a:lnSpc>
                <a:spcPct val="100000"/>
              </a:lnSpc>
            </a:pPr>
            <a:r>
              <a:rPr sz="1650" spc="-155" dirty="0">
                <a:latin typeface="Cambria"/>
                <a:cs typeface="Cambria"/>
              </a:rPr>
              <a:t>⦿</a:t>
            </a:r>
            <a:r>
              <a:rPr sz="1650" spc="-150" dirty="0">
                <a:latin typeface="Cambria"/>
                <a:cs typeface="Cambria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 </a:t>
            </a:r>
            <a:r>
              <a:rPr sz="2400" spc="-5" dirty="0">
                <a:latin typeface="Times New Roman"/>
                <a:cs typeface="Times New Roman"/>
              </a:rPr>
              <a:t>uses </a:t>
            </a:r>
            <a:r>
              <a:rPr sz="2400" dirty="0">
                <a:latin typeface="Times New Roman"/>
                <a:cs typeface="Times New Roman"/>
              </a:rPr>
              <a:t>a structure called FILE (defined in stdio.h) to store 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attributes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FILE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-155" dirty="0">
                <a:latin typeface="Cambria"/>
                <a:cs typeface="Cambria"/>
              </a:rPr>
              <a:t>⦿</a:t>
            </a:r>
            <a:r>
              <a:rPr sz="1650" spc="25" dirty="0">
                <a:latin typeface="Cambria"/>
                <a:cs typeface="Cambria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General</a:t>
            </a:r>
            <a:r>
              <a:rPr sz="2400" u="heavy" spc="-2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format</a:t>
            </a:r>
            <a:r>
              <a:rPr sz="2400" u="heavy" spc="1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for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defining</a:t>
            </a:r>
            <a:r>
              <a:rPr sz="2400" u="heavy" spc="-10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&amp;</a:t>
            </a:r>
            <a:r>
              <a:rPr sz="2400" u="heavy" spc="-10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opening</a:t>
            </a:r>
            <a:r>
              <a:rPr sz="2400" u="heavy" spc="-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400" u="heavy" spc="-1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10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file</a:t>
            </a:r>
            <a:r>
              <a:rPr sz="2400" spc="-10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8748394" y="6533182"/>
            <a:ext cx="302259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pPr marL="38100">
                <a:lnSpc>
                  <a:spcPts val="1864"/>
                </a:lnSpc>
              </a:pPr>
              <a:t>5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832866" y="5569458"/>
            <a:ext cx="7603490" cy="946785"/>
          </a:xfrm>
          <a:prstGeom prst="rect">
            <a:avLst/>
          </a:prstGeom>
          <a:solidFill>
            <a:srgbClr val="71A276"/>
          </a:solidFill>
          <a:ln w="38100">
            <a:solidFill>
              <a:srgbClr val="527754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44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*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fp;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fp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fopen(“</a:t>
            </a:r>
            <a:r>
              <a:rPr sz="1800" i="1" spc="-5" dirty="0">
                <a:solidFill>
                  <a:srgbClr val="FFFFFF"/>
                </a:solidFill>
                <a:latin typeface="Arial"/>
                <a:cs typeface="Arial"/>
              </a:rPr>
              <a:t>filename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”</a:t>
            </a:r>
            <a:r>
              <a:rPr sz="1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“</a:t>
            </a:r>
            <a:r>
              <a:rPr sz="1800" i="1" spc="-5" dirty="0">
                <a:solidFill>
                  <a:srgbClr val="FFFFFF"/>
                </a:solidFill>
                <a:latin typeface="Arial"/>
                <a:cs typeface="Arial"/>
              </a:rPr>
              <a:t>mode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”);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8263" y="1424939"/>
            <a:ext cx="8001000" cy="9525"/>
          </a:xfrm>
          <a:custGeom>
            <a:avLst/>
            <a:gdLst/>
            <a:ahLst/>
            <a:cxnLst/>
            <a:rect l="l" t="t" r="r" b="b"/>
            <a:pathLst>
              <a:path w="8001000" h="9525">
                <a:moveTo>
                  <a:pt x="8001000" y="0"/>
                </a:moveTo>
                <a:lnTo>
                  <a:pt x="0" y="0"/>
                </a:lnTo>
                <a:lnTo>
                  <a:pt x="0" y="9144"/>
                </a:lnTo>
                <a:lnTo>
                  <a:pt x="8001000" y="9144"/>
                </a:lnTo>
                <a:lnTo>
                  <a:pt x="8001000" y="0"/>
                </a:lnTo>
                <a:close/>
              </a:path>
            </a:pathLst>
          </a:custGeom>
          <a:solidFill>
            <a:srgbClr val="71A2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335102"/>
            <a:ext cx="790067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440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400" dirty="0"/>
              <a:t>The</a:t>
            </a:r>
            <a:r>
              <a:rPr sz="2400" spc="-10" dirty="0"/>
              <a:t> </a:t>
            </a:r>
            <a:r>
              <a:rPr sz="2400" spc="-5" dirty="0"/>
              <a:t>first</a:t>
            </a:r>
            <a:r>
              <a:rPr sz="2400" spc="5" dirty="0"/>
              <a:t> </a:t>
            </a:r>
            <a:r>
              <a:rPr sz="2400" spc="-5" dirty="0"/>
              <a:t>statement</a:t>
            </a:r>
            <a:r>
              <a:rPr sz="2400" spc="-20" dirty="0"/>
              <a:t> </a:t>
            </a:r>
            <a:r>
              <a:rPr sz="2400" dirty="0"/>
              <a:t>declares</a:t>
            </a:r>
            <a:r>
              <a:rPr sz="2400" spc="-35" dirty="0"/>
              <a:t> </a:t>
            </a:r>
            <a:r>
              <a:rPr sz="2400" dirty="0"/>
              <a:t>the</a:t>
            </a:r>
            <a:r>
              <a:rPr sz="2400" spc="-5" dirty="0"/>
              <a:t> </a:t>
            </a:r>
            <a:r>
              <a:rPr sz="2400" dirty="0"/>
              <a:t>variable</a:t>
            </a:r>
            <a:r>
              <a:rPr sz="2400" spc="-40" dirty="0"/>
              <a:t> </a:t>
            </a:r>
            <a:r>
              <a:rPr sz="2400" b="1" dirty="0">
                <a:latin typeface="Times New Roman"/>
                <a:cs typeface="Times New Roman"/>
              </a:rPr>
              <a:t>fp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/>
              <a:t>as</a:t>
            </a:r>
            <a:r>
              <a:rPr sz="2400" spc="-5" dirty="0"/>
              <a:t> </a:t>
            </a:r>
            <a:r>
              <a:rPr sz="2400" dirty="0"/>
              <a:t>a “pointer</a:t>
            </a:r>
            <a:r>
              <a:rPr sz="2400" spc="-30" dirty="0"/>
              <a:t> </a:t>
            </a:r>
            <a:r>
              <a:rPr sz="2400"/>
              <a:t>to</a:t>
            </a:r>
            <a:r>
              <a:rPr sz="2400" spc="-10"/>
              <a:t> </a:t>
            </a:r>
            <a:r>
              <a:rPr sz="2400"/>
              <a:t>the</a:t>
            </a:r>
            <a:r>
              <a:rPr lang="en-US" sz="2400" dirty="0"/>
              <a:t> </a:t>
            </a:r>
            <a:r>
              <a:rPr sz="2400"/>
              <a:t>data</a:t>
            </a:r>
            <a:r>
              <a:rPr sz="2400" spc="-45"/>
              <a:t> </a:t>
            </a:r>
            <a:r>
              <a:rPr sz="2400" dirty="0"/>
              <a:t>type</a:t>
            </a:r>
            <a:r>
              <a:rPr sz="2400" spc="-35" dirty="0"/>
              <a:t> </a:t>
            </a:r>
            <a:r>
              <a:rPr sz="2400" b="1" spc="-5" dirty="0">
                <a:latin typeface="Times New Roman"/>
                <a:cs typeface="Times New Roman"/>
              </a:rPr>
              <a:t>FILE</a:t>
            </a:r>
            <a:r>
              <a:rPr sz="2400" spc="-5" dirty="0"/>
              <a:t>”.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748394" y="6533182"/>
            <a:ext cx="302259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pPr marL="38100">
                <a:lnSpc>
                  <a:spcPts val="1864"/>
                </a:lnSpc>
              </a:pPr>
              <a:t>6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432940"/>
            <a:ext cx="7632700" cy="3367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5080" indent="-292735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30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second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statement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opens the </a:t>
            </a:r>
            <a:r>
              <a:rPr sz="2400" spc="-5" dirty="0">
                <a:latin typeface="Times New Roman"/>
                <a:cs typeface="Times New Roman"/>
              </a:rPr>
              <a:t>file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filename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identifier to the </a:t>
            </a:r>
            <a:r>
              <a:rPr sz="2400" b="1" spc="-5" dirty="0">
                <a:latin typeface="Times New Roman"/>
                <a:cs typeface="Times New Roman"/>
              </a:rPr>
              <a:t>FILE </a:t>
            </a:r>
            <a:r>
              <a:rPr sz="2400" dirty="0">
                <a:latin typeface="Times New Roman"/>
                <a:cs typeface="Times New Roman"/>
              </a:rPr>
              <a:t>type pointer </a:t>
            </a:r>
            <a:r>
              <a:rPr sz="2400" b="1" dirty="0">
                <a:latin typeface="Times New Roman"/>
                <a:cs typeface="Times New Roman"/>
              </a:rPr>
              <a:t>fp. </a:t>
            </a:r>
            <a:r>
              <a:rPr sz="2400" dirty="0">
                <a:latin typeface="Times New Roman"/>
                <a:cs typeface="Times New Roman"/>
              </a:rPr>
              <a:t>It also </a:t>
            </a:r>
            <a:r>
              <a:rPr sz="2400" spc="-5" dirty="0">
                <a:latin typeface="Times New Roman"/>
                <a:cs typeface="Times New Roman"/>
              </a:rPr>
              <a:t>specifies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purpose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file.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mode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job.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-155" dirty="0">
                <a:latin typeface="Cambria"/>
                <a:cs typeface="Cambria"/>
              </a:rPr>
              <a:t>⦿</a:t>
            </a:r>
            <a:r>
              <a:rPr sz="1650" spc="-25" dirty="0">
                <a:latin typeface="Cambria"/>
                <a:cs typeface="Cambria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Modes</a:t>
            </a:r>
            <a:r>
              <a:rPr sz="2400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Times New Roman"/>
              <a:cs typeface="Times New Roman"/>
            </a:endParaRPr>
          </a:p>
          <a:p>
            <a:pPr marL="241300" marR="3206115" indent="762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only.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writing</a:t>
            </a:r>
            <a:r>
              <a:rPr sz="2400" spc="-35" dirty="0">
                <a:latin typeface="Times New Roman"/>
                <a:cs typeface="Times New Roman"/>
              </a:rPr>
              <a:t> only.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appending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718" y="5075682"/>
            <a:ext cx="7595870" cy="1277620"/>
          </a:xfrm>
          <a:prstGeom prst="rect">
            <a:avLst/>
          </a:prstGeom>
          <a:solidFill>
            <a:srgbClr val="71A276"/>
          </a:solidFill>
          <a:ln w="38100">
            <a:solidFill>
              <a:srgbClr val="527754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FILE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*p1,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*p2;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p1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fopen(“CPU”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“r”);</a:t>
            </a:r>
            <a:endParaRPr sz="18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p2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fopen(“Data”</a:t>
            </a:r>
            <a:r>
              <a:rPr sz="1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“w”);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8263" y="795527"/>
            <a:ext cx="8001000" cy="638810"/>
            <a:chOff x="588263" y="795527"/>
            <a:chExt cx="8001000" cy="638810"/>
          </a:xfrm>
        </p:grpSpPr>
        <p:sp>
          <p:nvSpPr>
            <p:cNvPr id="3" name="object 3"/>
            <p:cNvSpPr/>
            <p:nvPr/>
          </p:nvSpPr>
          <p:spPr>
            <a:xfrm>
              <a:off x="588263" y="142494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8001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8001000" y="9144"/>
                  </a:lnTo>
                  <a:lnTo>
                    <a:pt x="8001000" y="0"/>
                  </a:lnTo>
                  <a:close/>
                </a:path>
              </a:pathLst>
            </a:custGeom>
            <a:solidFill>
              <a:srgbClr val="71A2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835" y="795527"/>
              <a:ext cx="3299460" cy="5943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1594865"/>
            <a:ext cx="778446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5080" indent="-292735" algn="l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-150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400" dirty="0"/>
              <a:t>Closing a file ensures that all outstanding </a:t>
            </a:r>
            <a:r>
              <a:rPr sz="2400" spc="-5" dirty="0"/>
              <a:t>information </a:t>
            </a:r>
            <a:r>
              <a:rPr sz="2400" dirty="0"/>
              <a:t> associated</a:t>
            </a:r>
            <a:r>
              <a:rPr sz="2400" spc="-35" dirty="0"/>
              <a:t> </a:t>
            </a:r>
            <a:r>
              <a:rPr sz="2400" spc="-5" dirty="0"/>
              <a:t>with</a:t>
            </a:r>
            <a:r>
              <a:rPr sz="2400" spc="-10" dirty="0"/>
              <a:t> </a:t>
            </a:r>
            <a:r>
              <a:rPr sz="2400" dirty="0"/>
              <a:t>the</a:t>
            </a:r>
            <a:r>
              <a:rPr sz="2400" spc="-15" dirty="0"/>
              <a:t> </a:t>
            </a:r>
            <a:r>
              <a:rPr sz="2400" dirty="0"/>
              <a:t>file</a:t>
            </a:r>
            <a:r>
              <a:rPr sz="2400" spc="-20" dirty="0"/>
              <a:t> </a:t>
            </a:r>
            <a:r>
              <a:rPr sz="2400" spc="-5" dirty="0"/>
              <a:t>is</a:t>
            </a:r>
            <a:r>
              <a:rPr sz="2400" dirty="0"/>
              <a:t> flushed</a:t>
            </a:r>
            <a:r>
              <a:rPr sz="2400" spc="-15" dirty="0"/>
              <a:t> </a:t>
            </a:r>
            <a:r>
              <a:rPr sz="2400" dirty="0"/>
              <a:t>out</a:t>
            </a:r>
            <a:r>
              <a:rPr sz="2400" spc="5" dirty="0"/>
              <a:t> </a:t>
            </a:r>
            <a:r>
              <a:rPr sz="2400" dirty="0"/>
              <a:t>from</a:t>
            </a:r>
            <a:r>
              <a:rPr sz="2400" spc="-15" dirty="0"/>
              <a:t> </a:t>
            </a:r>
            <a:r>
              <a:rPr sz="2400" dirty="0"/>
              <a:t>the</a:t>
            </a:r>
            <a:r>
              <a:rPr sz="2400" spc="-10" dirty="0"/>
              <a:t> </a:t>
            </a:r>
            <a:r>
              <a:rPr sz="2400" spc="-10"/>
              <a:t>buffers</a:t>
            </a:r>
            <a:r>
              <a:rPr sz="2400" spc="5"/>
              <a:t> </a:t>
            </a:r>
            <a:r>
              <a:rPr sz="2400"/>
              <a:t>and</a:t>
            </a:r>
            <a:r>
              <a:rPr lang="en-US" sz="2400" spc="-5" dirty="0"/>
              <a:t> </a:t>
            </a:r>
            <a:r>
              <a:rPr sz="2400"/>
              <a:t>all </a:t>
            </a:r>
            <a:r>
              <a:rPr sz="2400" spc="-585"/>
              <a:t> </a:t>
            </a:r>
            <a:r>
              <a:rPr sz="2400" dirty="0"/>
              <a:t>links</a:t>
            </a:r>
            <a:r>
              <a:rPr sz="2400" spc="-15" dirty="0"/>
              <a:t> </a:t>
            </a:r>
            <a:r>
              <a:rPr sz="2400" dirty="0"/>
              <a:t>to</a:t>
            </a:r>
            <a:r>
              <a:rPr sz="2400" spc="-10" dirty="0"/>
              <a:t> </a:t>
            </a:r>
            <a:r>
              <a:rPr sz="2400" dirty="0"/>
              <a:t>the</a:t>
            </a:r>
            <a:r>
              <a:rPr sz="2400" spc="-20" dirty="0"/>
              <a:t> </a:t>
            </a:r>
            <a:r>
              <a:rPr sz="2400" dirty="0"/>
              <a:t>file</a:t>
            </a:r>
            <a:r>
              <a:rPr sz="2400" spc="-10" dirty="0"/>
              <a:t> </a:t>
            </a:r>
            <a:r>
              <a:rPr sz="2400" dirty="0"/>
              <a:t>are</a:t>
            </a:r>
            <a:r>
              <a:rPr sz="2400" spc="-15" dirty="0"/>
              <a:t> </a:t>
            </a:r>
            <a:r>
              <a:rPr sz="2400" dirty="0"/>
              <a:t>broken.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8748394" y="6533182"/>
            <a:ext cx="302259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pPr marL="38100">
                <a:lnSpc>
                  <a:spcPts val="1864"/>
                </a:lnSpc>
              </a:pPr>
              <a:t>7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3058159"/>
            <a:ext cx="3433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420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Syntax</a:t>
            </a:r>
            <a:r>
              <a:rPr sz="2400" u="heavy" spc="-1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closing</a:t>
            </a:r>
            <a:r>
              <a:rPr sz="2400" u="heavy" spc="-3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400" u="heavy" spc="-2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file</a:t>
            </a:r>
            <a:r>
              <a:rPr sz="2400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155694"/>
            <a:ext cx="1587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385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400" u="heavy" spc="-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400" spc="-5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" y="3600450"/>
            <a:ext cx="7546975" cy="437515"/>
          </a:xfrm>
          <a:prstGeom prst="rect">
            <a:avLst/>
          </a:prstGeom>
          <a:solidFill>
            <a:srgbClr val="71A276"/>
          </a:solidFill>
          <a:ln w="38100">
            <a:solidFill>
              <a:srgbClr val="527754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95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fclose(file_pointer);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250" y="4729734"/>
            <a:ext cx="7612380" cy="1713230"/>
          </a:xfrm>
          <a:prstGeom prst="rect">
            <a:avLst/>
          </a:prstGeom>
          <a:solidFill>
            <a:srgbClr val="71A276"/>
          </a:solidFill>
          <a:ln w="38100">
            <a:solidFill>
              <a:srgbClr val="527754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FILE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*p1,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*p2;</a:t>
            </a: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p1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fopen(“cpu”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“r”);</a:t>
            </a:r>
            <a:endParaRPr sz="180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p2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fopen(“data”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“w”);</a:t>
            </a:r>
            <a:endParaRPr sz="1800">
              <a:latin typeface="Arial MT"/>
              <a:cs typeface="Arial MT"/>
            </a:endParaRPr>
          </a:p>
          <a:p>
            <a:pPr marL="90805" marR="624332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…………….. 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fclose(p1);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fclose(p2);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8263" y="795527"/>
            <a:ext cx="8001000" cy="638810"/>
            <a:chOff x="588263" y="795527"/>
            <a:chExt cx="8001000" cy="638810"/>
          </a:xfrm>
        </p:grpSpPr>
        <p:sp>
          <p:nvSpPr>
            <p:cNvPr id="3" name="object 3"/>
            <p:cNvSpPr/>
            <p:nvPr/>
          </p:nvSpPr>
          <p:spPr>
            <a:xfrm>
              <a:off x="588263" y="142494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8001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8001000" y="9144"/>
                  </a:lnTo>
                  <a:lnTo>
                    <a:pt x="8001000" y="0"/>
                  </a:lnTo>
                  <a:close/>
                </a:path>
              </a:pathLst>
            </a:custGeom>
            <a:solidFill>
              <a:srgbClr val="71A2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787" y="795527"/>
              <a:ext cx="6640067" cy="5943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200" y="1514739"/>
            <a:ext cx="8229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5080" indent="-292735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-150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getc </a:t>
            </a:r>
            <a:r>
              <a:rPr sz="2000" dirty="0"/>
              <a:t>and </a:t>
            </a:r>
            <a:r>
              <a:rPr sz="2000" i="1" dirty="0">
                <a:latin typeface="Times New Roman"/>
                <a:cs typeface="Times New Roman"/>
              </a:rPr>
              <a:t>putc </a:t>
            </a:r>
            <a:r>
              <a:rPr sz="2000" dirty="0"/>
              <a:t>are the </a:t>
            </a:r>
            <a:r>
              <a:rPr sz="2000" spc="-5" dirty="0"/>
              <a:t>simplest </a:t>
            </a:r>
            <a:r>
              <a:rPr sz="2000" dirty="0"/>
              <a:t>file I/O </a:t>
            </a:r>
            <a:r>
              <a:rPr sz="2000" spc="-5" dirty="0"/>
              <a:t>functions. </a:t>
            </a:r>
            <a:r>
              <a:rPr sz="2000" dirty="0"/>
              <a:t>These are </a:t>
            </a:r>
            <a:r>
              <a:rPr sz="2000" spc="5" dirty="0"/>
              <a:t> </a:t>
            </a:r>
            <a:r>
              <a:rPr sz="2000" dirty="0"/>
              <a:t>analogous</a:t>
            </a:r>
            <a:r>
              <a:rPr sz="2000" spc="-35" dirty="0"/>
              <a:t> </a:t>
            </a:r>
            <a:r>
              <a:rPr sz="2000" dirty="0"/>
              <a:t>to</a:t>
            </a:r>
            <a:r>
              <a:rPr sz="2000" spc="-15" dirty="0"/>
              <a:t> </a:t>
            </a:r>
            <a:r>
              <a:rPr sz="2000" i="1" dirty="0">
                <a:latin typeface="Times New Roman"/>
                <a:cs typeface="Times New Roman"/>
              </a:rPr>
              <a:t>getchar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dirty="0"/>
              <a:t>and</a:t>
            </a:r>
            <a:r>
              <a:rPr sz="2000" spc="-10" dirty="0"/>
              <a:t> </a:t>
            </a:r>
            <a:r>
              <a:rPr sz="2000" i="1" dirty="0">
                <a:latin typeface="Times New Roman"/>
                <a:cs typeface="Times New Roman"/>
              </a:rPr>
              <a:t>putchar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dirty="0"/>
              <a:t>functions</a:t>
            </a:r>
            <a:r>
              <a:rPr sz="2000" spc="-20" dirty="0"/>
              <a:t> </a:t>
            </a:r>
            <a:r>
              <a:rPr sz="2000" dirty="0"/>
              <a:t>and</a:t>
            </a:r>
            <a:r>
              <a:rPr sz="2000" spc="-5" dirty="0"/>
              <a:t> </a:t>
            </a:r>
            <a:r>
              <a:rPr sz="2000" dirty="0"/>
              <a:t>handle</a:t>
            </a:r>
            <a:r>
              <a:rPr sz="2000" spc="-30" dirty="0"/>
              <a:t> </a:t>
            </a:r>
            <a:r>
              <a:rPr sz="2000" dirty="0"/>
              <a:t>one </a:t>
            </a:r>
            <a:r>
              <a:rPr sz="2000" spc="-585" dirty="0"/>
              <a:t> </a:t>
            </a:r>
            <a:r>
              <a:rPr sz="2000" dirty="0"/>
              <a:t>character</a:t>
            </a:r>
            <a:r>
              <a:rPr sz="2000" spc="-45" dirty="0"/>
              <a:t> </a:t>
            </a:r>
            <a:r>
              <a:rPr sz="2000" dirty="0"/>
              <a:t>at</a:t>
            </a:r>
            <a:r>
              <a:rPr sz="2000" spc="-10" dirty="0"/>
              <a:t> </a:t>
            </a:r>
            <a:r>
              <a:rPr sz="2000" dirty="0"/>
              <a:t>a </a:t>
            </a:r>
            <a:r>
              <a:rPr sz="2000" spc="-5" dirty="0"/>
              <a:t>time.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8748394" y="6533182"/>
            <a:ext cx="302259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pPr marL="38100">
                <a:lnSpc>
                  <a:spcPts val="1864"/>
                </a:lnSpc>
              </a:pPr>
              <a:t>8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2882646"/>
            <a:ext cx="7731759" cy="18748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5080" indent="-292735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-150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getc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used to read a character from a file that </a:t>
            </a:r>
            <a:r>
              <a:rPr sz="2400" spc="-5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been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opened,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putc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write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character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file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opened.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-155" dirty="0">
                <a:latin typeface="Cambria"/>
                <a:cs typeface="Cambria"/>
              </a:rPr>
              <a:t>⦿</a:t>
            </a:r>
            <a:r>
              <a:rPr sz="1650" spc="5" dirty="0">
                <a:latin typeface="Cambria"/>
                <a:cs typeface="Cambria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Syntax</a:t>
            </a:r>
            <a:r>
              <a:rPr sz="2400" u="heavy" spc="-20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2400" u="heavy" spc="-1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i="1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getc</a:t>
            </a:r>
            <a:r>
              <a:rPr sz="2400" i="1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5443524"/>
            <a:ext cx="2402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409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Syntax</a:t>
            </a:r>
            <a:r>
              <a:rPr sz="2400" u="heavy" spc="-2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2400" u="heavy" spc="-20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i="1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putc</a:t>
            </a:r>
            <a:r>
              <a:rPr sz="2400" i="1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9630" y="4901946"/>
            <a:ext cx="7496809" cy="379730"/>
          </a:xfrm>
          <a:prstGeom prst="rect">
            <a:avLst/>
          </a:prstGeom>
          <a:solidFill>
            <a:srgbClr val="71A276"/>
          </a:solidFill>
          <a:ln w="38100">
            <a:solidFill>
              <a:srgbClr val="527754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65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identifier</a:t>
            </a: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getc(file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pointer);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9630" y="5939790"/>
            <a:ext cx="7496809" cy="387350"/>
          </a:xfrm>
          <a:prstGeom prst="rect">
            <a:avLst/>
          </a:prstGeom>
          <a:solidFill>
            <a:srgbClr val="71A276"/>
          </a:solidFill>
          <a:ln w="38100">
            <a:solidFill>
              <a:srgbClr val="527754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405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putc(identifier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file pointer);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3691" y="937260"/>
            <a:ext cx="8075930" cy="2575560"/>
            <a:chOff x="583691" y="937260"/>
            <a:chExt cx="8075930" cy="2575560"/>
          </a:xfrm>
        </p:grpSpPr>
        <p:sp>
          <p:nvSpPr>
            <p:cNvPr id="3" name="object 3"/>
            <p:cNvSpPr/>
            <p:nvPr/>
          </p:nvSpPr>
          <p:spPr>
            <a:xfrm>
              <a:off x="588264" y="956309"/>
              <a:ext cx="8052434" cy="2537460"/>
            </a:xfrm>
            <a:custGeom>
              <a:avLst/>
              <a:gdLst/>
              <a:ahLst/>
              <a:cxnLst/>
              <a:rect l="l" t="t" r="r" b="b"/>
              <a:pathLst>
                <a:path w="8052434" h="2537460">
                  <a:moveTo>
                    <a:pt x="8052054" y="0"/>
                  </a:moveTo>
                  <a:lnTo>
                    <a:pt x="14478" y="0"/>
                  </a:lnTo>
                  <a:lnTo>
                    <a:pt x="14478" y="468630"/>
                  </a:lnTo>
                  <a:lnTo>
                    <a:pt x="0" y="468630"/>
                  </a:lnTo>
                  <a:lnTo>
                    <a:pt x="0" y="477774"/>
                  </a:lnTo>
                  <a:lnTo>
                    <a:pt x="14478" y="477774"/>
                  </a:lnTo>
                  <a:lnTo>
                    <a:pt x="14478" y="2537460"/>
                  </a:lnTo>
                  <a:lnTo>
                    <a:pt x="8052054" y="2537460"/>
                  </a:lnTo>
                  <a:lnTo>
                    <a:pt x="8052054" y="0"/>
                  </a:lnTo>
                  <a:close/>
                </a:path>
              </a:pathLst>
            </a:custGeom>
            <a:solidFill>
              <a:srgbClr val="71A2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2741" y="956310"/>
              <a:ext cx="8037830" cy="2537460"/>
            </a:xfrm>
            <a:custGeom>
              <a:avLst/>
              <a:gdLst/>
              <a:ahLst/>
              <a:cxnLst/>
              <a:rect l="l" t="t" r="r" b="b"/>
              <a:pathLst>
                <a:path w="8037830" h="2537460">
                  <a:moveTo>
                    <a:pt x="0" y="2537460"/>
                  </a:moveTo>
                  <a:lnTo>
                    <a:pt x="8037576" y="2537460"/>
                  </a:lnTo>
                  <a:lnTo>
                    <a:pt x="8037576" y="0"/>
                  </a:lnTo>
                  <a:lnTo>
                    <a:pt x="0" y="0"/>
                  </a:lnTo>
                  <a:lnTo>
                    <a:pt x="0" y="2537460"/>
                  </a:lnTo>
                  <a:close/>
                </a:path>
              </a:pathLst>
            </a:custGeom>
            <a:ln w="38100">
              <a:solidFill>
                <a:srgbClr val="527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352171"/>
            <a:ext cx="253586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385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u="heavy" spc="-5" dirty="0">
                <a:uFill>
                  <a:solidFill>
                    <a:srgbClr val="FFFFFF"/>
                  </a:solidFill>
                </a:uFill>
              </a:rPr>
              <a:t>Example</a:t>
            </a:r>
            <a:r>
              <a:rPr spc="-5" dirty="0"/>
              <a:t>:-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748394" y="6533182"/>
            <a:ext cx="302259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pPr marL="38100">
                <a:lnSpc>
                  <a:spcPts val="1864"/>
                </a:lnSpc>
              </a:pPr>
              <a:t>9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621791" y="975360"/>
            <a:ext cx="7999730" cy="449580"/>
          </a:xfrm>
          <a:prstGeom prst="rect">
            <a:avLst/>
          </a:prstGeom>
          <a:solidFill>
            <a:srgbClr val="71A276"/>
          </a:solidFill>
        </p:spPr>
        <p:txBody>
          <a:bodyPr vert="horz" wrap="square" lIns="0" tIns="7683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60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FILE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*fp1,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*fp2;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1791" y="1434083"/>
            <a:ext cx="7999730" cy="2040889"/>
          </a:xfrm>
          <a:prstGeom prst="rect">
            <a:avLst/>
          </a:prstGeom>
          <a:solidFill>
            <a:srgbClr val="71A276"/>
          </a:solidFill>
        </p:spPr>
        <p:txBody>
          <a:bodyPr vert="horz" wrap="square" lIns="0" tIns="111760" rIns="0" bIns="0" rtlCol="0">
            <a:spAutoFit/>
          </a:bodyPr>
          <a:lstStyle/>
          <a:p>
            <a:pPr marL="70485">
              <a:lnSpc>
                <a:spcPts val="2055"/>
              </a:lnSpc>
              <a:spcBef>
                <a:spcPts val="88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fp1=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fopen(“input.txt”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“r”);</a:t>
            </a:r>
            <a:endParaRPr sz="1800">
              <a:latin typeface="Arial MT"/>
              <a:cs typeface="Arial MT"/>
            </a:endParaRPr>
          </a:p>
          <a:p>
            <a:pPr marL="70485" marR="4959350">
              <a:lnSpc>
                <a:spcPts val="1939"/>
              </a:lnSpc>
              <a:spcBef>
                <a:spcPts val="145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fp2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=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fopen(“output.txt”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,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“w”); </a:t>
            </a:r>
            <a:r>
              <a:rPr sz="1800" spc="-4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char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ch;</a:t>
            </a:r>
            <a:endParaRPr sz="1800">
              <a:latin typeface="Arial MT"/>
              <a:cs typeface="Arial MT"/>
            </a:endParaRPr>
          </a:p>
          <a:p>
            <a:pPr marL="70485">
              <a:lnSpc>
                <a:spcPts val="1805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ch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getc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(fp1);</a:t>
            </a:r>
            <a:endParaRPr sz="1800">
              <a:latin typeface="Arial MT"/>
              <a:cs typeface="Arial MT"/>
            </a:endParaRPr>
          </a:p>
          <a:p>
            <a:pPr marL="70485">
              <a:lnSpc>
                <a:spcPts val="204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putc(ch,fp2);</a:t>
            </a:r>
            <a:endParaRPr sz="1800">
              <a:latin typeface="Times New Roman"/>
              <a:cs typeface="Times New Roman"/>
            </a:endParaRPr>
          </a:p>
          <a:p>
            <a:pPr marL="70485">
              <a:lnSpc>
                <a:spcPct val="100000"/>
              </a:lnSpc>
              <a:spcBef>
                <a:spcPts val="1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fclose(fp1);</a:t>
            </a:r>
            <a:endParaRPr sz="1800">
              <a:latin typeface="Arial MT"/>
              <a:cs typeface="Arial MT"/>
            </a:endParaRPr>
          </a:p>
          <a:p>
            <a:pPr marL="7048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fclose(fp2);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8263" y="795527"/>
            <a:ext cx="8001000" cy="638810"/>
            <a:chOff x="588263" y="795527"/>
            <a:chExt cx="8001000" cy="638810"/>
          </a:xfrm>
        </p:grpSpPr>
        <p:sp>
          <p:nvSpPr>
            <p:cNvPr id="3" name="object 3"/>
            <p:cNvSpPr/>
            <p:nvPr/>
          </p:nvSpPr>
          <p:spPr>
            <a:xfrm>
              <a:off x="588263" y="142494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8001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8001000" y="9144"/>
                  </a:lnTo>
                  <a:lnTo>
                    <a:pt x="8001000" y="0"/>
                  </a:lnTo>
                  <a:close/>
                </a:path>
              </a:pathLst>
            </a:custGeom>
            <a:solidFill>
              <a:srgbClr val="71A2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787" y="795527"/>
              <a:ext cx="6900671" cy="5943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1586941"/>
            <a:ext cx="751967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5080" indent="-292735" algn="l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30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800" dirty="0"/>
              <a:t>The</a:t>
            </a:r>
            <a:r>
              <a:rPr sz="2800" spc="-15" dirty="0"/>
              <a:t> </a:t>
            </a:r>
            <a:r>
              <a:rPr sz="2800" i="1" dirty="0">
                <a:latin typeface="Times New Roman"/>
                <a:cs typeface="Times New Roman"/>
              </a:rPr>
              <a:t>getw</a:t>
            </a:r>
            <a:r>
              <a:rPr sz="2800" i="1" spc="-15" dirty="0">
                <a:latin typeface="Times New Roman"/>
                <a:cs typeface="Times New Roman"/>
              </a:rPr>
              <a:t> </a:t>
            </a:r>
            <a:r>
              <a:rPr sz="2800" dirty="0"/>
              <a:t>and</a:t>
            </a:r>
            <a:r>
              <a:rPr sz="2800" spc="-5" dirty="0"/>
              <a:t> </a:t>
            </a:r>
            <a:r>
              <a:rPr sz="2800" i="1" dirty="0">
                <a:latin typeface="Times New Roman"/>
                <a:cs typeface="Times New Roman"/>
              </a:rPr>
              <a:t>putw </a:t>
            </a:r>
            <a:r>
              <a:rPr sz="2800" dirty="0"/>
              <a:t>are</a:t>
            </a:r>
            <a:r>
              <a:rPr sz="2800" spc="-20" dirty="0"/>
              <a:t> </a:t>
            </a:r>
            <a:r>
              <a:rPr sz="2800" spc="-5" dirty="0"/>
              <a:t>integer-oriented</a:t>
            </a:r>
            <a:r>
              <a:rPr sz="2800" spc="-40" dirty="0"/>
              <a:t> </a:t>
            </a:r>
            <a:r>
              <a:rPr sz="2800" spc="-5" dirty="0"/>
              <a:t>functions.</a:t>
            </a:r>
            <a:r>
              <a:rPr sz="2800" spc="-55" dirty="0"/>
              <a:t> </a:t>
            </a:r>
            <a:r>
              <a:rPr sz="2800" dirty="0"/>
              <a:t>They are </a:t>
            </a:r>
            <a:r>
              <a:rPr sz="2800" spc="-585" dirty="0"/>
              <a:t> </a:t>
            </a:r>
            <a:r>
              <a:rPr sz="2800" spc="-5" dirty="0"/>
              <a:t>similar </a:t>
            </a:r>
            <a:r>
              <a:rPr sz="2800" dirty="0"/>
              <a:t>to </a:t>
            </a:r>
            <a:r>
              <a:rPr sz="2800" i="1" dirty="0">
                <a:latin typeface="Times New Roman"/>
                <a:cs typeface="Times New Roman"/>
              </a:rPr>
              <a:t>getc </a:t>
            </a:r>
            <a:r>
              <a:rPr sz="2800" dirty="0"/>
              <a:t>and </a:t>
            </a:r>
            <a:r>
              <a:rPr sz="2800" i="1" dirty="0">
                <a:latin typeface="Times New Roman"/>
                <a:cs typeface="Times New Roman"/>
              </a:rPr>
              <a:t>putc </a:t>
            </a:r>
            <a:r>
              <a:rPr sz="2800" dirty="0"/>
              <a:t>functions and are used to read and </a:t>
            </a:r>
            <a:r>
              <a:rPr sz="2800" spc="5" dirty="0"/>
              <a:t> </a:t>
            </a:r>
            <a:r>
              <a:rPr sz="2800" dirty="0"/>
              <a:t>write</a:t>
            </a:r>
            <a:r>
              <a:rPr sz="2800" spc="-25" dirty="0"/>
              <a:t> </a:t>
            </a:r>
            <a:r>
              <a:rPr sz="2800" dirty="0"/>
              <a:t>integer</a:t>
            </a:r>
            <a:r>
              <a:rPr sz="2800" spc="-15" dirty="0"/>
              <a:t> </a:t>
            </a:r>
            <a:r>
              <a:rPr sz="2800" dirty="0"/>
              <a:t>values.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8748394" y="6533182"/>
            <a:ext cx="302259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pPr marL="38100">
                <a:lnSpc>
                  <a:spcPts val="1864"/>
                </a:lnSpc>
              </a:pPr>
              <a:t>10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3416554"/>
            <a:ext cx="2436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409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Syntax</a:t>
            </a:r>
            <a:r>
              <a:rPr sz="2400" u="heavy" spc="-2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2400" u="heavy" spc="-20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i="1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getw</a:t>
            </a:r>
            <a:r>
              <a:rPr sz="2400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879975"/>
            <a:ext cx="2453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409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Syntax</a:t>
            </a:r>
            <a:r>
              <a:rPr sz="2400" u="heavy" spc="-2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2400" u="heavy" spc="-20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i="1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putw</a:t>
            </a:r>
            <a:r>
              <a:rPr sz="2400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7438" y="3923538"/>
            <a:ext cx="7470775" cy="394970"/>
          </a:xfrm>
          <a:prstGeom prst="rect">
            <a:avLst/>
          </a:prstGeom>
          <a:solidFill>
            <a:srgbClr val="71A276"/>
          </a:solidFill>
          <a:ln w="38100">
            <a:solidFill>
              <a:srgbClr val="527754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42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getw(file</a:t>
            </a:r>
            <a:r>
              <a:rPr sz="1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pointer);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7438" y="5473446"/>
            <a:ext cx="7470775" cy="402590"/>
          </a:xfrm>
          <a:prstGeom prst="rect">
            <a:avLst/>
          </a:prstGeom>
          <a:solidFill>
            <a:srgbClr val="71A276"/>
          </a:solidFill>
          <a:ln w="38100">
            <a:solidFill>
              <a:srgbClr val="527754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459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putw(integer</a:t>
            </a:r>
            <a:r>
              <a:rPr sz="18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file pointer);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8263" y="795527"/>
            <a:ext cx="8001000" cy="638810"/>
            <a:chOff x="588263" y="795527"/>
            <a:chExt cx="8001000" cy="638810"/>
          </a:xfrm>
        </p:grpSpPr>
        <p:sp>
          <p:nvSpPr>
            <p:cNvPr id="3" name="object 3"/>
            <p:cNvSpPr/>
            <p:nvPr/>
          </p:nvSpPr>
          <p:spPr>
            <a:xfrm>
              <a:off x="588263" y="142494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80010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8001000" y="9144"/>
                  </a:lnTo>
                  <a:lnTo>
                    <a:pt x="8001000" y="0"/>
                  </a:lnTo>
                  <a:close/>
                </a:path>
              </a:pathLst>
            </a:custGeom>
            <a:solidFill>
              <a:srgbClr val="71A2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787" y="795527"/>
              <a:ext cx="7516367" cy="5943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200" y="1247384"/>
            <a:ext cx="8229600" cy="1110046"/>
          </a:xfrm>
          <a:prstGeom prst="rect">
            <a:avLst/>
          </a:prstGeom>
        </p:spPr>
        <p:txBody>
          <a:bodyPr vert="horz" wrap="square" lIns="0" tIns="245871" rIns="0" bIns="0" rtlCol="0">
            <a:spAutoFit/>
          </a:bodyPr>
          <a:lstStyle/>
          <a:p>
            <a:pPr marL="304800" marR="5080" indent="-292735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30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800" spc="-5" dirty="0"/>
              <a:t>Most compilers</a:t>
            </a:r>
            <a:r>
              <a:rPr sz="2800" spc="-10" dirty="0"/>
              <a:t> </a:t>
            </a:r>
            <a:r>
              <a:rPr sz="2800" dirty="0"/>
              <a:t>support</a:t>
            </a:r>
            <a:r>
              <a:rPr sz="2800" spc="-15" dirty="0"/>
              <a:t> </a:t>
            </a:r>
            <a:r>
              <a:rPr sz="2800" dirty="0"/>
              <a:t>functions</a:t>
            </a:r>
            <a:r>
              <a:rPr sz="2800" spc="-20" dirty="0"/>
              <a:t> </a:t>
            </a:r>
            <a:r>
              <a:rPr sz="2800" i="1" dirty="0">
                <a:latin typeface="Times New Roman"/>
                <a:cs typeface="Times New Roman"/>
              </a:rPr>
              <a:t>fprintf</a:t>
            </a:r>
            <a:r>
              <a:rPr sz="2800" i="1" spc="-30" dirty="0">
                <a:latin typeface="Times New Roman"/>
                <a:cs typeface="Times New Roman"/>
              </a:rPr>
              <a:t> </a:t>
            </a:r>
            <a:r>
              <a:rPr sz="2800" dirty="0"/>
              <a:t>and</a:t>
            </a:r>
            <a:r>
              <a:rPr sz="2800" spc="-10" dirty="0"/>
              <a:t> </a:t>
            </a:r>
            <a:r>
              <a:rPr sz="2800" i="1" dirty="0">
                <a:latin typeface="Times New Roman"/>
                <a:cs typeface="Times New Roman"/>
              </a:rPr>
              <a:t>fscanf</a:t>
            </a:r>
            <a:r>
              <a:rPr sz="2800" i="1" spc="-15" dirty="0">
                <a:latin typeface="Times New Roman"/>
                <a:cs typeface="Times New Roman"/>
              </a:rPr>
              <a:t> </a:t>
            </a:r>
            <a:r>
              <a:rPr sz="2800" dirty="0"/>
              <a:t>,that</a:t>
            </a:r>
            <a:r>
              <a:rPr sz="2800" spc="-20" dirty="0"/>
              <a:t> </a:t>
            </a:r>
            <a:r>
              <a:rPr sz="2800" dirty="0"/>
              <a:t>can </a:t>
            </a:r>
            <a:r>
              <a:rPr sz="2800" spc="-585" dirty="0"/>
              <a:t> </a:t>
            </a:r>
            <a:r>
              <a:rPr sz="2800" dirty="0"/>
              <a:t>handle</a:t>
            </a:r>
            <a:r>
              <a:rPr sz="2800" spc="-20" dirty="0"/>
              <a:t> </a:t>
            </a:r>
            <a:r>
              <a:rPr sz="2800" dirty="0"/>
              <a:t>a</a:t>
            </a:r>
            <a:r>
              <a:rPr sz="2800" spc="-5" dirty="0"/>
              <a:t> </a:t>
            </a:r>
            <a:r>
              <a:rPr sz="2800" dirty="0"/>
              <a:t>group of </a:t>
            </a:r>
            <a:r>
              <a:rPr sz="2800" spc="-5" dirty="0"/>
              <a:t>mixed</a:t>
            </a:r>
            <a:r>
              <a:rPr sz="2800" spc="5" dirty="0"/>
              <a:t> </a:t>
            </a:r>
            <a:r>
              <a:rPr sz="2800" dirty="0"/>
              <a:t>data</a:t>
            </a:r>
            <a:r>
              <a:rPr sz="2800" spc="-20" dirty="0"/>
              <a:t> </a:t>
            </a:r>
            <a:r>
              <a:rPr sz="2800" spc="-15" dirty="0"/>
              <a:t>simultaneously.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748394" y="6533182"/>
            <a:ext cx="302259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pPr marL="38100">
                <a:lnSpc>
                  <a:spcPts val="1864"/>
                </a:lnSpc>
              </a:pPr>
              <a:t>11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2750058"/>
            <a:ext cx="7801609" cy="22595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5080" indent="-292735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-150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functions </a:t>
            </a:r>
            <a:r>
              <a:rPr sz="2400" i="1" dirty="0">
                <a:latin typeface="Times New Roman"/>
                <a:cs typeface="Times New Roman"/>
              </a:rPr>
              <a:t>fprintf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i="1" dirty="0">
                <a:latin typeface="Times New Roman"/>
                <a:cs typeface="Times New Roman"/>
              </a:rPr>
              <a:t>fscanf </a:t>
            </a:r>
            <a:r>
              <a:rPr sz="2400" dirty="0">
                <a:latin typeface="Times New Roman"/>
                <a:cs typeface="Times New Roman"/>
              </a:rPr>
              <a:t>are identical to the </a:t>
            </a:r>
            <a:r>
              <a:rPr sz="2400" spc="-5" dirty="0">
                <a:latin typeface="Times New Roman"/>
                <a:cs typeface="Times New Roman"/>
              </a:rPr>
              <a:t>familiar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printf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scanf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except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course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files.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spc="-155" dirty="0">
                <a:latin typeface="Cambria"/>
                <a:cs typeface="Cambria"/>
              </a:rPr>
              <a:t>⦿</a:t>
            </a:r>
            <a:r>
              <a:rPr sz="1650" spc="25" dirty="0">
                <a:latin typeface="Cambria"/>
                <a:cs typeface="Cambria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Syntax</a:t>
            </a:r>
            <a:r>
              <a:rPr sz="2400" u="heavy" spc="-10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&amp;</a:t>
            </a:r>
            <a:r>
              <a:rPr sz="2400" u="heavy" spc="-20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Example </a:t>
            </a:r>
            <a:r>
              <a:rPr sz="2400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400" u="heavy" spc="-40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i="1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fprintf</a:t>
            </a:r>
            <a:r>
              <a:rPr sz="2400" dirty="0">
                <a:latin typeface="Times New Roman"/>
                <a:cs typeface="Times New Roman"/>
              </a:rPr>
              <a:t>:-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6102" y="5157978"/>
            <a:ext cx="7397750" cy="1112520"/>
          </a:xfrm>
          <a:prstGeom prst="rect">
            <a:avLst/>
          </a:prstGeom>
          <a:solidFill>
            <a:srgbClr val="71A276"/>
          </a:solidFill>
          <a:ln w="38100">
            <a:solidFill>
              <a:srgbClr val="52775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9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fprintf(fp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,“Control</a:t>
            </a: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String”,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list);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fprintf(fp,“%s %d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%f”,name,age,8);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8263" y="1424939"/>
            <a:ext cx="8001000" cy="9525"/>
          </a:xfrm>
          <a:custGeom>
            <a:avLst/>
            <a:gdLst/>
            <a:ahLst/>
            <a:cxnLst/>
            <a:rect l="l" t="t" r="r" b="b"/>
            <a:pathLst>
              <a:path w="8001000" h="9525">
                <a:moveTo>
                  <a:pt x="8001000" y="0"/>
                </a:moveTo>
                <a:lnTo>
                  <a:pt x="0" y="0"/>
                </a:lnTo>
                <a:lnTo>
                  <a:pt x="0" y="9144"/>
                </a:lnTo>
                <a:lnTo>
                  <a:pt x="8001000" y="9144"/>
                </a:lnTo>
                <a:lnTo>
                  <a:pt x="8001000" y="0"/>
                </a:lnTo>
                <a:close/>
              </a:path>
            </a:pathLst>
          </a:custGeom>
          <a:solidFill>
            <a:srgbClr val="71A2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393319"/>
            <a:ext cx="75365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650" spc="-155" dirty="0">
                <a:solidFill>
                  <a:srgbClr val="71A276"/>
                </a:solidFill>
                <a:latin typeface="Cambria"/>
                <a:cs typeface="Cambria"/>
              </a:rPr>
              <a:t>⦿</a:t>
            </a:r>
            <a:r>
              <a:rPr sz="1650" spc="430" dirty="0">
                <a:solidFill>
                  <a:srgbClr val="71A276"/>
                </a:solidFill>
                <a:latin typeface="Cambria"/>
                <a:cs typeface="Cambria"/>
              </a:rPr>
              <a:t> </a:t>
            </a:r>
            <a:r>
              <a:rPr sz="2800" u="heavy" dirty="0">
                <a:uFill>
                  <a:solidFill>
                    <a:srgbClr val="FFFFFF"/>
                  </a:solidFill>
                </a:uFill>
              </a:rPr>
              <a:t>Syntax</a:t>
            </a:r>
            <a:r>
              <a:rPr sz="2800" u="heavy" spc="-1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800" u="heavy" dirty="0">
                <a:uFill>
                  <a:solidFill>
                    <a:srgbClr val="FFFFFF"/>
                  </a:solidFill>
                </a:uFill>
              </a:rPr>
              <a:t>&amp;</a:t>
            </a:r>
            <a:r>
              <a:rPr sz="2800" u="heavy" spc="-2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800" u="heavy" spc="-5" dirty="0">
                <a:uFill>
                  <a:solidFill>
                    <a:srgbClr val="FFFFFF"/>
                  </a:solidFill>
                </a:uFill>
              </a:rPr>
              <a:t>Example</a:t>
            </a:r>
            <a:r>
              <a:rPr sz="2800" u="heavy" spc="-1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800" u="heavy" dirty="0">
                <a:uFill>
                  <a:solidFill>
                    <a:srgbClr val="FFFFFF"/>
                  </a:solidFill>
                </a:uFill>
              </a:rPr>
              <a:t>of</a:t>
            </a:r>
            <a:r>
              <a:rPr sz="2800" u="heavy" spc="-4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sz="2800" i="1" u="heavy" dirty="0"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fscanf</a:t>
            </a:r>
            <a:r>
              <a:rPr sz="2800" u="heavy" dirty="0">
                <a:uFill>
                  <a:solidFill>
                    <a:srgbClr val="FFFFFF"/>
                  </a:solidFill>
                </a:uFill>
              </a:rPr>
              <a:t>:-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748394" y="6533182"/>
            <a:ext cx="302259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pPr marL="38100">
                <a:lnSpc>
                  <a:spcPts val="1864"/>
                </a:lnSpc>
              </a:pPr>
              <a:t>12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561594" y="973074"/>
            <a:ext cx="8079105" cy="1054735"/>
          </a:xfrm>
          <a:prstGeom prst="rect">
            <a:avLst/>
          </a:prstGeom>
          <a:solidFill>
            <a:srgbClr val="71A276"/>
          </a:solidFill>
          <a:ln w="38100">
            <a:solidFill>
              <a:srgbClr val="527754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855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fscanf(fp ,“Control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String”,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list);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fprintf(fp,“%s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%d”,name,&amp;quantity);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Error Handling during I/O operation in 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 Error Situation:</a:t>
            </a:r>
          </a:p>
          <a:p>
            <a:pPr lvl="1"/>
            <a:r>
              <a:rPr lang="en-US" dirty="0"/>
              <a:t>Trying to read beyond end of file mark</a:t>
            </a:r>
          </a:p>
          <a:p>
            <a:pPr lvl="1"/>
            <a:r>
              <a:rPr lang="en-US" dirty="0"/>
              <a:t>Device overflow</a:t>
            </a:r>
          </a:p>
          <a:p>
            <a:pPr lvl="1"/>
            <a:r>
              <a:rPr lang="en-US" dirty="0"/>
              <a:t>Trying to use a file that has not been opened</a:t>
            </a:r>
          </a:p>
          <a:p>
            <a:pPr lvl="1"/>
            <a:r>
              <a:rPr lang="en-US" dirty="0"/>
              <a:t>Trying to perform an operation on a file, when the file is opened for another type of operation</a:t>
            </a:r>
          </a:p>
          <a:p>
            <a:pPr lvl="1"/>
            <a:r>
              <a:rPr lang="en-US" dirty="0"/>
              <a:t>Opening a file within a invalid file name</a:t>
            </a:r>
          </a:p>
          <a:p>
            <a:pPr lvl="1"/>
            <a:r>
              <a:rPr lang="en-US" dirty="0"/>
              <a:t>Attempting to write to a write protected file.</a:t>
            </a:r>
          </a:p>
          <a:p>
            <a:pPr lvl="1"/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If(</a:t>
            </a:r>
            <a:r>
              <a:rPr lang="en-US" dirty="0" err="1"/>
              <a:t>feof</a:t>
            </a:r>
            <a:r>
              <a:rPr lang="en-US" dirty="0"/>
              <a:t>(</a:t>
            </a:r>
            <a:r>
              <a:rPr lang="en-US" dirty="0" err="1"/>
              <a:t>fp</a:t>
            </a:r>
            <a:r>
              <a:rPr lang="en-US" dirty="0"/>
              <a:t>))</a:t>
            </a:r>
          </a:p>
          <a:p>
            <a:pPr>
              <a:buNone/>
            </a:pPr>
            <a:r>
              <a:rPr lang="en-US" dirty="0"/>
              <a:t>           </a:t>
            </a:r>
            <a:r>
              <a:rPr lang="en-US" dirty="0" err="1"/>
              <a:t>printf</a:t>
            </a:r>
            <a:r>
              <a:rPr lang="en-US" dirty="0"/>
              <a:t>(“End of data\n”);</a:t>
            </a:r>
          </a:p>
          <a:p>
            <a:r>
              <a:rPr lang="en-US" dirty="0"/>
              <a:t>If(</a:t>
            </a:r>
            <a:r>
              <a:rPr lang="en-US" dirty="0" err="1"/>
              <a:t>ferror</a:t>
            </a:r>
            <a:r>
              <a:rPr lang="en-US" dirty="0"/>
              <a:t>(</a:t>
            </a:r>
            <a:r>
              <a:rPr lang="en-US" dirty="0" err="1"/>
              <a:t>fp</a:t>
            </a:r>
            <a:r>
              <a:rPr lang="en-US" dirty="0"/>
              <a:t>)!=0)</a:t>
            </a:r>
          </a:p>
          <a:p>
            <a:pPr>
              <a:buNone/>
            </a:pPr>
            <a:r>
              <a:rPr lang="en-US" dirty="0"/>
              <a:t>           </a:t>
            </a:r>
            <a:r>
              <a:rPr lang="en-US" dirty="0" err="1"/>
              <a:t>printf</a:t>
            </a:r>
            <a:r>
              <a:rPr lang="en-US" dirty="0"/>
              <a:t>(“An Error has </a:t>
            </a:r>
            <a:r>
              <a:rPr lang="en-US" dirty="0" err="1"/>
              <a:t>occured</a:t>
            </a:r>
            <a:r>
              <a:rPr lang="en-US" dirty="0"/>
              <a:t>\n”);</a:t>
            </a:r>
            <a:endParaRPr lang="en-IN" dirty="0"/>
          </a:p>
          <a:p>
            <a:r>
              <a:rPr lang="en-US" dirty="0"/>
              <a:t>If(</a:t>
            </a:r>
            <a:r>
              <a:rPr lang="en-US" dirty="0" err="1"/>
              <a:t>fp</a:t>
            </a:r>
            <a:r>
              <a:rPr lang="en-US" dirty="0"/>
              <a:t> == NULL)</a:t>
            </a:r>
          </a:p>
          <a:p>
            <a:pPr>
              <a:buNone/>
            </a:pPr>
            <a:r>
              <a:rPr lang="en-US" dirty="0"/>
              <a:t>           </a:t>
            </a:r>
            <a:r>
              <a:rPr lang="en-US" dirty="0" err="1"/>
              <a:t>printf</a:t>
            </a:r>
            <a:r>
              <a:rPr lang="en-US" dirty="0"/>
              <a:t>(“</a:t>
            </a:r>
            <a:r>
              <a:rPr lang="en-US"/>
              <a:t>File could not </a:t>
            </a:r>
            <a:r>
              <a:rPr lang="en-US" dirty="0"/>
              <a:t>be opened\n”);</a:t>
            </a:r>
            <a:endParaRPr lang="en-IN" dirty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1082</Words>
  <Application>Microsoft Office PowerPoint</Application>
  <PresentationFormat>On-screen Show (4:3)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MT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 Filename is a string of characters that make up a valid filename for the operating system.</vt:lpstr>
      <vt:lpstr>⦿ The first statement declares the variable fp as a “pointer to the data type FILE”.</vt:lpstr>
      <vt:lpstr>⦿ Closing a file ensures that all outstanding information  associated with the file is flushed out from the buffers and all  links to the file are broken.</vt:lpstr>
      <vt:lpstr>⦿ getc and putc are the simplest file I/O functions. These are  analogous to getchar and putchar functions and handle one  character at a time.</vt:lpstr>
      <vt:lpstr>⦿ Example:-</vt:lpstr>
      <vt:lpstr>⦿ The getw and putw are integer-oriented functions. They are  similar to getc and putc functions and are used to read and  write integer values.</vt:lpstr>
      <vt:lpstr>⦿ Most compilers support functions fprintf and fscanf ,that can  handle a group of mixed data simultaneously.</vt:lpstr>
      <vt:lpstr>⦿ Syntax &amp; Example of fscanf:-</vt:lpstr>
      <vt:lpstr>Error Handling during I/O operation in C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Priyanga</dc:creator>
  <cp:lastModifiedBy>Veena V P</cp:lastModifiedBy>
  <cp:revision>9</cp:revision>
  <dcterms:created xsi:type="dcterms:W3CDTF">2021-03-17T07:26:17Z</dcterms:created>
  <dcterms:modified xsi:type="dcterms:W3CDTF">2023-03-20T10:30:16Z</dcterms:modified>
</cp:coreProperties>
</file>