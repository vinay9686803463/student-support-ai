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60" r:id="rId4"/>
    <p:sldId id="261" r:id="rId5"/>
    <p:sldId id="262" r:id="rId6"/>
    <p:sldId id="263" r:id="rId7"/>
    <p:sldId id="264" r:id="rId8"/>
    <p:sldId id="265" r:id="rId9"/>
    <p:sldId id="258" r:id="rId10"/>
    <p:sldId id="259" r:id="rId11"/>
    <p:sldId id="267" r:id="rId12"/>
    <p:sldId id="269" r:id="rId13"/>
    <p:sldId id="268" r:id="rId14"/>
    <p:sldId id="270" r:id="rId15"/>
    <p:sldId id="271" r:id="rId16"/>
    <p:sldId id="272" r:id="rId17"/>
    <p:sldId id="273" r:id="rId18"/>
    <p:sldId id="274" r:id="rId19"/>
    <p:sldId id="266" r:id="rId20"/>
    <p:sldId id="275" r:id="rId21"/>
    <p:sldId id="276" r:id="rId22"/>
    <p:sldId id="310" r:id="rId23"/>
    <p:sldId id="311" r:id="rId24"/>
    <p:sldId id="312" r:id="rId25"/>
    <p:sldId id="313" r:id="rId26"/>
    <p:sldId id="314" r:id="rId27"/>
    <p:sldId id="315" r:id="rId28"/>
    <p:sldId id="277" r:id="rId29"/>
    <p:sldId id="278" r:id="rId30"/>
    <p:sldId id="280" r:id="rId31"/>
    <p:sldId id="281" r:id="rId32"/>
    <p:sldId id="279" r:id="rId33"/>
    <p:sldId id="282" r:id="rId34"/>
    <p:sldId id="283" r:id="rId35"/>
    <p:sldId id="284" r:id="rId36"/>
    <p:sldId id="285" r:id="rId37"/>
    <p:sldId id="316" r:id="rId38"/>
    <p:sldId id="286" r:id="rId39"/>
    <p:sldId id="287" r:id="rId40"/>
    <p:sldId id="317" r:id="rId41"/>
    <p:sldId id="288" r:id="rId42"/>
    <p:sldId id="31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CB36EE43-754B-4A85-82DC-93323C25F0E4}" type="datetimeFigureOut">
              <a:rPr lang="en-US" smtClean="0"/>
              <a:t>24-Oct-23</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2A5D9AF5-3B9D-4D98-8D2E-1407201AD76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B36EE43-754B-4A85-82DC-93323C25F0E4}" type="datetimeFigureOut">
              <a:rPr lang="en-US" smtClean="0"/>
              <a:t>24-Oct-23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5D9AF5-3B9D-4D98-8D2E-1407201AD76B}" type="slidenum">
              <a:rPr lang="en-US" smtClean="0"/>
              <a:t>‹#›</a:t>
            </a:fld>
            <a:endParaRPr lang="en-US"/>
          </a:p>
        </p:txBody>
      </p:sp>
      <p:sp>
        <p:nvSpPr>
          <p:cNvPr id="7" name="Title 6"/>
          <p:cNvSpPr>
            <a:spLocks noGrp="1"/>
          </p:cNvSpPr>
          <p:nvPr>
            <p:ph type="title"/>
          </p:nvPr>
        </p:nvSpPr>
        <p:spPr/>
        <p:txBody>
          <a:bodyPr rtlCol="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B36EE43-754B-4A85-82DC-93323C25F0E4}" type="datetimeFigureOut">
              <a:rPr lang="en-US" smtClean="0"/>
              <a:t>24-Oct-23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5D9AF5-3B9D-4D98-8D2E-1407201AD76B}"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B36EE43-754B-4A85-82DC-93323C25F0E4}" type="datetimeFigureOut">
              <a:rPr lang="en-US" smtClean="0"/>
              <a:t>24-Oct-23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5D9AF5-3B9D-4D98-8D2E-1407201AD76B}" type="slidenum">
              <a:rPr lang="en-US" smtClean="0"/>
              <a:t>‹#›</a:t>
            </a:fld>
            <a:endParaRPr lang="en-US"/>
          </a:p>
        </p:txBody>
      </p:sp>
      <p:sp>
        <p:nvSpPr>
          <p:cNvPr id="8" name="Title 7"/>
          <p:cNvSpPr>
            <a:spLocks noGrp="1"/>
          </p:cNvSpPr>
          <p:nvPr>
            <p:ph type="title"/>
          </p:nvPr>
        </p:nvSpPr>
        <p:spPr/>
        <p:txBody>
          <a:bodyPr rtlCol="0"/>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CB36EE43-754B-4A85-82DC-93323C25F0E4}" type="datetimeFigureOut">
              <a:rPr lang="en-US" smtClean="0"/>
              <a:t>24-Oct-23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5D9AF5-3B9D-4D98-8D2E-1407201AD76B}"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B36EE43-754B-4A85-82DC-93323C25F0E4}" type="datetimeFigureOut">
              <a:rPr lang="en-US" smtClean="0"/>
              <a:t>24-Oct-23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5D9AF5-3B9D-4D98-8D2E-1407201AD76B}" type="slidenum">
              <a:rPr lang="en-US" smtClean="0"/>
              <a:t>‹#›</a:t>
            </a:fld>
            <a:endParaRPr lang="en-US"/>
          </a:p>
        </p:txBody>
      </p:sp>
      <p:sp>
        <p:nvSpPr>
          <p:cNvPr id="6" name="Title 5"/>
          <p:cNvSpPr>
            <a:spLocks noGrp="1"/>
          </p:cNvSpPr>
          <p:nvPr>
            <p:ph type="title"/>
          </p:nvPr>
        </p:nvSpPr>
        <p:spPr/>
        <p:txBody>
          <a:bodyPr rtlCol="0"/>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36EE43-754B-4A85-82DC-93323C25F0E4}" type="datetimeFigureOut">
              <a:rPr lang="en-US" smtClean="0"/>
              <a:t>24-Oct-23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5D9AF5-3B9D-4D98-8D2E-1407201AD76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CB36EE43-754B-4A85-82DC-93323C25F0E4}" type="datetimeFigureOut">
              <a:rPr lang="en-US" smtClean="0"/>
              <a:t>24-Oct-23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5D9AF5-3B9D-4D98-8D2E-1407201AD76B}"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CB36EE43-754B-4A85-82DC-93323C25F0E4}" type="datetimeFigureOut">
              <a:rPr lang="en-US" smtClean="0"/>
              <a:t>24-Oct-23</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2A5D9AF5-3B9D-4D98-8D2E-1407201AD76B}"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B36EE43-754B-4A85-82DC-93323C25F0E4}" type="datetimeFigureOut">
              <a:rPr lang="en-US" smtClean="0"/>
              <a:t>24-Oct-23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5D9AF5-3B9D-4D98-8D2E-1407201AD76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B36EE43-754B-4A85-82DC-93323C25F0E4}" type="datetimeFigureOut">
              <a:rPr lang="en-US" smtClean="0"/>
              <a:t>24-Oct-23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5D9AF5-3B9D-4D98-8D2E-1407201AD76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CB36EE43-754B-4A85-82DC-93323C25F0E4}" type="datetimeFigureOut">
              <a:rPr lang="en-US" smtClean="0"/>
              <a:t>24-Oct-23</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2A5D9AF5-3B9D-4D98-8D2E-1407201AD76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b="1" dirty="0" smtClean="0">
                <a:latin typeface="Times New Roman" pitchFamily="18" charset="0"/>
                <a:cs typeface="Times New Roman" pitchFamily="18" charset="0"/>
              </a:rPr>
              <a:t>Module</a:t>
            </a:r>
            <a:r>
              <a:rPr lang="en-US" b="1" dirty="0" smtClean="0"/>
              <a:t> 1</a:t>
            </a:r>
            <a:endParaRPr lang="en-US" b="1" dirty="0"/>
          </a:p>
        </p:txBody>
      </p:sp>
      <p:sp>
        <p:nvSpPr>
          <p:cNvPr id="3" name="Subtitle 2"/>
          <p:cNvSpPr>
            <a:spLocks noGrp="1"/>
          </p:cNvSpPr>
          <p:nvPr>
            <p:ph type="subTitle" idx="1"/>
          </p:nvPr>
        </p:nvSpPr>
        <p:spPr>
          <a:xfrm>
            <a:off x="1371600" y="3276600"/>
            <a:ext cx="6400800" cy="2362200"/>
          </a:xfrm>
        </p:spPr>
        <p:txBody>
          <a:bodyPr>
            <a:normAutofit/>
          </a:bodyPr>
          <a:lstStyle/>
          <a:p>
            <a:pPr algn="ctr"/>
            <a:r>
              <a:rPr lang="en-US" sz="4400" b="1" u="sng" dirty="0" smtClean="0">
                <a:solidFill>
                  <a:schemeClr val="tx1"/>
                </a:solidFill>
                <a:latin typeface="Times New Roman" pitchFamily="18" charset="0"/>
                <a:cs typeface="Times New Roman" pitchFamily="18" charset="0"/>
              </a:rPr>
              <a:t>Introduction to C:</a:t>
            </a:r>
            <a:endParaRPr lang="en-US" sz="4400" b="1" u="sng" dirty="0">
              <a:solidFill>
                <a:schemeClr val="tx1"/>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sz="2400" b="1" dirty="0" smtClean="0">
                <a:latin typeface="Times New Roman" pitchFamily="18" charset="0"/>
                <a:cs typeface="Times New Roman" pitchFamily="18" charset="0"/>
              </a:rPr>
              <a:t>Introduction to computers</a:t>
            </a:r>
          </a:p>
          <a:p>
            <a:r>
              <a:rPr lang="en-US" sz="2400" b="1" dirty="0" smtClean="0">
                <a:latin typeface="Times New Roman" pitchFamily="18" charset="0"/>
                <a:cs typeface="Times New Roman" pitchFamily="18" charset="0"/>
              </a:rPr>
              <a:t> input and output devices</a:t>
            </a:r>
          </a:p>
          <a:p>
            <a:r>
              <a:rPr lang="en-US" sz="2400" b="1" dirty="0" smtClean="0">
                <a:latin typeface="Times New Roman" pitchFamily="18" charset="0"/>
                <a:cs typeface="Times New Roman" pitchFamily="18" charset="0"/>
              </a:rPr>
              <a:t> designing efficient programs.</a:t>
            </a:r>
          </a:p>
          <a:p>
            <a:r>
              <a:rPr lang="en-US" sz="2400" b="1" dirty="0" smtClean="0">
                <a:latin typeface="Times New Roman" pitchFamily="18" charset="0"/>
                <a:cs typeface="Times New Roman" pitchFamily="18" charset="0"/>
              </a:rPr>
              <a:t> Introduction to C</a:t>
            </a:r>
          </a:p>
          <a:p>
            <a:r>
              <a:rPr lang="en-US" sz="2400" b="1" dirty="0" smtClean="0">
                <a:latin typeface="Times New Roman" pitchFamily="18" charset="0"/>
                <a:cs typeface="Times New Roman" pitchFamily="18" charset="0"/>
              </a:rPr>
              <a:t> Structure of C program</a:t>
            </a:r>
          </a:p>
          <a:p>
            <a:r>
              <a:rPr lang="en-US" sz="2400" b="1" dirty="0" smtClean="0">
                <a:latin typeface="Times New Roman" pitchFamily="18" charset="0"/>
                <a:cs typeface="Times New Roman" pitchFamily="18" charset="0"/>
              </a:rPr>
              <a:t> Files used in a C program, </a:t>
            </a:r>
          </a:p>
          <a:p>
            <a:r>
              <a:rPr lang="en-US" sz="2400" b="1" dirty="0" smtClean="0">
                <a:latin typeface="Times New Roman" pitchFamily="18" charset="0"/>
                <a:cs typeface="Times New Roman" pitchFamily="18" charset="0"/>
              </a:rPr>
              <a:t>Compilers, </a:t>
            </a:r>
          </a:p>
          <a:p>
            <a:r>
              <a:rPr lang="en-US" sz="2400" b="1" dirty="0" smtClean="0">
                <a:latin typeface="Times New Roman" pitchFamily="18" charset="0"/>
                <a:cs typeface="Times New Roman" pitchFamily="18" charset="0"/>
              </a:rPr>
              <a:t>Compiling and executing C programs,</a:t>
            </a:r>
          </a:p>
          <a:p>
            <a:r>
              <a:rPr lang="en-US" sz="2400" b="1" dirty="0" smtClean="0">
                <a:latin typeface="Times New Roman" pitchFamily="18" charset="0"/>
                <a:cs typeface="Times New Roman" pitchFamily="18" charset="0"/>
              </a:rPr>
              <a:t> variables,</a:t>
            </a:r>
          </a:p>
          <a:p>
            <a:r>
              <a:rPr lang="en-US" sz="2400" b="1" dirty="0" smtClean="0">
                <a:latin typeface="Times New Roman" pitchFamily="18" charset="0"/>
                <a:cs typeface="Times New Roman" pitchFamily="18" charset="0"/>
              </a:rPr>
              <a:t> constants, </a:t>
            </a:r>
          </a:p>
          <a:p>
            <a:r>
              <a:rPr lang="en-US" sz="2400" b="1" dirty="0" smtClean="0">
                <a:latin typeface="Times New Roman" pitchFamily="18" charset="0"/>
                <a:cs typeface="Times New Roman" pitchFamily="18" charset="0"/>
              </a:rPr>
              <a:t>Input/output statements in C</a:t>
            </a:r>
            <a:endParaRPr lang="en-US" sz="2400" b="1" dirty="0">
              <a:latin typeface="Times New Roman" pitchFamily="18" charset="0"/>
              <a:cs typeface="Times New Roman" pitchFamily="18" charset="0"/>
            </a:endParaRPr>
          </a:p>
        </p:txBody>
      </p:sp>
      <p:sp>
        <p:nvSpPr>
          <p:cNvPr id="2" name="Title 1"/>
          <p:cNvSpPr>
            <a:spLocks noGrp="1"/>
          </p:cNvSpPr>
          <p:nvPr>
            <p:ph type="title"/>
          </p:nvPr>
        </p:nvSpPr>
        <p:spPr/>
        <p:txBody>
          <a:bodyPr/>
          <a:lstStyle/>
          <a:p>
            <a:pPr algn="l"/>
            <a:r>
              <a:rPr lang="en-US" b="1" dirty="0" smtClean="0">
                <a:latin typeface="Times New Roman" pitchFamily="18" charset="0"/>
                <a:cs typeface="Times New Roman" pitchFamily="18" charset="0"/>
              </a:rPr>
              <a:t>Content</a:t>
            </a:r>
            <a:endParaRPr lang="en-US" b="1"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b="1" u="sng" dirty="0" smtClean="0">
                <a:latin typeface="Times New Roman" pitchFamily="18" charset="0"/>
                <a:cs typeface="Times New Roman" pitchFamily="18" charset="0"/>
              </a:rPr>
              <a:t>BASIC ORGANIZATION OF A COMPUTER</a:t>
            </a:r>
          </a:p>
          <a:p>
            <a:r>
              <a:rPr lang="en-US" sz="2400" dirty="0" smtClean="0">
                <a:latin typeface="Times New Roman" pitchFamily="18" charset="0"/>
                <a:cs typeface="Times New Roman" pitchFamily="18" charset="0"/>
              </a:rPr>
              <a:t>A computer is an electronic device that performs five major operations: </a:t>
            </a:r>
          </a:p>
          <a:p>
            <a:pPr lvl="1"/>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Accepting data or instructions (input) </a:t>
            </a:r>
          </a:p>
          <a:p>
            <a:pPr lvl="1"/>
            <a:r>
              <a:rPr lang="en-US" sz="2400" b="1" dirty="0" smtClean="0">
                <a:latin typeface="Times New Roman" pitchFamily="18" charset="0"/>
                <a:cs typeface="Times New Roman" pitchFamily="18" charset="0"/>
              </a:rPr>
              <a:t>Storing data </a:t>
            </a:r>
          </a:p>
          <a:p>
            <a:pPr lvl="1"/>
            <a:r>
              <a:rPr lang="en-US" sz="2400" b="1" dirty="0" smtClean="0">
                <a:latin typeface="Times New Roman" pitchFamily="18" charset="0"/>
                <a:cs typeface="Times New Roman" pitchFamily="18" charset="0"/>
              </a:rPr>
              <a:t>Processing data</a:t>
            </a:r>
          </a:p>
          <a:p>
            <a:pPr lvl="1"/>
            <a:r>
              <a:rPr lang="en-US" sz="2400" b="1" dirty="0" smtClean="0">
                <a:latin typeface="Times New Roman" pitchFamily="18" charset="0"/>
                <a:cs typeface="Times New Roman" pitchFamily="18" charset="0"/>
              </a:rPr>
              <a:t> Displaying results (output) </a:t>
            </a:r>
          </a:p>
          <a:p>
            <a:pPr lvl="1"/>
            <a:r>
              <a:rPr lang="en-US" sz="2400" b="1" dirty="0" smtClean="0">
                <a:latin typeface="Times New Roman" pitchFamily="18" charset="0"/>
                <a:cs typeface="Times New Roman" pitchFamily="18" charset="0"/>
              </a:rPr>
              <a:t>Controlling and coordinating all operations inside a computer</a:t>
            </a:r>
            <a:r>
              <a:rPr lang="en-US" sz="2400" b="1" u="sng" dirty="0" smtClean="0">
                <a:latin typeface="Times New Roman" pitchFamily="18" charset="0"/>
                <a:cs typeface="Times New Roman" pitchFamily="18" charset="0"/>
              </a:rPr>
              <a:t> </a:t>
            </a:r>
            <a:endParaRPr lang="en-US" sz="2400" b="1" u="sng" dirty="0">
              <a:latin typeface="Times New Roman" pitchFamily="18" charset="0"/>
              <a:cs typeface="Times New Roman" pitchFamily="18" charset="0"/>
            </a:endParaRPr>
          </a:p>
        </p:txBody>
      </p:sp>
      <p:sp>
        <p:nvSpPr>
          <p:cNvPr id="2" name="Title 1"/>
          <p:cNvSpPr>
            <a:spLocks noGrp="1"/>
          </p:cNvSpPr>
          <p:nvPr>
            <p:ph type="title"/>
          </p:nvPr>
        </p:nvSpPr>
        <p:spPr/>
        <p:txBody>
          <a:bodyPr>
            <a:normAutofit fontScale="90000"/>
          </a:bodyPr>
          <a:lstStyle/>
          <a:p>
            <a:pPr algn="l"/>
            <a:r>
              <a:rPr lang="en-US" b="1" dirty="0" smtClean="0">
                <a:latin typeface="Times New Roman" pitchFamily="18" charset="0"/>
                <a:cs typeface="Times New Roman" pitchFamily="18" charset="0"/>
              </a:rPr>
              <a:t>Introduction to computers</a:t>
            </a:r>
            <a:br>
              <a:rPr lang="en-US" b="1" dirty="0" smtClean="0">
                <a:latin typeface="Times New Roman" pitchFamily="18" charset="0"/>
                <a:cs typeface="Times New Roman" pitchFamily="18" charset="0"/>
              </a:rPr>
            </a:b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Figure shows the interaction between the different units of a computer system.</a:t>
            </a:r>
            <a:endParaRPr lang="en-US" sz="2400" dirty="0">
              <a:latin typeface="Times New Roman" pitchFamily="18" charset="0"/>
              <a:cs typeface="Times New Roman" pitchFamily="18" charset="0"/>
            </a:endParaRPr>
          </a:p>
        </p:txBody>
      </p:sp>
      <p:sp>
        <p:nvSpPr>
          <p:cNvPr id="2" name="Title 1"/>
          <p:cNvSpPr>
            <a:spLocks noGrp="1"/>
          </p:cNvSpPr>
          <p:nvPr>
            <p:ph type="title"/>
          </p:nvPr>
        </p:nvSpPr>
        <p:spPr/>
        <p:txBody>
          <a:bodyPr>
            <a:noAutofit/>
          </a:bodyPr>
          <a:lstStyle/>
          <a:p>
            <a:pPr algn="l"/>
            <a:r>
              <a:rPr lang="en-US" sz="2800" b="1" u="sng" dirty="0" smtClean="0">
                <a:latin typeface="Times New Roman" pitchFamily="18" charset="0"/>
                <a:cs typeface="Times New Roman" pitchFamily="18" charset="0"/>
              </a:rPr>
              <a:t>BASIC ORGANIZATION OF A COMPUTER</a:t>
            </a:r>
            <a:br>
              <a:rPr lang="en-US" sz="2800" b="1" u="sng" dirty="0" smtClean="0">
                <a:latin typeface="Times New Roman" pitchFamily="18" charset="0"/>
                <a:cs typeface="Times New Roman" pitchFamily="18" charset="0"/>
              </a:rPr>
            </a:br>
            <a:endParaRPr lang="en-US" sz="2800" dirty="0"/>
          </a:p>
        </p:txBody>
      </p:sp>
      <p:pic>
        <p:nvPicPr>
          <p:cNvPr id="1026" name="Picture 2"/>
          <p:cNvPicPr>
            <a:picLocks noChangeAspect="1" noChangeArrowheads="1"/>
          </p:cNvPicPr>
          <p:nvPr/>
        </p:nvPicPr>
        <p:blipFill>
          <a:blip r:embed="rId2"/>
          <a:srcRect/>
          <a:stretch>
            <a:fillRect/>
          </a:stretch>
        </p:blipFill>
        <p:spPr bwMode="auto">
          <a:xfrm>
            <a:off x="685800" y="2819400"/>
            <a:ext cx="7696200" cy="314325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400" b="1" dirty="0" smtClean="0">
                <a:latin typeface="Times New Roman" pitchFamily="18" charset="0"/>
                <a:cs typeface="Times New Roman" pitchFamily="18" charset="0"/>
              </a:rPr>
              <a:t>1.Input:</a:t>
            </a:r>
            <a:r>
              <a:rPr lang="en-US" sz="2400" dirty="0" smtClean="0">
                <a:latin typeface="Times New Roman" pitchFamily="18" charset="0"/>
                <a:cs typeface="Times New Roman" pitchFamily="18" charset="0"/>
              </a:rPr>
              <a:t>This is the process of entering data and instructions (also known as programs ) into the computer system.</a:t>
            </a:r>
          </a:p>
          <a:p>
            <a:r>
              <a:rPr lang="en-US" sz="2400" dirty="0" smtClean="0">
                <a:latin typeface="Times New Roman" pitchFamily="18" charset="0"/>
                <a:cs typeface="Times New Roman" pitchFamily="18" charset="0"/>
              </a:rPr>
              <a:t>Data and instructions can be entered by using different input devices such as keyboard, mouse, scanner, and trackball.</a:t>
            </a:r>
          </a:p>
          <a:p>
            <a:r>
              <a:rPr lang="en-US" sz="2400" dirty="0" smtClean="0">
                <a:latin typeface="Times New Roman" pitchFamily="18" charset="0"/>
                <a:cs typeface="Times New Roman" pitchFamily="18" charset="0"/>
              </a:rPr>
              <a:t>Note that computers understand binary language, which consists of only two symbols (0 and 1), so it is the responsibility of the input devices to convert the input data into binary codes.</a:t>
            </a:r>
          </a:p>
          <a:p>
            <a:pPr>
              <a:buNone/>
            </a:pPr>
            <a:endParaRPr lang="en-US" sz="2400" dirty="0">
              <a:latin typeface="Times New Roman" pitchFamily="18" charset="0"/>
              <a:cs typeface="Times New Roman" pitchFamily="18" charset="0"/>
            </a:endParaRPr>
          </a:p>
        </p:txBody>
      </p:sp>
      <p:sp>
        <p:nvSpPr>
          <p:cNvPr id="3" name="Title 2"/>
          <p:cNvSpPr>
            <a:spLocks noGrp="1"/>
          </p:cNvSpPr>
          <p:nvPr>
            <p:ph type="title"/>
          </p:nvPr>
        </p:nvSpPr>
        <p:spPr/>
        <p:txBody>
          <a:bodyPr>
            <a:normAutofit/>
          </a:bodyPr>
          <a:lstStyle/>
          <a:p>
            <a:r>
              <a:rPr lang="en-US" sz="2800" u="sng" dirty="0" smtClean="0">
                <a:latin typeface="Times New Roman" pitchFamily="18" charset="0"/>
                <a:cs typeface="Times New Roman" pitchFamily="18" charset="0"/>
              </a:rPr>
              <a:t>BASIC ORGANIZATION OF A COMPUTER</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400" b="1" u="sng" dirty="0" smtClean="0">
                <a:latin typeface="Times New Roman" pitchFamily="18" charset="0"/>
                <a:cs typeface="Times New Roman" pitchFamily="18" charset="0"/>
              </a:rPr>
              <a:t>2.Storage</a:t>
            </a:r>
            <a:r>
              <a:rPr lang="en-US" sz="2400" dirty="0" smtClean="0">
                <a:latin typeface="Times New Roman" pitchFamily="18" charset="0"/>
                <a:cs typeface="Times New Roman" pitchFamily="18" charset="0"/>
              </a:rPr>
              <a:t> Storage is the process of saving data and instructions permanently in the computer so that they can be used for processing. The computer storage space not only stores the data and programs that operate on that data but also stores the intermediate results and the final results of processing.</a:t>
            </a:r>
          </a:p>
          <a:p>
            <a:r>
              <a:rPr lang="en-US" sz="2400" dirty="0" smtClean="0">
                <a:latin typeface="Times New Roman" pitchFamily="18" charset="0"/>
                <a:cs typeface="Times New Roman" pitchFamily="18" charset="0"/>
              </a:rPr>
              <a:t>Storage </a:t>
            </a:r>
            <a:r>
              <a:rPr lang="en-US" sz="2400" dirty="0" smtClean="0">
                <a:latin typeface="Times New Roman" pitchFamily="18" charset="0"/>
                <a:cs typeface="Times New Roman" pitchFamily="18" charset="0"/>
                <a:sym typeface="Wingdings" pitchFamily="2" charset="2"/>
              </a:rPr>
              <a:t></a:t>
            </a:r>
            <a:r>
              <a:rPr lang="en-US" sz="2400" b="1" dirty="0" smtClean="0">
                <a:latin typeface="Times New Roman" pitchFamily="18" charset="0"/>
                <a:cs typeface="Times New Roman" pitchFamily="18" charset="0"/>
                <a:sym typeface="Wingdings" pitchFamily="2" charset="2"/>
              </a:rPr>
              <a:t>Primary storage</a:t>
            </a:r>
          </a:p>
          <a:p>
            <a:pPr lvl="4">
              <a:buNone/>
            </a:pPr>
            <a:r>
              <a:rPr lang="en-US" sz="2400" b="1" dirty="0" smtClean="0">
                <a:latin typeface="Times New Roman" pitchFamily="18" charset="0"/>
                <a:cs typeface="Times New Roman" pitchFamily="18" charset="0"/>
                <a:sym typeface="Wingdings" pitchFamily="2" charset="2"/>
              </a:rPr>
              <a:t>	Secondary storage</a:t>
            </a:r>
          </a:p>
          <a:p>
            <a:r>
              <a:rPr lang="en-US" sz="2400" dirty="0" smtClean="0">
                <a:latin typeface="Times New Roman" pitchFamily="18" charset="0"/>
                <a:cs typeface="Times New Roman" pitchFamily="18" charset="0"/>
              </a:rPr>
              <a:t>Primary storage, also known as the main memory , is the storage area that is directly accessible by the CPU at very high speeds.</a:t>
            </a:r>
          </a:p>
          <a:p>
            <a:endParaRPr lang="en-US" sz="2400" dirty="0" smtClean="0">
              <a:latin typeface="Times New Roman" pitchFamily="18" charset="0"/>
              <a:cs typeface="Times New Roman" pitchFamily="18" charset="0"/>
            </a:endParaRPr>
          </a:p>
          <a:p>
            <a:pPr lvl="4">
              <a:buNone/>
            </a:pPr>
            <a:endParaRPr lang="en-US" sz="2400" b="1" dirty="0" smtClean="0">
              <a:latin typeface="Times New Roman" pitchFamily="18" charset="0"/>
              <a:cs typeface="Times New Roman" pitchFamily="18" charset="0"/>
              <a:sym typeface="Wingdings" pitchFamily="2" charset="2"/>
            </a:endParaRPr>
          </a:p>
        </p:txBody>
      </p:sp>
      <p:sp>
        <p:nvSpPr>
          <p:cNvPr id="3" name="Title 2"/>
          <p:cNvSpPr>
            <a:spLocks noGrp="1"/>
          </p:cNvSpPr>
          <p:nvPr>
            <p:ph type="title"/>
          </p:nvPr>
        </p:nvSpPr>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sz="2400" b="1" dirty="0" smtClean="0">
                <a:latin typeface="Times New Roman" pitchFamily="18" charset="0"/>
                <a:cs typeface="Times New Roman" pitchFamily="18" charset="0"/>
              </a:rPr>
              <a:t>Secondary storage </a:t>
            </a:r>
            <a:r>
              <a:rPr lang="en-US" sz="2400" dirty="0" smtClean="0">
                <a:latin typeface="Times New Roman" pitchFamily="18" charset="0"/>
                <a:cs typeface="Times New Roman" pitchFamily="18" charset="0"/>
              </a:rPr>
              <a:t>Also known as auxiliary memory, this memory is just the opposite of primary memory. It overcomes all the drawbacks of the primary storage area. It is cheaper, non-volatile, and used to permanently store data and programs of those jobs that are not being currently executed by the CPU.</a:t>
            </a:r>
          </a:p>
          <a:p>
            <a:r>
              <a:rPr lang="en-US" sz="2400" b="1" u="sng" dirty="0" smtClean="0">
                <a:latin typeface="Times New Roman" pitchFamily="18" charset="0"/>
                <a:cs typeface="Times New Roman" pitchFamily="18" charset="0"/>
              </a:rPr>
              <a:t>3.Output</a:t>
            </a:r>
            <a:r>
              <a:rPr lang="en-US" sz="2400" dirty="0" smtClean="0">
                <a:latin typeface="Times New Roman" pitchFamily="18" charset="0"/>
                <a:cs typeface="Times New Roman" pitchFamily="18" charset="0"/>
              </a:rPr>
              <a:t> Output is the process of giving the result of data processing to the outside world (external to the computer system). The results are given through output devices such as monitor, and printer.</a:t>
            </a:r>
          </a:p>
          <a:p>
            <a:r>
              <a:rPr lang="en-US" sz="2400" b="1" u="sng" dirty="0" smtClean="0">
                <a:latin typeface="Times New Roman" pitchFamily="18" charset="0"/>
                <a:cs typeface="Times New Roman" pitchFamily="18" charset="0"/>
              </a:rPr>
              <a:t>4. Control </a:t>
            </a:r>
            <a:r>
              <a:rPr lang="en-US" sz="2400" dirty="0" smtClean="0">
                <a:latin typeface="Times New Roman" pitchFamily="18" charset="0"/>
                <a:cs typeface="Times New Roman" pitchFamily="18" charset="0"/>
              </a:rPr>
              <a:t>The control unit (CU) is the central nervous system of the entire computer system. It manages and controls all the components of the computer system. </a:t>
            </a:r>
          </a:p>
          <a:p>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
        <p:nvSpPr>
          <p:cNvPr id="3" name="Title 2"/>
          <p:cNvSpPr>
            <a:spLocks noGrp="1"/>
          </p:cNvSpPr>
          <p:nvPr>
            <p:ph type="title"/>
          </p:nvPr>
        </p:nvSpPr>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sz="2400" b="1" dirty="0" smtClean="0">
                <a:latin typeface="Times New Roman" pitchFamily="18" charset="0"/>
                <a:cs typeface="Times New Roman" pitchFamily="18" charset="0"/>
              </a:rPr>
              <a:t>5.Processing</a:t>
            </a:r>
            <a:r>
              <a:rPr lang="en-US" sz="2400" dirty="0" smtClean="0">
                <a:latin typeface="Times New Roman" pitchFamily="18" charset="0"/>
                <a:cs typeface="Times New Roman" pitchFamily="18" charset="0"/>
              </a:rPr>
              <a:t> </a:t>
            </a:r>
          </a:p>
          <a:p>
            <a:r>
              <a:rPr lang="en-US" sz="2400" dirty="0" smtClean="0">
                <a:latin typeface="Times New Roman" pitchFamily="18" charset="0"/>
                <a:cs typeface="Times New Roman" pitchFamily="18" charset="0"/>
              </a:rPr>
              <a:t>The process of performing operations on the data as per the instructions specified by the user (program) is called processing . </a:t>
            </a:r>
          </a:p>
          <a:p>
            <a:r>
              <a:rPr lang="en-US" sz="2400" dirty="0" smtClean="0">
                <a:latin typeface="Times New Roman" pitchFamily="18" charset="0"/>
                <a:cs typeface="Times New Roman" pitchFamily="18" charset="0"/>
              </a:rPr>
              <a:t>Data and instructions are taken from the primary memory and transferred to the ALU, which performs all sorts of calculations. </a:t>
            </a:r>
          </a:p>
          <a:p>
            <a:r>
              <a:rPr lang="en-US" sz="2400" dirty="0" smtClean="0">
                <a:latin typeface="Times New Roman" pitchFamily="18" charset="0"/>
                <a:cs typeface="Times New Roman" pitchFamily="18" charset="0"/>
              </a:rPr>
              <a:t>The intermediate results of processing may be stored in the main memory, as they might be required again. </a:t>
            </a:r>
          </a:p>
          <a:p>
            <a:r>
              <a:rPr lang="en-US" sz="2400" dirty="0" smtClean="0">
                <a:latin typeface="Times New Roman" pitchFamily="18" charset="0"/>
                <a:cs typeface="Times New Roman" pitchFamily="18" charset="0"/>
              </a:rPr>
              <a:t>When the processing completes, the final result is then transferred to the main memory. Hence, the data may move from main memory to the ALU multiple times before the processing is over. </a:t>
            </a:r>
            <a:endParaRPr lang="en-US" sz="2400" dirty="0">
              <a:latin typeface="Times New Roman" pitchFamily="18" charset="0"/>
              <a:cs typeface="Times New Roman" pitchFamily="18" charset="0"/>
            </a:endParaRPr>
          </a:p>
        </p:txBody>
      </p:sp>
      <p:sp>
        <p:nvSpPr>
          <p:cNvPr id="3" name="Title 2"/>
          <p:cNvSpPr>
            <a:spLocks noGrp="1"/>
          </p:cNvSpPr>
          <p:nvPr>
            <p:ph type="title"/>
          </p:nvPr>
        </p:nvSpPr>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sz="2400" b="1" dirty="0" smtClean="0">
                <a:latin typeface="Times New Roman" pitchFamily="18" charset="0"/>
                <a:cs typeface="Times New Roman" pitchFamily="18" charset="0"/>
              </a:rPr>
              <a:t>2.1.Input Devices </a:t>
            </a:r>
          </a:p>
          <a:p>
            <a:pPr>
              <a:buNone/>
            </a:pPr>
            <a:r>
              <a:rPr lang="en-US" sz="2400" dirty="0" smtClean="0">
                <a:latin typeface="Times New Roman" pitchFamily="18" charset="0"/>
                <a:cs typeface="Times New Roman" pitchFamily="18" charset="0"/>
              </a:rPr>
              <a:t>	1.Keyboard </a:t>
            </a:r>
          </a:p>
          <a:p>
            <a:pPr>
              <a:buNone/>
            </a:pPr>
            <a:r>
              <a:rPr lang="en-US" sz="2400" dirty="0" smtClean="0">
                <a:latin typeface="Times New Roman" pitchFamily="18" charset="0"/>
                <a:cs typeface="Times New Roman" pitchFamily="18" charset="0"/>
              </a:rPr>
              <a:t>	2.Pointing Devices </a:t>
            </a:r>
          </a:p>
          <a:p>
            <a:pPr>
              <a:buNone/>
            </a:pPr>
            <a:r>
              <a:rPr lang="en-US" sz="2400" dirty="0" smtClean="0">
                <a:latin typeface="Times New Roman" pitchFamily="18" charset="0"/>
                <a:cs typeface="Times New Roman" pitchFamily="18" charset="0"/>
              </a:rPr>
              <a:t>	3.Handheld Devices </a:t>
            </a:r>
          </a:p>
          <a:p>
            <a:pPr>
              <a:buNone/>
            </a:pPr>
            <a:r>
              <a:rPr lang="en-US" sz="2400" dirty="0" smtClean="0">
                <a:latin typeface="Times New Roman" pitchFamily="18" charset="0"/>
                <a:cs typeface="Times New Roman" pitchFamily="18" charset="0"/>
              </a:rPr>
              <a:t>	4.Optical Devices </a:t>
            </a:r>
          </a:p>
          <a:p>
            <a:pPr>
              <a:buNone/>
            </a:pPr>
            <a:r>
              <a:rPr lang="en-US" sz="2400" dirty="0" smtClean="0">
                <a:latin typeface="Times New Roman" pitchFamily="18" charset="0"/>
                <a:cs typeface="Times New Roman" pitchFamily="18" charset="0"/>
              </a:rPr>
              <a:t>	5.Audiovisual Input Devices </a:t>
            </a:r>
          </a:p>
          <a:p>
            <a:pPr>
              <a:buNone/>
            </a:pPr>
            <a:r>
              <a:rPr lang="en-US" sz="2400" b="1" dirty="0" smtClean="0">
                <a:latin typeface="Times New Roman" pitchFamily="18" charset="0"/>
                <a:cs typeface="Times New Roman" pitchFamily="18" charset="0"/>
              </a:rPr>
              <a:t>2.2.Output Devices </a:t>
            </a:r>
          </a:p>
          <a:p>
            <a:pPr>
              <a:buNone/>
            </a:pPr>
            <a:r>
              <a:rPr lang="en-US" sz="2400" dirty="0" smtClean="0">
                <a:latin typeface="Times New Roman" pitchFamily="18" charset="0"/>
                <a:cs typeface="Times New Roman" pitchFamily="18" charset="0"/>
              </a:rPr>
              <a:t>	1.Soft Copy Devices </a:t>
            </a:r>
          </a:p>
          <a:p>
            <a:pPr>
              <a:buNone/>
            </a:pPr>
            <a:r>
              <a:rPr lang="en-US" sz="2400" dirty="0" smtClean="0">
                <a:latin typeface="Times New Roman" pitchFamily="18" charset="0"/>
                <a:cs typeface="Times New Roman" pitchFamily="18" charset="0"/>
              </a:rPr>
              <a:t>	2.Hard Copy Devices</a:t>
            </a:r>
            <a:endParaRPr lang="en-US" sz="2400" dirty="0">
              <a:latin typeface="Times New Roman" pitchFamily="18" charset="0"/>
              <a:cs typeface="Times New Roman" pitchFamily="18" charset="0"/>
            </a:endParaRPr>
          </a:p>
        </p:txBody>
      </p:sp>
      <p:sp>
        <p:nvSpPr>
          <p:cNvPr id="2" name="Title 1"/>
          <p:cNvSpPr>
            <a:spLocks noGrp="1"/>
          </p:cNvSpPr>
          <p:nvPr>
            <p:ph type="title"/>
          </p:nvPr>
        </p:nvSpPr>
        <p:spPr/>
        <p:txBody>
          <a:bodyPr>
            <a:normAutofit fontScale="90000"/>
          </a:bodyPr>
          <a:lstStyle/>
          <a:p>
            <a:pPr algn="l"/>
            <a:r>
              <a:rPr lang="en-US" b="1" dirty="0" smtClean="0">
                <a:latin typeface="Times New Roman" pitchFamily="18" charset="0"/>
                <a:cs typeface="Times New Roman" pitchFamily="18" charset="0"/>
              </a:rPr>
              <a:t> 2.Input and output devices</a:t>
            </a:r>
            <a:br>
              <a:rPr lang="en-US" b="1" dirty="0" smtClean="0">
                <a:latin typeface="Times New Roman" pitchFamily="18" charset="0"/>
                <a:cs typeface="Times New Roman" pitchFamily="18" charset="0"/>
              </a:rPr>
            </a:b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Keyboard</a:t>
            </a:r>
          </a:p>
          <a:p>
            <a:r>
              <a:rPr lang="en-US" dirty="0" smtClean="0"/>
              <a:t>Pointing Devices</a:t>
            </a:r>
          </a:p>
          <a:p>
            <a:r>
              <a:rPr lang="en-US" dirty="0" smtClean="0"/>
              <a:t>Handheld devices</a:t>
            </a:r>
          </a:p>
          <a:p>
            <a:r>
              <a:rPr lang="en-US" dirty="0" smtClean="0"/>
              <a:t>Optical devices</a:t>
            </a:r>
          </a:p>
          <a:p>
            <a:r>
              <a:rPr lang="en-US" dirty="0" smtClean="0"/>
              <a:t>Audiovisual input devices</a:t>
            </a:r>
            <a:endParaRPr lang="en-US" dirty="0"/>
          </a:p>
        </p:txBody>
      </p:sp>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2.1 Input devices</a:t>
            </a:r>
            <a:endParaRPr lang="en-US"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Font typeface="Arial" panose="020B0604020202020204" pitchFamily="34" charset="0"/>
              <a:buChar char="•"/>
            </a:pPr>
            <a:r>
              <a:rPr lang="en-US" sz="2400" b="1" u="sng" dirty="0" smtClean="0">
                <a:latin typeface="Times New Roman" panose="02020603050405020304" pitchFamily="18" charset="0"/>
                <a:cs typeface="Times New Roman" panose="02020603050405020304" pitchFamily="18" charset="0"/>
              </a:rPr>
              <a:t>1:Keyboard:</a:t>
            </a:r>
            <a:r>
              <a:rPr lang="en-US" sz="2400" dirty="0" smtClean="0">
                <a:latin typeface="Times New Roman" panose="02020603050405020304" pitchFamily="18" charset="0"/>
                <a:cs typeface="Times New Roman" panose="02020603050405020304" pitchFamily="18" charset="0"/>
              </a:rPr>
              <a:t>The keyboard is the main input device for computers</a:t>
            </a:r>
          </a:p>
          <a:p>
            <a:pPr>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Using a keyboard, the user can type a document, use keystroke shortcuts, play games and perform numerous other tasks.</a:t>
            </a:r>
          </a:p>
          <a:p>
            <a:pPr>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Most keyboards have 80 and 110 keys which include the following</a:t>
            </a:r>
          </a:p>
          <a:p>
            <a:pPr marL="566928" indent="-457200">
              <a:buFont typeface="+mj-lt"/>
              <a:buAutoNum type="arabicParenR"/>
            </a:pPr>
            <a:r>
              <a:rPr lang="en-US" sz="2400" dirty="0" smtClean="0">
                <a:latin typeface="Times New Roman" panose="02020603050405020304" pitchFamily="18" charset="0"/>
                <a:cs typeface="Times New Roman" panose="02020603050405020304" pitchFamily="18" charset="0"/>
              </a:rPr>
              <a:t>Typing keys</a:t>
            </a:r>
          </a:p>
          <a:p>
            <a:pPr marL="566928" indent="-457200">
              <a:buFont typeface="+mj-lt"/>
              <a:buAutoNum type="arabicParenR"/>
            </a:pPr>
            <a:r>
              <a:rPr lang="en-US" sz="2400" dirty="0" smtClean="0">
                <a:latin typeface="Times New Roman" panose="02020603050405020304" pitchFamily="18" charset="0"/>
                <a:cs typeface="Times New Roman" panose="02020603050405020304" pitchFamily="18" charset="0"/>
              </a:rPr>
              <a:t>Numeric keys</a:t>
            </a:r>
          </a:p>
          <a:p>
            <a:pPr marL="566928" indent="-457200">
              <a:buFont typeface="+mj-lt"/>
              <a:buAutoNum type="arabicParenR"/>
            </a:pPr>
            <a:r>
              <a:rPr lang="en-US" sz="2400" dirty="0" smtClean="0">
                <a:latin typeface="Times New Roman" panose="02020603050405020304" pitchFamily="18" charset="0"/>
                <a:cs typeface="Times New Roman" panose="02020603050405020304" pitchFamily="18" charset="0"/>
              </a:rPr>
              <a:t>Function keys</a:t>
            </a:r>
          </a:p>
          <a:p>
            <a:pPr marL="566928" indent="-457200">
              <a:buFont typeface="+mj-lt"/>
              <a:buAutoNum type="arabicParenR"/>
            </a:pPr>
            <a:r>
              <a:rPr lang="en-US" sz="2400" dirty="0" smtClean="0">
                <a:latin typeface="Times New Roman" panose="02020603050405020304" pitchFamily="18" charset="0"/>
                <a:cs typeface="Times New Roman" panose="02020603050405020304" pitchFamily="18" charset="0"/>
              </a:rPr>
              <a:t>Control keys </a:t>
            </a:r>
            <a:endParaRPr lang="en-US"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lang="en-US" dirty="0">
                <a:latin typeface="Times New Roman" pitchFamily="18" charset="0"/>
                <a:cs typeface="Times New Roman" pitchFamily="18" charset="0"/>
              </a:rPr>
              <a:t>2.1 Input devices</a:t>
            </a:r>
            <a:endParaRPr lang="en-US" dirty="0"/>
          </a:p>
        </p:txBody>
      </p:sp>
    </p:spTree>
    <p:extLst>
      <p:ext uri="{BB962C8B-B14F-4D97-AF65-F5344CB8AC3E}">
        <p14:creationId xmlns:p14="http://schemas.microsoft.com/office/powerpoint/2010/main" val="414554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Times New Roman" pitchFamily="18" charset="0"/>
                <a:cs typeface="Times New Roman" pitchFamily="18" charset="0"/>
              </a:rPr>
              <a:t>2.1 Input devices</a:t>
            </a:r>
            <a:endParaRPr lang="en-US" dirty="0"/>
          </a:p>
        </p:txBody>
      </p:sp>
      <p:pic>
        <p:nvPicPr>
          <p:cNvPr id="4" name="Content Placeholder 3"/>
          <p:cNvPicPr>
            <a:picLocks noGrp="1" noChangeAspect="1"/>
          </p:cNvPicPr>
          <p:nvPr>
            <p:ph idx="1"/>
          </p:nvPr>
        </p:nvPicPr>
        <p:blipFill>
          <a:blip r:embed="rId2"/>
          <a:stretch>
            <a:fillRect/>
          </a:stretch>
        </p:blipFill>
        <p:spPr>
          <a:xfrm>
            <a:off x="457200" y="1981200"/>
            <a:ext cx="7924800" cy="3352799"/>
          </a:xfrm>
          <a:prstGeom prst="rect">
            <a:avLst/>
          </a:prstGeom>
        </p:spPr>
      </p:pic>
    </p:spTree>
    <p:extLst>
      <p:ext uri="{BB962C8B-B14F-4D97-AF65-F5344CB8AC3E}">
        <p14:creationId xmlns:p14="http://schemas.microsoft.com/office/powerpoint/2010/main" val="2612151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US" sz="2400" b="1" u="sng" dirty="0" smtClean="0">
                <a:latin typeface="Times New Roman" panose="02020603050405020304" pitchFamily="18" charset="0"/>
                <a:cs typeface="Times New Roman" panose="02020603050405020304" pitchFamily="18" charset="0"/>
              </a:rPr>
              <a:t>2:Pointing Devices</a:t>
            </a:r>
            <a:r>
              <a:rPr lang="en-US" sz="2400" dirty="0" smtClean="0">
                <a:latin typeface="Times New Roman" panose="02020603050405020304" pitchFamily="18" charset="0"/>
                <a:cs typeface="Times New Roman" panose="02020603050405020304" pitchFamily="18" charset="0"/>
              </a:rPr>
              <a:t>: Example- </a:t>
            </a:r>
            <a:r>
              <a:rPr lang="en-US" sz="2400" dirty="0" err="1" smtClean="0">
                <a:latin typeface="Times New Roman" panose="02020603050405020304" pitchFamily="18" charset="0"/>
                <a:cs typeface="Times New Roman" panose="02020603050405020304" pitchFamily="18" charset="0"/>
              </a:rPr>
              <a:t>Mouse,Trackball,Touchpad</a:t>
            </a:r>
            <a:endParaRPr lang="en-US" sz="2400" dirty="0" smtClean="0">
              <a:latin typeface="Times New Roman" panose="02020603050405020304" pitchFamily="18" charset="0"/>
              <a:cs typeface="Times New Roman" panose="02020603050405020304" pitchFamily="18" charset="0"/>
            </a:endParaRPr>
          </a:p>
          <a:p>
            <a:pPr marL="109728" indent="0">
              <a:buNone/>
            </a:pPr>
            <a:r>
              <a:rPr lang="en-US" sz="2400" b="1" u="sng" dirty="0" smtClean="0">
                <a:latin typeface="Times New Roman" panose="02020603050405020304" pitchFamily="18" charset="0"/>
                <a:cs typeface="Times New Roman" panose="02020603050405020304" pitchFamily="18" charset="0"/>
              </a:rPr>
              <a:t>Mouse:</a:t>
            </a:r>
          </a:p>
          <a:p>
            <a:r>
              <a:rPr lang="en-US" sz="2400" dirty="0" smtClean="0">
                <a:latin typeface="Times New Roman" panose="02020603050405020304" pitchFamily="18" charset="0"/>
                <a:cs typeface="Times New Roman" panose="02020603050405020304" pitchFamily="18" charset="0"/>
              </a:rPr>
              <a:t>The mouse is an input device that was invented in 1963.</a:t>
            </a:r>
          </a:p>
          <a:p>
            <a:r>
              <a:rPr lang="en-US" sz="2400" dirty="0" smtClean="0">
                <a:latin typeface="Times New Roman" panose="02020603050405020304" pitchFamily="18" charset="0"/>
                <a:cs typeface="Times New Roman" panose="02020603050405020304" pitchFamily="18" charset="0"/>
              </a:rPr>
              <a:t>It can be used to handle the pointer easily on the screen to perform various functions such as opening a file or program</a:t>
            </a:r>
          </a:p>
          <a:p>
            <a:r>
              <a:rPr lang="en-US" sz="2400" dirty="0" smtClean="0">
                <a:latin typeface="Times New Roman" panose="02020603050405020304" pitchFamily="18" charset="0"/>
                <a:cs typeface="Times New Roman" panose="02020603050405020304" pitchFamily="18" charset="0"/>
              </a:rPr>
              <a:t>Some of the popular mouse types are </a:t>
            </a:r>
          </a:p>
          <a:p>
            <a:r>
              <a:rPr lang="en-US" sz="2400" b="1" dirty="0" smtClean="0">
                <a:latin typeface="Times New Roman" panose="02020603050405020304" pitchFamily="18" charset="0"/>
                <a:cs typeface="Times New Roman" panose="02020603050405020304" pitchFamily="18" charset="0"/>
              </a:rPr>
              <a:t>Mechanical mouse</a:t>
            </a:r>
          </a:p>
          <a:p>
            <a:r>
              <a:rPr lang="en-US" sz="2400" b="1" dirty="0" smtClean="0">
                <a:latin typeface="Times New Roman" panose="02020603050405020304" pitchFamily="18" charset="0"/>
                <a:cs typeface="Times New Roman" panose="02020603050405020304" pitchFamily="18" charset="0"/>
              </a:rPr>
              <a:t>Optical mouse</a:t>
            </a:r>
          </a:p>
          <a:p>
            <a:r>
              <a:rPr lang="en-US" sz="2400" b="1" dirty="0" smtClean="0">
                <a:latin typeface="Times New Roman" panose="02020603050405020304" pitchFamily="18" charset="0"/>
                <a:cs typeface="Times New Roman" panose="02020603050405020304" pitchFamily="18" charset="0"/>
              </a:rPr>
              <a:t>Cordless mouse/wire</a:t>
            </a:r>
          </a:p>
          <a:p>
            <a:pPr marL="109728" indent="0">
              <a:buNone/>
            </a:pPr>
            <a:r>
              <a:rPr lang="en-US" sz="2400" b="1" dirty="0" smtClean="0">
                <a:latin typeface="Times New Roman" panose="02020603050405020304" pitchFamily="18" charset="0"/>
                <a:cs typeface="Times New Roman" panose="02020603050405020304" pitchFamily="18" charset="0"/>
              </a:rPr>
              <a:t>    less</a:t>
            </a:r>
          </a:p>
          <a:p>
            <a:pPr marL="109728" indent="0">
              <a:buNone/>
            </a:pPr>
            <a:endParaRPr lang="en-US" dirty="0" smtClean="0"/>
          </a:p>
          <a:p>
            <a:endParaRPr lang="en-US" b="1" u="sng" dirty="0" smtClean="0"/>
          </a:p>
          <a:p>
            <a:pPr marL="109728" indent="0">
              <a:buNone/>
            </a:pPr>
            <a:endParaRPr lang="en-US" b="1" u="sng" dirty="0"/>
          </a:p>
        </p:txBody>
      </p:sp>
      <p:sp>
        <p:nvSpPr>
          <p:cNvPr id="3" name="Title 2"/>
          <p:cNvSpPr>
            <a:spLocks noGrp="1"/>
          </p:cNvSpPr>
          <p:nvPr>
            <p:ph type="title"/>
          </p:nvPr>
        </p:nvSpPr>
        <p:spPr/>
        <p:txBody>
          <a:bodyPr/>
          <a:lstStyle/>
          <a:p>
            <a:r>
              <a:rPr lang="en-US" dirty="0">
                <a:latin typeface="Times New Roman" pitchFamily="18" charset="0"/>
                <a:cs typeface="Times New Roman" pitchFamily="18" charset="0"/>
              </a:rPr>
              <a:t>2.1 Input devices</a:t>
            </a:r>
            <a:endParaRPr lang="en-US" dirty="0"/>
          </a:p>
        </p:txBody>
      </p:sp>
      <p:pic>
        <p:nvPicPr>
          <p:cNvPr id="4" name="Picture 3"/>
          <p:cNvPicPr>
            <a:picLocks noChangeAspect="1"/>
          </p:cNvPicPr>
          <p:nvPr/>
        </p:nvPicPr>
        <p:blipFill>
          <a:blip r:embed="rId2"/>
          <a:stretch>
            <a:fillRect/>
          </a:stretch>
        </p:blipFill>
        <p:spPr>
          <a:xfrm>
            <a:off x="6172200" y="3744309"/>
            <a:ext cx="2479964" cy="1566459"/>
          </a:xfrm>
          <a:prstGeom prst="rect">
            <a:avLst/>
          </a:prstGeom>
        </p:spPr>
      </p:pic>
      <p:pic>
        <p:nvPicPr>
          <p:cNvPr id="5" name="Picture 4"/>
          <p:cNvPicPr>
            <a:picLocks noChangeAspect="1"/>
          </p:cNvPicPr>
          <p:nvPr/>
        </p:nvPicPr>
        <p:blipFill>
          <a:blip r:embed="rId3"/>
          <a:stretch>
            <a:fillRect/>
          </a:stretch>
        </p:blipFill>
        <p:spPr>
          <a:xfrm>
            <a:off x="3733800" y="4777368"/>
            <a:ext cx="2021681" cy="1066800"/>
          </a:xfrm>
          <a:prstGeom prst="rect">
            <a:avLst/>
          </a:prstGeom>
        </p:spPr>
      </p:pic>
    </p:spTree>
    <p:extLst>
      <p:ext uri="{BB962C8B-B14F-4D97-AF65-F5344CB8AC3E}">
        <p14:creationId xmlns:p14="http://schemas.microsoft.com/office/powerpoint/2010/main" val="1176182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400" b="1" u="sng" dirty="0" err="1" smtClean="0">
                <a:latin typeface="Times New Roman" panose="02020603050405020304" pitchFamily="18" charset="0"/>
                <a:cs typeface="Times New Roman" panose="02020603050405020304" pitchFamily="18" charset="0"/>
              </a:rPr>
              <a:t>Trackball:</a:t>
            </a:r>
            <a:r>
              <a:rPr lang="en-US" sz="2400" dirty="0" err="1" smtClean="0">
                <a:latin typeface="Times New Roman" panose="02020603050405020304" pitchFamily="18" charset="0"/>
                <a:cs typeface="Times New Roman" panose="02020603050405020304" pitchFamily="18" charset="0"/>
              </a:rPr>
              <a:t>It</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 a pointing device. It is similar to a mouse.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is mainly used in notebook or laptop computer, instead of a mouse.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is a ball which is half inserted, and by changing fingers on the ball, the pointer can be moved</a:t>
            </a:r>
            <a:r>
              <a:rPr lang="en-US" sz="2400" dirty="0" smtClean="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The user rolls the ball with their thumb, fingers or the palm of their hand to move a cursor without moving their arm.</a:t>
            </a:r>
          </a:p>
        </p:txBody>
      </p:sp>
      <p:sp>
        <p:nvSpPr>
          <p:cNvPr id="3" name="Title 2"/>
          <p:cNvSpPr>
            <a:spLocks noGrp="1"/>
          </p:cNvSpPr>
          <p:nvPr>
            <p:ph type="title"/>
          </p:nvPr>
        </p:nvSpPr>
        <p:spPr/>
        <p:txBody>
          <a:bodyPr/>
          <a:lstStyle/>
          <a:p>
            <a:endParaRPr lang="en-US" dirty="0"/>
          </a:p>
        </p:txBody>
      </p:sp>
      <p:pic>
        <p:nvPicPr>
          <p:cNvPr id="4" name="Picture 3"/>
          <p:cNvPicPr>
            <a:picLocks noChangeAspect="1"/>
          </p:cNvPicPr>
          <p:nvPr/>
        </p:nvPicPr>
        <p:blipFill>
          <a:blip r:embed="rId2"/>
          <a:stretch>
            <a:fillRect/>
          </a:stretch>
        </p:blipFill>
        <p:spPr>
          <a:xfrm>
            <a:off x="4572000" y="4419600"/>
            <a:ext cx="2486025" cy="1679090"/>
          </a:xfrm>
          <a:prstGeom prst="rect">
            <a:avLst/>
          </a:prstGeom>
        </p:spPr>
      </p:pic>
    </p:spTree>
    <p:extLst>
      <p:ext uri="{BB962C8B-B14F-4D97-AF65-F5344CB8AC3E}">
        <p14:creationId xmlns:p14="http://schemas.microsoft.com/office/powerpoint/2010/main" val="682680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400" b="1" u="sng" dirty="0" err="1" smtClean="0">
                <a:latin typeface="Times New Roman" panose="02020603050405020304" pitchFamily="18" charset="0"/>
                <a:cs typeface="Times New Roman" panose="02020603050405020304" pitchFamily="18" charset="0"/>
              </a:rPr>
              <a:t>Touchpad:</a:t>
            </a:r>
            <a:r>
              <a:rPr lang="en-US" sz="2400" dirty="0" err="1" smtClean="0">
                <a:latin typeface="Times New Roman" panose="02020603050405020304" pitchFamily="18" charset="0"/>
                <a:cs typeface="Times New Roman" panose="02020603050405020304" pitchFamily="18" charset="0"/>
              </a:rPr>
              <a:t>A</a:t>
            </a:r>
            <a:r>
              <a:rPr lang="en-US" sz="2400" dirty="0" smtClean="0">
                <a:latin typeface="Times New Roman" panose="02020603050405020304" pitchFamily="18" charset="0"/>
                <a:cs typeface="Times New Roman" panose="02020603050405020304" pitchFamily="18" charset="0"/>
              </a:rPr>
              <a:t> touchpad is a </a:t>
            </a:r>
            <a:r>
              <a:rPr lang="en-US" sz="2400" dirty="0" err="1" smtClean="0">
                <a:latin typeface="Times New Roman" panose="02020603050405020304" pitchFamily="18" charset="0"/>
                <a:cs typeface="Times New Roman" panose="02020603050405020304" pitchFamily="18" charset="0"/>
              </a:rPr>
              <a:t>small,flat</a:t>
            </a:r>
            <a:r>
              <a:rPr lang="en-US" sz="2400" dirty="0" smtClean="0">
                <a:latin typeface="Times New Roman" panose="02020603050405020304" pitchFamily="18" charset="0"/>
                <a:cs typeface="Times New Roman" panose="02020603050405020304" pitchFamily="18" charset="0"/>
              </a:rPr>
              <a:t>, rectangular stationary pointing device with a sensitive surface of 1.5-2 square inches.</a:t>
            </a:r>
          </a:p>
          <a:p>
            <a:r>
              <a:rPr lang="en-US" sz="2400" dirty="0" smtClean="0">
                <a:latin typeface="Times New Roman" panose="02020603050405020304" pitchFamily="18" charset="0"/>
                <a:cs typeface="Times New Roman" panose="02020603050405020304" pitchFamily="18" charset="0"/>
              </a:rPr>
              <a:t>User has t slide his or her fingertips across the surface of the pad to point to a specific object on the screen</a:t>
            </a:r>
            <a:endParaRPr lang="en-US"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endParaRPr lang="en-US" dirty="0"/>
          </a:p>
        </p:txBody>
      </p:sp>
      <p:pic>
        <p:nvPicPr>
          <p:cNvPr id="4" name="Picture 3"/>
          <p:cNvPicPr>
            <a:picLocks noChangeAspect="1"/>
          </p:cNvPicPr>
          <p:nvPr/>
        </p:nvPicPr>
        <p:blipFill>
          <a:blip r:embed="rId2"/>
          <a:stretch>
            <a:fillRect/>
          </a:stretch>
        </p:blipFill>
        <p:spPr>
          <a:xfrm>
            <a:off x="4419600" y="4511866"/>
            <a:ext cx="2971800" cy="1495425"/>
          </a:xfrm>
          <a:prstGeom prst="rect">
            <a:avLst/>
          </a:prstGeom>
        </p:spPr>
      </p:pic>
    </p:spTree>
    <p:extLst>
      <p:ext uri="{BB962C8B-B14F-4D97-AF65-F5344CB8AC3E}">
        <p14:creationId xmlns:p14="http://schemas.microsoft.com/office/powerpoint/2010/main" val="4230105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400" b="1" u="sng" dirty="0" smtClean="0">
                <a:latin typeface="Times New Roman" panose="02020603050405020304" pitchFamily="18" charset="0"/>
                <a:cs typeface="Times New Roman" panose="02020603050405020304" pitchFamily="18" charset="0"/>
              </a:rPr>
              <a:t>3:Handheld devices: </a:t>
            </a:r>
            <a:r>
              <a:rPr lang="en-US" sz="2400" dirty="0" smtClean="0">
                <a:latin typeface="Times New Roman" panose="02020603050405020304" pitchFamily="18" charset="0"/>
                <a:cs typeface="Times New Roman" panose="02020603050405020304" pitchFamily="18" charset="0"/>
              </a:rPr>
              <a:t>Example</a:t>
            </a:r>
          </a:p>
          <a:p>
            <a:r>
              <a:rPr lang="en-US" sz="2400" dirty="0" smtClean="0">
                <a:latin typeface="Times New Roman" panose="02020603050405020304" pitchFamily="18" charset="0"/>
                <a:cs typeface="Times New Roman" panose="02020603050405020304" pitchFamily="18" charset="0"/>
              </a:rPr>
              <a:t>Joystick</a:t>
            </a:r>
          </a:p>
          <a:p>
            <a:r>
              <a:rPr lang="en-US" sz="2400" dirty="0" smtClean="0">
                <a:latin typeface="Times New Roman" panose="02020603050405020304" pitchFamily="18" charset="0"/>
                <a:cs typeface="Times New Roman" panose="02020603050405020304" pitchFamily="18" charset="0"/>
              </a:rPr>
              <a:t>Stylus</a:t>
            </a:r>
          </a:p>
          <a:p>
            <a:r>
              <a:rPr lang="en-US" sz="2400" dirty="0" smtClean="0">
                <a:latin typeface="Times New Roman" panose="02020603050405020304" pitchFamily="18" charset="0"/>
                <a:cs typeface="Times New Roman" panose="02020603050405020304" pitchFamily="18" charset="0"/>
              </a:rPr>
              <a:t>touchscreen</a:t>
            </a:r>
            <a:endParaRPr lang="en-US"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r>
              <a:rPr lang="en-US" dirty="0" smtClean="0"/>
              <a:t>Input devices</a:t>
            </a:r>
            <a:endParaRPr lang="en-US" dirty="0"/>
          </a:p>
        </p:txBody>
      </p:sp>
      <p:pic>
        <p:nvPicPr>
          <p:cNvPr id="4" name="Picture 3"/>
          <p:cNvPicPr>
            <a:picLocks noChangeAspect="1"/>
          </p:cNvPicPr>
          <p:nvPr/>
        </p:nvPicPr>
        <p:blipFill>
          <a:blip r:embed="rId2"/>
          <a:stretch>
            <a:fillRect/>
          </a:stretch>
        </p:blipFill>
        <p:spPr>
          <a:xfrm>
            <a:off x="6248400" y="1446692"/>
            <a:ext cx="2209800" cy="2809812"/>
          </a:xfrm>
          <a:prstGeom prst="rect">
            <a:avLst/>
          </a:prstGeom>
        </p:spPr>
      </p:pic>
      <p:pic>
        <p:nvPicPr>
          <p:cNvPr id="5" name="Picture 4"/>
          <p:cNvPicPr>
            <a:picLocks noChangeAspect="1"/>
          </p:cNvPicPr>
          <p:nvPr/>
        </p:nvPicPr>
        <p:blipFill>
          <a:blip r:embed="rId3"/>
          <a:stretch>
            <a:fillRect/>
          </a:stretch>
        </p:blipFill>
        <p:spPr>
          <a:xfrm>
            <a:off x="3900487" y="2362200"/>
            <a:ext cx="1433513" cy="2085975"/>
          </a:xfrm>
          <a:prstGeom prst="rect">
            <a:avLst/>
          </a:prstGeom>
        </p:spPr>
      </p:pic>
      <p:pic>
        <p:nvPicPr>
          <p:cNvPr id="6" name="Picture 5"/>
          <p:cNvPicPr>
            <a:picLocks noChangeAspect="1"/>
          </p:cNvPicPr>
          <p:nvPr/>
        </p:nvPicPr>
        <p:blipFill>
          <a:blip r:embed="rId4"/>
          <a:stretch>
            <a:fillRect/>
          </a:stretch>
        </p:blipFill>
        <p:spPr>
          <a:xfrm>
            <a:off x="5715000" y="4448176"/>
            <a:ext cx="2743200" cy="2019300"/>
          </a:xfrm>
          <a:prstGeom prst="rect">
            <a:avLst/>
          </a:prstGeom>
        </p:spPr>
      </p:pic>
    </p:spTree>
    <p:extLst>
      <p:ext uri="{BB962C8B-B14F-4D97-AF65-F5344CB8AC3E}">
        <p14:creationId xmlns:p14="http://schemas.microsoft.com/office/powerpoint/2010/main" val="2348524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9728" indent="0">
              <a:buNone/>
            </a:pPr>
            <a:r>
              <a:rPr lang="en-US" sz="2400" b="1" u="sng" dirty="0" smtClean="0">
                <a:latin typeface="Times New Roman" panose="02020603050405020304" pitchFamily="18" charset="0"/>
                <a:cs typeface="Times New Roman" panose="02020603050405020304" pitchFamily="18" charset="0"/>
              </a:rPr>
              <a:t>4:Optical devices:</a:t>
            </a:r>
          </a:p>
          <a:p>
            <a:r>
              <a:rPr lang="en-US" sz="2400" dirty="0" smtClean="0">
                <a:latin typeface="Times New Roman" panose="02020603050405020304" pitchFamily="18" charset="0"/>
                <a:cs typeface="Times New Roman" panose="02020603050405020304" pitchFamily="18" charset="0"/>
              </a:rPr>
              <a:t>Example: Barcode Reader, Image scanner, OCR device and OMR Device</a:t>
            </a:r>
            <a:endParaRPr lang="en-US"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endParaRPr lang="en-US" dirty="0"/>
          </a:p>
        </p:txBody>
      </p:sp>
      <p:pic>
        <p:nvPicPr>
          <p:cNvPr id="4" name="Picture 3"/>
          <p:cNvPicPr>
            <a:picLocks noChangeAspect="1"/>
          </p:cNvPicPr>
          <p:nvPr/>
        </p:nvPicPr>
        <p:blipFill>
          <a:blip r:embed="rId2"/>
          <a:stretch>
            <a:fillRect/>
          </a:stretch>
        </p:blipFill>
        <p:spPr>
          <a:xfrm>
            <a:off x="990600" y="3048000"/>
            <a:ext cx="2019300" cy="1714500"/>
          </a:xfrm>
          <a:prstGeom prst="rect">
            <a:avLst/>
          </a:prstGeom>
        </p:spPr>
      </p:pic>
      <p:pic>
        <p:nvPicPr>
          <p:cNvPr id="5" name="Picture 4"/>
          <p:cNvPicPr>
            <a:picLocks noChangeAspect="1"/>
          </p:cNvPicPr>
          <p:nvPr/>
        </p:nvPicPr>
        <p:blipFill>
          <a:blip r:embed="rId3"/>
          <a:stretch>
            <a:fillRect/>
          </a:stretch>
        </p:blipFill>
        <p:spPr>
          <a:xfrm>
            <a:off x="3709987" y="3048000"/>
            <a:ext cx="2081213" cy="1524000"/>
          </a:xfrm>
          <a:prstGeom prst="rect">
            <a:avLst/>
          </a:prstGeom>
        </p:spPr>
      </p:pic>
      <p:pic>
        <p:nvPicPr>
          <p:cNvPr id="6" name="Picture 5"/>
          <p:cNvPicPr>
            <a:picLocks noChangeAspect="1"/>
          </p:cNvPicPr>
          <p:nvPr/>
        </p:nvPicPr>
        <p:blipFill>
          <a:blip r:embed="rId4"/>
          <a:stretch>
            <a:fillRect/>
          </a:stretch>
        </p:blipFill>
        <p:spPr>
          <a:xfrm>
            <a:off x="6188869" y="3276600"/>
            <a:ext cx="2613436" cy="1485900"/>
          </a:xfrm>
          <a:prstGeom prst="rect">
            <a:avLst/>
          </a:prstGeom>
        </p:spPr>
      </p:pic>
      <p:pic>
        <p:nvPicPr>
          <p:cNvPr id="7" name="Picture 6"/>
          <p:cNvPicPr>
            <a:picLocks noChangeAspect="1"/>
          </p:cNvPicPr>
          <p:nvPr/>
        </p:nvPicPr>
        <p:blipFill>
          <a:blip r:embed="rId5"/>
          <a:stretch>
            <a:fillRect/>
          </a:stretch>
        </p:blipFill>
        <p:spPr>
          <a:xfrm>
            <a:off x="4572000" y="4918849"/>
            <a:ext cx="1857375" cy="1543050"/>
          </a:xfrm>
          <a:prstGeom prst="rect">
            <a:avLst/>
          </a:prstGeom>
        </p:spPr>
      </p:pic>
    </p:spTree>
    <p:extLst>
      <p:ext uri="{BB962C8B-B14F-4D97-AF65-F5344CB8AC3E}">
        <p14:creationId xmlns:p14="http://schemas.microsoft.com/office/powerpoint/2010/main" val="1122899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US" b="1" u="sng" dirty="0" smtClean="0">
                <a:latin typeface="Times New Roman" panose="02020603050405020304" pitchFamily="18" charset="0"/>
                <a:cs typeface="Times New Roman" panose="02020603050405020304" pitchFamily="18" charset="0"/>
              </a:rPr>
              <a:t>4:Audiovisual </a:t>
            </a:r>
            <a:r>
              <a:rPr lang="en-US" b="1" u="sng" dirty="0">
                <a:latin typeface="Times New Roman" panose="02020603050405020304" pitchFamily="18" charset="0"/>
                <a:cs typeface="Times New Roman" panose="02020603050405020304" pitchFamily="18" charset="0"/>
              </a:rPr>
              <a:t>input devices</a:t>
            </a:r>
          </a:p>
          <a:p>
            <a:r>
              <a:rPr lang="en-US" sz="2400" dirty="0" smtClean="0">
                <a:latin typeface="Times New Roman" panose="02020603050405020304" pitchFamily="18" charset="0"/>
                <a:cs typeface="Times New Roman" panose="02020603050405020304" pitchFamily="18" charset="0"/>
              </a:rPr>
              <a:t>Audio </a:t>
            </a:r>
            <a:r>
              <a:rPr lang="en-US" sz="2400" dirty="0" err="1" smtClean="0">
                <a:latin typeface="Times New Roman" panose="02020603050405020304" pitchFamily="18" charset="0"/>
                <a:cs typeface="Times New Roman" panose="02020603050405020304" pitchFamily="18" charset="0"/>
              </a:rPr>
              <a:t>devices,Video</a:t>
            </a:r>
            <a:r>
              <a:rPr lang="en-US" sz="2400" dirty="0" smtClean="0">
                <a:latin typeface="Times New Roman" panose="02020603050405020304" pitchFamily="18" charset="0"/>
                <a:cs typeface="Times New Roman" panose="02020603050405020304" pitchFamily="18" charset="0"/>
              </a:rPr>
              <a:t> input devices are Examples of Audiovisual input devices</a:t>
            </a:r>
            <a:endParaRPr lang="en-US"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685800" y="3124200"/>
            <a:ext cx="3209925" cy="1752600"/>
          </a:xfrm>
          <a:prstGeom prst="rect">
            <a:avLst/>
          </a:prstGeom>
        </p:spPr>
      </p:pic>
      <p:pic>
        <p:nvPicPr>
          <p:cNvPr id="5" name="Picture 4"/>
          <p:cNvPicPr>
            <a:picLocks noChangeAspect="1"/>
          </p:cNvPicPr>
          <p:nvPr/>
        </p:nvPicPr>
        <p:blipFill>
          <a:blip r:embed="rId3"/>
          <a:stretch>
            <a:fillRect/>
          </a:stretch>
        </p:blipFill>
        <p:spPr>
          <a:xfrm>
            <a:off x="5095875" y="3200400"/>
            <a:ext cx="2390775" cy="1676400"/>
          </a:xfrm>
          <a:prstGeom prst="rect">
            <a:avLst/>
          </a:prstGeom>
        </p:spPr>
      </p:pic>
    </p:spTree>
    <p:extLst>
      <p:ext uri="{BB962C8B-B14F-4D97-AF65-F5344CB8AC3E}">
        <p14:creationId xmlns:p14="http://schemas.microsoft.com/office/powerpoint/2010/main" val="1006077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400" dirty="0" smtClean="0">
                <a:latin typeface="Times New Roman" panose="02020603050405020304" pitchFamily="18" charset="0"/>
                <a:cs typeface="Times New Roman" panose="02020603050405020304" pitchFamily="18" charset="0"/>
              </a:rPr>
              <a:t>Soft copy devices</a:t>
            </a:r>
          </a:p>
          <a:p>
            <a:r>
              <a:rPr lang="en-US" sz="2400" dirty="0" smtClean="0">
                <a:latin typeface="Times New Roman" panose="02020603050405020304" pitchFamily="18" charset="0"/>
                <a:cs typeface="Times New Roman" panose="02020603050405020304" pitchFamily="18" charset="0"/>
              </a:rPr>
              <a:t>Hard copy devices</a:t>
            </a:r>
          </a:p>
          <a:p>
            <a:endParaRPr lang="en-US" sz="2400" dirty="0">
              <a:latin typeface="Times New Roman" panose="02020603050405020304" pitchFamily="18" charset="0"/>
              <a:cs typeface="Times New Roman" panose="02020603050405020304" pitchFamily="18" charset="0"/>
            </a:endParaRPr>
          </a:p>
          <a:p>
            <a:r>
              <a:rPr lang="en-US" sz="2400" b="1" u="sng" dirty="0" smtClean="0">
                <a:latin typeface="Times New Roman" panose="02020603050405020304" pitchFamily="18" charset="0"/>
                <a:cs typeface="Times New Roman" panose="02020603050405020304" pitchFamily="18" charset="0"/>
              </a:rPr>
              <a:t>Soft copy devices:</a:t>
            </a:r>
          </a:p>
          <a:p>
            <a:r>
              <a:rPr lang="en-US" sz="2400" u="sng" dirty="0" smtClean="0">
                <a:latin typeface="Times New Roman" panose="02020603050405020304" pitchFamily="18" charset="0"/>
                <a:cs typeface="Times New Roman" panose="02020603050405020304" pitchFamily="18" charset="0"/>
              </a:rPr>
              <a:t>Example:</a:t>
            </a:r>
            <a:r>
              <a:rPr lang="en-US" sz="2400" dirty="0" smtClean="0">
                <a:latin typeface="Times New Roman" panose="02020603050405020304" pitchFamily="18" charset="0"/>
                <a:cs typeface="Times New Roman" panose="02020603050405020304" pitchFamily="18" charset="0"/>
              </a:rPr>
              <a:t> Monitors , projectors and speakers</a:t>
            </a:r>
            <a:endParaRPr lang="en-US" sz="2400" u="sng"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lang="en-US" dirty="0" smtClean="0"/>
              <a:t>2.2 Output devices</a:t>
            </a:r>
            <a:endParaRPr lang="en-US" dirty="0"/>
          </a:p>
        </p:txBody>
      </p:sp>
      <p:pic>
        <p:nvPicPr>
          <p:cNvPr id="4" name="Picture 3"/>
          <p:cNvPicPr>
            <a:picLocks noChangeAspect="1"/>
          </p:cNvPicPr>
          <p:nvPr/>
        </p:nvPicPr>
        <p:blipFill>
          <a:blip r:embed="rId2"/>
          <a:stretch>
            <a:fillRect/>
          </a:stretch>
        </p:blipFill>
        <p:spPr>
          <a:xfrm>
            <a:off x="685800" y="4038600"/>
            <a:ext cx="2047875" cy="1504950"/>
          </a:xfrm>
          <a:prstGeom prst="rect">
            <a:avLst/>
          </a:prstGeom>
        </p:spPr>
      </p:pic>
      <p:pic>
        <p:nvPicPr>
          <p:cNvPr id="5" name="Picture 4"/>
          <p:cNvPicPr>
            <a:picLocks noChangeAspect="1"/>
          </p:cNvPicPr>
          <p:nvPr/>
        </p:nvPicPr>
        <p:blipFill>
          <a:blip r:embed="rId3"/>
          <a:stretch>
            <a:fillRect/>
          </a:stretch>
        </p:blipFill>
        <p:spPr>
          <a:xfrm>
            <a:off x="3067050" y="4038600"/>
            <a:ext cx="1762125" cy="1609725"/>
          </a:xfrm>
          <a:prstGeom prst="rect">
            <a:avLst/>
          </a:prstGeom>
        </p:spPr>
      </p:pic>
      <p:pic>
        <p:nvPicPr>
          <p:cNvPr id="6" name="Picture 5"/>
          <p:cNvPicPr>
            <a:picLocks noChangeAspect="1"/>
          </p:cNvPicPr>
          <p:nvPr/>
        </p:nvPicPr>
        <p:blipFill>
          <a:blip r:embed="rId4"/>
          <a:stretch>
            <a:fillRect/>
          </a:stretch>
        </p:blipFill>
        <p:spPr>
          <a:xfrm>
            <a:off x="5599834" y="4059382"/>
            <a:ext cx="1866900" cy="1704975"/>
          </a:xfrm>
          <a:prstGeom prst="rect">
            <a:avLst/>
          </a:prstGeom>
        </p:spPr>
      </p:pic>
    </p:spTree>
    <p:extLst>
      <p:ext uri="{BB962C8B-B14F-4D97-AF65-F5344CB8AC3E}">
        <p14:creationId xmlns:p14="http://schemas.microsoft.com/office/powerpoint/2010/main" val="3920076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400" b="1" u="sng" dirty="0" smtClean="0">
                <a:latin typeface="Times New Roman" panose="02020603050405020304" pitchFamily="18" charset="0"/>
                <a:cs typeface="Times New Roman" panose="02020603050405020304" pitchFamily="18" charset="0"/>
              </a:rPr>
              <a:t>Hard copy devices</a:t>
            </a:r>
          </a:p>
          <a:p>
            <a:r>
              <a:rPr lang="en-US" sz="2400" dirty="0" smtClean="0">
                <a:latin typeface="Times New Roman" panose="02020603050405020304" pitchFamily="18" charset="0"/>
                <a:cs typeface="Times New Roman" panose="02020603050405020304" pitchFamily="18" charset="0"/>
              </a:rPr>
              <a:t>Examples: Printers, Impact printer, non impact printer and plotter</a:t>
            </a:r>
            <a:endParaRPr lang="en-US"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457200" y="3810000"/>
            <a:ext cx="1466850" cy="1276350"/>
          </a:xfrm>
          <a:prstGeom prst="rect">
            <a:avLst/>
          </a:prstGeom>
        </p:spPr>
      </p:pic>
      <p:pic>
        <p:nvPicPr>
          <p:cNvPr id="5" name="Picture 4"/>
          <p:cNvPicPr>
            <a:picLocks noChangeAspect="1"/>
          </p:cNvPicPr>
          <p:nvPr/>
        </p:nvPicPr>
        <p:blipFill>
          <a:blip r:embed="rId3"/>
          <a:stretch>
            <a:fillRect/>
          </a:stretch>
        </p:blipFill>
        <p:spPr>
          <a:xfrm>
            <a:off x="2569585" y="3548495"/>
            <a:ext cx="1819275" cy="1524000"/>
          </a:xfrm>
          <a:prstGeom prst="rect">
            <a:avLst/>
          </a:prstGeom>
        </p:spPr>
      </p:pic>
      <p:pic>
        <p:nvPicPr>
          <p:cNvPr id="6" name="Picture 5"/>
          <p:cNvPicPr>
            <a:picLocks noChangeAspect="1"/>
          </p:cNvPicPr>
          <p:nvPr/>
        </p:nvPicPr>
        <p:blipFill>
          <a:blip r:embed="rId4"/>
          <a:stretch>
            <a:fillRect/>
          </a:stretch>
        </p:blipFill>
        <p:spPr>
          <a:xfrm>
            <a:off x="5034395" y="3733799"/>
            <a:ext cx="1942591" cy="1452995"/>
          </a:xfrm>
          <a:prstGeom prst="rect">
            <a:avLst/>
          </a:prstGeom>
        </p:spPr>
      </p:pic>
      <p:pic>
        <p:nvPicPr>
          <p:cNvPr id="7" name="Picture 6"/>
          <p:cNvPicPr>
            <a:picLocks noChangeAspect="1"/>
          </p:cNvPicPr>
          <p:nvPr/>
        </p:nvPicPr>
        <p:blipFill>
          <a:blip r:embed="rId5"/>
          <a:stretch>
            <a:fillRect/>
          </a:stretch>
        </p:blipFill>
        <p:spPr>
          <a:xfrm>
            <a:off x="6976986" y="3733799"/>
            <a:ext cx="2050105" cy="1594526"/>
          </a:xfrm>
          <a:prstGeom prst="rect">
            <a:avLst/>
          </a:prstGeom>
        </p:spPr>
      </p:pic>
    </p:spTree>
    <p:extLst>
      <p:ext uri="{BB962C8B-B14F-4D97-AF65-F5344CB8AC3E}">
        <p14:creationId xmlns:p14="http://schemas.microsoft.com/office/powerpoint/2010/main" val="552272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u="sng" dirty="0" smtClean="0">
                <a:latin typeface="Times New Roman" panose="02020603050405020304" pitchFamily="18" charset="0"/>
                <a:cs typeface="Times New Roman" panose="02020603050405020304" pitchFamily="18" charset="0"/>
              </a:rPr>
              <a:t>Content</a:t>
            </a:r>
          </a:p>
          <a:p>
            <a:r>
              <a:rPr lang="en-US" dirty="0" smtClean="0">
                <a:latin typeface="Times New Roman" panose="02020603050405020304" pitchFamily="18" charset="0"/>
                <a:cs typeface="Times New Roman" panose="02020603050405020304" pitchFamily="18" charset="0"/>
              </a:rPr>
              <a:t>Programming paradigms</a:t>
            </a:r>
          </a:p>
          <a:p>
            <a:r>
              <a:rPr lang="en-US" dirty="0" smtClean="0">
                <a:latin typeface="Times New Roman" panose="02020603050405020304" pitchFamily="18" charset="0"/>
                <a:cs typeface="Times New Roman" panose="02020603050405020304" pitchFamily="18" charset="0"/>
              </a:rPr>
              <a:t>Example of a structured program</a:t>
            </a:r>
          </a:p>
          <a:p>
            <a:r>
              <a:rPr lang="en-US" dirty="0" smtClean="0">
                <a:latin typeface="Times New Roman" panose="02020603050405020304" pitchFamily="18" charset="0"/>
                <a:cs typeface="Times New Roman" panose="02020603050405020304" pitchFamily="18" charset="0"/>
              </a:rPr>
              <a:t>Design and implementation of efficient programs</a:t>
            </a:r>
          </a:p>
          <a:p>
            <a:r>
              <a:rPr lang="en-US" dirty="0" smtClean="0">
                <a:latin typeface="Times New Roman" panose="02020603050405020304" pitchFamily="18" charset="0"/>
                <a:cs typeface="Times New Roman" panose="02020603050405020304" pitchFamily="18" charset="0"/>
              </a:rPr>
              <a:t>Program design tools: </a:t>
            </a:r>
            <a:r>
              <a:rPr lang="en-US" dirty="0" err="1" smtClean="0">
                <a:latin typeface="Times New Roman" panose="02020603050405020304" pitchFamily="18" charset="0"/>
                <a:cs typeface="Times New Roman" panose="02020603050405020304" pitchFamily="18" charset="0"/>
              </a:rPr>
              <a:t>Algorithms,flowcharts</a:t>
            </a:r>
            <a:r>
              <a:rPr lang="en-US" dirty="0" smtClean="0">
                <a:latin typeface="Times New Roman" panose="02020603050405020304" pitchFamily="18" charset="0"/>
                <a:cs typeface="Times New Roman" panose="02020603050405020304" pitchFamily="18" charset="0"/>
              </a:rPr>
              <a:t> and pseudocodes</a:t>
            </a:r>
          </a:p>
          <a:p>
            <a:r>
              <a:rPr lang="en-US" dirty="0" smtClean="0">
                <a:latin typeface="Times New Roman" panose="02020603050405020304" pitchFamily="18" charset="0"/>
                <a:cs typeface="Times New Roman" panose="02020603050405020304" pitchFamily="18" charset="0"/>
              </a:rPr>
              <a:t>Types of errors</a:t>
            </a:r>
          </a:p>
          <a:p>
            <a:r>
              <a:rPr lang="en-US" dirty="0" smtClean="0">
                <a:latin typeface="Times New Roman" panose="02020603050405020304" pitchFamily="18" charset="0"/>
                <a:cs typeface="Times New Roman" panose="02020603050405020304" pitchFamily="18" charset="0"/>
              </a:rPr>
              <a:t>Testing and debugging approaches</a:t>
            </a:r>
          </a:p>
          <a:p>
            <a:endParaRPr lang="en-US" dirty="0"/>
          </a:p>
        </p:txBody>
      </p:sp>
      <p:sp>
        <p:nvSpPr>
          <p:cNvPr id="3" name="Title 2"/>
          <p:cNvSpPr>
            <a:spLocks noGrp="1"/>
          </p:cNvSpPr>
          <p:nvPr>
            <p:ph type="title"/>
          </p:nvPr>
        </p:nvSpPr>
        <p:spPr/>
        <p:txBody>
          <a:bodyPr/>
          <a:lstStyle/>
          <a:p>
            <a:r>
              <a:rPr lang="en-US" dirty="0" smtClean="0"/>
              <a:t>Designing efficient programs</a:t>
            </a:r>
            <a:endParaRPr lang="en-US" dirty="0"/>
          </a:p>
        </p:txBody>
      </p:sp>
    </p:spTree>
    <p:extLst>
      <p:ext uri="{BB962C8B-B14F-4D97-AF65-F5344CB8AC3E}">
        <p14:creationId xmlns:p14="http://schemas.microsoft.com/office/powerpoint/2010/main" val="3032365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4525963"/>
          </a:xfrm>
        </p:spPr>
        <p:txBody>
          <a:bodyPr>
            <a:normAutofit fontScale="92500"/>
          </a:bodyPr>
          <a:lstStyle/>
          <a:p>
            <a:r>
              <a:rPr lang="en-US" dirty="0">
                <a:latin typeface="Times New Roman" panose="02020603050405020304" pitchFamily="18" charset="0"/>
                <a:cs typeface="Times New Roman" panose="02020603050405020304" pitchFamily="18" charset="0"/>
              </a:rPr>
              <a:t>A programming paradigm is a fundamental style of programming that defines how the structure and basic elements of a computer program will be built.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style of writing programs and the set of capabilities and limitations that a particular programming language has depends on the programming paradigm it supports</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While </a:t>
            </a:r>
            <a:r>
              <a:rPr lang="en-US" dirty="0">
                <a:latin typeface="Times New Roman" panose="02020603050405020304" pitchFamily="18" charset="0"/>
                <a:cs typeface="Times New Roman" panose="02020603050405020304" pitchFamily="18" charset="0"/>
              </a:rPr>
              <a:t>some programming languages strictly follow a single paradigm, others may draw concepts from more than one.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sweeping trend in the evolution of high-level programming languages has resulted in a shift in programming paradigm. </a:t>
            </a:r>
            <a:endParaRPr lang="en-IN"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Programming paradigms</a:t>
            </a:r>
            <a:br>
              <a:rPr lang="en-US"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27269864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IN" dirty="0"/>
              <a:t>• </a:t>
            </a:r>
            <a:r>
              <a:rPr lang="en-IN" sz="2600" b="1" dirty="0">
                <a:latin typeface="Times New Roman" panose="02020603050405020304" pitchFamily="18" charset="0"/>
                <a:cs typeface="Times New Roman" panose="02020603050405020304" pitchFamily="18" charset="0"/>
              </a:rPr>
              <a:t>Monolithic programming</a:t>
            </a:r>
            <a:r>
              <a:rPr lang="en-IN" sz="2600" dirty="0">
                <a:latin typeface="Times New Roman" panose="02020603050405020304" pitchFamily="18" charset="0"/>
                <a:cs typeface="Times New Roman" panose="02020603050405020304" pitchFamily="18" charset="0"/>
              </a:rPr>
              <a:t> emphasizes on finding a solution</a:t>
            </a:r>
          </a:p>
          <a:p>
            <a:r>
              <a:rPr lang="en-IN" sz="2600" dirty="0">
                <a:latin typeface="Times New Roman" panose="02020603050405020304" pitchFamily="18" charset="0"/>
                <a:cs typeface="Times New Roman" panose="02020603050405020304" pitchFamily="18" charset="0"/>
              </a:rPr>
              <a:t>• </a:t>
            </a:r>
            <a:r>
              <a:rPr lang="en-IN" sz="2600" b="1" dirty="0">
                <a:latin typeface="Times New Roman" panose="02020603050405020304" pitchFamily="18" charset="0"/>
                <a:cs typeface="Times New Roman" panose="02020603050405020304" pitchFamily="18" charset="0"/>
              </a:rPr>
              <a:t>Procedural programming</a:t>
            </a:r>
            <a:r>
              <a:rPr lang="en-IN" sz="2600" dirty="0">
                <a:latin typeface="Times New Roman" panose="02020603050405020304" pitchFamily="18" charset="0"/>
                <a:cs typeface="Times New Roman" panose="02020603050405020304" pitchFamily="18" charset="0"/>
              </a:rPr>
              <a:t> lays stress on algorithms</a:t>
            </a:r>
          </a:p>
          <a:p>
            <a:r>
              <a:rPr lang="en-IN" sz="2600" dirty="0">
                <a:latin typeface="Times New Roman" panose="02020603050405020304" pitchFamily="18" charset="0"/>
                <a:cs typeface="Times New Roman" panose="02020603050405020304" pitchFamily="18" charset="0"/>
              </a:rPr>
              <a:t>• </a:t>
            </a:r>
            <a:r>
              <a:rPr lang="en-IN" sz="2600" b="1" dirty="0">
                <a:latin typeface="Times New Roman" panose="02020603050405020304" pitchFamily="18" charset="0"/>
                <a:cs typeface="Times New Roman" panose="02020603050405020304" pitchFamily="18" charset="0"/>
              </a:rPr>
              <a:t>Structured programming</a:t>
            </a:r>
            <a:r>
              <a:rPr lang="en-IN" sz="2600" dirty="0">
                <a:latin typeface="Times New Roman" panose="02020603050405020304" pitchFamily="18" charset="0"/>
                <a:cs typeface="Times New Roman" panose="02020603050405020304" pitchFamily="18" charset="0"/>
              </a:rPr>
              <a:t> focuses on modules</a:t>
            </a:r>
          </a:p>
          <a:p>
            <a:r>
              <a:rPr lang="en-IN" sz="2600" dirty="0">
                <a:latin typeface="Times New Roman" panose="02020603050405020304" pitchFamily="18" charset="0"/>
                <a:cs typeface="Times New Roman" panose="02020603050405020304" pitchFamily="18" charset="0"/>
              </a:rPr>
              <a:t>• </a:t>
            </a:r>
            <a:r>
              <a:rPr lang="en-IN" sz="2600" b="1" dirty="0">
                <a:latin typeface="Times New Roman" panose="02020603050405020304" pitchFamily="18" charset="0"/>
                <a:cs typeface="Times New Roman" panose="02020603050405020304" pitchFamily="18" charset="0"/>
              </a:rPr>
              <a:t>Object-oriented programming</a:t>
            </a:r>
            <a:r>
              <a:rPr lang="en-IN" sz="2600" dirty="0">
                <a:latin typeface="Times New Roman" panose="02020603050405020304" pitchFamily="18" charset="0"/>
                <a:cs typeface="Times New Roman" panose="02020603050405020304" pitchFamily="18" charset="0"/>
              </a:rPr>
              <a:t> emphasizes on classes and objects</a:t>
            </a:r>
          </a:p>
          <a:p>
            <a:r>
              <a:rPr lang="en-IN" sz="2600" dirty="0">
                <a:latin typeface="Times New Roman" panose="02020603050405020304" pitchFamily="18" charset="0"/>
                <a:cs typeface="Times New Roman" panose="02020603050405020304" pitchFamily="18" charset="0"/>
              </a:rPr>
              <a:t>• </a:t>
            </a:r>
            <a:r>
              <a:rPr lang="en-IN" sz="2600" b="1" dirty="0">
                <a:latin typeface="Times New Roman" panose="02020603050405020304" pitchFamily="18" charset="0"/>
                <a:cs typeface="Times New Roman" panose="02020603050405020304" pitchFamily="18" charset="0"/>
              </a:rPr>
              <a:t>Logic-oriented programming</a:t>
            </a:r>
            <a:r>
              <a:rPr lang="en-IN" sz="2600" dirty="0">
                <a:latin typeface="Times New Roman" panose="02020603050405020304" pitchFamily="18" charset="0"/>
                <a:cs typeface="Times New Roman" panose="02020603050405020304" pitchFamily="18" charset="0"/>
              </a:rPr>
              <a:t> focuses on goals usually expressed in predicate calculus</a:t>
            </a:r>
          </a:p>
          <a:p>
            <a:r>
              <a:rPr lang="en-IN" sz="2600" dirty="0">
                <a:latin typeface="Times New Roman" panose="02020603050405020304" pitchFamily="18" charset="0"/>
                <a:cs typeface="Times New Roman" panose="02020603050405020304" pitchFamily="18" charset="0"/>
              </a:rPr>
              <a:t>• </a:t>
            </a:r>
            <a:r>
              <a:rPr lang="en-IN" sz="2600" b="1" dirty="0">
                <a:latin typeface="Times New Roman" panose="02020603050405020304" pitchFamily="18" charset="0"/>
                <a:cs typeface="Times New Roman" panose="02020603050405020304" pitchFamily="18" charset="0"/>
              </a:rPr>
              <a:t>Rule-oriented programming</a:t>
            </a:r>
            <a:r>
              <a:rPr lang="en-IN" sz="2600" dirty="0">
                <a:latin typeface="Times New Roman" panose="02020603050405020304" pitchFamily="18" charset="0"/>
                <a:cs typeface="Times New Roman" panose="02020603050405020304" pitchFamily="18" charset="0"/>
              </a:rPr>
              <a:t>_ makes use of if-then-else' rules for computation</a:t>
            </a:r>
          </a:p>
          <a:p>
            <a:r>
              <a:rPr lang="en-IN" sz="2600" dirty="0">
                <a:latin typeface="Times New Roman" panose="02020603050405020304" pitchFamily="18" charset="0"/>
                <a:cs typeface="Times New Roman" panose="02020603050405020304" pitchFamily="18" charset="0"/>
              </a:rPr>
              <a:t>• </a:t>
            </a:r>
            <a:r>
              <a:rPr lang="en-IN" sz="2600" b="1" dirty="0">
                <a:latin typeface="Times New Roman" panose="02020603050405020304" pitchFamily="18" charset="0"/>
                <a:cs typeface="Times New Roman" panose="02020603050405020304" pitchFamily="18" charset="0"/>
              </a:rPr>
              <a:t>Constraint-oriented programming</a:t>
            </a:r>
            <a:r>
              <a:rPr lang="en-IN" sz="2600" dirty="0">
                <a:latin typeface="Times New Roman" panose="02020603050405020304" pitchFamily="18" charset="0"/>
                <a:cs typeface="Times New Roman" panose="02020603050405020304" pitchFamily="18" charset="0"/>
              </a:rPr>
              <a:t> utilizes invariant relationships to solve a problem</a:t>
            </a:r>
          </a:p>
          <a:p>
            <a:endParaRPr lang="en-IN" dirty="0"/>
          </a:p>
        </p:txBody>
      </p:sp>
      <p:sp>
        <p:nvSpPr>
          <p:cNvPr id="3" name="Title 2"/>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Programming paradigms</a:t>
            </a:r>
            <a:br>
              <a:rPr lang="en-US"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3323923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457200"/>
            <a:ext cx="8229600" cy="4525963"/>
          </a:xfrm>
        </p:spPr>
        <p:txBody>
          <a:bodyPr/>
          <a:lstStyle/>
          <a:p>
            <a:pPr marL="109728" lvl="0" indent="0">
              <a:buNone/>
            </a:pPr>
            <a:endParaRPr lang="en-IN" dirty="0" smtClean="0">
              <a:latin typeface="Times New Roman" panose="02020603050405020304" pitchFamily="18" charset="0"/>
              <a:cs typeface="Times New Roman" panose="02020603050405020304" pitchFamily="18" charset="0"/>
            </a:endParaRPr>
          </a:p>
          <a:p>
            <a:pPr lvl="0"/>
            <a:r>
              <a:rPr lang="en-IN" sz="2800" b="1" dirty="0" smtClean="0">
                <a:latin typeface="Times New Roman" panose="02020603050405020304" pitchFamily="18" charset="0"/>
                <a:cs typeface="Times New Roman" panose="02020603050405020304" pitchFamily="18" charset="0"/>
              </a:rPr>
              <a:t>1.Monolithic </a:t>
            </a:r>
            <a:r>
              <a:rPr lang="en-IN" sz="2800" b="1" dirty="0">
                <a:latin typeface="Times New Roman" panose="02020603050405020304" pitchFamily="18" charset="0"/>
                <a:cs typeface="Times New Roman" panose="02020603050405020304" pitchFamily="18" charset="0"/>
              </a:rPr>
              <a:t>programming</a:t>
            </a:r>
            <a:endParaRPr lang="en-IN" dirty="0">
              <a:latin typeface="Times New Roman" panose="02020603050405020304" pitchFamily="18" charset="0"/>
              <a:cs typeface="Times New Roman" panose="02020603050405020304" pitchFamily="18" charset="0"/>
            </a:endParaRPr>
          </a:p>
          <a:p>
            <a:pPr lvl="0"/>
            <a:r>
              <a:rPr lang="en-IN" dirty="0" smtClean="0">
                <a:latin typeface="Times New Roman" panose="02020603050405020304" pitchFamily="18" charset="0"/>
                <a:cs typeface="Times New Roman" panose="02020603050405020304" pitchFamily="18" charset="0"/>
              </a:rPr>
              <a:t>Programs </a:t>
            </a:r>
            <a:r>
              <a:rPr lang="en-IN" dirty="0">
                <a:latin typeface="Times New Roman" panose="02020603050405020304" pitchFamily="18" charset="0"/>
                <a:cs typeface="Times New Roman" panose="02020603050405020304" pitchFamily="18" charset="0"/>
              </a:rPr>
              <a:t>written using monolithic programming languages such as assembly language and BASIC consist of global data and sequential code. </a:t>
            </a:r>
          </a:p>
          <a:p>
            <a:pPr lvl="0"/>
            <a:r>
              <a:rPr lang="en-IN" dirty="0">
                <a:latin typeface="Times New Roman" panose="02020603050405020304" pitchFamily="18" charset="0"/>
                <a:cs typeface="Times New Roman" panose="02020603050405020304" pitchFamily="18" charset="0"/>
              </a:rPr>
              <a:t>The global data can be accessed and modified from any part of the program</a:t>
            </a:r>
          </a:p>
          <a:p>
            <a:pPr lvl="0"/>
            <a:r>
              <a:rPr lang="en-IN" dirty="0">
                <a:latin typeface="Times New Roman" panose="02020603050405020304" pitchFamily="18" charset="0"/>
                <a:cs typeface="Times New Roman" panose="02020603050405020304" pitchFamily="18" charset="0"/>
              </a:rPr>
              <a:t>A sequential code is one in which all instructions are executed in the specified sequence.</a:t>
            </a:r>
          </a:p>
          <a:p>
            <a:endParaRPr lang="en-IN" dirty="0"/>
          </a:p>
        </p:txBody>
      </p:sp>
      <p:sp>
        <p:nvSpPr>
          <p:cNvPr id="3" name="Title 2"/>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Programming paradigms</a:t>
            </a:r>
            <a:br>
              <a:rPr lang="en-US" dirty="0">
                <a:latin typeface="Times New Roman" panose="02020603050405020304" pitchFamily="18" charset="0"/>
                <a:cs typeface="Times New Roman" panose="02020603050405020304" pitchFamily="18" charset="0"/>
              </a:rPr>
            </a:br>
            <a:endParaRPr lang="en-IN" dirty="0"/>
          </a:p>
        </p:txBody>
      </p:sp>
      <p:pic>
        <p:nvPicPr>
          <p:cNvPr id="4" name="Picture 3"/>
          <p:cNvPicPr>
            <a:picLocks noChangeAspect="1"/>
          </p:cNvPicPr>
          <p:nvPr/>
        </p:nvPicPr>
        <p:blipFill>
          <a:blip r:embed="rId2"/>
          <a:stretch>
            <a:fillRect/>
          </a:stretch>
        </p:blipFill>
        <p:spPr>
          <a:xfrm>
            <a:off x="6322442" y="4343400"/>
            <a:ext cx="1505119" cy="2089116"/>
          </a:xfrm>
          <a:prstGeom prst="rect">
            <a:avLst/>
          </a:prstGeom>
        </p:spPr>
      </p:pic>
    </p:spTree>
    <p:extLst>
      <p:ext uri="{BB962C8B-B14F-4D97-AF65-F5344CB8AC3E}">
        <p14:creationId xmlns:p14="http://schemas.microsoft.com/office/powerpoint/2010/main" val="1392349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304800"/>
            <a:ext cx="8229600" cy="4525963"/>
          </a:xfrm>
        </p:spPr>
        <p:txBody>
          <a:bodyPr>
            <a:normAutofit/>
          </a:bodyPr>
          <a:lstStyle/>
          <a:p>
            <a:r>
              <a:rPr lang="en-IN" sz="2800" b="1" dirty="0" smtClean="0">
                <a:latin typeface="Times New Roman" panose="02020603050405020304" pitchFamily="18" charset="0"/>
                <a:cs typeface="Times New Roman" panose="02020603050405020304" pitchFamily="18" charset="0"/>
              </a:rPr>
              <a:t>2.Procedural programming</a:t>
            </a:r>
          </a:p>
          <a:p>
            <a:pPr lvl="0"/>
            <a:r>
              <a:rPr lang="en-IN" sz="2800" dirty="0"/>
              <a:t> </a:t>
            </a:r>
            <a:r>
              <a:rPr lang="en-IN" sz="2400" dirty="0">
                <a:latin typeface="Times New Roman" panose="02020603050405020304" pitchFamily="18" charset="0"/>
                <a:cs typeface="Times New Roman" panose="02020603050405020304" pitchFamily="18" charset="0"/>
              </a:rPr>
              <a:t>In procedural languages, a program is divided into subroutines that can access global data</a:t>
            </a:r>
          </a:p>
          <a:p>
            <a:pPr lvl="0"/>
            <a:r>
              <a:rPr lang="en-IN" sz="2400" dirty="0">
                <a:latin typeface="Times New Roman" panose="02020603050405020304" pitchFamily="18" charset="0"/>
                <a:cs typeface="Times New Roman" panose="02020603050405020304" pitchFamily="18" charset="0"/>
              </a:rPr>
              <a:t> To avoid repetition of code, each subroutine performs a well-defined task.</a:t>
            </a:r>
          </a:p>
          <a:p>
            <a:pPr lvl="0"/>
            <a:r>
              <a:rPr lang="en-IN" sz="2400" dirty="0">
                <a:latin typeface="Times New Roman" panose="02020603050405020304" pitchFamily="18" charset="0"/>
                <a:cs typeface="Times New Roman" panose="02020603050405020304" pitchFamily="18" charset="0"/>
              </a:rPr>
              <a:t>A subroutine that needs the service provided by another subroutine can call that subroutine.</a:t>
            </a:r>
          </a:p>
          <a:p>
            <a:pPr lvl="0"/>
            <a:r>
              <a:rPr lang="en-IN" sz="2400" dirty="0">
                <a:latin typeface="Times New Roman" panose="02020603050405020304" pitchFamily="18" charset="0"/>
                <a:cs typeface="Times New Roman" panose="02020603050405020304" pitchFamily="18" charset="0"/>
              </a:rPr>
              <a:t>FORTRAN and COBOL are 2 popular procedural programming languages.</a:t>
            </a:r>
          </a:p>
          <a:p>
            <a:endParaRPr lang="en-IN" sz="2800" b="1" dirty="0" smtClean="0">
              <a:latin typeface="Times New Roman" panose="02020603050405020304" pitchFamily="18" charset="0"/>
              <a:cs typeface="Times New Roman" panose="02020603050405020304" pitchFamily="18" charset="0"/>
            </a:endParaRPr>
          </a:p>
          <a:p>
            <a:endParaRPr lang="en-IN" dirty="0"/>
          </a:p>
        </p:txBody>
      </p:sp>
      <p:pic>
        <p:nvPicPr>
          <p:cNvPr id="4" name="Picture 3"/>
          <p:cNvPicPr/>
          <p:nvPr/>
        </p:nvPicPr>
        <p:blipFill>
          <a:blip r:embed="rId2"/>
          <a:stretch>
            <a:fillRect/>
          </a:stretch>
        </p:blipFill>
        <p:spPr>
          <a:xfrm>
            <a:off x="4800600" y="4038600"/>
            <a:ext cx="2971800" cy="1968500"/>
          </a:xfrm>
          <a:prstGeom prst="rect">
            <a:avLst/>
          </a:prstGeom>
        </p:spPr>
      </p:pic>
    </p:spTree>
    <p:extLst>
      <p:ext uri="{BB962C8B-B14F-4D97-AF65-F5344CB8AC3E}">
        <p14:creationId xmlns:p14="http://schemas.microsoft.com/office/powerpoint/2010/main" val="796830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46314" y="914401"/>
            <a:ext cx="8229600" cy="3886200"/>
          </a:xfrm>
        </p:spPr>
        <p:txBody>
          <a:bodyPr>
            <a:normAutofit lnSpcReduction="10000"/>
          </a:bodyPr>
          <a:lstStyle/>
          <a:p>
            <a:pPr lvl="0"/>
            <a:r>
              <a:rPr lang="en-IN" sz="2400" dirty="0" smtClean="0">
                <a:latin typeface="Times New Roman" panose="02020603050405020304" pitchFamily="18" charset="0"/>
                <a:cs typeface="Times New Roman" panose="02020603050405020304" pitchFamily="18" charset="0"/>
              </a:rPr>
              <a:t>Structured </a:t>
            </a:r>
            <a:r>
              <a:rPr lang="en-IN" sz="2400" dirty="0">
                <a:latin typeface="Times New Roman" panose="02020603050405020304" pitchFamily="18" charset="0"/>
                <a:cs typeface="Times New Roman" panose="02020603050405020304" pitchFamily="18" charset="0"/>
              </a:rPr>
              <a:t>programming, also referred to as modular programming, was first suggested by mathematicians, </a:t>
            </a:r>
            <a:r>
              <a:rPr lang="en-IN" sz="2400" dirty="0" err="1">
                <a:latin typeface="Times New Roman" panose="02020603050405020304" pitchFamily="18" charset="0"/>
                <a:cs typeface="Times New Roman" panose="02020603050405020304" pitchFamily="18" charset="0"/>
              </a:rPr>
              <a:t>Corrado</a:t>
            </a:r>
            <a:r>
              <a:rPr lang="en-IN" sz="2400" dirty="0">
                <a:latin typeface="Times New Roman" panose="02020603050405020304" pitchFamily="18" charset="0"/>
                <a:cs typeface="Times New Roman" panose="02020603050405020304" pitchFamily="18" charset="0"/>
              </a:rPr>
              <a:t> Bohme and </a:t>
            </a:r>
            <a:r>
              <a:rPr lang="en-IN" sz="2400" dirty="0" err="1">
                <a:latin typeface="Times New Roman" panose="02020603050405020304" pitchFamily="18" charset="0"/>
                <a:cs typeface="Times New Roman" panose="02020603050405020304" pitchFamily="18" charset="0"/>
              </a:rPr>
              <a:t>Guiseppe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Jacopini</a:t>
            </a:r>
            <a:r>
              <a:rPr lang="en-IN" sz="2400" dirty="0">
                <a:latin typeface="Times New Roman" panose="02020603050405020304" pitchFamily="18" charset="0"/>
                <a:cs typeface="Times New Roman" panose="02020603050405020304" pitchFamily="18" charset="0"/>
              </a:rPr>
              <a:t> in 1966. </a:t>
            </a:r>
          </a:p>
          <a:p>
            <a:pPr lvl="0"/>
            <a:r>
              <a:rPr lang="en-IN" sz="2400" dirty="0">
                <a:latin typeface="Times New Roman" panose="02020603050405020304" pitchFamily="18" charset="0"/>
                <a:cs typeface="Times New Roman" panose="02020603050405020304" pitchFamily="18" charset="0"/>
              </a:rPr>
              <a:t>It was specifically designed to enforce a logical structure on the program to make it more efficient and easier to understand and modify.</a:t>
            </a:r>
          </a:p>
          <a:p>
            <a:pPr lvl="0"/>
            <a:r>
              <a:rPr lang="en-IN" sz="2400" dirty="0">
                <a:latin typeface="Times New Roman" panose="02020603050405020304" pitchFamily="18" charset="0"/>
                <a:cs typeface="Times New Roman" panose="02020603050405020304" pitchFamily="18" charset="0"/>
              </a:rPr>
              <a:t>Structured programming employs a top-down approach in which the overall program structure is broken down into separate modules. </a:t>
            </a:r>
          </a:p>
          <a:p>
            <a:pPr lvl="0"/>
            <a:r>
              <a:rPr lang="en-IN" sz="2400" dirty="0">
                <a:latin typeface="Times New Roman" panose="02020603050405020304" pitchFamily="18" charset="0"/>
                <a:cs typeface="Times New Roman" panose="02020603050405020304" pitchFamily="18" charset="0"/>
              </a:rPr>
              <a:t>This allows the code to be loaded into memory more efficiently and also be reused in other programs.</a:t>
            </a:r>
          </a:p>
          <a:p>
            <a:endParaRPr lang="en-IN" dirty="0"/>
          </a:p>
        </p:txBody>
      </p:sp>
      <p:sp>
        <p:nvSpPr>
          <p:cNvPr id="3" name="Title 2"/>
          <p:cNvSpPr>
            <a:spLocks noGrp="1"/>
          </p:cNvSpPr>
          <p:nvPr>
            <p:ph type="title"/>
          </p:nvPr>
        </p:nvSpPr>
        <p:spPr/>
        <p:txBody>
          <a:bodyPr>
            <a:normAutofit fontScale="90000"/>
          </a:bodyPr>
          <a:lstStyle/>
          <a:p>
            <a:pPr lvl="0"/>
            <a:r>
              <a:rPr lang="en-IN" dirty="0">
                <a:latin typeface="Times New Roman" panose="02020603050405020304" pitchFamily="18" charset="0"/>
                <a:cs typeface="Times New Roman" panose="02020603050405020304" pitchFamily="18" charset="0"/>
              </a:rPr>
              <a:t>Structured programming</a:t>
            </a:r>
            <a:br>
              <a:rPr lang="en-IN" dirty="0">
                <a:latin typeface="Times New Roman" panose="02020603050405020304" pitchFamily="18" charset="0"/>
                <a:cs typeface="Times New Roman" panose="02020603050405020304" pitchFamily="18" charset="0"/>
              </a:rPr>
            </a:br>
            <a:endParaRPr lang="en-IN" dirty="0"/>
          </a:p>
        </p:txBody>
      </p:sp>
      <p:pic>
        <p:nvPicPr>
          <p:cNvPr id="4" name="Picture 3"/>
          <p:cNvPicPr/>
          <p:nvPr/>
        </p:nvPicPr>
        <p:blipFill>
          <a:blip r:embed="rId2"/>
          <a:stretch>
            <a:fillRect/>
          </a:stretch>
        </p:blipFill>
        <p:spPr>
          <a:xfrm>
            <a:off x="5562600" y="4800601"/>
            <a:ext cx="2652395" cy="1846580"/>
          </a:xfrm>
          <a:prstGeom prst="rect">
            <a:avLst/>
          </a:prstGeom>
        </p:spPr>
      </p:pic>
    </p:spTree>
    <p:extLst>
      <p:ext uri="{BB962C8B-B14F-4D97-AF65-F5344CB8AC3E}">
        <p14:creationId xmlns:p14="http://schemas.microsoft.com/office/powerpoint/2010/main" val="37871621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3810000"/>
          </a:xfrm>
        </p:spPr>
        <p:txBody>
          <a:bodyPr>
            <a:normAutofit/>
          </a:bodyPr>
          <a:lstStyle/>
          <a:p>
            <a:pPr lvl="0"/>
            <a:r>
              <a:rPr lang="en-IN" sz="2400" dirty="0">
                <a:latin typeface="Times New Roman" panose="02020603050405020304" pitchFamily="18" charset="0"/>
                <a:cs typeface="Times New Roman" panose="02020603050405020304" pitchFamily="18" charset="0"/>
              </a:rPr>
              <a:t>With the increase in size and complexity of programs, there was </a:t>
            </a:r>
            <a:r>
              <a:rPr lang="en-IN" sz="2400" dirty="0" err="1">
                <a:latin typeface="Times New Roman" panose="02020603050405020304" pitchFamily="18" charset="0"/>
                <a:cs typeface="Times New Roman" panose="02020603050405020304" pitchFamily="18" charset="0"/>
              </a:rPr>
              <a:t>aa</a:t>
            </a:r>
            <a:r>
              <a:rPr lang="en-IN" sz="2400" dirty="0">
                <a:latin typeface="Times New Roman" panose="02020603050405020304" pitchFamily="18" charset="0"/>
                <a:cs typeface="Times New Roman" panose="02020603050405020304" pitchFamily="18" charset="0"/>
              </a:rPr>
              <a:t> need for a new programming paradigm that could help develop maintainable programs.</a:t>
            </a:r>
          </a:p>
          <a:p>
            <a:pPr lvl="0"/>
            <a:r>
              <a:rPr lang="en-IN" sz="2400" dirty="0">
                <a:latin typeface="Times New Roman" panose="02020603050405020304" pitchFamily="18" charset="0"/>
                <a:cs typeface="Times New Roman" panose="02020603050405020304" pitchFamily="18" charset="0"/>
              </a:rPr>
              <a:t>To implement this the flaws in previous paradigm had to be corrected.</a:t>
            </a:r>
          </a:p>
          <a:p>
            <a:pPr lvl="0"/>
            <a:r>
              <a:rPr lang="en-IN" sz="2400" dirty="0">
                <a:latin typeface="Times New Roman" panose="02020603050405020304" pitchFamily="18" charset="0"/>
                <a:cs typeface="Times New Roman" panose="02020603050405020304" pitchFamily="18" charset="0"/>
              </a:rPr>
              <a:t>Consequently OOP was developed</a:t>
            </a:r>
          </a:p>
          <a:p>
            <a:pPr lvl="0"/>
            <a:r>
              <a:rPr lang="en-IN" sz="2400" dirty="0">
                <a:latin typeface="Times New Roman" panose="02020603050405020304" pitchFamily="18" charset="0"/>
                <a:cs typeface="Times New Roman" panose="02020603050405020304" pitchFamily="18" charset="0"/>
              </a:rPr>
              <a:t>This is task and data based language</a:t>
            </a:r>
          </a:p>
          <a:p>
            <a:pPr lvl="0"/>
            <a:r>
              <a:rPr lang="en-IN" sz="2400" dirty="0">
                <a:latin typeface="Times New Roman" panose="02020603050405020304" pitchFamily="18" charset="0"/>
                <a:cs typeface="Times New Roman" panose="02020603050405020304" pitchFamily="18" charset="0"/>
              </a:rPr>
              <a:t>Here all the relevant data and tasks are grouped together in entities known as objects.</a:t>
            </a:r>
          </a:p>
          <a:p>
            <a:endParaRPr lang="en-IN" dirty="0"/>
          </a:p>
        </p:txBody>
      </p:sp>
      <p:sp>
        <p:nvSpPr>
          <p:cNvPr id="3" name="Title 2"/>
          <p:cNvSpPr>
            <a:spLocks noGrp="1"/>
          </p:cNvSpPr>
          <p:nvPr>
            <p:ph type="title"/>
          </p:nvPr>
        </p:nvSpPr>
        <p:spPr>
          <a:xfrm>
            <a:off x="441960" y="26126"/>
            <a:ext cx="8229600" cy="1143000"/>
          </a:xfrm>
        </p:spPr>
        <p:txBody>
          <a:bodyPr/>
          <a:lstStyle/>
          <a:p>
            <a:r>
              <a:rPr lang="en-US" dirty="0" smtClean="0"/>
              <a:t>Object-Oriented programming</a:t>
            </a:r>
            <a:endParaRPr lang="en-IN" dirty="0"/>
          </a:p>
        </p:txBody>
      </p:sp>
      <p:pic>
        <p:nvPicPr>
          <p:cNvPr id="4" name="Content Placeholder 3"/>
          <p:cNvPicPr>
            <a:picLocks noChangeAspect="1"/>
          </p:cNvPicPr>
          <p:nvPr/>
        </p:nvPicPr>
        <p:blipFill>
          <a:blip r:embed="rId2"/>
          <a:stretch>
            <a:fillRect/>
          </a:stretch>
        </p:blipFill>
        <p:spPr>
          <a:xfrm>
            <a:off x="6172200" y="4191000"/>
            <a:ext cx="1522461" cy="2501900"/>
          </a:xfrm>
          <a:prstGeom prst="rect">
            <a:avLst/>
          </a:prstGeom>
        </p:spPr>
      </p:pic>
    </p:spTree>
    <p:extLst>
      <p:ext uri="{BB962C8B-B14F-4D97-AF65-F5344CB8AC3E}">
        <p14:creationId xmlns:p14="http://schemas.microsoft.com/office/powerpoint/2010/main" val="17736270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624078" indent="-514350">
              <a:buFont typeface="+mj-lt"/>
              <a:buAutoNum type="arabicPeriod"/>
            </a:pPr>
            <a:r>
              <a:rPr lang="en-US" b="1" dirty="0">
                <a:latin typeface="Times New Roman" panose="02020603050405020304" pitchFamily="18" charset="0"/>
                <a:cs typeface="Times New Roman" panose="02020603050405020304" pitchFamily="18" charset="0"/>
              </a:rPr>
              <a:t>Algorithms</a:t>
            </a:r>
          </a:p>
          <a:p>
            <a:pPr marL="624078" indent="-514350">
              <a:buFont typeface="+mj-lt"/>
              <a:buAutoNum type="arabicPeriod"/>
            </a:pPr>
            <a:r>
              <a:rPr lang="en-US" b="1" dirty="0">
                <a:latin typeface="Times New Roman" panose="02020603050405020304" pitchFamily="18" charset="0"/>
                <a:cs typeface="Times New Roman" panose="02020603050405020304" pitchFamily="18" charset="0"/>
              </a:rPr>
              <a:t>Flowcharts</a:t>
            </a:r>
          </a:p>
          <a:p>
            <a:pPr marL="624078" indent="-514350">
              <a:buFont typeface="+mj-lt"/>
              <a:buAutoNum type="arabicPeriod"/>
            </a:pPr>
            <a:r>
              <a:rPr lang="en-US" b="1" dirty="0" err="1">
                <a:latin typeface="Times New Roman" panose="02020603050405020304" pitchFamily="18" charset="0"/>
                <a:cs typeface="Times New Roman" panose="02020603050405020304" pitchFamily="18" charset="0"/>
              </a:rPr>
              <a:t>Pseudocodes</a:t>
            </a:r>
            <a:endParaRPr lang="en-US" b="1" dirty="0">
              <a:latin typeface="Times New Roman" panose="02020603050405020304" pitchFamily="18" charset="0"/>
              <a:cs typeface="Times New Roman" panose="02020603050405020304" pitchFamily="18" charset="0"/>
            </a:endParaRPr>
          </a:p>
          <a:p>
            <a:pPr marL="624078" indent="-514350">
              <a:buFont typeface="+mj-lt"/>
              <a:buAutoNum type="arabicPeriod"/>
            </a:pPr>
            <a:endParaRPr lang="en-US" b="1" dirty="0">
              <a:latin typeface="Times New Roman" panose="02020603050405020304" pitchFamily="18" charset="0"/>
              <a:cs typeface="Times New Roman" panose="02020603050405020304" pitchFamily="18" charset="0"/>
            </a:endParaRPr>
          </a:p>
          <a:p>
            <a:r>
              <a:rPr lang="en-US" sz="2800" b="1" u="sng" dirty="0">
                <a:latin typeface="Times New Roman" panose="02020603050405020304" pitchFamily="18" charset="0"/>
                <a:cs typeface="Times New Roman" panose="02020603050405020304" pitchFamily="18" charset="0"/>
              </a:rPr>
              <a:t>Flowcharts:</a:t>
            </a:r>
          </a:p>
          <a:p>
            <a:r>
              <a:rPr lang="en-US" sz="2800" dirty="0">
                <a:latin typeface="Times New Roman" panose="02020603050405020304" pitchFamily="18" charset="0"/>
                <a:cs typeface="Times New Roman" panose="02020603050405020304" pitchFamily="18" charset="0"/>
              </a:rPr>
              <a:t>It’s a graphical or symbolic representation of a process.</a:t>
            </a:r>
          </a:p>
          <a:p>
            <a:r>
              <a:rPr lang="en-US" sz="2800" dirty="0">
                <a:latin typeface="Times New Roman" panose="02020603050405020304" pitchFamily="18" charset="0"/>
                <a:cs typeface="Times New Roman" panose="02020603050405020304" pitchFamily="18" charset="0"/>
              </a:rPr>
              <a:t>Its used to design and document virtually complex process to help the viewers to visualize the logic of the process, </a:t>
            </a:r>
          </a:p>
          <a:p>
            <a:r>
              <a:rPr lang="en-US" sz="2800" dirty="0">
                <a:latin typeface="Times New Roman" panose="02020603050405020304" pitchFamily="18" charset="0"/>
                <a:cs typeface="Times New Roman" panose="02020603050405020304" pitchFamily="18" charset="0"/>
              </a:rPr>
              <a:t>so that they can gain a better understanding of the process</a:t>
            </a:r>
            <a:endParaRPr lang="en-IN" dirty="0"/>
          </a:p>
        </p:txBody>
      </p:sp>
      <p:sp>
        <p:nvSpPr>
          <p:cNvPr id="3" name="Title 2"/>
          <p:cNvSpPr>
            <a:spLocks noGrp="1"/>
          </p:cNvSpPr>
          <p:nvPr>
            <p:ph type="title"/>
          </p:nvPr>
        </p:nvSpPr>
        <p:spPr/>
        <p:txBody>
          <a:bodyPr/>
          <a:lstStyle/>
          <a:p>
            <a:r>
              <a:rPr lang="en-US" dirty="0"/>
              <a:t>Program design tools</a:t>
            </a:r>
            <a:endParaRPr lang="en-IN" dirty="0"/>
          </a:p>
        </p:txBody>
      </p:sp>
    </p:spTree>
    <p:extLst>
      <p:ext uri="{BB962C8B-B14F-4D97-AF65-F5344CB8AC3E}">
        <p14:creationId xmlns:p14="http://schemas.microsoft.com/office/powerpoint/2010/main" val="39542067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Symbols in the flowchart are linked together with arrows to show the flow of login the process.</a:t>
            </a:r>
          </a:p>
          <a:p>
            <a:r>
              <a:rPr lang="en-US" sz="2400" dirty="0">
                <a:latin typeface="Times New Roman" panose="02020603050405020304" pitchFamily="18" charset="0"/>
                <a:cs typeface="Times New Roman" panose="02020603050405020304" pitchFamily="18" charset="0"/>
              </a:rPr>
              <a:t>Symbols used in flowchart include:</a:t>
            </a:r>
          </a:p>
          <a:p>
            <a:pPr lvl="1">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Arrows</a:t>
            </a:r>
          </a:p>
          <a:p>
            <a:pPr lvl="1">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Generic processing step</a:t>
            </a:r>
          </a:p>
          <a:p>
            <a:pPr lvl="1">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Input/output symbols</a:t>
            </a:r>
          </a:p>
          <a:p>
            <a:pPr lvl="1">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A  conditional or decision symbol</a:t>
            </a:r>
          </a:p>
          <a:p>
            <a:pPr lvl="1">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Labelled connectors</a:t>
            </a:r>
          </a:p>
          <a:p>
            <a:pPr lvl="1">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Start and end symbols</a:t>
            </a:r>
          </a:p>
          <a:p>
            <a:endParaRPr lang="en-IN" dirty="0"/>
          </a:p>
        </p:txBody>
      </p:sp>
      <p:sp>
        <p:nvSpPr>
          <p:cNvPr id="3" name="Title 2"/>
          <p:cNvSpPr>
            <a:spLocks noGrp="1"/>
          </p:cNvSpPr>
          <p:nvPr>
            <p:ph type="title"/>
          </p:nvPr>
        </p:nvSpPr>
        <p:spPr/>
        <p:txBody>
          <a:bodyPr/>
          <a:lstStyle/>
          <a:p>
            <a:r>
              <a:rPr lang="en-US" sz="4000" dirty="0">
                <a:latin typeface="Times New Roman" panose="02020603050405020304" pitchFamily="18" charset="0"/>
                <a:cs typeface="Times New Roman" panose="02020603050405020304" pitchFamily="18" charset="0"/>
              </a:rPr>
              <a:t>Flowcharts</a:t>
            </a:r>
            <a:endParaRPr lang="en-IN" dirty="0"/>
          </a:p>
        </p:txBody>
      </p:sp>
    </p:spTree>
    <p:extLst>
      <p:ext uri="{BB962C8B-B14F-4D97-AF65-F5344CB8AC3E}">
        <p14:creationId xmlns:p14="http://schemas.microsoft.com/office/powerpoint/2010/main" val="11439546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400" dirty="0">
                <a:latin typeface="Times New Roman" panose="02020603050405020304" pitchFamily="18" charset="0"/>
                <a:cs typeface="Times New Roman" panose="02020603050405020304" pitchFamily="18" charset="0"/>
              </a:rPr>
              <a:t>Flowcharts</a:t>
            </a:r>
            <a:endParaRPr lang="en-IN" dirty="0"/>
          </a:p>
        </p:txBody>
      </p:sp>
      <p:pic>
        <p:nvPicPr>
          <p:cNvPr id="4" name="Content Placeholder 3"/>
          <p:cNvPicPr>
            <a:picLocks noGrp="1" noChangeAspect="1"/>
          </p:cNvPicPr>
          <p:nvPr>
            <p:ph idx="1"/>
          </p:nvPr>
        </p:nvPicPr>
        <p:blipFill>
          <a:blip r:embed="rId2"/>
          <a:stretch>
            <a:fillRect/>
          </a:stretch>
        </p:blipFill>
        <p:spPr>
          <a:xfrm>
            <a:off x="1271587" y="1915319"/>
            <a:ext cx="6600825" cy="3657600"/>
          </a:xfrm>
          <a:prstGeom prst="rect">
            <a:avLst/>
          </a:prstGeom>
        </p:spPr>
      </p:pic>
    </p:spTree>
    <p:extLst>
      <p:ext uri="{BB962C8B-B14F-4D97-AF65-F5344CB8AC3E}">
        <p14:creationId xmlns:p14="http://schemas.microsoft.com/office/powerpoint/2010/main" val="28137385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109728" indent="0">
              <a:buNone/>
            </a:pPr>
            <a:r>
              <a:rPr lang="en-US" sz="2800" b="1" u="sng" dirty="0">
                <a:latin typeface="Times New Roman" panose="02020603050405020304" pitchFamily="18" charset="0"/>
                <a:cs typeface="Times New Roman" panose="02020603050405020304" pitchFamily="18" charset="0"/>
              </a:rPr>
              <a:t>1.Start and end symbols:</a:t>
            </a:r>
          </a:p>
          <a:p>
            <a:r>
              <a:rPr lang="en-US" sz="2800" dirty="0">
                <a:latin typeface="Times New Roman" panose="02020603050405020304" pitchFamily="18" charset="0"/>
                <a:cs typeface="Times New Roman" panose="02020603050405020304" pitchFamily="18" charset="0"/>
              </a:rPr>
              <a:t>known as terminal symbol</a:t>
            </a:r>
          </a:p>
          <a:p>
            <a:r>
              <a:rPr lang="en-US" sz="2800" dirty="0">
                <a:latin typeface="Times New Roman" panose="02020603050405020304" pitchFamily="18" charset="0"/>
                <a:cs typeface="Times New Roman" panose="02020603050405020304" pitchFamily="18" charset="0"/>
              </a:rPr>
              <a:t>Represented as circle, ovals or rounded rectangles</a:t>
            </a:r>
          </a:p>
          <a:p>
            <a:r>
              <a:rPr lang="en-US" sz="2800" dirty="0">
                <a:latin typeface="Times New Roman" panose="02020603050405020304" pitchFamily="18" charset="0"/>
                <a:cs typeface="Times New Roman" panose="02020603050405020304" pitchFamily="18" charset="0"/>
              </a:rPr>
              <a:t>It’s a 1</a:t>
            </a:r>
            <a:r>
              <a:rPr lang="en-US" sz="2800" baseline="30000" dirty="0">
                <a:latin typeface="Times New Roman" panose="02020603050405020304" pitchFamily="18" charset="0"/>
                <a:cs typeface="Times New Roman" panose="02020603050405020304" pitchFamily="18" charset="0"/>
              </a:rPr>
              <a:t>st</a:t>
            </a:r>
            <a:r>
              <a:rPr lang="en-US" sz="2800" dirty="0">
                <a:latin typeface="Times New Roman" panose="02020603050405020304" pitchFamily="18" charset="0"/>
                <a:cs typeface="Times New Roman" panose="02020603050405020304" pitchFamily="18" charset="0"/>
              </a:rPr>
              <a:t> and last symbol in flowchart</a:t>
            </a:r>
          </a:p>
          <a:p>
            <a:pPr marL="109728" indent="0">
              <a:buNone/>
            </a:pPr>
            <a:r>
              <a:rPr lang="en-US" sz="2800" b="1" u="sng" dirty="0">
                <a:latin typeface="Times New Roman" panose="02020603050405020304" pitchFamily="18" charset="0"/>
                <a:cs typeface="Times New Roman" panose="02020603050405020304" pitchFamily="18" charset="0"/>
              </a:rPr>
              <a:t>2.Arrows:</a:t>
            </a:r>
          </a:p>
          <a:p>
            <a:r>
              <a:rPr lang="en-US" sz="2800" dirty="0">
                <a:latin typeface="Times New Roman" panose="02020603050405020304" pitchFamily="18" charset="0"/>
                <a:cs typeface="Times New Roman" panose="02020603050405020304" pitchFamily="18" charset="0"/>
              </a:rPr>
              <a:t>It shows the exact sequence in which the instructions are executed.</a:t>
            </a:r>
          </a:p>
          <a:p>
            <a:pPr marL="109728" indent="0">
              <a:buNone/>
            </a:pPr>
            <a:r>
              <a:rPr lang="en-US" sz="2800" b="1" u="sng" dirty="0">
                <a:latin typeface="Times New Roman" panose="02020603050405020304" pitchFamily="18" charset="0"/>
                <a:cs typeface="Times New Roman" panose="02020603050405020304" pitchFamily="18" charset="0"/>
              </a:rPr>
              <a:t>3.Generic processing step</a:t>
            </a:r>
          </a:p>
          <a:p>
            <a:r>
              <a:rPr lang="en-US" sz="2800" dirty="0">
                <a:latin typeface="Times New Roman" panose="02020603050405020304" pitchFamily="18" charset="0"/>
                <a:cs typeface="Times New Roman" panose="02020603050405020304" pitchFamily="18" charset="0"/>
              </a:rPr>
              <a:t>Also called as an activity</a:t>
            </a:r>
          </a:p>
          <a:p>
            <a:r>
              <a:rPr lang="en-US" sz="2800" dirty="0">
                <a:latin typeface="Times New Roman" panose="02020603050405020304" pitchFamily="18" charset="0"/>
                <a:cs typeface="Times New Roman" panose="02020603050405020304" pitchFamily="18" charset="0"/>
              </a:rPr>
              <a:t>Its represented using rectangle</a:t>
            </a:r>
          </a:p>
          <a:p>
            <a:r>
              <a:rPr lang="en-US" sz="2800" dirty="0">
                <a:latin typeface="Times New Roman" panose="02020603050405020304" pitchFamily="18" charset="0"/>
                <a:cs typeface="Times New Roman" panose="02020603050405020304" pitchFamily="18" charset="0"/>
              </a:rPr>
              <a:t>Arithmetic and data movement instructions</a:t>
            </a:r>
          </a:p>
          <a:p>
            <a:endParaRPr lang="en-IN" dirty="0"/>
          </a:p>
        </p:txBody>
      </p:sp>
      <p:sp>
        <p:nvSpPr>
          <p:cNvPr id="3" name="Title 2"/>
          <p:cNvSpPr>
            <a:spLocks noGrp="1"/>
          </p:cNvSpPr>
          <p:nvPr>
            <p:ph type="title"/>
          </p:nvPr>
        </p:nvSpPr>
        <p:spPr/>
        <p:txBody>
          <a:bodyPr/>
          <a:lstStyle/>
          <a:p>
            <a:r>
              <a:rPr lang="en-US" sz="4000" dirty="0">
                <a:latin typeface="Times New Roman" panose="02020603050405020304" pitchFamily="18" charset="0"/>
                <a:cs typeface="Times New Roman" panose="02020603050405020304" pitchFamily="18" charset="0"/>
              </a:rPr>
              <a:t>Flowcharts</a:t>
            </a:r>
            <a:endParaRPr lang="en-IN" dirty="0"/>
          </a:p>
        </p:txBody>
      </p:sp>
    </p:spTree>
    <p:extLst>
      <p:ext uri="{BB962C8B-B14F-4D97-AF65-F5344CB8AC3E}">
        <p14:creationId xmlns:p14="http://schemas.microsoft.com/office/powerpoint/2010/main" val="2423467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109728" indent="0">
              <a:buNone/>
            </a:pPr>
            <a:r>
              <a:rPr lang="en-US" sz="2800" b="1" u="sng" dirty="0">
                <a:latin typeface="Times New Roman" panose="02020603050405020304" pitchFamily="18" charset="0"/>
                <a:cs typeface="Times New Roman" panose="02020603050405020304" pitchFamily="18" charset="0"/>
              </a:rPr>
              <a:t>4.Input/</a:t>
            </a:r>
            <a:r>
              <a:rPr lang="en-US" sz="2800" b="1" u="sng" dirty="0" err="1">
                <a:latin typeface="Times New Roman" panose="02020603050405020304" pitchFamily="18" charset="0"/>
                <a:cs typeface="Times New Roman" panose="02020603050405020304" pitchFamily="18" charset="0"/>
              </a:rPr>
              <a:t>ouput</a:t>
            </a:r>
            <a:r>
              <a:rPr lang="en-US" sz="2800" b="1" u="sng" dirty="0">
                <a:latin typeface="Times New Roman" panose="02020603050405020304" pitchFamily="18" charset="0"/>
                <a:cs typeface="Times New Roman" panose="02020603050405020304" pitchFamily="18" charset="0"/>
              </a:rPr>
              <a:t> symbol:</a:t>
            </a:r>
          </a:p>
          <a:p>
            <a:r>
              <a:rPr lang="en-US" sz="2800" dirty="0">
                <a:latin typeface="Times New Roman" panose="02020603050405020304" pitchFamily="18" charset="0"/>
                <a:cs typeface="Times New Roman" panose="02020603050405020304" pitchFamily="18" charset="0"/>
              </a:rPr>
              <a:t>Represented using parallelogram</a:t>
            </a:r>
          </a:p>
          <a:p>
            <a:r>
              <a:rPr lang="en-US" sz="2800" dirty="0">
                <a:latin typeface="Times New Roman" panose="02020603050405020304" pitchFamily="18" charset="0"/>
                <a:cs typeface="Times New Roman" panose="02020603050405020304" pitchFamily="18" charset="0"/>
              </a:rPr>
              <a:t>Get input and display results</a:t>
            </a:r>
          </a:p>
          <a:p>
            <a:pPr marL="109728" indent="0">
              <a:buNone/>
            </a:pPr>
            <a:endParaRPr lang="en-US" sz="2800" dirty="0">
              <a:latin typeface="Times New Roman" panose="02020603050405020304" pitchFamily="18" charset="0"/>
              <a:cs typeface="Times New Roman" panose="02020603050405020304" pitchFamily="18" charset="0"/>
            </a:endParaRPr>
          </a:p>
          <a:p>
            <a:pPr marL="109728" indent="0">
              <a:buNone/>
            </a:pPr>
            <a:r>
              <a:rPr lang="en-US" sz="2800" b="1" u="sng" dirty="0">
                <a:latin typeface="Times New Roman" panose="02020603050405020304" pitchFamily="18" charset="0"/>
                <a:cs typeface="Times New Roman" panose="02020603050405020304" pitchFamily="18" charset="0"/>
              </a:rPr>
              <a:t>5.A conditional or decision symbol:</a:t>
            </a:r>
          </a:p>
          <a:p>
            <a:r>
              <a:rPr lang="en-US" sz="2800" dirty="0">
                <a:latin typeface="Times New Roman" panose="02020603050405020304" pitchFamily="18" charset="0"/>
                <a:cs typeface="Times New Roman" panose="02020603050405020304" pitchFamily="18" charset="0"/>
              </a:rPr>
              <a:t>Represented using diamond</a:t>
            </a:r>
          </a:p>
          <a:p>
            <a:r>
              <a:rPr lang="en-US" sz="2800" dirty="0">
                <a:latin typeface="Times New Roman" panose="02020603050405020304" pitchFamily="18" charset="0"/>
                <a:cs typeface="Times New Roman" panose="02020603050405020304" pitchFamily="18" charset="0"/>
              </a:rPr>
              <a:t>Used to depict a yes/no question</a:t>
            </a:r>
          </a:p>
          <a:p>
            <a:r>
              <a:rPr lang="en-US" sz="2800" dirty="0">
                <a:latin typeface="Times New Roman" panose="02020603050405020304" pitchFamily="18" charset="0"/>
                <a:cs typeface="Times New Roman" panose="02020603050405020304" pitchFamily="18" charset="0"/>
              </a:rPr>
              <a:t>It can have more than 2 arrows</a:t>
            </a:r>
          </a:p>
          <a:p>
            <a:pPr marL="109728" indent="0">
              <a:buNone/>
            </a:pPr>
            <a:r>
              <a:rPr lang="en-US" sz="2800" b="1" u="sng" dirty="0">
                <a:latin typeface="Times New Roman" panose="02020603050405020304" pitchFamily="18" charset="0"/>
                <a:cs typeface="Times New Roman" panose="02020603050405020304" pitchFamily="18" charset="0"/>
              </a:rPr>
              <a:t>6.Labelled connectors:</a:t>
            </a:r>
          </a:p>
          <a:p>
            <a:r>
              <a:rPr lang="en-US" sz="2800" dirty="0">
                <a:latin typeface="Times New Roman" panose="02020603050405020304" pitchFamily="18" charset="0"/>
                <a:cs typeface="Times New Roman" panose="02020603050405020304" pitchFamily="18" charset="0"/>
              </a:rPr>
              <a:t>Represented by circle</a:t>
            </a:r>
          </a:p>
          <a:p>
            <a:r>
              <a:rPr lang="en-US" sz="2800" dirty="0">
                <a:latin typeface="Times New Roman" panose="02020603050405020304" pitchFamily="18" charset="0"/>
                <a:cs typeface="Times New Roman" panose="02020603050405020304" pitchFamily="18" charset="0"/>
              </a:rPr>
              <a:t>Connector</a:t>
            </a:r>
          </a:p>
          <a:p>
            <a:endParaRPr lang="en-IN" dirty="0"/>
          </a:p>
        </p:txBody>
      </p:sp>
      <p:sp>
        <p:nvSpPr>
          <p:cNvPr id="3" name="Title 2"/>
          <p:cNvSpPr>
            <a:spLocks noGrp="1"/>
          </p:cNvSpPr>
          <p:nvPr>
            <p:ph type="title"/>
          </p:nvPr>
        </p:nvSpPr>
        <p:spPr/>
        <p:txBody>
          <a:bodyPr/>
          <a:lstStyle/>
          <a:p>
            <a:r>
              <a:rPr lang="en-US" sz="4400" dirty="0">
                <a:latin typeface="Times New Roman" panose="02020603050405020304" pitchFamily="18" charset="0"/>
                <a:cs typeface="Times New Roman" panose="02020603050405020304" pitchFamily="18" charset="0"/>
              </a:rPr>
              <a:t>Flowcharts</a:t>
            </a:r>
            <a:endParaRPr lang="en-IN" dirty="0"/>
          </a:p>
        </p:txBody>
      </p:sp>
    </p:spTree>
    <p:extLst>
      <p:ext uri="{BB962C8B-B14F-4D97-AF65-F5344CB8AC3E}">
        <p14:creationId xmlns:p14="http://schemas.microsoft.com/office/powerpoint/2010/main" val="32762056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lvl="0"/>
            <a:r>
              <a:rPr lang="en-US" sz="2800" dirty="0">
                <a:latin typeface="Times New Roman" panose="02020603050405020304" pitchFamily="18" charset="0"/>
                <a:cs typeface="Times New Roman" panose="02020603050405020304" pitchFamily="18" charset="0"/>
              </a:rPr>
              <a:t>A flowchart is a diagrammatic representation that illustrates the sequence of steps that must be performed to solve a problem. </a:t>
            </a:r>
          </a:p>
          <a:p>
            <a:pPr lvl="0"/>
            <a:r>
              <a:rPr lang="en-US" sz="2800" dirty="0">
                <a:latin typeface="Times New Roman" panose="02020603050405020304" pitchFamily="18" charset="0"/>
                <a:cs typeface="Times New Roman" panose="02020603050405020304" pitchFamily="18" charset="0"/>
              </a:rPr>
              <a:t>It facilitates communication between programmers and users. </a:t>
            </a:r>
          </a:p>
          <a:p>
            <a:pPr lvl="0"/>
            <a:r>
              <a:rPr lang="en-US" sz="2800" dirty="0">
                <a:latin typeface="Times New Roman" panose="02020603050405020304" pitchFamily="18" charset="0"/>
                <a:cs typeface="Times New Roman" panose="02020603050405020304" pitchFamily="18" charset="0"/>
              </a:rPr>
              <a:t>Flowcharts are very important in the programming of a problem as they help the programmers to understand the logic of complicated and lengthy problems.</a:t>
            </a:r>
          </a:p>
          <a:p>
            <a:pPr lvl="0"/>
            <a:r>
              <a:rPr lang="en-US" sz="2800" dirty="0">
                <a:latin typeface="Times New Roman" panose="02020603050405020304" pitchFamily="18" charset="0"/>
                <a:cs typeface="Times New Roman" panose="02020603050405020304" pitchFamily="18" charset="0"/>
              </a:rPr>
              <a:t> Once a flowchart is drawn, it becomes easy for the programmers to write the program in any high-level language.</a:t>
            </a:r>
          </a:p>
          <a:p>
            <a:pPr lvl="0"/>
            <a:r>
              <a:rPr lang="en-US" sz="2800" dirty="0">
                <a:latin typeface="Times New Roman" panose="02020603050405020304" pitchFamily="18" charset="0"/>
                <a:cs typeface="Times New Roman" panose="02020603050405020304" pitchFamily="18" charset="0"/>
              </a:rPr>
              <a:t> Hence, the flowchart has become a necessity for better documentation of complex programs.</a:t>
            </a:r>
          </a:p>
          <a:p>
            <a:pPr lvl="0"/>
            <a:r>
              <a:rPr lang="en-US" sz="2800" dirty="0">
                <a:latin typeface="Times New Roman" panose="02020603050405020304" pitchFamily="18" charset="0"/>
                <a:cs typeface="Times New Roman" panose="02020603050405020304" pitchFamily="18" charset="0"/>
              </a:rPr>
              <a:t>A flowchart follows the top-down approach in solving problems.</a:t>
            </a:r>
          </a:p>
          <a:p>
            <a:endParaRPr lang="en-IN" dirty="0"/>
          </a:p>
        </p:txBody>
      </p:sp>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Significance of Flowcharts</a:t>
            </a:r>
            <a:endParaRPr lang="en-IN" dirty="0"/>
          </a:p>
        </p:txBody>
      </p:sp>
    </p:spTree>
    <p:extLst>
      <p:ext uri="{BB962C8B-B14F-4D97-AF65-F5344CB8AC3E}">
        <p14:creationId xmlns:p14="http://schemas.microsoft.com/office/powerpoint/2010/main" val="3416550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109728" indent="0">
              <a:buNone/>
            </a:pPr>
            <a:r>
              <a:rPr lang="en-US" dirty="0" smtClean="0">
                <a:latin typeface="Times New Roman" panose="02020603050405020304" pitchFamily="18" charset="0"/>
                <a:cs typeface="Times New Roman" panose="02020603050405020304" pitchFamily="18" charset="0"/>
              </a:rPr>
              <a:t>Contents</a:t>
            </a:r>
          </a:p>
          <a:p>
            <a:pPr marL="109728" indent="0">
              <a:buNone/>
            </a:pPr>
            <a:r>
              <a:rPr lang="en-US" dirty="0" smtClean="0">
                <a:latin typeface="Times New Roman" panose="02020603050405020304" pitchFamily="18" charset="0"/>
                <a:cs typeface="Times New Roman" panose="02020603050405020304" pitchFamily="18" charset="0"/>
              </a:rPr>
              <a:t>Introduction to c</a:t>
            </a:r>
          </a:p>
          <a:p>
            <a:pPr marL="109728" indent="0">
              <a:buNone/>
            </a:pPr>
            <a:r>
              <a:rPr lang="en-US" dirty="0" smtClean="0">
                <a:latin typeface="Times New Roman" panose="02020603050405020304" pitchFamily="18" charset="0"/>
                <a:cs typeface="Times New Roman" panose="02020603050405020304" pitchFamily="18" charset="0"/>
              </a:rPr>
              <a:t>Characteristics of c</a:t>
            </a:r>
          </a:p>
          <a:p>
            <a:pPr marL="109728" indent="0">
              <a:buNone/>
            </a:pPr>
            <a:r>
              <a:rPr lang="en-US" dirty="0" smtClean="0">
                <a:latin typeface="Times New Roman" panose="02020603050405020304" pitchFamily="18" charset="0"/>
                <a:cs typeface="Times New Roman" panose="02020603050405020304" pitchFamily="18" charset="0"/>
              </a:rPr>
              <a:t>Uses of c</a:t>
            </a:r>
          </a:p>
          <a:p>
            <a:pPr marL="109728" indent="0">
              <a:buNone/>
            </a:pPr>
            <a:r>
              <a:rPr lang="en-US" dirty="0" smtClean="0">
                <a:latin typeface="Times New Roman" panose="02020603050405020304" pitchFamily="18" charset="0"/>
                <a:cs typeface="Times New Roman" panose="02020603050405020304" pitchFamily="18" charset="0"/>
              </a:rPr>
              <a:t>Structure of a c program</a:t>
            </a:r>
          </a:p>
          <a:p>
            <a:pPr marL="109728" indent="0">
              <a:buNone/>
            </a:pPr>
            <a:r>
              <a:rPr lang="en-US" dirty="0" smtClean="0">
                <a:latin typeface="Times New Roman" panose="02020603050405020304" pitchFamily="18" charset="0"/>
                <a:cs typeface="Times New Roman" panose="02020603050405020304" pitchFamily="18" charset="0"/>
              </a:rPr>
              <a:t>Writing the first c program</a:t>
            </a:r>
          </a:p>
          <a:p>
            <a:pPr marL="109728" indent="0">
              <a:buNone/>
            </a:pPr>
            <a:r>
              <a:rPr lang="en-US" dirty="0" smtClean="0">
                <a:latin typeface="Times New Roman" panose="02020603050405020304" pitchFamily="18" charset="0"/>
                <a:cs typeface="Times New Roman" panose="02020603050405020304" pitchFamily="18" charset="0"/>
              </a:rPr>
              <a:t>Files used in c </a:t>
            </a:r>
          </a:p>
          <a:p>
            <a:pPr marL="109728" indent="0">
              <a:buNone/>
            </a:pPr>
            <a:r>
              <a:rPr lang="en-US" dirty="0" smtClean="0">
                <a:latin typeface="Times New Roman" panose="02020603050405020304" pitchFamily="18" charset="0"/>
                <a:cs typeface="Times New Roman" panose="02020603050405020304" pitchFamily="18" charset="0"/>
              </a:rPr>
              <a:t>Compiling and executing c</a:t>
            </a:r>
          </a:p>
          <a:p>
            <a:pPr marL="109728" indent="0">
              <a:buNone/>
            </a:pPr>
            <a:r>
              <a:rPr lang="en-US" dirty="0" smtClean="0">
                <a:latin typeface="Times New Roman" panose="02020603050405020304" pitchFamily="18" charset="0"/>
                <a:cs typeface="Times New Roman" panose="02020603050405020304" pitchFamily="18" charset="0"/>
              </a:rPr>
              <a:t>Using </a:t>
            </a:r>
            <a:r>
              <a:rPr lang="en-US" dirty="0" err="1" smtClean="0">
                <a:latin typeface="Times New Roman" panose="02020603050405020304" pitchFamily="18" charset="0"/>
                <a:cs typeface="Times New Roman" panose="02020603050405020304" pitchFamily="18" charset="0"/>
              </a:rPr>
              <a:t>comments,c</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tokens,character</a:t>
            </a:r>
            <a:r>
              <a:rPr lang="en-US" dirty="0" smtClean="0">
                <a:latin typeface="Times New Roman" panose="02020603050405020304" pitchFamily="18" charset="0"/>
                <a:cs typeface="Times New Roman" panose="02020603050405020304" pitchFamily="18" charset="0"/>
              </a:rPr>
              <a:t> set, keywords ,identifiers, basic data types in c, variables, constants, input/output statement in c</a:t>
            </a:r>
          </a:p>
          <a:p>
            <a:pPr marL="109728" indent="0">
              <a:buNone/>
            </a:pPr>
            <a:endParaRPr lang="en-US" b="1" u="sng" dirty="0" smtClean="0"/>
          </a:p>
          <a:p>
            <a:endParaRPr lang="en-US" b="1" u="sng" dirty="0" smtClean="0"/>
          </a:p>
          <a:p>
            <a:endParaRPr lang="en-US" b="1" u="sng" dirty="0" smtClean="0"/>
          </a:p>
          <a:p>
            <a:pPr marL="109728" indent="0">
              <a:buNone/>
            </a:pPr>
            <a:endParaRPr lang="en-IN" dirty="0"/>
          </a:p>
        </p:txBody>
      </p:sp>
      <p:sp>
        <p:nvSpPr>
          <p:cNvPr id="3" name="Title 2"/>
          <p:cNvSpPr>
            <a:spLocks noGrp="1"/>
          </p:cNvSpPr>
          <p:nvPr>
            <p:ph type="title"/>
          </p:nvPr>
        </p:nvSpPr>
        <p:spPr/>
        <p:txBody>
          <a:bodyPr/>
          <a:lstStyle/>
          <a:p>
            <a:r>
              <a:rPr lang="en-US" dirty="0"/>
              <a:t>Programming in C</a:t>
            </a:r>
            <a:endParaRPr lang="en-IN" dirty="0"/>
          </a:p>
        </p:txBody>
      </p:sp>
    </p:spTree>
    <p:extLst>
      <p:ext uri="{BB962C8B-B14F-4D97-AF65-F5344CB8AC3E}">
        <p14:creationId xmlns:p14="http://schemas.microsoft.com/office/powerpoint/2010/main" val="3334913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lvl="0"/>
            <a:r>
              <a:rPr lang="en-US" sz="2800" dirty="0">
                <a:latin typeface="Times New Roman" panose="02020603050405020304" pitchFamily="18" charset="0"/>
                <a:cs typeface="Times New Roman" panose="02020603050405020304" pitchFamily="18" charset="0"/>
              </a:rPr>
              <a:t>The programming language C was developed in the early 1970s by Dennis Ritchie at Bell Laboratories to be used by the UNIX operating system. </a:t>
            </a:r>
          </a:p>
          <a:p>
            <a:pPr lvl="0"/>
            <a:r>
              <a:rPr lang="en-US" sz="2800" dirty="0">
                <a:latin typeface="Times New Roman" panose="02020603050405020304" pitchFamily="18" charset="0"/>
                <a:cs typeface="Times New Roman" panose="02020603050405020304" pitchFamily="18" charset="0"/>
              </a:rPr>
              <a:t>It was named 'C' because many of its features were derived from an earlier language called 'B'. </a:t>
            </a:r>
          </a:p>
          <a:p>
            <a:pPr lvl="0"/>
            <a:r>
              <a:rPr lang="en-US" sz="2800" dirty="0">
                <a:latin typeface="Times New Roman" panose="02020603050405020304" pitchFamily="18" charset="0"/>
                <a:cs typeface="Times New Roman" panose="02020603050405020304" pitchFamily="18" charset="0"/>
              </a:rPr>
              <a:t>C is one of the most popular programming languages.</a:t>
            </a:r>
          </a:p>
          <a:p>
            <a:pPr lvl="0"/>
            <a:r>
              <a:rPr lang="en-US" sz="2800" dirty="0">
                <a:latin typeface="Times New Roman" panose="02020603050405020304" pitchFamily="18" charset="0"/>
                <a:cs typeface="Times New Roman" panose="02020603050405020304" pitchFamily="18" charset="0"/>
              </a:rPr>
              <a:t>It is being used on several different software platforms.</a:t>
            </a:r>
          </a:p>
          <a:p>
            <a:endParaRPr lang="en-IN" dirty="0"/>
          </a:p>
        </p:txBody>
      </p:sp>
      <p:sp>
        <p:nvSpPr>
          <p:cNvPr id="3" name="Title 2"/>
          <p:cNvSpPr>
            <a:spLocks noGrp="1"/>
          </p:cNvSpPr>
          <p:nvPr>
            <p:ph type="title"/>
          </p:nvPr>
        </p:nvSpPr>
        <p:spPr/>
        <p:txBody>
          <a:bodyPr/>
          <a:lstStyle/>
          <a:p>
            <a:r>
              <a:rPr lang="en-US" dirty="0"/>
              <a:t>Introduction </a:t>
            </a:r>
            <a:endParaRPr lang="en-IN" dirty="0"/>
          </a:p>
        </p:txBody>
      </p:sp>
    </p:spTree>
    <p:extLst>
      <p:ext uri="{BB962C8B-B14F-4D97-AF65-F5344CB8AC3E}">
        <p14:creationId xmlns:p14="http://schemas.microsoft.com/office/powerpoint/2010/main" val="16197111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lvl="0"/>
            <a:r>
              <a:rPr lang="en-US" dirty="0">
                <a:latin typeface="Times New Roman" panose="02020603050405020304" pitchFamily="18" charset="0"/>
                <a:cs typeface="Times New Roman" panose="02020603050405020304" pitchFamily="18" charset="0"/>
              </a:rPr>
              <a:t>C is a robust language whose rich set of built-in functions and operators can be used to write complex programs.</a:t>
            </a:r>
          </a:p>
          <a:p>
            <a:pPr lvl="0"/>
            <a:r>
              <a:rPr lang="en-US" dirty="0">
                <a:latin typeface="Times New Roman" panose="02020603050405020304" pitchFamily="18" charset="0"/>
                <a:cs typeface="Times New Roman" panose="02020603050405020304" pitchFamily="18" charset="0"/>
              </a:rPr>
              <a:t>C is a high-level programming language, which enables the programmer to concentrate on the problem at hand and not worry about the machine code on which the program would be run.</a:t>
            </a:r>
          </a:p>
          <a:p>
            <a:pPr lvl="0"/>
            <a:r>
              <a:rPr lang="en-US" dirty="0">
                <a:latin typeface="Times New Roman" panose="02020603050405020304" pitchFamily="18" charset="0"/>
                <a:cs typeface="Times New Roman" panose="02020603050405020304" pitchFamily="18" charset="0"/>
              </a:rPr>
              <a:t>Small size-C has only 32 keywords. This makes it relatively easy to learn as compared to other languages.</a:t>
            </a:r>
          </a:p>
          <a:p>
            <a:pPr lvl="0"/>
            <a:r>
              <a:rPr lang="en-US" dirty="0">
                <a:latin typeface="Times New Roman" panose="02020603050405020304" pitchFamily="18" charset="0"/>
                <a:cs typeface="Times New Roman" panose="02020603050405020304" pitchFamily="18" charset="0"/>
              </a:rPr>
              <a:t>C makes extensive use of function calls.</a:t>
            </a:r>
          </a:p>
          <a:p>
            <a:pPr lvl="0"/>
            <a:r>
              <a:rPr lang="en-US" dirty="0">
                <a:latin typeface="Times New Roman" panose="02020603050405020304" pitchFamily="18" charset="0"/>
                <a:cs typeface="Times New Roman" panose="02020603050405020304" pitchFamily="18" charset="0"/>
              </a:rPr>
              <a:t>C is well suited for structured programming. In this programming approach, C enables users to think of a problem in terms of functions/modules where the collection of all the modules makes up a complete program. This feature facilitates ease in program debugging, testing, and maintenance.</a:t>
            </a:r>
          </a:p>
          <a:p>
            <a:pPr lvl="0"/>
            <a:r>
              <a:rPr lang="en-US" dirty="0">
                <a:latin typeface="Times New Roman" panose="02020603050405020304" pitchFamily="18" charset="0"/>
                <a:cs typeface="Times New Roman" panose="02020603050405020304" pitchFamily="18" charset="0"/>
              </a:rPr>
              <a:t>Unlike PASCAL it supports loose typing </a:t>
            </a:r>
          </a:p>
          <a:p>
            <a:endParaRPr lang="en-IN" dirty="0"/>
          </a:p>
        </p:txBody>
      </p:sp>
      <p:sp>
        <p:nvSpPr>
          <p:cNvPr id="3" name="Title 2"/>
          <p:cNvSpPr>
            <a:spLocks noGrp="1"/>
          </p:cNvSpPr>
          <p:nvPr>
            <p:ph type="title"/>
          </p:nvPr>
        </p:nvSpPr>
        <p:spPr/>
        <p:txBody>
          <a:bodyPr/>
          <a:lstStyle/>
          <a:p>
            <a:r>
              <a:rPr lang="en-US" dirty="0"/>
              <a:t>Characteristics of C</a:t>
            </a:r>
            <a:endParaRPr lang="en-IN" dirty="0"/>
          </a:p>
        </p:txBody>
      </p:sp>
    </p:spTree>
    <p:extLst>
      <p:ext uri="{BB962C8B-B14F-4D97-AF65-F5344CB8AC3E}">
        <p14:creationId xmlns:p14="http://schemas.microsoft.com/office/powerpoint/2010/main" val="8788344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609600"/>
            <a:ext cx="8229600" cy="5562600"/>
          </a:xfrm>
        </p:spPr>
        <p:txBody>
          <a:bodyPr>
            <a:normAutofit fontScale="85000" lnSpcReduction="20000"/>
          </a:bodyPr>
          <a:lstStyle/>
          <a:p>
            <a:pPr lvl="0"/>
            <a:r>
              <a:rPr lang="en-US" dirty="0">
                <a:latin typeface="Times New Roman" panose="02020603050405020304" pitchFamily="18" charset="0"/>
                <a:cs typeface="Times New Roman" panose="02020603050405020304" pitchFamily="18" charset="0"/>
              </a:rPr>
              <a:t>Structured language as the code can be organized as a collection of one or more functions.</a:t>
            </a:r>
          </a:p>
          <a:p>
            <a:pPr lvl="0"/>
            <a:r>
              <a:rPr lang="en-US" dirty="0">
                <a:latin typeface="Times New Roman" panose="02020603050405020304" pitchFamily="18" charset="0"/>
                <a:cs typeface="Times New Roman" panose="02020603050405020304" pitchFamily="18" charset="0"/>
              </a:rPr>
              <a:t>Stable language. </a:t>
            </a:r>
          </a:p>
          <a:p>
            <a:pPr lvl="0"/>
            <a:r>
              <a:rPr lang="en-US" dirty="0">
                <a:latin typeface="Times New Roman" panose="02020603050405020304" pitchFamily="18" charset="0"/>
                <a:cs typeface="Times New Roman" panose="02020603050405020304" pitchFamily="18" charset="0"/>
              </a:rPr>
              <a:t>Quick language as a well written C program is likely to be as quick as or quicker than a program written in any other language. Since C programs make use of operators and data types, they are fast and efficient. </a:t>
            </a:r>
          </a:p>
          <a:p>
            <a:pPr lvl="0"/>
            <a:r>
              <a:rPr lang="en-US" dirty="0">
                <a:latin typeface="Times New Roman" panose="02020603050405020304" pitchFamily="18" charset="0"/>
                <a:cs typeface="Times New Roman" panose="02020603050405020304" pitchFamily="18" charset="0"/>
              </a:rPr>
              <a:t>Facilitates low level (bitwise) programming.</a:t>
            </a:r>
          </a:p>
          <a:p>
            <a:pPr lvl="0"/>
            <a:r>
              <a:rPr lang="en-US" dirty="0">
                <a:latin typeface="Times New Roman" panose="02020603050405020304" pitchFamily="18" charset="0"/>
                <a:cs typeface="Times New Roman" panose="02020603050405020304" pitchFamily="18" charset="0"/>
              </a:rPr>
              <a:t>Supports pointers to refer computer memory , arrays, structures, and functions.</a:t>
            </a:r>
          </a:p>
          <a:p>
            <a:pPr lvl="0"/>
            <a:r>
              <a:rPr lang="en-US" dirty="0">
                <a:latin typeface="Times New Roman" panose="02020603050405020304" pitchFamily="18" charset="0"/>
                <a:cs typeface="Times New Roman" panose="02020603050405020304" pitchFamily="18" charset="0"/>
              </a:rPr>
              <a:t>Core language. C is a core language as many other programming languages (like C++, Java, Perl, etc.) are based on C.</a:t>
            </a:r>
          </a:p>
          <a:p>
            <a:pPr lvl="0"/>
            <a:r>
              <a:rPr lang="en-US" dirty="0">
                <a:latin typeface="Times New Roman" panose="02020603050405020304" pitchFamily="18" charset="0"/>
                <a:cs typeface="Times New Roman" panose="02020603050405020304" pitchFamily="18" charset="0"/>
              </a:rPr>
              <a:t>C is a portable language, i.e., a C program written for one computer can be run on another computer with little or no modification.</a:t>
            </a:r>
          </a:p>
          <a:p>
            <a:pPr lvl="0"/>
            <a:r>
              <a:rPr lang="en-US" dirty="0">
                <a:latin typeface="Times New Roman" panose="02020603050405020304" pitchFamily="18" charset="0"/>
                <a:cs typeface="Times New Roman" panose="02020603050405020304" pitchFamily="18" charset="0"/>
              </a:rPr>
              <a:t>C is an extensible language as it enables the user to add his own functions to the C library.</a:t>
            </a:r>
          </a:p>
          <a:p>
            <a:endParaRPr lang="en-US" dirty="0"/>
          </a:p>
        </p:txBody>
      </p:sp>
    </p:spTree>
    <p:extLst>
      <p:ext uri="{BB962C8B-B14F-4D97-AF65-F5344CB8AC3E}">
        <p14:creationId xmlns:p14="http://schemas.microsoft.com/office/powerpoint/2010/main" val="6193305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19200"/>
            <a:ext cx="8229600" cy="4995672"/>
          </a:xfrm>
        </p:spPr>
        <p:txBody>
          <a:bodyPr>
            <a:normAutofit fontScale="77500" lnSpcReduction="20000"/>
          </a:bodyPr>
          <a:lstStyle/>
          <a:p>
            <a:pPr lvl="0"/>
            <a:r>
              <a:rPr lang="en-US" dirty="0">
                <a:latin typeface="Times New Roman" panose="02020603050405020304" pitchFamily="18" charset="0"/>
                <a:cs typeface="Times New Roman" panose="02020603050405020304" pitchFamily="18" charset="0"/>
              </a:rPr>
              <a:t>C is a very simple language that is widely used by software professionals around the globe. The uses of C language can be summarized as follows:</a:t>
            </a:r>
          </a:p>
          <a:p>
            <a:pPr lvl="0"/>
            <a:r>
              <a:rPr lang="en-US" dirty="0">
                <a:latin typeface="Times New Roman" panose="02020603050405020304" pitchFamily="18" charset="0"/>
                <a:cs typeface="Times New Roman" panose="02020603050405020304" pitchFamily="18" charset="0"/>
              </a:rPr>
              <a:t>C language is primarily used for system programming.</a:t>
            </a:r>
          </a:p>
          <a:p>
            <a:pPr lvl="0"/>
            <a:r>
              <a:rPr lang="en-US" dirty="0">
                <a:latin typeface="Times New Roman" panose="02020603050405020304" pitchFamily="18" charset="0"/>
                <a:cs typeface="Times New Roman" panose="02020603050405020304" pitchFamily="18" charset="0"/>
              </a:rPr>
              <a:t>The portability, efficiency, the ability to access specific hardware addresses, and low runtime demand on system resources make it a good choice for implementing operating systems and embedded system applications.</a:t>
            </a:r>
          </a:p>
          <a:p>
            <a:pPr lvl="0"/>
            <a:r>
              <a:rPr lang="en-US" dirty="0">
                <a:latin typeface="Times New Roman" panose="02020603050405020304" pitchFamily="18" charset="0"/>
                <a:cs typeface="Times New Roman" panose="02020603050405020304" pitchFamily="18" charset="0"/>
              </a:rPr>
              <a:t> C has been so widely accepted by professionals that compilers, libraries, and interpreters of other programming languages are often written in C.</a:t>
            </a:r>
          </a:p>
          <a:p>
            <a:pPr lvl="0"/>
            <a:r>
              <a:rPr lang="en-US" dirty="0">
                <a:latin typeface="Times New Roman" panose="02020603050405020304" pitchFamily="18" charset="0"/>
                <a:cs typeface="Times New Roman" panose="02020603050405020304" pitchFamily="18" charset="0"/>
              </a:rPr>
              <a:t>For portability and convenience reasons, C is sometimes used as an intermediate language for implementation of other languages. </a:t>
            </a:r>
          </a:p>
          <a:p>
            <a:pPr lvl="0"/>
            <a:r>
              <a:rPr lang="en-US" dirty="0">
                <a:latin typeface="Times New Roman" panose="02020603050405020304" pitchFamily="18" charset="0"/>
                <a:cs typeface="Times New Roman" panose="02020603050405020304" pitchFamily="18" charset="0"/>
              </a:rPr>
              <a:t>Basically, C was designed as a programming language and was not meant to be used as a compiler target language. Therefore, although C can be used as an intermediate language it is not an ideal option. </a:t>
            </a:r>
          </a:p>
          <a:p>
            <a:pPr lvl="0"/>
            <a:r>
              <a:rPr lang="en-US" dirty="0">
                <a:latin typeface="Times New Roman" panose="02020603050405020304" pitchFamily="18" charset="0"/>
                <a:cs typeface="Times New Roman" panose="02020603050405020304" pitchFamily="18" charset="0"/>
              </a:rPr>
              <a:t>C is widely used to implement end-user applications.</a:t>
            </a:r>
          </a:p>
          <a:p>
            <a:endParaRPr lang="en-IN"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r>
              <a:rPr lang="en-US" dirty="0"/>
              <a:t>Uses of C</a:t>
            </a:r>
            <a:endParaRPr lang="en-IN" dirty="0"/>
          </a:p>
        </p:txBody>
      </p:sp>
    </p:spTree>
    <p:extLst>
      <p:ext uri="{BB962C8B-B14F-4D97-AF65-F5344CB8AC3E}">
        <p14:creationId xmlns:p14="http://schemas.microsoft.com/office/powerpoint/2010/main" val="40544636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843272"/>
          </a:xfrm>
        </p:spPr>
        <p:txBody>
          <a:bodyPr>
            <a:normAutofit fontScale="77500" lnSpcReduction="20000"/>
          </a:bodyPr>
          <a:lstStyle/>
          <a:p>
            <a:pPr lvl="0"/>
            <a:r>
              <a:rPr lang="en-US" sz="2900" dirty="0">
                <a:latin typeface="Times New Roman" panose="02020603050405020304" pitchFamily="18" charset="0"/>
                <a:cs typeface="Times New Roman" panose="02020603050405020304" pitchFamily="18" charset="0"/>
              </a:rPr>
              <a:t>A C program is composed of preprocessor commands, a global declaration section, and one or more functions (Figure 9.2).</a:t>
            </a:r>
          </a:p>
          <a:p>
            <a:pPr lvl="0"/>
            <a:r>
              <a:rPr lang="en-US" sz="2900" dirty="0">
                <a:latin typeface="Times New Roman" panose="02020603050405020304" pitchFamily="18" charset="0"/>
                <a:cs typeface="Times New Roman" panose="02020603050405020304" pitchFamily="18" charset="0"/>
              </a:rPr>
              <a:t>The preprocessor directives contain special instructions that indicate how to prepare the program for compilation.</a:t>
            </a:r>
          </a:p>
          <a:p>
            <a:pPr lvl="0"/>
            <a:r>
              <a:rPr lang="en-US" sz="2900" dirty="0">
                <a:latin typeface="Times New Roman" panose="02020603050405020304" pitchFamily="18" charset="0"/>
                <a:cs typeface="Times New Roman" panose="02020603050405020304" pitchFamily="18" charset="0"/>
              </a:rPr>
              <a:t> One of the most important and commonly used preprocessor commands is </a:t>
            </a:r>
            <a:r>
              <a:rPr lang="en-US" sz="2900" b="1" dirty="0">
                <a:latin typeface="Times New Roman" panose="02020603050405020304" pitchFamily="18" charset="0"/>
                <a:cs typeface="Times New Roman" panose="02020603050405020304" pitchFamily="18" charset="0"/>
              </a:rPr>
              <a:t>include</a:t>
            </a:r>
            <a:r>
              <a:rPr lang="en-US" sz="2900" dirty="0">
                <a:latin typeface="Times New Roman" panose="02020603050405020304" pitchFamily="18" charset="0"/>
                <a:cs typeface="Times New Roman" panose="02020603050405020304" pitchFamily="18" charset="0"/>
              </a:rPr>
              <a:t> which tells the compiler that to execute the program, some information is needed from the specified header file.</a:t>
            </a:r>
          </a:p>
          <a:p>
            <a:pPr lvl="0"/>
            <a:r>
              <a:rPr lang="en-US" sz="2900" dirty="0">
                <a:latin typeface="Times New Roman" panose="02020603050405020304" pitchFamily="18" charset="0"/>
                <a:cs typeface="Times New Roman" panose="02020603050405020304" pitchFamily="18" charset="0"/>
              </a:rPr>
              <a:t>A C program contains one or more functions, where a function is defined as a group of C statements that are executed together. The statements in a C function are written in a logical sequence to perform a specific task.</a:t>
            </a:r>
          </a:p>
          <a:p>
            <a:pPr lvl="0"/>
            <a:r>
              <a:rPr lang="en-US" sz="2900" dirty="0">
                <a:latin typeface="Times New Roman" panose="02020603050405020304" pitchFamily="18" charset="0"/>
                <a:cs typeface="Times New Roman" panose="02020603050405020304" pitchFamily="18" charset="0"/>
              </a:rPr>
              <a:t>The main () function is the most important function and is a part of every C program. The execution of a C program begins at this function.</a:t>
            </a:r>
          </a:p>
          <a:p>
            <a:endParaRPr lang="en-IN" dirty="0"/>
          </a:p>
        </p:txBody>
      </p:sp>
      <p:sp>
        <p:nvSpPr>
          <p:cNvPr id="3" name="Title 2"/>
          <p:cNvSpPr>
            <a:spLocks noGrp="1"/>
          </p:cNvSpPr>
          <p:nvPr>
            <p:ph type="title"/>
          </p:nvPr>
        </p:nvSpPr>
        <p:spPr/>
        <p:txBody>
          <a:bodyPr/>
          <a:lstStyle/>
          <a:p>
            <a:r>
              <a:rPr lang="en-US" dirty="0"/>
              <a:t>Structure of a C Program</a:t>
            </a:r>
            <a:endParaRPr lang="en-IN" dirty="0"/>
          </a:p>
        </p:txBody>
      </p:sp>
    </p:spTree>
    <p:extLst>
      <p:ext uri="{BB962C8B-B14F-4D97-AF65-F5344CB8AC3E}">
        <p14:creationId xmlns:p14="http://schemas.microsoft.com/office/powerpoint/2010/main" val="37878822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990600"/>
            <a:ext cx="8229600" cy="4525963"/>
          </a:xfrm>
        </p:spPr>
        <p:txBody>
          <a:bodyPr>
            <a:normAutofit fontScale="92500"/>
          </a:bodyPr>
          <a:lstStyle/>
          <a:p>
            <a:pPr lvl="0"/>
            <a:r>
              <a:rPr lang="en-US" sz="2800" dirty="0">
                <a:latin typeface="Times New Roman" panose="02020603050405020304" pitchFamily="18" charset="0"/>
                <a:cs typeface="Times New Roman" panose="02020603050405020304" pitchFamily="18" charset="0"/>
              </a:rPr>
              <a:t>All functions including main () are divided into two parts the declaration section and the statement section.</a:t>
            </a:r>
          </a:p>
          <a:p>
            <a:pPr lvl="0"/>
            <a:r>
              <a:rPr lang="en-US" sz="2800" dirty="0">
                <a:latin typeface="Times New Roman" panose="02020603050405020304" pitchFamily="18" charset="0"/>
                <a:cs typeface="Times New Roman" panose="02020603050405020304" pitchFamily="18" charset="0"/>
              </a:rPr>
              <a:t>The declaration section precedes the statement section and is used to describe the data that will be used in the function. Note that data declared within a function are known as local declaration as that data will be visible only within that function. Stated in other terms, the life-time of the data will be only till the function ends. The statement section in a function contains the code that manipulates the data to perform a specified task.</a:t>
            </a:r>
          </a:p>
          <a:p>
            <a:endParaRPr lang="en-US" dirty="0"/>
          </a:p>
        </p:txBody>
      </p:sp>
    </p:spTree>
    <p:extLst>
      <p:ext uri="{BB962C8B-B14F-4D97-AF65-F5344CB8AC3E}">
        <p14:creationId xmlns:p14="http://schemas.microsoft.com/office/powerpoint/2010/main" val="39972417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pPr lvl="0"/>
            <a:r>
              <a:rPr lang="en-US" dirty="0">
                <a:latin typeface="Times New Roman" panose="02020603050405020304" pitchFamily="18" charset="0"/>
                <a:cs typeface="Times New Roman" panose="02020603050405020304" pitchFamily="18" charset="0"/>
              </a:rPr>
              <a:t>To write a C program, we first need to write the code. </a:t>
            </a:r>
          </a:p>
          <a:p>
            <a:pPr lvl="0"/>
            <a:r>
              <a:rPr lang="en-US" dirty="0">
                <a:latin typeface="Times New Roman" panose="02020603050405020304" pitchFamily="18" charset="0"/>
                <a:cs typeface="Times New Roman" panose="02020603050405020304" pitchFamily="18" charset="0"/>
              </a:rPr>
              <a:t>For this, open a text editor. If you are a Windows user you may use Notepad and if you prefer working on UNIX/Linux you can use </a:t>
            </a:r>
            <a:r>
              <a:rPr lang="en-US" dirty="0" err="1">
                <a:latin typeface="Times New Roman" panose="02020603050405020304" pitchFamily="18" charset="0"/>
                <a:cs typeface="Times New Roman" panose="02020603050405020304" pitchFamily="18" charset="0"/>
              </a:rPr>
              <a:t>emacs</a:t>
            </a:r>
            <a:r>
              <a:rPr lang="en-US" dirty="0">
                <a:latin typeface="Times New Roman" panose="02020603050405020304" pitchFamily="18" charset="0"/>
                <a:cs typeface="Times New Roman" panose="02020603050405020304" pitchFamily="18" charset="0"/>
              </a:rPr>
              <a:t> or vi. </a:t>
            </a:r>
          </a:p>
          <a:p>
            <a:pPr lvl="0"/>
            <a:r>
              <a:rPr lang="en-US" dirty="0">
                <a:latin typeface="Times New Roman" panose="02020603050405020304" pitchFamily="18" charset="0"/>
                <a:cs typeface="Times New Roman" panose="02020603050405020304" pitchFamily="18" charset="0"/>
              </a:rPr>
              <a:t>Once the text editor is opened on your screen, type the following statements:</a:t>
            </a:r>
          </a:p>
          <a:p>
            <a:r>
              <a:rPr lang="en-US" b="1" dirty="0">
                <a:latin typeface="Times New Roman" panose="02020603050405020304" pitchFamily="18" charset="0"/>
                <a:cs typeface="Times New Roman" panose="02020603050405020304" pitchFamily="18" charset="0"/>
              </a:rPr>
              <a:t>#include &lt;</a:t>
            </a:r>
            <a:r>
              <a:rPr lang="en-US" b="1" dirty="0" err="1">
                <a:latin typeface="Times New Roman" panose="02020603050405020304" pitchFamily="18" charset="0"/>
                <a:cs typeface="Times New Roman" panose="02020603050405020304" pitchFamily="18" charset="0"/>
              </a:rPr>
              <a:t>stdio.h</a:t>
            </a:r>
            <a:r>
              <a:rPr lang="en-US" b="1" dirty="0">
                <a:latin typeface="Times New Roman" panose="02020603050405020304" pitchFamily="18" charset="0"/>
                <a:cs typeface="Times New Roman" panose="02020603050405020304" pitchFamily="18" charset="0"/>
              </a:rPr>
              <a:t>&gt;</a:t>
            </a:r>
            <a:endParaRPr lang="en-US" dirty="0">
              <a:latin typeface="Times New Roman" panose="02020603050405020304" pitchFamily="18" charset="0"/>
              <a:cs typeface="Times New Roman" panose="02020603050405020304" pitchFamily="18" charset="0"/>
            </a:endParaRPr>
          </a:p>
          <a:p>
            <a:r>
              <a:rPr lang="en-US" b="1" dirty="0" err="1">
                <a:latin typeface="Times New Roman" panose="02020603050405020304" pitchFamily="18" charset="0"/>
                <a:cs typeface="Times New Roman" panose="02020603050405020304" pitchFamily="18" charset="0"/>
              </a:rPr>
              <a:t>int</a:t>
            </a:r>
            <a:r>
              <a:rPr lang="en-US" b="1" dirty="0">
                <a:latin typeface="Times New Roman" panose="02020603050405020304" pitchFamily="18" charset="0"/>
                <a:cs typeface="Times New Roman" panose="02020603050405020304" pitchFamily="18" charset="0"/>
              </a:rPr>
              <a:t> main()</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b="1" dirty="0" err="1">
                <a:latin typeface="Times New Roman" panose="02020603050405020304" pitchFamily="18" charset="0"/>
                <a:cs typeface="Times New Roman" panose="02020603050405020304" pitchFamily="18" charset="0"/>
              </a:rPr>
              <a:t>printf</a:t>
            </a:r>
            <a:r>
              <a:rPr lang="en-US" b="1" dirty="0">
                <a:latin typeface="Times New Roman" panose="02020603050405020304" pitchFamily="18" charset="0"/>
                <a:cs typeface="Times New Roman" panose="02020603050405020304" pitchFamily="18" charset="0"/>
              </a:rPr>
              <a:t> ("\n Welcome to the world of C ");</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return 0;</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p>
          <a:p>
            <a:r>
              <a:rPr lang="en-US" b="1" u="sng" dirty="0">
                <a:latin typeface="Times New Roman" panose="02020603050405020304" pitchFamily="18" charset="0"/>
                <a:cs typeface="Times New Roman" panose="02020603050405020304" pitchFamily="18" charset="0"/>
              </a:rPr>
              <a:t>Output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Welcome to the world of c</a:t>
            </a:r>
          </a:p>
          <a:p>
            <a:r>
              <a:rPr lang="en-US" dirty="0">
                <a:latin typeface="Times New Roman" panose="02020603050405020304" pitchFamily="18" charset="0"/>
                <a:cs typeface="Times New Roman" panose="02020603050405020304" pitchFamily="18" charset="0"/>
              </a:rPr>
              <a:t> </a:t>
            </a:r>
          </a:p>
          <a:p>
            <a:r>
              <a:rPr lang="en-US" b="1" dirty="0">
                <a:latin typeface="Times New Roman" panose="02020603050405020304" pitchFamily="18" charset="0"/>
                <a:cs typeface="Times New Roman" panose="02020603050405020304" pitchFamily="18" charset="0"/>
              </a:rPr>
              <a:t>#include&lt;</a:t>
            </a:r>
            <a:r>
              <a:rPr lang="en-US" b="1" dirty="0" err="1">
                <a:latin typeface="Times New Roman" panose="02020603050405020304" pitchFamily="18" charset="0"/>
                <a:cs typeface="Times New Roman" panose="02020603050405020304" pitchFamily="18" charset="0"/>
              </a:rPr>
              <a:t>stdio.h</a:t>
            </a:r>
            <a:r>
              <a:rPr lang="en-US" b="1" dirty="0">
                <a:latin typeface="Times New Roman" panose="02020603050405020304" pitchFamily="18" charset="0"/>
                <a:cs typeface="Times New Roman" panose="02020603050405020304" pitchFamily="18" charset="0"/>
              </a:rPr>
              <a:t>&gt;</a:t>
            </a:r>
            <a:endParaRPr lang="en-US" dirty="0">
              <a:latin typeface="Times New Roman" panose="02020603050405020304" pitchFamily="18" charset="0"/>
              <a:cs typeface="Times New Roman" panose="02020603050405020304" pitchFamily="18" charset="0"/>
            </a:endParaRPr>
          </a:p>
          <a:p>
            <a:endParaRPr lang="en-IN" dirty="0"/>
          </a:p>
        </p:txBody>
      </p:sp>
      <p:sp>
        <p:nvSpPr>
          <p:cNvPr id="3" name="Title 2"/>
          <p:cNvSpPr>
            <a:spLocks noGrp="1"/>
          </p:cNvSpPr>
          <p:nvPr>
            <p:ph type="title"/>
          </p:nvPr>
        </p:nvSpPr>
        <p:spPr/>
        <p:txBody>
          <a:bodyPr/>
          <a:lstStyle/>
          <a:p>
            <a:r>
              <a:rPr lang="en-US" dirty="0"/>
              <a:t>Writing the first C Program</a:t>
            </a:r>
            <a:endParaRPr lang="en-IN" dirty="0"/>
          </a:p>
        </p:txBody>
      </p:sp>
    </p:spTree>
    <p:extLst>
      <p:ext uri="{BB962C8B-B14F-4D97-AF65-F5344CB8AC3E}">
        <p14:creationId xmlns:p14="http://schemas.microsoft.com/office/powerpoint/2010/main" val="31302367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228600"/>
            <a:ext cx="8229600" cy="5943600"/>
          </a:xfrm>
        </p:spPr>
        <p:txBody>
          <a:bodyPr>
            <a:normAutofit fontScale="77500" lnSpcReduction="20000"/>
          </a:bodyPr>
          <a:lstStyle/>
          <a:p>
            <a:r>
              <a:rPr lang="en-US" b="1" dirty="0" err="1">
                <a:latin typeface="Times New Roman" panose="02020603050405020304" pitchFamily="18" charset="0"/>
                <a:cs typeface="Times New Roman" panose="02020603050405020304" pitchFamily="18" charset="0"/>
              </a:rPr>
              <a:t>int</a:t>
            </a:r>
            <a:r>
              <a:rPr lang="en-US" b="1" dirty="0">
                <a:latin typeface="Times New Roman" panose="02020603050405020304" pitchFamily="18" charset="0"/>
                <a:cs typeface="Times New Roman" panose="02020603050405020304" pitchFamily="18" charset="0"/>
              </a:rPr>
              <a:t> main()</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Every C program contains a main() function which is the starting point of the program.</a:t>
            </a:r>
          </a:p>
          <a:p>
            <a:pPr lvl="0"/>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is the return value of the main(  )function. After all the statements in the program</a:t>
            </a:r>
          </a:p>
          <a:p>
            <a:pPr lvl="0"/>
            <a:r>
              <a:rPr lang="en-US" dirty="0">
                <a:latin typeface="Times New Roman" panose="02020603050405020304" pitchFamily="18" charset="0"/>
                <a:cs typeface="Times New Roman" panose="02020603050405020304" pitchFamily="18" charset="0"/>
              </a:rPr>
              <a:t>{} The two curly brackets are used to group all the related statements of the main function. All the statements between the braces form the function body. The function body contains a set of instructions to perform the given task</a:t>
            </a:r>
            <a:r>
              <a:rPr lang="en-US" dirty="0" smtClean="0">
                <a:latin typeface="Times New Roman" panose="02020603050405020304" pitchFamily="18" charset="0"/>
                <a:cs typeface="Times New Roman" panose="02020603050405020304" pitchFamily="18" charset="0"/>
              </a:rPr>
              <a:t>.</a:t>
            </a:r>
          </a:p>
          <a:p>
            <a:r>
              <a:rPr lang="en-US" b="1" dirty="0" err="1">
                <a:latin typeface="Times New Roman" panose="02020603050405020304" pitchFamily="18" charset="0"/>
                <a:cs typeface="Times New Roman" panose="02020603050405020304" pitchFamily="18" charset="0"/>
              </a:rPr>
              <a:t>printf</a:t>
            </a:r>
            <a:r>
              <a:rPr lang="en-US" b="1" dirty="0">
                <a:latin typeface="Times New Roman" panose="02020603050405020304" pitchFamily="18" charset="0"/>
                <a:cs typeface="Times New Roman" panose="02020603050405020304" pitchFamily="18" charset="0"/>
              </a:rPr>
              <a:t>("\n Welcome to the world of c");</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 function is defined in the </a:t>
            </a:r>
            <a:r>
              <a:rPr lang="en-US" dirty="0" err="1">
                <a:latin typeface="Times New Roman" panose="02020603050405020304" pitchFamily="18" charset="0"/>
                <a:cs typeface="Times New Roman" panose="02020603050405020304" pitchFamily="18" charset="0"/>
              </a:rPr>
              <a:t>stdio.h</a:t>
            </a:r>
            <a:r>
              <a:rPr lang="en-US" dirty="0">
                <a:latin typeface="Times New Roman" panose="02020603050405020304" pitchFamily="18" charset="0"/>
                <a:cs typeface="Times New Roman" panose="02020603050405020304" pitchFamily="18" charset="0"/>
              </a:rPr>
              <a:t> file and is used to print text on the screen. </a:t>
            </a:r>
          </a:p>
          <a:p>
            <a:pPr lvl="0"/>
            <a:r>
              <a:rPr lang="en-US" dirty="0">
                <a:latin typeface="Times New Roman" panose="02020603050405020304" pitchFamily="18" charset="0"/>
                <a:cs typeface="Times New Roman" panose="02020603050405020304" pitchFamily="18" charset="0"/>
              </a:rPr>
              <a:t>The message that has to be displayed on the screen is enclosed within double quotes and put inside brackets.</a:t>
            </a:r>
          </a:p>
          <a:p>
            <a:r>
              <a:rPr lang="en-US" dirty="0">
                <a:latin typeface="Times New Roman" panose="02020603050405020304" pitchFamily="18" charset="0"/>
                <a:cs typeface="Times New Roman" panose="02020603050405020304" pitchFamily="18" charset="0"/>
              </a:rPr>
              <a:t> </a:t>
            </a:r>
          </a:p>
          <a:p>
            <a:r>
              <a:rPr lang="en-US" b="1" dirty="0">
                <a:latin typeface="Times New Roman" panose="02020603050405020304" pitchFamily="18" charset="0"/>
                <a:cs typeface="Times New Roman" panose="02020603050405020304" pitchFamily="18" charset="0"/>
              </a:rPr>
              <a:t>return 0;</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This is a return command that is used to return the value O to the operating system to give an indication that there were no errors during the execution of the program.</a:t>
            </a:r>
          </a:p>
          <a:p>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lvl="0"/>
            <a:endParaRPr lang="en-US" dirty="0"/>
          </a:p>
          <a:p>
            <a:endParaRPr lang="en-US" dirty="0"/>
          </a:p>
        </p:txBody>
      </p:sp>
    </p:spTree>
    <p:extLst>
      <p:ext uri="{BB962C8B-B14F-4D97-AF65-F5344CB8AC3E}">
        <p14:creationId xmlns:p14="http://schemas.microsoft.com/office/powerpoint/2010/main" val="170820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143000"/>
            <a:ext cx="8229600" cy="4525963"/>
          </a:xfrm>
        </p:spPr>
        <p:txBody>
          <a:bodyPr>
            <a:normAutofit fontScale="70000" lnSpcReduction="20000"/>
          </a:bodyPr>
          <a:lstStyle/>
          <a:p>
            <a:r>
              <a:rPr lang="en-US" dirty="0"/>
              <a:t> </a:t>
            </a:r>
          </a:p>
          <a:p>
            <a:r>
              <a:rPr lang="en-US" sz="3100" dirty="0">
                <a:latin typeface="Times New Roman" panose="02020603050405020304" pitchFamily="18" charset="0"/>
                <a:cs typeface="Times New Roman" panose="02020603050405020304" pitchFamily="18" charset="0"/>
              </a:rPr>
              <a:t> </a:t>
            </a:r>
            <a:r>
              <a:rPr lang="en-US" sz="3100" b="1" dirty="0">
                <a:latin typeface="Times New Roman" panose="02020603050405020304" pitchFamily="18" charset="0"/>
                <a:cs typeface="Times New Roman" panose="02020603050405020304" pitchFamily="18" charset="0"/>
              </a:rPr>
              <a:t>Source Code Files</a:t>
            </a:r>
            <a:endParaRPr lang="en-US" sz="3100" dirty="0">
              <a:latin typeface="Times New Roman" panose="02020603050405020304" pitchFamily="18" charset="0"/>
              <a:cs typeface="Times New Roman" panose="02020603050405020304" pitchFamily="18" charset="0"/>
            </a:endParaRPr>
          </a:p>
          <a:p>
            <a:pPr lvl="0"/>
            <a:r>
              <a:rPr lang="en-US" sz="3100" dirty="0">
                <a:latin typeface="Times New Roman" panose="02020603050405020304" pitchFamily="18" charset="0"/>
                <a:cs typeface="Times New Roman" panose="02020603050405020304" pitchFamily="18" charset="0"/>
              </a:rPr>
              <a:t>The source code file contains the source code of the program. </a:t>
            </a:r>
          </a:p>
          <a:p>
            <a:r>
              <a:rPr lang="en-US" sz="3100" dirty="0">
                <a:latin typeface="Times New Roman" panose="02020603050405020304" pitchFamily="18" charset="0"/>
                <a:cs typeface="Times New Roman" panose="02020603050405020304" pitchFamily="18" charset="0"/>
              </a:rPr>
              <a:t>The file extension of any C source code file is .</a:t>
            </a:r>
            <a:r>
              <a:rPr lang="en-US" sz="3100" dirty="0" smtClean="0">
                <a:latin typeface="Times New Roman" panose="02020603050405020304" pitchFamily="18" charset="0"/>
                <a:cs typeface="Times New Roman" panose="02020603050405020304" pitchFamily="18" charset="0"/>
              </a:rPr>
              <a:t>c‘</a:t>
            </a:r>
          </a:p>
          <a:p>
            <a:r>
              <a:rPr lang="en-US" sz="3100" b="1" dirty="0">
                <a:latin typeface="Times New Roman" panose="02020603050405020304" pitchFamily="18" charset="0"/>
                <a:cs typeface="Times New Roman" panose="02020603050405020304" pitchFamily="18" charset="0"/>
              </a:rPr>
              <a:t>Header Files</a:t>
            </a:r>
            <a:endParaRPr lang="en-US" sz="3100" dirty="0">
              <a:latin typeface="Times New Roman" panose="02020603050405020304" pitchFamily="18" charset="0"/>
              <a:cs typeface="Times New Roman" panose="02020603050405020304" pitchFamily="18" charset="0"/>
            </a:endParaRPr>
          </a:p>
          <a:p>
            <a:pPr lvl="0"/>
            <a:r>
              <a:rPr lang="en-US" sz="3100" dirty="0">
                <a:latin typeface="Times New Roman" panose="02020603050405020304" pitchFamily="18" charset="0"/>
                <a:cs typeface="Times New Roman" panose="02020603050405020304" pitchFamily="18" charset="0"/>
              </a:rPr>
              <a:t>When working with large projects, it is often desirable to separate out certain subroutines from the main() function of the program. </a:t>
            </a:r>
            <a:endParaRPr lang="en-IN" sz="3100" dirty="0" smtClean="0">
              <a:latin typeface="Times New Roman" panose="02020603050405020304" pitchFamily="18" charset="0"/>
              <a:cs typeface="Times New Roman" panose="02020603050405020304" pitchFamily="18" charset="0"/>
            </a:endParaRPr>
          </a:p>
          <a:p>
            <a:r>
              <a:rPr lang="en-US" sz="3100" b="1" u="sng" dirty="0">
                <a:latin typeface="Times New Roman" panose="02020603050405020304" pitchFamily="18" charset="0"/>
                <a:cs typeface="Times New Roman" panose="02020603050405020304" pitchFamily="18" charset="0"/>
              </a:rPr>
              <a:t>Object Files</a:t>
            </a:r>
            <a:endParaRPr lang="en-US" sz="3100" dirty="0">
              <a:latin typeface="Times New Roman" panose="02020603050405020304" pitchFamily="18" charset="0"/>
              <a:cs typeface="Times New Roman" panose="02020603050405020304" pitchFamily="18" charset="0"/>
            </a:endParaRPr>
          </a:p>
          <a:p>
            <a:pPr lvl="0"/>
            <a:r>
              <a:rPr lang="en-US" sz="3100" dirty="0">
                <a:latin typeface="Times New Roman" panose="02020603050405020304" pitchFamily="18" charset="0"/>
                <a:cs typeface="Times New Roman" panose="02020603050405020304" pitchFamily="18" charset="0"/>
              </a:rPr>
              <a:t>Object files are generated by the compiler as a result of processing the source code file. </a:t>
            </a:r>
          </a:p>
          <a:p>
            <a:pPr lvl="0"/>
            <a:r>
              <a:rPr lang="en-US" sz="3100" dirty="0">
                <a:latin typeface="Times New Roman" panose="02020603050405020304" pitchFamily="18" charset="0"/>
                <a:cs typeface="Times New Roman" panose="02020603050405020304" pitchFamily="18" charset="0"/>
              </a:rPr>
              <a:t>Object files contain compact binary code of the function definitions. </a:t>
            </a:r>
          </a:p>
          <a:p>
            <a:r>
              <a:rPr lang="en-US" sz="3100" b="1" dirty="0">
                <a:latin typeface="Times New Roman" panose="02020603050405020304" pitchFamily="18" charset="0"/>
                <a:cs typeface="Times New Roman" panose="02020603050405020304" pitchFamily="18" charset="0"/>
              </a:rPr>
              <a:t>Binary Executable Files</a:t>
            </a:r>
            <a:endParaRPr lang="en-US" sz="3100" dirty="0">
              <a:latin typeface="Times New Roman" panose="02020603050405020304" pitchFamily="18" charset="0"/>
              <a:cs typeface="Times New Roman" panose="02020603050405020304" pitchFamily="18" charset="0"/>
            </a:endParaRPr>
          </a:p>
          <a:p>
            <a:pPr lvl="0"/>
            <a:r>
              <a:rPr lang="en-US" sz="3100" dirty="0">
                <a:latin typeface="Times New Roman" panose="02020603050405020304" pitchFamily="18" charset="0"/>
                <a:cs typeface="Times New Roman" panose="02020603050405020304" pitchFamily="18" charset="0"/>
              </a:rPr>
              <a:t>The binary executable file is generated by the linker. </a:t>
            </a:r>
          </a:p>
          <a:p>
            <a:endParaRPr lang="en-IN" sz="31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a:xfrm>
            <a:off x="381000" y="338328"/>
            <a:ext cx="8229600" cy="1143000"/>
          </a:xfrm>
        </p:spPr>
        <p:txBody>
          <a:bodyPr/>
          <a:lstStyle/>
          <a:p>
            <a:r>
              <a:rPr lang="en-US" dirty="0"/>
              <a:t>Files used in a C program</a:t>
            </a:r>
            <a:endParaRPr lang="en-IN" dirty="0"/>
          </a:p>
        </p:txBody>
      </p:sp>
    </p:spTree>
    <p:extLst>
      <p:ext uri="{BB962C8B-B14F-4D97-AF65-F5344CB8AC3E}">
        <p14:creationId xmlns:p14="http://schemas.microsoft.com/office/powerpoint/2010/main" val="30700578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5071872"/>
          </a:xfrm>
        </p:spPr>
        <p:txBody>
          <a:bodyPr>
            <a:normAutofit fontScale="70000" lnSpcReduction="20000"/>
          </a:bodyPr>
          <a:lstStyle/>
          <a:p>
            <a:pPr lvl="0"/>
            <a:r>
              <a:rPr lang="en-US" dirty="0">
                <a:latin typeface="Times New Roman" panose="02020603050405020304" pitchFamily="18" charset="0"/>
                <a:cs typeface="Times New Roman" panose="02020603050405020304" pitchFamily="18" charset="0"/>
              </a:rPr>
              <a:t>C is a compiled language. So once a C program is written, you must run it through a C compiler that can create an executable file to be run by the computer. </a:t>
            </a:r>
          </a:p>
          <a:p>
            <a:pPr lvl="0"/>
            <a:r>
              <a:rPr lang="en-US" dirty="0">
                <a:latin typeface="Times New Roman" panose="02020603050405020304" pitchFamily="18" charset="0"/>
                <a:cs typeface="Times New Roman" panose="02020603050405020304" pitchFamily="18" charset="0"/>
              </a:rPr>
              <a:t>While the C program is human-readable, the executable file, on the other hand, is a machine-readable file available in executable form.</a:t>
            </a:r>
          </a:p>
          <a:p>
            <a:pPr lvl="0"/>
            <a:r>
              <a:rPr lang="en-US" dirty="0">
                <a:latin typeface="Times New Roman" panose="02020603050405020304" pitchFamily="18" charset="0"/>
                <a:cs typeface="Times New Roman" panose="02020603050405020304" pitchFamily="18" charset="0"/>
              </a:rPr>
              <a:t>The mechanical part of running a C program begins with one or more program source files, and ends with an executable file, which can be run on a computer.</a:t>
            </a:r>
          </a:p>
          <a:p>
            <a:pPr lvl="0"/>
            <a:r>
              <a:rPr lang="en-US" dirty="0">
                <a:latin typeface="Times New Roman" panose="02020603050405020304" pitchFamily="18" charset="0"/>
                <a:cs typeface="Times New Roman" panose="02020603050405020304" pitchFamily="18" charset="0"/>
              </a:rPr>
              <a:t>The programming process starts with creating a source file that consists of the statements of the program written in C language. This source file usually contains ASCII characters and can be produced with a text editor, such as Windows notepad, or in an Integrated Design Environment.</a:t>
            </a:r>
          </a:p>
          <a:p>
            <a:pPr lvl="0"/>
            <a:r>
              <a:rPr lang="en-US" dirty="0">
                <a:latin typeface="Times New Roman" panose="02020603050405020304" pitchFamily="18" charset="0"/>
                <a:cs typeface="Times New Roman" panose="02020603050405020304" pitchFamily="18" charset="0"/>
              </a:rPr>
              <a:t>The source file is then processed by a special program called a compiler.</a:t>
            </a:r>
          </a:p>
          <a:p>
            <a:pPr lvl="0"/>
            <a:r>
              <a:rPr lang="en-IN" dirty="0">
                <a:latin typeface="Times New Roman" panose="02020603050405020304" pitchFamily="18" charset="0"/>
                <a:cs typeface="Times New Roman" panose="02020603050405020304" pitchFamily="18" charset="0"/>
              </a:rPr>
              <a:t>The compiler translates the source code into an object code. The object code contains the machine instructions for the CPU, and calls to the operating system API (Application Programming Interface)</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Therefore, in the next step, the object file is processed with another special program called a linker. </a:t>
            </a:r>
          </a:p>
          <a:p>
            <a:endParaRPr lang="en-IN" dirty="0"/>
          </a:p>
        </p:txBody>
      </p:sp>
      <p:sp>
        <p:nvSpPr>
          <p:cNvPr id="3" name="Title 2"/>
          <p:cNvSpPr>
            <a:spLocks noGrp="1"/>
          </p:cNvSpPr>
          <p:nvPr>
            <p:ph type="title"/>
          </p:nvPr>
        </p:nvSpPr>
        <p:spPr/>
        <p:txBody>
          <a:bodyPr/>
          <a:lstStyle/>
          <a:p>
            <a:r>
              <a:rPr lang="en-US" dirty="0"/>
              <a:t>Compiling &amp; Executing C </a:t>
            </a:r>
            <a:r>
              <a:rPr lang="en-US" dirty="0" err="1"/>
              <a:t>prgrm</a:t>
            </a:r>
            <a:endParaRPr lang="en-IN" dirty="0"/>
          </a:p>
        </p:txBody>
      </p:sp>
    </p:spTree>
    <p:extLst>
      <p:ext uri="{BB962C8B-B14F-4D97-AF65-F5344CB8AC3E}">
        <p14:creationId xmlns:p14="http://schemas.microsoft.com/office/powerpoint/2010/main" val="22427038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sz="2800" b="1" dirty="0">
                <a:latin typeface="Times New Roman" panose="02020603050405020304" pitchFamily="18" charset="0"/>
                <a:cs typeface="Times New Roman" panose="02020603050405020304" pitchFamily="18" charset="0"/>
              </a:rPr>
              <a:t>Comments are just a way of explaining what a program does.</a:t>
            </a:r>
          </a:p>
          <a:p>
            <a:r>
              <a:rPr lang="en-US" sz="2800" dirty="0">
                <a:latin typeface="Times New Roman" panose="02020603050405020304" pitchFamily="18" charset="0"/>
                <a:cs typeface="Times New Roman" panose="02020603050405020304" pitchFamily="18" charset="0"/>
              </a:rPr>
              <a:t>Compiler ignores comments when forming the object file.</a:t>
            </a:r>
          </a:p>
          <a:p>
            <a:r>
              <a:rPr lang="en-US" sz="2800" dirty="0">
                <a:latin typeface="Times New Roman" panose="02020603050405020304" pitchFamily="18" charset="0"/>
                <a:cs typeface="Times New Roman" panose="02020603050405020304" pitchFamily="18" charset="0"/>
              </a:rPr>
              <a:t>This means comments are non executable statements.</a:t>
            </a:r>
          </a:p>
          <a:p>
            <a:r>
              <a:rPr lang="en-US" sz="2800" dirty="0">
                <a:latin typeface="Times New Roman" panose="02020603050405020304" pitchFamily="18" charset="0"/>
                <a:cs typeface="Times New Roman" panose="02020603050405020304" pitchFamily="18" charset="0"/>
              </a:rPr>
              <a:t>C supports 2 types of comments</a:t>
            </a:r>
          </a:p>
          <a:p>
            <a:pPr marL="109728" indent="0">
              <a:buNone/>
            </a:pPr>
            <a:r>
              <a:rPr lang="en-US" sz="2800" b="1" dirty="0">
                <a:latin typeface="Times New Roman" panose="02020603050405020304" pitchFamily="18" charset="0"/>
                <a:cs typeface="Times New Roman" panose="02020603050405020304" pitchFamily="18" charset="0"/>
              </a:rPr>
              <a:t>1.Line comment(//)</a:t>
            </a:r>
          </a:p>
          <a:p>
            <a:pPr marL="109728" indent="0">
              <a:buNone/>
            </a:pPr>
            <a:r>
              <a:rPr lang="en-US" sz="2800" b="1" dirty="0">
                <a:latin typeface="Times New Roman" panose="02020603050405020304" pitchFamily="18" charset="0"/>
                <a:cs typeface="Times New Roman" panose="02020603050405020304" pitchFamily="18" charset="0"/>
              </a:rPr>
              <a:t>2.block comment(/*</a:t>
            </a:r>
          </a:p>
          <a:p>
            <a:pPr marL="109728" indent="0">
              <a:buNone/>
            </a:pPr>
            <a:r>
              <a:rPr lang="en-US" sz="2800" b="1"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Line comment is used to comment a single statement</a:t>
            </a:r>
          </a:p>
          <a:p>
            <a:r>
              <a:rPr lang="en-US" sz="2800" dirty="0">
                <a:latin typeface="Times New Roman" panose="02020603050405020304" pitchFamily="18" charset="0"/>
                <a:cs typeface="Times New Roman" panose="02020603050405020304" pitchFamily="18" charset="0"/>
              </a:rPr>
              <a:t>Block comment is used to comment multiple statement</a:t>
            </a:r>
          </a:p>
          <a:p>
            <a:endParaRPr lang="en-IN" dirty="0"/>
          </a:p>
        </p:txBody>
      </p:sp>
      <p:sp>
        <p:nvSpPr>
          <p:cNvPr id="3" name="Title 2"/>
          <p:cNvSpPr>
            <a:spLocks noGrp="1"/>
          </p:cNvSpPr>
          <p:nvPr>
            <p:ph type="title"/>
          </p:nvPr>
        </p:nvSpPr>
        <p:spPr/>
        <p:txBody>
          <a:bodyPr/>
          <a:lstStyle/>
          <a:p>
            <a:r>
              <a:rPr lang="en-US" dirty="0"/>
              <a:t>Using Comments</a:t>
            </a:r>
            <a:endParaRPr lang="en-IN" dirty="0"/>
          </a:p>
        </p:txBody>
      </p:sp>
    </p:spTree>
    <p:extLst>
      <p:ext uri="{BB962C8B-B14F-4D97-AF65-F5344CB8AC3E}">
        <p14:creationId xmlns:p14="http://schemas.microsoft.com/office/powerpoint/2010/main" val="42906438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800" dirty="0">
                <a:latin typeface="Times New Roman" panose="02020603050405020304" pitchFamily="18" charset="0"/>
                <a:cs typeface="Times New Roman" panose="02020603050405020304" pitchFamily="18" charset="0"/>
              </a:rPr>
              <a:t>It’s a good practice to put always a comment at the top of a program that tells you what the program does.</a:t>
            </a:r>
          </a:p>
          <a:p>
            <a:r>
              <a:rPr lang="en-US" sz="2800" dirty="0">
                <a:latin typeface="Times New Roman" panose="02020603050405020304" pitchFamily="18" charset="0"/>
                <a:cs typeface="Times New Roman" panose="02020603050405020304" pitchFamily="18" charset="0"/>
              </a:rPr>
              <a:t>It can be used anywhere in the </a:t>
            </a:r>
            <a:r>
              <a:rPr lang="en-US" sz="2800" dirty="0" err="1">
                <a:latin typeface="Times New Roman" panose="02020603050405020304" pitchFamily="18" charset="0"/>
                <a:cs typeface="Times New Roman" panose="02020603050405020304" pitchFamily="18" charset="0"/>
              </a:rPr>
              <a:t>pogram</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You can also use comments in between your code to explain piece of code that is a bit complicated.</a:t>
            </a:r>
          </a:p>
          <a:p>
            <a:r>
              <a:rPr lang="en-US" sz="2800" dirty="0">
                <a:latin typeface="Times New Roman" panose="02020603050405020304" pitchFamily="18" charset="0"/>
                <a:cs typeface="Times New Roman" panose="02020603050405020304" pitchFamily="18" charset="0"/>
              </a:rPr>
              <a:t>Commented statements are not executed by the compiler</a:t>
            </a:r>
          </a:p>
          <a:p>
            <a:endParaRPr lang="en-IN" dirty="0"/>
          </a:p>
        </p:txBody>
      </p:sp>
      <p:sp>
        <p:nvSpPr>
          <p:cNvPr id="3" name="Title 2"/>
          <p:cNvSpPr>
            <a:spLocks noGrp="1"/>
          </p:cNvSpPr>
          <p:nvPr>
            <p:ph type="title"/>
          </p:nvPr>
        </p:nvSpPr>
        <p:spPr/>
        <p:txBody>
          <a:bodyPr/>
          <a:lstStyle/>
          <a:p>
            <a:r>
              <a:rPr lang="en-US" dirty="0"/>
              <a:t>Using Comments</a:t>
            </a:r>
            <a:endParaRPr lang="en-IN" dirty="0"/>
          </a:p>
        </p:txBody>
      </p:sp>
    </p:spTree>
    <p:extLst>
      <p:ext uri="{BB962C8B-B14F-4D97-AF65-F5344CB8AC3E}">
        <p14:creationId xmlns:p14="http://schemas.microsoft.com/office/powerpoint/2010/main" val="32645521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Tokens are the basic building blocks in C language</a:t>
            </a:r>
          </a:p>
          <a:p>
            <a:r>
              <a:rPr lang="en-US" dirty="0"/>
              <a:t>Program is constructed using a combination of these tokens.</a:t>
            </a:r>
          </a:p>
          <a:p>
            <a:r>
              <a:rPr lang="en-US" dirty="0"/>
              <a:t>There are 6 main types of tokens in C.</a:t>
            </a:r>
          </a:p>
          <a:p>
            <a:endParaRPr lang="en-IN" dirty="0"/>
          </a:p>
        </p:txBody>
      </p:sp>
      <p:sp>
        <p:nvSpPr>
          <p:cNvPr id="3" name="Title 2"/>
          <p:cNvSpPr>
            <a:spLocks noGrp="1"/>
          </p:cNvSpPr>
          <p:nvPr>
            <p:ph type="title"/>
          </p:nvPr>
        </p:nvSpPr>
        <p:spPr/>
        <p:txBody>
          <a:bodyPr/>
          <a:lstStyle/>
          <a:p>
            <a:r>
              <a:rPr lang="en-US" dirty="0"/>
              <a:t>C tokens</a:t>
            </a:r>
            <a:endParaRPr lang="en-IN" dirty="0"/>
          </a:p>
        </p:txBody>
      </p:sp>
      <p:pic>
        <p:nvPicPr>
          <p:cNvPr id="4" name="Picture 3"/>
          <p:cNvPicPr>
            <a:picLocks noChangeAspect="1"/>
          </p:cNvPicPr>
          <p:nvPr/>
        </p:nvPicPr>
        <p:blipFill>
          <a:blip r:embed="rId2"/>
          <a:stretch>
            <a:fillRect/>
          </a:stretch>
        </p:blipFill>
        <p:spPr>
          <a:xfrm>
            <a:off x="4185568" y="3886200"/>
            <a:ext cx="4010696" cy="2819400"/>
          </a:xfrm>
          <a:prstGeom prst="rect">
            <a:avLst/>
          </a:prstGeom>
        </p:spPr>
      </p:pic>
    </p:spTree>
    <p:extLst>
      <p:ext uri="{BB962C8B-B14F-4D97-AF65-F5344CB8AC3E}">
        <p14:creationId xmlns:p14="http://schemas.microsoft.com/office/powerpoint/2010/main" val="30361941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sz="2800" dirty="0">
                <a:latin typeface="Times New Roman" panose="02020603050405020304" pitchFamily="18" charset="0"/>
                <a:cs typeface="Times New Roman" panose="02020603050405020304" pitchFamily="18" charset="0"/>
              </a:rPr>
              <a:t>In C, a character means any letter from English Alphabet, a digit or a special symbol used to represent information.</a:t>
            </a:r>
          </a:p>
          <a:p>
            <a:r>
              <a:rPr lang="en-US" sz="2800" dirty="0">
                <a:latin typeface="Times New Roman" panose="02020603050405020304" pitchFamily="18" charset="0"/>
                <a:cs typeface="Times New Roman" panose="02020603050405020304" pitchFamily="18" charset="0"/>
              </a:rPr>
              <a:t>These characters when combined together form tokens that act as basic building blocks of a C program.</a:t>
            </a:r>
          </a:p>
          <a:p>
            <a:r>
              <a:rPr lang="en-US" sz="2800" dirty="0">
                <a:latin typeface="Times New Roman" panose="02020603050405020304" pitchFamily="18" charset="0"/>
                <a:cs typeface="Times New Roman" panose="02020603050405020304" pitchFamily="18" charset="0"/>
              </a:rPr>
              <a:t>Character set of C, therefore can be given as </a:t>
            </a:r>
          </a:p>
          <a:p>
            <a:pPr>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 English alphabet :Include both lower case and upper case</a:t>
            </a:r>
          </a:p>
          <a:p>
            <a:pPr>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Digits: 0 to 9</a:t>
            </a:r>
          </a:p>
          <a:p>
            <a:pPr>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Special Characters: &gt;,”,&amp;,%........</a:t>
            </a:r>
          </a:p>
          <a:p>
            <a:pPr>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White space characters: \b,\t,\v,\r,\f,\n</a:t>
            </a:r>
          </a:p>
          <a:p>
            <a:pPr>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Escape sequence: </a:t>
            </a:r>
          </a:p>
          <a:p>
            <a:endParaRPr lang="en-IN" dirty="0"/>
          </a:p>
        </p:txBody>
      </p:sp>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Character set in C</a:t>
            </a:r>
            <a:endParaRPr lang="en-IN" dirty="0"/>
          </a:p>
        </p:txBody>
      </p:sp>
    </p:spTree>
    <p:extLst>
      <p:ext uri="{BB962C8B-B14F-4D97-AF65-F5344CB8AC3E}">
        <p14:creationId xmlns:p14="http://schemas.microsoft.com/office/powerpoint/2010/main" val="27038170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800" dirty="0">
                <a:latin typeface="Times New Roman" panose="02020603050405020304" pitchFamily="18" charset="0"/>
                <a:cs typeface="Times New Roman" panose="02020603050405020304" pitchFamily="18" charset="0"/>
              </a:rPr>
              <a:t>Like every computer language, C has a set of reserved words often known as keywords that cannot be used as an identifier</a:t>
            </a:r>
          </a:p>
          <a:p>
            <a:r>
              <a:rPr lang="en-US" sz="2800" dirty="0">
                <a:latin typeface="Times New Roman" panose="02020603050405020304" pitchFamily="18" charset="0"/>
                <a:cs typeface="Times New Roman" panose="02020603050405020304" pitchFamily="18" charset="0"/>
              </a:rPr>
              <a:t>All keywords are a sequence of characters that have a fixed meaning</a:t>
            </a:r>
          </a:p>
          <a:p>
            <a:r>
              <a:rPr lang="en-US" sz="2800" dirty="0">
                <a:latin typeface="Times New Roman" panose="02020603050405020304" pitchFamily="18" charset="0"/>
                <a:cs typeface="Times New Roman" panose="02020603050405020304" pitchFamily="18" charset="0"/>
              </a:rPr>
              <a:t>Keywords must be written in lowercase letters.</a:t>
            </a:r>
          </a:p>
          <a:p>
            <a:r>
              <a:rPr lang="en-US" sz="2800" dirty="0">
                <a:latin typeface="Times New Roman" panose="02020603050405020304" pitchFamily="18" charset="0"/>
                <a:cs typeface="Times New Roman" panose="02020603050405020304" pitchFamily="18" charset="0"/>
              </a:rPr>
              <a:t>Example for keywords: auto, break, case, char, </a:t>
            </a:r>
            <a:r>
              <a:rPr lang="en-US" sz="2800" dirty="0" err="1">
                <a:latin typeface="Times New Roman" panose="02020603050405020304" pitchFamily="18" charset="0"/>
                <a:cs typeface="Times New Roman" panose="02020603050405020304" pitchFamily="18" charset="0"/>
              </a:rPr>
              <a:t>const</a:t>
            </a:r>
            <a:r>
              <a:rPr lang="en-US" sz="2800" dirty="0">
                <a:latin typeface="Times New Roman" panose="02020603050405020304" pitchFamily="18" charset="0"/>
                <a:cs typeface="Times New Roman" panose="02020603050405020304" pitchFamily="18" charset="0"/>
              </a:rPr>
              <a:t>, continue, default, switch, if, do, while, for </a:t>
            </a:r>
            <a:r>
              <a:rPr lang="en-US" sz="2800" dirty="0" err="1">
                <a:latin typeface="Times New Roman" panose="02020603050405020304" pitchFamily="18" charset="0"/>
                <a:cs typeface="Times New Roman" panose="02020603050405020304" pitchFamily="18" charset="0"/>
              </a:rPr>
              <a:t>etc</a:t>
            </a:r>
            <a:endParaRPr lang="en-US" sz="2800" dirty="0">
              <a:latin typeface="Times New Roman" panose="02020603050405020304" pitchFamily="18" charset="0"/>
              <a:cs typeface="Times New Roman" panose="02020603050405020304" pitchFamily="18" charset="0"/>
            </a:endParaRPr>
          </a:p>
          <a:p>
            <a:endParaRPr lang="en-IN" dirty="0"/>
          </a:p>
        </p:txBody>
      </p:sp>
      <p:sp>
        <p:nvSpPr>
          <p:cNvPr id="3" name="Title 2"/>
          <p:cNvSpPr>
            <a:spLocks noGrp="1"/>
          </p:cNvSpPr>
          <p:nvPr>
            <p:ph type="title"/>
          </p:nvPr>
        </p:nvSpPr>
        <p:spPr/>
        <p:txBody>
          <a:bodyPr/>
          <a:lstStyle/>
          <a:p>
            <a:r>
              <a:rPr lang="en-US" dirty="0"/>
              <a:t>Keywords</a:t>
            </a:r>
            <a:endParaRPr lang="en-IN" dirty="0"/>
          </a:p>
        </p:txBody>
      </p:sp>
    </p:spTree>
    <p:extLst>
      <p:ext uri="{BB962C8B-B14F-4D97-AF65-F5344CB8AC3E}">
        <p14:creationId xmlns:p14="http://schemas.microsoft.com/office/powerpoint/2010/main" val="34367239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800" dirty="0">
                <a:latin typeface="Times New Roman" panose="02020603050405020304" pitchFamily="18" charset="0"/>
                <a:cs typeface="Times New Roman" panose="02020603050405020304" pitchFamily="18" charset="0"/>
              </a:rPr>
              <a:t>As the name suggests ,help us to identify data and other objects in the program. </a:t>
            </a:r>
          </a:p>
          <a:p>
            <a:r>
              <a:rPr lang="en-US" sz="2800" dirty="0">
                <a:latin typeface="Times New Roman" panose="02020603050405020304" pitchFamily="18" charset="0"/>
                <a:cs typeface="Times New Roman" panose="02020603050405020304" pitchFamily="18" charset="0"/>
              </a:rPr>
              <a:t>Identifiers are the names given to program elements such as variables, arrays, and functions</a:t>
            </a:r>
          </a:p>
          <a:p>
            <a:r>
              <a:rPr lang="en-US" sz="2800" dirty="0">
                <a:latin typeface="Times New Roman" panose="02020603050405020304" pitchFamily="18" charset="0"/>
                <a:cs typeface="Times New Roman" panose="02020603050405020304" pitchFamily="18" charset="0"/>
              </a:rPr>
              <a:t>Identifiers may consist of sequence of letters ,numerals or underscores</a:t>
            </a:r>
          </a:p>
          <a:p>
            <a:endParaRPr lang="en-IN" dirty="0"/>
          </a:p>
        </p:txBody>
      </p:sp>
      <p:sp>
        <p:nvSpPr>
          <p:cNvPr id="3" name="Title 2"/>
          <p:cNvSpPr>
            <a:spLocks noGrp="1"/>
          </p:cNvSpPr>
          <p:nvPr>
            <p:ph type="title"/>
          </p:nvPr>
        </p:nvSpPr>
        <p:spPr/>
        <p:txBody>
          <a:bodyPr/>
          <a:lstStyle/>
          <a:p>
            <a:r>
              <a:rPr lang="en-US" sz="4400" dirty="0">
                <a:latin typeface="Times New Roman" panose="02020603050405020304" pitchFamily="18" charset="0"/>
                <a:cs typeface="Times New Roman" panose="02020603050405020304" pitchFamily="18" charset="0"/>
              </a:rPr>
              <a:t>Identifiers</a:t>
            </a:r>
            <a:endParaRPr lang="en-IN" dirty="0"/>
          </a:p>
        </p:txBody>
      </p:sp>
    </p:spTree>
    <p:extLst>
      <p:ext uri="{BB962C8B-B14F-4D97-AF65-F5344CB8AC3E}">
        <p14:creationId xmlns:p14="http://schemas.microsoft.com/office/powerpoint/2010/main" val="6605246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sz="2800" dirty="0">
                <a:latin typeface="Times New Roman" panose="02020603050405020304" pitchFamily="18" charset="0"/>
                <a:cs typeface="Times New Roman" panose="02020603050405020304" pitchFamily="18" charset="0"/>
              </a:rPr>
              <a:t>It cannot include any special characters or punctuation marks except the underscore</a:t>
            </a:r>
          </a:p>
          <a:p>
            <a:r>
              <a:rPr lang="en-US" sz="2800" dirty="0">
                <a:latin typeface="Times New Roman" panose="02020603050405020304" pitchFamily="18" charset="0"/>
                <a:cs typeface="Times New Roman" panose="02020603050405020304" pitchFamily="18" charset="0"/>
              </a:rPr>
              <a:t>There cannot be two successive underscores</a:t>
            </a:r>
          </a:p>
          <a:p>
            <a:r>
              <a:rPr lang="en-US" sz="2800" dirty="0">
                <a:latin typeface="Times New Roman" panose="02020603050405020304" pitchFamily="18" charset="0"/>
                <a:cs typeface="Times New Roman" panose="02020603050405020304" pitchFamily="18" charset="0"/>
              </a:rPr>
              <a:t>Keywords cant be used as identifiers</a:t>
            </a:r>
          </a:p>
          <a:p>
            <a:r>
              <a:rPr lang="en-US" sz="2800" dirty="0">
                <a:latin typeface="Times New Roman" panose="02020603050405020304" pitchFamily="18" charset="0"/>
                <a:cs typeface="Times New Roman" panose="02020603050405020304" pitchFamily="18" charset="0"/>
              </a:rPr>
              <a:t>It must begin with a letter or an underscore</a:t>
            </a:r>
          </a:p>
          <a:p>
            <a:r>
              <a:rPr lang="en-US" sz="2800" dirty="0">
                <a:latin typeface="Times New Roman" panose="02020603050405020304" pitchFamily="18" charset="0"/>
                <a:cs typeface="Times New Roman" panose="02020603050405020304" pitchFamily="18" charset="0"/>
              </a:rPr>
              <a:t>It can be of any reasonable length</a:t>
            </a:r>
          </a:p>
          <a:p>
            <a:r>
              <a:rPr lang="en-US" sz="2800" dirty="0">
                <a:latin typeface="Times New Roman" panose="02020603050405020304" pitchFamily="18" charset="0"/>
                <a:cs typeface="Times New Roman" panose="02020603050405020304" pitchFamily="18" charset="0"/>
              </a:rPr>
              <a:t>Its good to use meaningful identifier names</a:t>
            </a:r>
          </a:p>
          <a:p>
            <a:r>
              <a:rPr lang="en-US" sz="2800" dirty="0">
                <a:latin typeface="Times New Roman" panose="02020603050405020304" pitchFamily="18" charset="0"/>
                <a:cs typeface="Times New Roman" panose="02020603050405020304" pitchFamily="18" charset="0"/>
              </a:rPr>
              <a:t>Example: </a:t>
            </a:r>
            <a:r>
              <a:rPr lang="en-US" sz="2800" dirty="0" err="1">
                <a:latin typeface="Times New Roman" panose="02020603050405020304" pitchFamily="18" charset="0"/>
                <a:cs typeface="Times New Roman" panose="02020603050405020304" pitchFamily="18" charset="0"/>
              </a:rPr>
              <a:t>roll_no</a:t>
            </a:r>
            <a:r>
              <a:rPr lang="en-US" sz="2800" dirty="0">
                <a:latin typeface="Times New Roman" panose="02020603050405020304" pitchFamily="18" charset="0"/>
                <a:cs typeface="Times New Roman" panose="02020603050405020304" pitchFamily="18" charset="0"/>
              </a:rPr>
              <a:t>, DEEN, marks</a:t>
            </a:r>
          </a:p>
          <a:p>
            <a:r>
              <a:rPr lang="en-US" sz="2800" dirty="0">
                <a:latin typeface="Times New Roman" panose="02020603050405020304" pitchFamily="18" charset="0"/>
                <a:cs typeface="Times New Roman" panose="02020603050405020304" pitchFamily="18" charset="0"/>
              </a:rPr>
              <a:t>Example for invalid identifers:23_st, %</a:t>
            </a:r>
            <a:r>
              <a:rPr lang="en-US" sz="2800" dirty="0" err="1">
                <a:latin typeface="Times New Roman" panose="02020603050405020304" pitchFamily="18" charset="0"/>
                <a:cs typeface="Times New Roman" panose="02020603050405020304" pitchFamily="18" charset="0"/>
              </a:rPr>
              <a:t>marks,@name</a:t>
            </a:r>
            <a:r>
              <a:rPr lang="en-US" sz="2800" dirty="0">
                <a:latin typeface="Times New Roman" panose="02020603050405020304" pitchFamily="18" charset="0"/>
                <a:cs typeface="Times New Roman" panose="02020603050405020304" pitchFamily="18" charset="0"/>
              </a:rPr>
              <a:t>,(DA),-</a:t>
            </a:r>
            <a:r>
              <a:rPr lang="en-US" sz="2800" dirty="0" err="1">
                <a:latin typeface="Times New Roman" panose="02020603050405020304" pitchFamily="18" charset="0"/>
                <a:cs typeface="Times New Roman" panose="02020603050405020304" pitchFamily="18" charset="0"/>
              </a:rPr>
              <a:t>hta</a:t>
            </a:r>
            <a:endParaRPr lang="en-US" sz="2800" dirty="0">
              <a:latin typeface="Times New Roman" panose="02020603050405020304" pitchFamily="18" charset="0"/>
              <a:cs typeface="Times New Roman" panose="02020603050405020304" pitchFamily="18" charset="0"/>
            </a:endParaRPr>
          </a:p>
          <a:p>
            <a:endParaRPr lang="en-IN" dirty="0"/>
          </a:p>
        </p:txBody>
      </p:sp>
      <p:sp>
        <p:nvSpPr>
          <p:cNvPr id="3" name="Title 2"/>
          <p:cNvSpPr>
            <a:spLocks noGrp="1"/>
          </p:cNvSpPr>
          <p:nvPr>
            <p:ph type="title"/>
          </p:nvPr>
        </p:nvSpPr>
        <p:spPr/>
        <p:txBody>
          <a:bodyPr>
            <a:normAutofit fontScale="90000"/>
          </a:bodyPr>
          <a:lstStyle/>
          <a:p>
            <a:r>
              <a:rPr lang="en-US" sz="4400" dirty="0">
                <a:effectLst/>
                <a:latin typeface="Times New Roman" panose="02020603050405020304" pitchFamily="18" charset="0"/>
                <a:cs typeface="Times New Roman" panose="02020603050405020304" pitchFamily="18" charset="0"/>
              </a:rPr>
              <a:t>Rules for forming Identifiers names</a:t>
            </a:r>
            <a:endParaRPr lang="en-IN" dirty="0"/>
          </a:p>
        </p:txBody>
      </p:sp>
    </p:spTree>
    <p:extLst>
      <p:ext uri="{BB962C8B-B14F-4D97-AF65-F5344CB8AC3E}">
        <p14:creationId xmlns:p14="http://schemas.microsoft.com/office/powerpoint/2010/main" val="39912417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It provide very few basic data types</a:t>
            </a:r>
          </a:p>
          <a:p>
            <a:endParaRPr lang="en-IN" dirty="0"/>
          </a:p>
        </p:txBody>
      </p:sp>
      <p:sp>
        <p:nvSpPr>
          <p:cNvPr id="3" name="Title 2"/>
          <p:cNvSpPr>
            <a:spLocks noGrp="1"/>
          </p:cNvSpPr>
          <p:nvPr>
            <p:ph type="title"/>
          </p:nvPr>
        </p:nvSpPr>
        <p:spPr/>
        <p:txBody>
          <a:bodyPr/>
          <a:lstStyle/>
          <a:p>
            <a:r>
              <a:rPr lang="en-US" dirty="0"/>
              <a:t>Basic data types in c</a:t>
            </a:r>
            <a:endParaRPr lang="en-IN" dirty="0"/>
          </a:p>
        </p:txBody>
      </p:sp>
      <p:pic>
        <p:nvPicPr>
          <p:cNvPr id="4" name="Content Placeholder 3"/>
          <p:cNvPicPr>
            <a:picLocks noChangeAspect="1"/>
          </p:cNvPicPr>
          <p:nvPr/>
        </p:nvPicPr>
        <p:blipFill>
          <a:blip r:embed="rId2"/>
          <a:stretch>
            <a:fillRect/>
          </a:stretch>
        </p:blipFill>
        <p:spPr>
          <a:xfrm>
            <a:off x="1600200" y="2114189"/>
            <a:ext cx="5257800" cy="3977574"/>
          </a:xfrm>
          <a:prstGeom prst="rect">
            <a:avLst/>
          </a:prstGeom>
        </p:spPr>
      </p:pic>
    </p:spTree>
    <p:extLst>
      <p:ext uri="{BB962C8B-B14F-4D97-AF65-F5344CB8AC3E}">
        <p14:creationId xmlns:p14="http://schemas.microsoft.com/office/powerpoint/2010/main" val="14247359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sz="2800" dirty="0">
                <a:latin typeface="Times New Roman" panose="02020603050405020304" pitchFamily="18" charset="0"/>
                <a:cs typeface="Times New Roman" panose="02020603050405020304" pitchFamily="18" charset="0"/>
              </a:rPr>
              <a:t>Variable is defined as a meaningful name given to a data storage location in computer memory.</a:t>
            </a:r>
          </a:p>
          <a:p>
            <a:r>
              <a:rPr lang="en-US" sz="2800" dirty="0">
                <a:latin typeface="Times New Roman" panose="02020603050405020304" pitchFamily="18" charset="0"/>
                <a:cs typeface="Times New Roman" panose="02020603050405020304" pitchFamily="18" charset="0"/>
              </a:rPr>
              <a:t>When using a variable, we actually refer to address of the memory where the data is stored.</a:t>
            </a:r>
          </a:p>
          <a:p>
            <a:r>
              <a:rPr lang="en-US" sz="2800" dirty="0">
                <a:latin typeface="Times New Roman" panose="02020603050405020304" pitchFamily="18" charset="0"/>
                <a:cs typeface="Times New Roman" panose="02020603050405020304" pitchFamily="18" charset="0"/>
              </a:rPr>
              <a:t>C supports 2 kinds of variables </a:t>
            </a:r>
          </a:p>
          <a:p>
            <a:r>
              <a:rPr lang="en-US" sz="2800" dirty="0">
                <a:latin typeface="Times New Roman" panose="02020603050405020304" pitchFamily="18" charset="0"/>
                <a:cs typeface="Times New Roman" panose="02020603050405020304" pitchFamily="18" charset="0"/>
              </a:rPr>
              <a:t>1.Numeric variables</a:t>
            </a:r>
          </a:p>
          <a:p>
            <a:r>
              <a:rPr lang="en-US" sz="2800" dirty="0">
                <a:latin typeface="Times New Roman" panose="02020603050405020304" pitchFamily="18" charset="0"/>
                <a:cs typeface="Times New Roman" panose="02020603050405020304" pitchFamily="18" charset="0"/>
              </a:rPr>
              <a:t>2.Character variables</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1.Numerical variables: </a:t>
            </a:r>
            <a:r>
              <a:rPr lang="en-US" sz="2800" dirty="0">
                <a:latin typeface="Times New Roman" panose="02020603050405020304" pitchFamily="18" charset="0"/>
                <a:cs typeface="Times New Roman" panose="02020603050405020304" pitchFamily="18" charset="0"/>
              </a:rPr>
              <a:t>Its used to store either integer values or floating point values.</a:t>
            </a:r>
          </a:p>
          <a:p>
            <a:r>
              <a:rPr lang="en-US" sz="2800" dirty="0">
                <a:latin typeface="Times New Roman" panose="02020603050405020304" pitchFamily="18" charset="0"/>
                <a:cs typeface="Times New Roman" panose="02020603050405020304" pitchFamily="18" charset="0"/>
              </a:rPr>
              <a:t>Integer value is a whole number without a fraction part or decimal point. Floating point can have decimal point</a:t>
            </a:r>
          </a:p>
          <a:p>
            <a:endParaRPr lang="en-US" dirty="0"/>
          </a:p>
          <a:p>
            <a:endParaRPr lang="en-IN" dirty="0"/>
          </a:p>
        </p:txBody>
      </p:sp>
      <p:sp>
        <p:nvSpPr>
          <p:cNvPr id="3" name="Title 2"/>
          <p:cNvSpPr>
            <a:spLocks noGrp="1"/>
          </p:cNvSpPr>
          <p:nvPr>
            <p:ph type="title"/>
          </p:nvPr>
        </p:nvSpPr>
        <p:spPr/>
        <p:txBody>
          <a:bodyPr/>
          <a:lstStyle/>
          <a:p>
            <a:r>
              <a:rPr lang="en-US" sz="4400" dirty="0">
                <a:latin typeface="Times New Roman" panose="02020603050405020304" pitchFamily="18" charset="0"/>
                <a:cs typeface="Times New Roman" panose="02020603050405020304" pitchFamily="18" charset="0"/>
              </a:rPr>
              <a:t>Variable</a:t>
            </a:r>
            <a:endParaRPr lang="en-IN" dirty="0"/>
          </a:p>
        </p:txBody>
      </p:sp>
    </p:spTree>
    <p:extLst>
      <p:ext uri="{BB962C8B-B14F-4D97-AF65-F5344CB8AC3E}">
        <p14:creationId xmlns:p14="http://schemas.microsoft.com/office/powerpoint/2010/main" val="11061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2.Character variables:</a:t>
            </a:r>
          </a:p>
          <a:p>
            <a:r>
              <a:rPr lang="en-US" dirty="0">
                <a:latin typeface="Times New Roman" panose="02020603050405020304" pitchFamily="18" charset="0"/>
                <a:cs typeface="Times New Roman" panose="02020603050405020304" pitchFamily="18" charset="0"/>
              </a:rPr>
              <a:t>These are just single characters enclosed within single quotes.</a:t>
            </a:r>
          </a:p>
          <a:p>
            <a:r>
              <a:rPr lang="en-US" dirty="0">
                <a:latin typeface="Times New Roman" panose="02020603050405020304" pitchFamily="18" charset="0"/>
                <a:cs typeface="Times New Roman" panose="02020603050405020304" pitchFamily="18" charset="0"/>
              </a:rPr>
              <a:t>These character can be any character from ASCII character set-letters(‘</a:t>
            </a:r>
            <a:r>
              <a:rPr lang="en-US" dirty="0" err="1">
                <a:latin typeface="Times New Roman" panose="02020603050405020304" pitchFamily="18" charset="0"/>
                <a:cs typeface="Times New Roman" panose="02020603050405020304" pitchFamily="18" charset="0"/>
              </a:rPr>
              <a:t>a’,’A</a:t>
            </a:r>
            <a:r>
              <a:rPr lang="en-US" dirty="0">
                <a:latin typeface="Times New Roman" panose="02020603050405020304" pitchFamily="18" charset="0"/>
                <a:cs typeface="Times New Roman" panose="02020603050405020304" pitchFamily="18" charset="0"/>
              </a:rPr>
              <a:t>’),numerals(‘2’), or special characters(‘&amp;’)</a:t>
            </a:r>
          </a:p>
          <a:p>
            <a:r>
              <a:rPr lang="en-US" dirty="0">
                <a:latin typeface="Times New Roman" panose="02020603050405020304" pitchFamily="18" charset="0"/>
                <a:cs typeface="Times New Roman" panose="02020603050405020304" pitchFamily="18" charset="0"/>
              </a:rPr>
              <a:t>Example:2 is treated a integer value, but ‘2’ is treated as character not an integer</a:t>
            </a:r>
          </a:p>
          <a:p>
            <a:endParaRPr lang="en-IN" dirty="0"/>
          </a:p>
        </p:txBody>
      </p:sp>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variables</a:t>
            </a:r>
            <a:endParaRPr lang="en-IN" dirty="0"/>
          </a:p>
        </p:txBody>
      </p:sp>
    </p:spTree>
    <p:extLst>
      <p:ext uri="{BB962C8B-B14F-4D97-AF65-F5344CB8AC3E}">
        <p14:creationId xmlns:p14="http://schemas.microsoft.com/office/powerpoint/2010/main" val="3024424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b="1" dirty="0">
                <a:latin typeface="Times New Roman" panose="02020603050405020304" pitchFamily="18" charset="0"/>
                <a:cs typeface="Times New Roman" panose="02020603050405020304" pitchFamily="18" charset="0"/>
              </a:rPr>
              <a:t>Declaring variables:</a:t>
            </a:r>
          </a:p>
          <a:p>
            <a:r>
              <a:rPr lang="en-US" sz="2800" dirty="0">
                <a:latin typeface="Times New Roman" panose="02020603050405020304" pitchFamily="18" charset="0"/>
                <a:cs typeface="Times New Roman" panose="02020603050405020304" pitchFamily="18" charset="0"/>
              </a:rPr>
              <a:t>Each variable to be used in the program must be declared.</a:t>
            </a:r>
          </a:p>
          <a:p>
            <a:r>
              <a:rPr lang="en-US" sz="2800" dirty="0">
                <a:latin typeface="Times New Roman" panose="02020603050405020304" pitchFamily="18" charset="0"/>
                <a:cs typeface="Times New Roman" panose="02020603050405020304" pitchFamily="18" charset="0"/>
              </a:rPr>
              <a:t>Declaration: specify the data type of variable followed by its name.</a:t>
            </a:r>
          </a:p>
          <a:p>
            <a:r>
              <a:rPr lang="en-US" sz="2800" dirty="0">
                <a:latin typeface="Times New Roman" panose="02020603050405020304" pitchFamily="18" charset="0"/>
                <a:cs typeface="Times New Roman" panose="02020603050405020304" pitchFamily="18" charset="0"/>
              </a:rPr>
              <a:t>Data type indicates the kind of values that the variable will store</a:t>
            </a:r>
          </a:p>
          <a:p>
            <a:r>
              <a:rPr lang="en-US" sz="2800" dirty="0">
                <a:latin typeface="Times New Roman" panose="02020603050405020304" pitchFamily="18" charset="0"/>
                <a:cs typeface="Times New Roman" panose="02020603050405020304" pitchFamily="18" charset="0"/>
              </a:rPr>
              <a:t>Variable declaration always ends with semicolon.</a:t>
            </a:r>
          </a:p>
          <a:p>
            <a:r>
              <a:rPr lang="en-US" sz="2800" b="1" dirty="0">
                <a:latin typeface="Times New Roman" panose="02020603050405020304" pitchFamily="18" charset="0"/>
                <a:cs typeface="Times New Roman" panose="02020603050405020304" pitchFamily="18" charset="0"/>
              </a:rPr>
              <a:t>Example: </a:t>
            </a:r>
            <a:r>
              <a:rPr lang="en-US" sz="2800" b="1" dirty="0" err="1">
                <a:latin typeface="Times New Roman" panose="02020603050405020304" pitchFamily="18" charset="0"/>
                <a:cs typeface="Times New Roman" panose="02020603050405020304" pitchFamily="18" charset="0"/>
              </a:rPr>
              <a:t>int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emp_name</a:t>
            </a:r>
            <a:r>
              <a:rPr lang="en-US" sz="2800" b="1" dirty="0">
                <a:latin typeface="Times New Roman" panose="02020603050405020304" pitchFamily="18" charset="0"/>
                <a:cs typeface="Times New Roman" panose="02020603050405020304" pitchFamily="18" charset="0"/>
              </a:rPr>
              <a:t>; </a:t>
            </a:r>
          </a:p>
          <a:p>
            <a:pPr marL="109728" indent="0">
              <a:buNone/>
            </a:pPr>
            <a:r>
              <a:rPr lang="en-US" sz="2800" b="1" dirty="0">
                <a:latin typeface="Times New Roman" panose="02020603050405020304" pitchFamily="18" charset="0"/>
                <a:cs typeface="Times New Roman" panose="02020603050405020304" pitchFamily="18" charset="0"/>
              </a:rPr>
              <a:t>		float salary; </a:t>
            </a:r>
          </a:p>
          <a:p>
            <a:pPr marL="109728" indent="0">
              <a:buNone/>
            </a:pPr>
            <a:r>
              <a:rPr lang="en-US" sz="2800" b="1" dirty="0">
                <a:latin typeface="Times New Roman" panose="02020603050405020304" pitchFamily="18" charset="0"/>
                <a:cs typeface="Times New Roman" panose="02020603050405020304" pitchFamily="18" charset="0"/>
              </a:rPr>
              <a:t>		char grade;</a:t>
            </a:r>
          </a:p>
          <a:p>
            <a:endParaRPr lang="en-IN" dirty="0"/>
          </a:p>
        </p:txBody>
      </p:sp>
      <p:sp>
        <p:nvSpPr>
          <p:cNvPr id="3" name="Title 2"/>
          <p:cNvSpPr>
            <a:spLocks noGrp="1"/>
          </p:cNvSpPr>
          <p:nvPr>
            <p:ph type="title"/>
          </p:nvPr>
        </p:nvSpPr>
        <p:spPr/>
        <p:txBody>
          <a:bodyPr/>
          <a:lstStyle/>
          <a:p>
            <a:r>
              <a:rPr lang="en-US" dirty="0"/>
              <a:t>Variables</a:t>
            </a:r>
            <a:endParaRPr lang="en-IN" dirty="0"/>
          </a:p>
        </p:txBody>
      </p:sp>
    </p:spTree>
    <p:extLst>
      <p:ext uri="{BB962C8B-B14F-4D97-AF65-F5344CB8AC3E}">
        <p14:creationId xmlns:p14="http://schemas.microsoft.com/office/powerpoint/2010/main" val="24447574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Initializing variables:</a:t>
            </a:r>
          </a:p>
          <a:p>
            <a:r>
              <a:rPr lang="en-US" dirty="0">
                <a:latin typeface="Times New Roman" panose="02020603050405020304" pitchFamily="18" charset="0"/>
                <a:cs typeface="Times New Roman" panose="02020603050405020304" pitchFamily="18" charset="0"/>
              </a:rPr>
              <a:t>While declaring variables, we can also initialize them with some value</a:t>
            </a:r>
          </a:p>
          <a:p>
            <a:r>
              <a:rPr lang="en-US" b="1" dirty="0">
                <a:latin typeface="Times New Roman" panose="02020603050405020304" pitchFamily="18" charset="0"/>
                <a:cs typeface="Times New Roman" panose="02020603050405020304" pitchFamily="18" charset="0"/>
              </a:rPr>
              <a:t>example: </a:t>
            </a:r>
            <a:r>
              <a:rPr lang="en-US" b="1" dirty="0" err="1">
                <a:latin typeface="Times New Roman" panose="02020603050405020304" pitchFamily="18" charset="0"/>
                <a:cs typeface="Times New Roman" panose="02020603050405020304" pitchFamily="18" charset="0"/>
              </a:rPr>
              <a:t>int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emp_num</a:t>
            </a:r>
            <a:r>
              <a:rPr lang="en-US" b="1" dirty="0">
                <a:latin typeface="Times New Roman" panose="02020603050405020304" pitchFamily="18" charset="0"/>
                <a:cs typeface="Times New Roman" panose="02020603050405020304" pitchFamily="18" charset="0"/>
              </a:rPr>
              <a:t>=7;</a:t>
            </a:r>
          </a:p>
          <a:p>
            <a:pPr marL="109728" indent="0">
              <a:buNone/>
            </a:pPr>
            <a:r>
              <a:rPr lang="en-US" b="1" dirty="0">
                <a:latin typeface="Times New Roman" panose="02020603050405020304" pitchFamily="18" charset="0"/>
                <a:cs typeface="Times New Roman" panose="02020603050405020304" pitchFamily="18" charset="0"/>
              </a:rPr>
              <a:t>	float salary= 254.9;</a:t>
            </a:r>
          </a:p>
          <a:p>
            <a:pPr marL="109728" indent="0">
              <a:buNone/>
            </a:pPr>
            <a:r>
              <a:rPr lang="en-US" b="1" dirty="0">
                <a:latin typeface="Times New Roman" panose="02020603050405020304" pitchFamily="18" charset="0"/>
                <a:cs typeface="Times New Roman" panose="02020603050405020304" pitchFamily="18" charset="0"/>
              </a:rPr>
              <a:t>	Char grade= ‘A’;</a:t>
            </a:r>
          </a:p>
          <a:p>
            <a:endParaRPr lang="en-IN" dirty="0"/>
          </a:p>
        </p:txBody>
      </p:sp>
      <p:sp>
        <p:nvSpPr>
          <p:cNvPr id="3" name="Title 2"/>
          <p:cNvSpPr>
            <a:spLocks noGrp="1"/>
          </p:cNvSpPr>
          <p:nvPr>
            <p:ph type="title"/>
          </p:nvPr>
        </p:nvSpPr>
        <p:spPr/>
        <p:txBody>
          <a:bodyPr/>
          <a:lstStyle/>
          <a:p>
            <a:r>
              <a:rPr lang="en-US" dirty="0"/>
              <a:t>Variables</a:t>
            </a:r>
            <a:endParaRPr lang="en-IN" dirty="0"/>
          </a:p>
        </p:txBody>
      </p:sp>
    </p:spTree>
    <p:extLst>
      <p:ext uri="{BB962C8B-B14F-4D97-AF65-F5344CB8AC3E}">
        <p14:creationId xmlns:p14="http://schemas.microsoft.com/office/powerpoint/2010/main" val="40621216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762000"/>
            <a:ext cx="8229600" cy="4525963"/>
          </a:xfrm>
        </p:spPr>
        <p:txBody>
          <a:bodyPr>
            <a:normAutofit fontScale="92500"/>
          </a:bodyPr>
          <a:lstStyle/>
          <a:p>
            <a:r>
              <a:rPr lang="en-US" sz="2800" b="1" dirty="0">
                <a:latin typeface="Times New Roman" panose="02020603050405020304" pitchFamily="18" charset="0"/>
                <a:cs typeface="Times New Roman" panose="02020603050405020304" pitchFamily="18" charset="0"/>
              </a:rPr>
              <a:t>Constants are identifiers whose values do not change</a:t>
            </a:r>
          </a:p>
          <a:p>
            <a:r>
              <a:rPr lang="en-US" sz="2800" dirty="0">
                <a:latin typeface="Times New Roman" panose="02020603050405020304" pitchFamily="18" charset="0"/>
                <a:cs typeface="Times New Roman" panose="02020603050405020304" pitchFamily="18" charset="0"/>
              </a:rPr>
              <a:t>Values of variable can be changed at any time, values of constants can never be changed</a:t>
            </a:r>
          </a:p>
          <a:p>
            <a:r>
              <a:rPr lang="en-US" sz="2800" dirty="0">
                <a:latin typeface="Times New Roman" panose="02020603050405020304" pitchFamily="18" charset="0"/>
                <a:cs typeface="Times New Roman" panose="02020603050405020304" pitchFamily="18" charset="0"/>
              </a:rPr>
              <a:t>Its used to define fixed values</a:t>
            </a:r>
          </a:p>
          <a:p>
            <a:r>
              <a:rPr lang="en-US" sz="2800" dirty="0">
                <a:latin typeface="Times New Roman" panose="02020603050405020304" pitchFamily="18" charset="0"/>
                <a:cs typeface="Times New Roman" panose="02020603050405020304" pitchFamily="18" charset="0"/>
              </a:rPr>
              <a:t>Its an explicit data value specified by the programmer.</a:t>
            </a:r>
          </a:p>
          <a:p>
            <a:r>
              <a:rPr lang="en-US" sz="2800" dirty="0">
                <a:latin typeface="Times New Roman" panose="02020603050405020304" pitchFamily="18" charset="0"/>
                <a:cs typeface="Times New Roman" panose="02020603050405020304" pitchFamily="18" charset="0"/>
              </a:rPr>
              <a:t>Value of constant is known to compiler at the compile time.</a:t>
            </a:r>
          </a:p>
          <a:p>
            <a:r>
              <a:rPr lang="en-US" sz="2800" dirty="0">
                <a:latin typeface="Times New Roman" panose="02020603050405020304" pitchFamily="18" charset="0"/>
                <a:cs typeface="Times New Roman" panose="02020603050405020304" pitchFamily="18" charset="0"/>
              </a:rPr>
              <a:t>C allows programmer to specify constants of integer type, floating point type, character type and string type</a:t>
            </a:r>
          </a:p>
          <a:p>
            <a:endParaRPr lang="en-IN" dirty="0"/>
          </a:p>
        </p:txBody>
      </p:sp>
      <p:sp>
        <p:nvSpPr>
          <p:cNvPr id="3" name="Title 2"/>
          <p:cNvSpPr>
            <a:spLocks noGrp="1"/>
          </p:cNvSpPr>
          <p:nvPr>
            <p:ph type="title"/>
          </p:nvPr>
        </p:nvSpPr>
        <p:spPr>
          <a:xfrm>
            <a:off x="468696" y="-70147"/>
            <a:ext cx="8229600" cy="1143000"/>
          </a:xfrm>
        </p:spPr>
        <p:txBody>
          <a:bodyPr/>
          <a:lstStyle/>
          <a:p>
            <a:r>
              <a:rPr lang="en-US" dirty="0"/>
              <a:t>Constants</a:t>
            </a:r>
            <a:endParaRPr lang="en-IN" dirty="0"/>
          </a:p>
        </p:txBody>
      </p:sp>
      <p:pic>
        <p:nvPicPr>
          <p:cNvPr id="4" name="Picture 3"/>
          <p:cNvPicPr>
            <a:picLocks noChangeAspect="1"/>
          </p:cNvPicPr>
          <p:nvPr/>
        </p:nvPicPr>
        <p:blipFill>
          <a:blip r:embed="rId2"/>
          <a:stretch>
            <a:fillRect/>
          </a:stretch>
        </p:blipFill>
        <p:spPr>
          <a:xfrm>
            <a:off x="4567237" y="4724400"/>
            <a:ext cx="4294954" cy="1865973"/>
          </a:xfrm>
          <a:prstGeom prst="rect">
            <a:avLst/>
          </a:prstGeom>
        </p:spPr>
      </p:pic>
    </p:spTree>
    <p:extLst>
      <p:ext uri="{BB962C8B-B14F-4D97-AF65-F5344CB8AC3E}">
        <p14:creationId xmlns:p14="http://schemas.microsoft.com/office/powerpoint/2010/main" val="40171932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sz="3200" b="1" dirty="0">
                <a:latin typeface="Times New Roman" panose="02020603050405020304" pitchFamily="18" charset="0"/>
                <a:cs typeface="Times New Roman" panose="02020603050405020304" pitchFamily="18" charset="0"/>
              </a:rPr>
              <a:t>Integer constants:</a:t>
            </a:r>
            <a:endParaRPr lang="en-US" sz="32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Example :1, 34,567 -</a:t>
            </a:r>
            <a:r>
              <a:rPr lang="en-US" sz="2800" dirty="0">
                <a:latin typeface="Times New Roman" panose="02020603050405020304" pitchFamily="18" charset="0"/>
                <a:cs typeface="Times New Roman" panose="02020603050405020304" pitchFamily="18" charset="0"/>
                <a:sym typeface="Wingdings" panose="05000000000000000000" pitchFamily="2" charset="2"/>
              </a:rPr>
              <a:t>integer constants</a:t>
            </a:r>
          </a:p>
          <a:p>
            <a:r>
              <a:rPr lang="en-US" sz="2800" dirty="0">
                <a:latin typeface="Times New Roman" panose="02020603050405020304" pitchFamily="18" charset="0"/>
                <a:cs typeface="Times New Roman" panose="02020603050405020304" pitchFamily="18" charset="0"/>
                <a:sym typeface="Wingdings" panose="05000000000000000000" pitchFamily="2" charset="2"/>
              </a:rPr>
              <a:t>1234l, 123L long integer constants</a:t>
            </a:r>
          </a:p>
          <a:p>
            <a:r>
              <a:rPr lang="en-US" sz="2800" dirty="0">
                <a:latin typeface="Times New Roman" panose="02020603050405020304" pitchFamily="18" charset="0"/>
                <a:cs typeface="Times New Roman" panose="02020603050405020304" pitchFamily="18" charset="0"/>
                <a:sym typeface="Wingdings" panose="05000000000000000000" pitchFamily="2" charset="2"/>
              </a:rPr>
              <a:t>12U, 23u unsigned integer constants</a:t>
            </a:r>
          </a:p>
          <a:p>
            <a:r>
              <a:rPr lang="en-US" sz="2800" dirty="0">
                <a:latin typeface="Times New Roman" panose="02020603050405020304" pitchFamily="18" charset="0"/>
                <a:cs typeface="Times New Roman" panose="02020603050405020304" pitchFamily="18" charset="0"/>
                <a:sym typeface="Wingdings" panose="05000000000000000000" pitchFamily="2" charset="2"/>
              </a:rPr>
              <a:t>0X12,0X7Fhexadecimal notation </a:t>
            </a:r>
          </a:p>
          <a:p>
            <a:r>
              <a:rPr lang="en-US" sz="2800" dirty="0">
                <a:latin typeface="Times New Roman" panose="02020603050405020304" pitchFamily="18" charset="0"/>
                <a:cs typeface="Times New Roman" panose="02020603050405020304" pitchFamily="18" charset="0"/>
                <a:sym typeface="Wingdings" panose="05000000000000000000" pitchFamily="2" charset="2"/>
              </a:rPr>
              <a:t>Decimal integer consist of set of digits(0 to 9),preceded by an optional + or -.</a:t>
            </a:r>
          </a:p>
          <a:p>
            <a:r>
              <a:rPr lang="en-US" sz="2800" dirty="0">
                <a:latin typeface="Times New Roman" panose="02020603050405020304" pitchFamily="18" charset="0"/>
                <a:cs typeface="Times New Roman" panose="02020603050405020304" pitchFamily="18" charset="0"/>
                <a:sym typeface="Wingdings" panose="05000000000000000000" pitchFamily="2" charset="2"/>
              </a:rPr>
              <a:t>Example: -123, +34,-56</a:t>
            </a:r>
          </a:p>
          <a:p>
            <a:r>
              <a:rPr lang="en-US" sz="2800" dirty="0">
                <a:latin typeface="Times New Roman" panose="02020603050405020304" pitchFamily="18" charset="0"/>
                <a:cs typeface="Times New Roman" panose="02020603050405020304" pitchFamily="18" charset="0"/>
                <a:sym typeface="Wingdings" panose="05000000000000000000" pitchFamily="2" charset="2"/>
              </a:rPr>
              <a:t>While writing integer constants , spaces, commas and non digit characters are not allowed</a:t>
            </a:r>
          </a:p>
          <a:p>
            <a:r>
              <a:rPr lang="en-US" sz="2800" b="1" dirty="0">
                <a:latin typeface="Times New Roman" panose="02020603050405020304" pitchFamily="18" charset="0"/>
                <a:cs typeface="Times New Roman" panose="02020603050405020304" pitchFamily="18" charset="0"/>
                <a:sym typeface="Wingdings" panose="05000000000000000000" pitchFamily="2" charset="2"/>
              </a:rPr>
              <a:t>Example: 12 45, </a:t>
            </a:r>
          </a:p>
          <a:p>
            <a:r>
              <a:rPr lang="en-US" sz="2800" b="1" dirty="0">
                <a:latin typeface="Times New Roman" panose="02020603050405020304" pitchFamily="18" charset="0"/>
                <a:cs typeface="Times New Roman" panose="02020603050405020304" pitchFamily="18" charset="0"/>
                <a:sym typeface="Wingdings" panose="05000000000000000000" pitchFamily="2" charset="2"/>
              </a:rPr>
              <a:t>12,56</a:t>
            </a:r>
          </a:p>
          <a:p>
            <a:r>
              <a:rPr lang="en-US" sz="2800" b="1" dirty="0">
                <a:latin typeface="Times New Roman" panose="02020603050405020304" pitchFamily="18" charset="0"/>
                <a:cs typeface="Times New Roman" panose="02020603050405020304" pitchFamily="18" charset="0"/>
                <a:sym typeface="Wingdings" panose="05000000000000000000" pitchFamily="2" charset="2"/>
              </a:rPr>
              <a:t>$89</a:t>
            </a:r>
          </a:p>
          <a:p>
            <a:endParaRPr lang="en-IN" dirty="0"/>
          </a:p>
        </p:txBody>
      </p:sp>
      <p:sp>
        <p:nvSpPr>
          <p:cNvPr id="3" name="Title 2"/>
          <p:cNvSpPr>
            <a:spLocks noGrp="1"/>
          </p:cNvSpPr>
          <p:nvPr>
            <p:ph type="title"/>
          </p:nvPr>
        </p:nvSpPr>
        <p:spPr/>
        <p:txBody>
          <a:bodyPr/>
          <a:lstStyle/>
          <a:p>
            <a:r>
              <a:rPr lang="en-US" sz="4400" dirty="0">
                <a:latin typeface="Times New Roman" panose="02020603050405020304" pitchFamily="18" charset="0"/>
                <a:cs typeface="Times New Roman" panose="02020603050405020304" pitchFamily="18" charset="0"/>
              </a:rPr>
              <a:t>constants</a:t>
            </a:r>
            <a:endParaRPr lang="en-IN" dirty="0"/>
          </a:p>
        </p:txBody>
      </p:sp>
    </p:spTree>
    <p:extLst>
      <p:ext uri="{BB962C8B-B14F-4D97-AF65-F5344CB8AC3E}">
        <p14:creationId xmlns:p14="http://schemas.microsoft.com/office/powerpoint/2010/main" val="38889927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sz="2800" b="1" dirty="0">
                <a:latin typeface="Times New Roman" panose="02020603050405020304" pitchFamily="18" charset="0"/>
                <a:cs typeface="Times New Roman" panose="02020603050405020304" pitchFamily="18" charset="0"/>
              </a:rPr>
              <a:t>Floating point constants</a:t>
            </a:r>
          </a:p>
          <a:p>
            <a:r>
              <a:rPr lang="en-US" sz="2800" dirty="0">
                <a:latin typeface="Times New Roman" panose="02020603050405020304" pitchFamily="18" charset="0"/>
                <a:cs typeface="Times New Roman" panose="02020603050405020304" pitchFamily="18" charset="0"/>
              </a:rPr>
              <a:t>Integer numbers are inadequate to express numbers that have a fractional part</a:t>
            </a:r>
          </a:p>
          <a:p>
            <a:r>
              <a:rPr lang="en-US" sz="2800" dirty="0">
                <a:latin typeface="Times New Roman" panose="02020603050405020304" pitchFamily="18" charset="0"/>
                <a:cs typeface="Times New Roman" panose="02020603050405020304" pitchFamily="18" charset="0"/>
              </a:rPr>
              <a:t>A floating point constants consists of an integer part, decimal point, a fractional part, and an exponent field containing an e or E</a:t>
            </a:r>
          </a:p>
          <a:p>
            <a:r>
              <a:rPr lang="en-US" sz="2800" dirty="0">
                <a:latin typeface="Times New Roman" panose="02020603050405020304" pitchFamily="18" charset="0"/>
                <a:cs typeface="Times New Roman" panose="02020603050405020304" pitchFamily="18" charset="0"/>
              </a:rPr>
              <a:t>Its not necessary all FPC must contain all these parts</a:t>
            </a:r>
          </a:p>
          <a:p>
            <a:r>
              <a:rPr lang="en-US" sz="2800" dirty="0">
                <a:latin typeface="Times New Roman" panose="02020603050405020304" pitchFamily="18" charset="0"/>
                <a:cs typeface="Times New Roman" panose="02020603050405020304" pitchFamily="18" charset="0"/>
              </a:rPr>
              <a:t>Example: 0.02,-0.23,12.78, +0.34 12</a:t>
            </a:r>
          </a:p>
          <a:p>
            <a:r>
              <a:rPr lang="en-US" sz="2800" dirty="0">
                <a:latin typeface="Times New Roman" panose="02020603050405020304" pitchFamily="18" charset="0"/>
                <a:cs typeface="Times New Roman" panose="02020603050405020304" pitchFamily="18" charset="0"/>
              </a:rPr>
              <a:t>Literal like 0.07 treated as of type double by default</a:t>
            </a:r>
          </a:p>
          <a:p>
            <a:r>
              <a:rPr lang="en-US" sz="2800" dirty="0">
                <a:latin typeface="Times New Roman" panose="02020603050405020304" pitchFamily="18" charset="0"/>
                <a:cs typeface="Times New Roman" panose="02020603050405020304" pitchFamily="18" charset="0"/>
              </a:rPr>
              <a:t>To make it float type literal, specify it using suffix F or f </a:t>
            </a:r>
          </a:p>
          <a:p>
            <a:r>
              <a:rPr lang="en-US" sz="2800" dirty="0">
                <a:latin typeface="Times New Roman" panose="02020603050405020304" pitchFamily="18" charset="0"/>
                <a:cs typeface="Times New Roman" panose="02020603050405020304" pitchFamily="18" charset="0"/>
              </a:rPr>
              <a:t>Valid floating point literals: 0.02F, 0.76f, 2.14E-3</a:t>
            </a:r>
          </a:p>
          <a:p>
            <a:endParaRPr lang="en-IN" dirty="0"/>
          </a:p>
        </p:txBody>
      </p:sp>
      <p:sp>
        <p:nvSpPr>
          <p:cNvPr id="3" name="Title 2"/>
          <p:cNvSpPr>
            <a:spLocks noGrp="1"/>
          </p:cNvSpPr>
          <p:nvPr>
            <p:ph type="title"/>
          </p:nvPr>
        </p:nvSpPr>
        <p:spPr/>
        <p:txBody>
          <a:bodyPr>
            <a:normAutofit fontScale="90000"/>
          </a:bodyPr>
          <a:lstStyle/>
          <a:p>
            <a:r>
              <a:rPr lang="en-US" sz="4400" dirty="0">
                <a:latin typeface="Times New Roman" panose="02020603050405020304" pitchFamily="18" charset="0"/>
                <a:cs typeface="Times New Roman" panose="02020603050405020304" pitchFamily="18" charset="0"/>
              </a:rPr>
              <a:t>constants</a:t>
            </a:r>
            <a:br>
              <a:rPr lang="en-US" sz="4400"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26230053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sz="2800" b="1" dirty="0">
                <a:latin typeface="Times New Roman" panose="02020603050405020304" pitchFamily="18" charset="0"/>
                <a:cs typeface="Times New Roman" panose="02020603050405020304" pitchFamily="18" charset="0"/>
              </a:rPr>
              <a:t>Character constants</a:t>
            </a:r>
          </a:p>
          <a:p>
            <a:r>
              <a:rPr lang="en-US" sz="2800" dirty="0">
                <a:latin typeface="Times New Roman" panose="02020603050405020304" pitchFamily="18" charset="0"/>
                <a:cs typeface="Times New Roman" panose="02020603050405020304" pitchFamily="18" charset="0"/>
              </a:rPr>
              <a:t>It consist of single characters enclosed in single quotes</a:t>
            </a:r>
          </a:p>
          <a:p>
            <a:r>
              <a:rPr lang="en-US" sz="2800" dirty="0">
                <a:latin typeface="Times New Roman" panose="02020603050405020304" pitchFamily="18" charset="0"/>
                <a:cs typeface="Times New Roman" panose="02020603050405020304" pitchFamily="18" charset="0"/>
              </a:rPr>
              <a:t>Example: ‘a’,’&amp;’</a:t>
            </a:r>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String constants</a:t>
            </a:r>
          </a:p>
          <a:p>
            <a:r>
              <a:rPr lang="en-US" sz="2800" dirty="0">
                <a:latin typeface="Times New Roman" panose="02020603050405020304" pitchFamily="18" charset="0"/>
                <a:cs typeface="Times New Roman" panose="02020603050405020304" pitchFamily="18" charset="0"/>
              </a:rPr>
              <a:t>It’s a sequence of characters enclosed in double quotes</a:t>
            </a:r>
          </a:p>
          <a:p>
            <a:r>
              <a:rPr lang="en-US" sz="2800" dirty="0">
                <a:latin typeface="Times New Roman" panose="02020603050405020304" pitchFamily="18" charset="0"/>
                <a:cs typeface="Times New Roman" panose="02020603050405020304" pitchFamily="18" charset="0"/>
              </a:rPr>
              <a:t>Length of string constant is equal to number of characters in the string plus 1(for null character)</a:t>
            </a:r>
          </a:p>
          <a:p>
            <a:r>
              <a:rPr lang="en-US" sz="2800" dirty="0">
                <a:latin typeface="Times New Roman" panose="02020603050405020304" pitchFamily="18" charset="0"/>
                <a:cs typeface="Times New Roman" panose="02020603050405020304" pitchFamily="18" charset="0"/>
              </a:rPr>
              <a:t>Length of string literal ‘hello’ = 6</a:t>
            </a:r>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Declaring constants</a:t>
            </a:r>
          </a:p>
          <a:p>
            <a:r>
              <a:rPr lang="en-US" sz="2800" dirty="0">
                <a:latin typeface="Times New Roman" panose="02020603050405020304" pitchFamily="18" charset="0"/>
                <a:cs typeface="Times New Roman" panose="02020603050405020304" pitchFamily="18" charset="0"/>
              </a:rPr>
              <a:t>To declare constant, precede normal variable declaration with </a:t>
            </a:r>
            <a:r>
              <a:rPr lang="en-US" sz="2800" dirty="0" err="1">
                <a:latin typeface="Times New Roman" panose="02020603050405020304" pitchFamily="18" charset="0"/>
                <a:cs typeface="Times New Roman" panose="02020603050405020304" pitchFamily="18" charset="0"/>
              </a:rPr>
              <a:t>const</a:t>
            </a:r>
            <a:r>
              <a:rPr lang="en-US" sz="2800" dirty="0">
                <a:latin typeface="Times New Roman" panose="02020603050405020304" pitchFamily="18" charset="0"/>
                <a:cs typeface="Times New Roman" panose="02020603050405020304" pitchFamily="18" charset="0"/>
              </a:rPr>
              <a:t> keyword and assign it a value</a:t>
            </a:r>
          </a:p>
          <a:p>
            <a:r>
              <a:rPr lang="en-US" sz="2800" dirty="0">
                <a:latin typeface="Times New Roman" panose="02020603050405020304" pitchFamily="18" charset="0"/>
                <a:cs typeface="Times New Roman" panose="02020603050405020304" pitchFamily="18" charset="0"/>
              </a:rPr>
              <a:t>Example: </a:t>
            </a:r>
            <a:r>
              <a:rPr lang="en-US" sz="2800" dirty="0" err="1">
                <a:latin typeface="Times New Roman" panose="02020603050405020304" pitchFamily="18" charset="0"/>
                <a:cs typeface="Times New Roman" panose="02020603050405020304" pitchFamily="18" charset="0"/>
              </a:rPr>
              <a:t>const</a:t>
            </a:r>
            <a:r>
              <a:rPr lang="en-US" sz="2800" dirty="0">
                <a:latin typeface="Times New Roman" panose="02020603050405020304" pitchFamily="18" charset="0"/>
                <a:cs typeface="Times New Roman" panose="02020603050405020304" pitchFamily="18" charset="0"/>
              </a:rPr>
              <a:t> float pi = 3.14; or # define pi 3.14159</a:t>
            </a:r>
          </a:p>
          <a:p>
            <a:endParaRPr lang="en-IN" dirty="0"/>
          </a:p>
        </p:txBody>
      </p:sp>
      <p:sp>
        <p:nvSpPr>
          <p:cNvPr id="3" name="Title 2"/>
          <p:cNvSpPr>
            <a:spLocks noGrp="1"/>
          </p:cNvSpPr>
          <p:nvPr>
            <p:ph type="title"/>
          </p:nvPr>
        </p:nvSpPr>
        <p:spPr/>
        <p:txBody>
          <a:bodyPr>
            <a:normAutofit fontScale="90000"/>
          </a:bodyPr>
          <a:lstStyle/>
          <a:p>
            <a:r>
              <a:rPr lang="en-US" sz="4400" dirty="0">
                <a:latin typeface="Times New Roman" panose="02020603050405020304" pitchFamily="18" charset="0"/>
                <a:cs typeface="Times New Roman" panose="02020603050405020304" pitchFamily="18" charset="0"/>
              </a:rPr>
              <a:t>constants</a:t>
            </a:r>
            <a:br>
              <a:rPr lang="en-US" sz="4400"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38042077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800" b="1" u="sng" dirty="0">
                <a:latin typeface="Times New Roman" panose="02020603050405020304" pitchFamily="18" charset="0"/>
                <a:cs typeface="Times New Roman" panose="02020603050405020304" pitchFamily="18" charset="0"/>
              </a:rPr>
              <a:t>Streams</a:t>
            </a:r>
          </a:p>
          <a:p>
            <a:r>
              <a:rPr lang="en-US" sz="2800" dirty="0">
                <a:latin typeface="Times New Roman" panose="02020603050405020304" pitchFamily="18" charset="0"/>
                <a:cs typeface="Times New Roman" panose="02020603050405020304" pitchFamily="18" charset="0"/>
              </a:rPr>
              <a:t>Stream is a source of data as well as destination of data</a:t>
            </a:r>
          </a:p>
          <a:p>
            <a:r>
              <a:rPr lang="en-US" sz="2800" dirty="0">
                <a:latin typeface="Times New Roman" panose="02020603050405020304" pitchFamily="18" charset="0"/>
                <a:cs typeface="Times New Roman" panose="02020603050405020304" pitchFamily="18" charset="0"/>
              </a:rPr>
              <a:t>Its associated with a physical device such as monitor or a file stored on the secondary memory.</a:t>
            </a:r>
          </a:p>
          <a:p>
            <a:r>
              <a:rPr lang="en-US" sz="2800" dirty="0">
                <a:latin typeface="Times New Roman" panose="02020603050405020304" pitchFamily="18" charset="0"/>
                <a:cs typeface="Times New Roman" panose="02020603050405020304" pitchFamily="18" charset="0"/>
              </a:rPr>
              <a:t>C uses 2 forms of streams</a:t>
            </a:r>
          </a:p>
          <a:p>
            <a:endParaRPr lang="en-IN" dirty="0"/>
          </a:p>
        </p:txBody>
      </p:sp>
      <p:sp>
        <p:nvSpPr>
          <p:cNvPr id="3" name="Title 2"/>
          <p:cNvSpPr>
            <a:spLocks noGrp="1"/>
          </p:cNvSpPr>
          <p:nvPr>
            <p:ph type="title"/>
          </p:nvPr>
        </p:nvSpPr>
        <p:spPr/>
        <p:txBody>
          <a:bodyPr/>
          <a:lstStyle/>
          <a:p>
            <a:r>
              <a:rPr lang="en-US" dirty="0" err="1"/>
              <a:t>Input/Output</a:t>
            </a:r>
            <a:r>
              <a:rPr lang="en-US" dirty="0"/>
              <a:t> statements in C</a:t>
            </a:r>
            <a:endParaRPr lang="en-IN" dirty="0"/>
          </a:p>
        </p:txBody>
      </p:sp>
      <p:pic>
        <p:nvPicPr>
          <p:cNvPr id="4" name="Picture 3"/>
          <p:cNvPicPr>
            <a:picLocks noChangeAspect="1"/>
          </p:cNvPicPr>
          <p:nvPr/>
        </p:nvPicPr>
        <p:blipFill>
          <a:blip r:embed="rId2"/>
          <a:stretch>
            <a:fillRect/>
          </a:stretch>
        </p:blipFill>
        <p:spPr>
          <a:xfrm>
            <a:off x="1828800" y="4320271"/>
            <a:ext cx="2743200" cy="1823498"/>
          </a:xfrm>
          <a:prstGeom prst="rect">
            <a:avLst/>
          </a:prstGeom>
        </p:spPr>
      </p:pic>
      <p:pic>
        <p:nvPicPr>
          <p:cNvPr id="5" name="Picture 4"/>
          <p:cNvPicPr>
            <a:picLocks noChangeAspect="1"/>
          </p:cNvPicPr>
          <p:nvPr/>
        </p:nvPicPr>
        <p:blipFill>
          <a:blip r:embed="rId3"/>
          <a:stretch>
            <a:fillRect/>
          </a:stretch>
        </p:blipFill>
        <p:spPr>
          <a:xfrm>
            <a:off x="4953000" y="4371313"/>
            <a:ext cx="3352800" cy="1778987"/>
          </a:xfrm>
          <a:prstGeom prst="rect">
            <a:avLst/>
          </a:prstGeom>
        </p:spPr>
      </p:pic>
    </p:spTree>
    <p:extLst>
      <p:ext uri="{BB962C8B-B14F-4D97-AF65-F5344CB8AC3E}">
        <p14:creationId xmlns:p14="http://schemas.microsoft.com/office/powerpoint/2010/main" val="9793274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sz="2800" dirty="0">
                <a:latin typeface="Times New Roman" panose="02020603050405020304" pitchFamily="18" charset="0"/>
                <a:cs typeface="Times New Roman" panose="02020603050405020304" pitchFamily="18" charset="0"/>
              </a:rPr>
              <a:t>In a text stream, sequence of characters is divided into lines with each line being terminated with a new line character.</a:t>
            </a:r>
          </a:p>
          <a:p>
            <a:r>
              <a:rPr lang="en-US" sz="2800" dirty="0">
                <a:latin typeface="Times New Roman" panose="02020603050405020304" pitchFamily="18" charset="0"/>
                <a:cs typeface="Times New Roman" panose="02020603050405020304" pitchFamily="18" charset="0"/>
              </a:rPr>
              <a:t>Binary stream consist of data values using their memory representation </a:t>
            </a:r>
          </a:p>
          <a:p>
            <a:r>
              <a:rPr lang="en-US" sz="2800" b="1" u="sng" dirty="0">
                <a:latin typeface="Times New Roman" panose="02020603050405020304" pitchFamily="18" charset="0"/>
                <a:cs typeface="Times New Roman" panose="02020603050405020304" pitchFamily="18" charset="0"/>
              </a:rPr>
              <a:t>Formatting input /output</a:t>
            </a:r>
          </a:p>
          <a:p>
            <a:r>
              <a:rPr lang="en-US" sz="2800" dirty="0">
                <a:latin typeface="Times New Roman" panose="02020603050405020304" pitchFamily="18" charset="0"/>
                <a:cs typeface="Times New Roman" panose="02020603050405020304" pitchFamily="18" charset="0"/>
              </a:rPr>
              <a:t>C language supports 2 formatting functions </a:t>
            </a:r>
            <a:r>
              <a:rPr lang="en-US" sz="2800" dirty="0" err="1">
                <a:latin typeface="Times New Roman" panose="02020603050405020304" pitchFamily="18" charset="0"/>
                <a:cs typeface="Times New Roman" panose="02020603050405020304" pitchFamily="18" charset="0"/>
              </a:rPr>
              <a:t>printf</a:t>
            </a:r>
            <a:r>
              <a:rPr lang="en-US" sz="2800" dirty="0">
                <a:latin typeface="Times New Roman" panose="02020603050405020304" pitchFamily="18" charset="0"/>
                <a:cs typeface="Times New Roman" panose="02020603050405020304" pitchFamily="18" charset="0"/>
              </a:rPr>
              <a:t> and </a:t>
            </a:r>
            <a:r>
              <a:rPr lang="en-US" sz="2800" dirty="0" err="1">
                <a:latin typeface="Times New Roman" panose="02020603050405020304" pitchFamily="18" charset="0"/>
                <a:cs typeface="Times New Roman" panose="02020603050405020304" pitchFamily="18" charset="0"/>
              </a:rPr>
              <a:t>scanf</a:t>
            </a:r>
            <a:r>
              <a:rPr lang="en-US" sz="2800" dirty="0">
                <a:latin typeface="Times New Roman" panose="02020603050405020304" pitchFamily="18" charset="0"/>
                <a:cs typeface="Times New Roman" panose="02020603050405020304" pitchFamily="18" charset="0"/>
              </a:rPr>
              <a:t>.</a:t>
            </a:r>
          </a:p>
          <a:p>
            <a:r>
              <a:rPr lang="en-US" sz="2800" dirty="0" err="1">
                <a:latin typeface="Times New Roman" panose="02020603050405020304" pitchFamily="18" charset="0"/>
                <a:cs typeface="Times New Roman" panose="02020603050405020304" pitchFamily="18" charset="0"/>
              </a:rPr>
              <a:t>Printf</a:t>
            </a:r>
            <a:r>
              <a:rPr lang="en-US" sz="2800" dirty="0">
                <a:latin typeface="Times New Roman" panose="02020603050405020304" pitchFamily="18" charset="0"/>
                <a:cs typeface="Times New Roman" panose="02020603050405020304" pitchFamily="18" charset="0"/>
              </a:rPr>
              <a:t> is used to convert data stored in program into a text stream for output to the monitor</a:t>
            </a:r>
          </a:p>
          <a:p>
            <a:r>
              <a:rPr lang="en-US" sz="2800" dirty="0" err="1">
                <a:latin typeface="Times New Roman" panose="02020603050405020304" pitchFamily="18" charset="0"/>
                <a:cs typeface="Times New Roman" panose="02020603050405020304" pitchFamily="18" charset="0"/>
              </a:rPr>
              <a:t>Scanf</a:t>
            </a:r>
            <a:r>
              <a:rPr lang="en-US" sz="2800" dirty="0">
                <a:latin typeface="Times New Roman" panose="02020603050405020304" pitchFamily="18" charset="0"/>
                <a:cs typeface="Times New Roman" panose="02020603050405020304" pitchFamily="18" charset="0"/>
              </a:rPr>
              <a:t> is used to convert text stream coming from keyboard to data values and store them in program variables </a:t>
            </a:r>
          </a:p>
          <a:p>
            <a:endParaRPr lang="en-IN" dirty="0"/>
          </a:p>
        </p:txBody>
      </p:sp>
      <p:sp>
        <p:nvSpPr>
          <p:cNvPr id="3" name="Title 2"/>
          <p:cNvSpPr>
            <a:spLocks noGrp="1"/>
          </p:cNvSpPr>
          <p:nvPr>
            <p:ph type="title"/>
          </p:nvPr>
        </p:nvSpPr>
        <p:spPr/>
        <p:txBody>
          <a:bodyPr/>
          <a:lstStyle/>
          <a:p>
            <a:r>
              <a:rPr lang="en-US" dirty="0"/>
              <a:t>Input/output statement in c</a:t>
            </a:r>
            <a:endParaRPr lang="en-IN" dirty="0"/>
          </a:p>
        </p:txBody>
      </p:sp>
    </p:spTree>
    <p:extLst>
      <p:ext uri="{BB962C8B-B14F-4D97-AF65-F5344CB8AC3E}">
        <p14:creationId xmlns:p14="http://schemas.microsoft.com/office/powerpoint/2010/main" val="16407836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t>Input/output statement in c</a:t>
            </a:r>
            <a:endParaRPr lang="en-IN"/>
          </a:p>
        </p:txBody>
      </p:sp>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661866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256</TotalTime>
  <Words>3871</Words>
  <Application>Microsoft Office PowerPoint</Application>
  <PresentationFormat>On-screen Show (4:3)</PresentationFormat>
  <Paragraphs>414</Paragraphs>
  <Slides>63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63</vt:i4>
      </vt:variant>
    </vt:vector>
  </HeadingPairs>
  <TitlesOfParts>
    <vt:vector size="71" baseType="lpstr">
      <vt:lpstr>Arial</vt:lpstr>
      <vt:lpstr>Lucida Sans Unicode</vt:lpstr>
      <vt:lpstr>Times New Roman</vt:lpstr>
      <vt:lpstr>Verdana</vt:lpstr>
      <vt:lpstr>Wingdings</vt:lpstr>
      <vt:lpstr>Wingdings 2</vt:lpstr>
      <vt:lpstr>Wingdings 3</vt:lpstr>
      <vt:lpstr>Concourse</vt:lpstr>
      <vt:lpstr>Module 1</vt:lpstr>
      <vt:lpstr>Content</vt:lpstr>
      <vt:lpstr>Introduction to computers </vt:lpstr>
      <vt:lpstr>BASIC ORGANIZATION OF A COMPUTER </vt:lpstr>
      <vt:lpstr>BASIC ORGANIZATION OF A COMPUTER</vt:lpstr>
      <vt:lpstr>PowerPoint Presentation</vt:lpstr>
      <vt:lpstr>PowerPoint Presentation</vt:lpstr>
      <vt:lpstr>PowerPoint Presentation</vt:lpstr>
      <vt:lpstr> 2.Input and output devices </vt:lpstr>
      <vt:lpstr>2.1 Input devices</vt:lpstr>
      <vt:lpstr>2.1 Input devices</vt:lpstr>
      <vt:lpstr>2.1 Input devices</vt:lpstr>
      <vt:lpstr>2.1 Input devices</vt:lpstr>
      <vt:lpstr>PowerPoint Presentation</vt:lpstr>
      <vt:lpstr>PowerPoint Presentation</vt:lpstr>
      <vt:lpstr>Input devices</vt:lpstr>
      <vt:lpstr>PowerPoint Presentation</vt:lpstr>
      <vt:lpstr>PowerPoint Presentation</vt:lpstr>
      <vt:lpstr>2.2 Output devices</vt:lpstr>
      <vt:lpstr>PowerPoint Presentation</vt:lpstr>
      <vt:lpstr>Designing efficient programs</vt:lpstr>
      <vt:lpstr>Programming paradigms </vt:lpstr>
      <vt:lpstr>Programming paradigms </vt:lpstr>
      <vt:lpstr>Programming paradigms </vt:lpstr>
      <vt:lpstr>PowerPoint Presentation</vt:lpstr>
      <vt:lpstr>Structured programming </vt:lpstr>
      <vt:lpstr>Object-Oriented programming</vt:lpstr>
      <vt:lpstr>Program design tools</vt:lpstr>
      <vt:lpstr>Flowcharts</vt:lpstr>
      <vt:lpstr>Flowcharts</vt:lpstr>
      <vt:lpstr>Flowcharts</vt:lpstr>
      <vt:lpstr>Flowcharts</vt:lpstr>
      <vt:lpstr>Significance of Flowcharts</vt:lpstr>
      <vt:lpstr>Programming in C</vt:lpstr>
      <vt:lpstr>Introduction </vt:lpstr>
      <vt:lpstr>Characteristics of C</vt:lpstr>
      <vt:lpstr>PowerPoint Presentation</vt:lpstr>
      <vt:lpstr>Uses of C</vt:lpstr>
      <vt:lpstr>Structure of a C Program</vt:lpstr>
      <vt:lpstr>PowerPoint Presentation</vt:lpstr>
      <vt:lpstr>Writing the first C Program</vt:lpstr>
      <vt:lpstr>PowerPoint Presentation</vt:lpstr>
      <vt:lpstr>Files used in a C program</vt:lpstr>
      <vt:lpstr>Compiling &amp; Executing C prgrm</vt:lpstr>
      <vt:lpstr>Using Comments</vt:lpstr>
      <vt:lpstr>Using Comments</vt:lpstr>
      <vt:lpstr>C tokens</vt:lpstr>
      <vt:lpstr>Character set in C</vt:lpstr>
      <vt:lpstr>Keywords</vt:lpstr>
      <vt:lpstr>Identifiers</vt:lpstr>
      <vt:lpstr>Rules for forming Identifiers names</vt:lpstr>
      <vt:lpstr>Basic data types in c</vt:lpstr>
      <vt:lpstr>Variable</vt:lpstr>
      <vt:lpstr>variables</vt:lpstr>
      <vt:lpstr>Variables</vt:lpstr>
      <vt:lpstr>Variables</vt:lpstr>
      <vt:lpstr>Constants</vt:lpstr>
      <vt:lpstr>constants</vt:lpstr>
      <vt:lpstr>constants </vt:lpstr>
      <vt:lpstr>constants </vt:lpstr>
      <vt:lpstr>Input/Output statements in C</vt:lpstr>
      <vt:lpstr>Input/output statement in c</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dc:title>
  <dc:creator>Mutaleb</dc:creator>
  <cp:lastModifiedBy>Windows User</cp:lastModifiedBy>
  <cp:revision>30</cp:revision>
  <dcterms:created xsi:type="dcterms:W3CDTF">2023-09-25T16:51:20Z</dcterms:created>
  <dcterms:modified xsi:type="dcterms:W3CDTF">2023-10-24T09:56:17Z</dcterms:modified>
</cp:coreProperties>
</file>