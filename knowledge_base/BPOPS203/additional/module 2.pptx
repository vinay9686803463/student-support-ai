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1" r:id="rId5"/>
    <p:sldId id="262" r:id="rId6"/>
    <p:sldId id="263" r:id="rId7"/>
    <p:sldId id="264" r:id="rId8"/>
    <p:sldId id="265" r:id="rId9"/>
    <p:sldId id="266" r:id="rId10"/>
    <p:sldId id="267" r:id="rId11"/>
    <p:sldId id="268" r:id="rId12"/>
    <p:sldId id="269" r:id="rId13"/>
    <p:sldId id="270" r:id="rId14"/>
    <p:sldId id="259" r:id="rId15"/>
    <p:sldId id="271" r:id="rId16"/>
    <p:sldId id="272" r:id="rId17"/>
    <p:sldId id="273" r:id="rId18"/>
    <p:sldId id="260" r:id="rId19"/>
    <p:sldId id="293" r:id="rId20"/>
    <p:sldId id="274" r:id="rId21"/>
    <p:sldId id="275" r:id="rId22"/>
    <p:sldId id="294" r:id="rId23"/>
    <p:sldId id="276" r:id="rId24"/>
    <p:sldId id="277" r:id="rId25"/>
    <p:sldId id="279" r:id="rId26"/>
    <p:sldId id="280" r:id="rId27"/>
    <p:sldId id="281" r:id="rId28"/>
    <p:sldId id="278" r:id="rId29"/>
    <p:sldId id="295" r:id="rId30"/>
    <p:sldId id="282" r:id="rId31"/>
    <p:sldId id="283" r:id="rId32"/>
    <p:sldId id="284" r:id="rId33"/>
    <p:sldId id="285" r:id="rId34"/>
    <p:sldId id="286" r:id="rId35"/>
    <p:sldId id="287" r:id="rId36"/>
    <p:sldId id="288" r:id="rId37"/>
    <p:sldId id="289" r:id="rId38"/>
    <p:sldId id="290" r:id="rId39"/>
    <p:sldId id="291" r:id="rId40"/>
    <p:sldId id="292" r:id="rId41"/>
    <p:sldId id="296" r:id="rId42"/>
    <p:sldId id="297" r:id="rId43"/>
    <p:sldId id="300" r:id="rId44"/>
    <p:sldId id="298" r:id="rId45"/>
    <p:sldId id="299" r:id="rId46"/>
    <p:sldId id="301" r:id="rId47"/>
    <p:sldId id="30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4" d="100"/>
          <a:sy n="114" d="100"/>
        </p:scale>
        <p:origin x="852"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325266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1318286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2799152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1143984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1220078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3182640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1473674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4088435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3884291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1297450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55367-C43F-40BC-8B65-1A8D9272C458}"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041616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4028080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55367-C43F-40BC-8B65-1A8D9272C458}"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42759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794868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35750304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F547559-BC7D-4906-AE7B-E079B7B7CD0F}" type="datetimeFigureOut">
              <a:rPr lang="en-US" smtClean="0"/>
              <a:pPr/>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855367-C43F-40BC-8B65-1A8D9272C458}" type="slidenum">
              <a:rPr lang="en-US" smtClean="0"/>
              <a:pPr/>
              <a:t>‹#›</a:t>
            </a:fld>
            <a:endParaRPr lang="en-US"/>
          </a:p>
        </p:txBody>
      </p:sp>
    </p:spTree>
    <p:extLst>
      <p:ext uri="{BB962C8B-B14F-4D97-AF65-F5344CB8AC3E}">
        <p14:creationId xmlns:p14="http://schemas.microsoft.com/office/powerpoint/2010/main" val="24280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F547559-BC7D-4906-AE7B-E079B7B7CD0F}" type="datetimeFigureOut">
              <a:rPr lang="en-US" smtClean="0"/>
              <a:pPr/>
              <a:t>10/20/2023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8855367-C43F-40BC-8B65-1A8D9272C458}" type="slidenum">
              <a:rPr lang="en-US" smtClean="0"/>
              <a:pPr/>
              <a:t>‹#›</a:t>
            </a:fld>
            <a:endParaRPr lang="en-US"/>
          </a:p>
        </p:txBody>
      </p:sp>
    </p:spTree>
    <p:extLst>
      <p:ext uri="{BB962C8B-B14F-4D97-AF65-F5344CB8AC3E}">
        <p14:creationId xmlns:p14="http://schemas.microsoft.com/office/powerpoint/2010/main" val="23797851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23654" y="1426086"/>
            <a:ext cx="9144000" cy="2164489"/>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Module 2</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9165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chemeClr val="tx1"/>
                </a:solidFill>
                <a:latin typeface="Times New Roman" panose="02020603050405020304" pitchFamily="18" charset="0"/>
                <a:cs typeface="Times New Roman" panose="02020603050405020304" pitchFamily="18" charset="0"/>
              </a:rPr>
              <a:t>contents</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Operators in C, Type conversion and typecasting.</a:t>
            </a:r>
          </a:p>
          <a:p>
            <a:pPr marL="0" indent="0">
              <a:buNone/>
            </a:pPr>
            <a:r>
              <a:rPr lang="en-US" b="1" dirty="0" smtClean="0">
                <a:latin typeface="Times New Roman" panose="02020603050405020304" pitchFamily="18" charset="0"/>
                <a:cs typeface="Times New Roman" panose="02020603050405020304" pitchFamily="18" charset="0"/>
              </a:rPr>
              <a:t>Decision control and Looping statements:</a:t>
            </a:r>
          </a:p>
          <a:p>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Introduction to decision control, </a:t>
            </a:r>
          </a:p>
          <a:p>
            <a:r>
              <a:rPr lang="en-US" dirty="0" smtClean="0">
                <a:latin typeface="Times New Roman" panose="02020603050405020304" pitchFamily="18" charset="0"/>
                <a:cs typeface="Times New Roman" panose="02020603050405020304" pitchFamily="18" charset="0"/>
              </a:rPr>
              <a:t>Conditional branching statements, </a:t>
            </a:r>
          </a:p>
          <a:p>
            <a:r>
              <a:rPr lang="en-US" dirty="0" smtClean="0">
                <a:latin typeface="Times New Roman" panose="02020603050405020304" pitchFamily="18" charset="0"/>
                <a:cs typeface="Times New Roman" panose="02020603050405020304" pitchFamily="18" charset="0"/>
              </a:rPr>
              <a:t>iterative statements,</a:t>
            </a:r>
          </a:p>
          <a:p>
            <a:r>
              <a:rPr lang="en-US" dirty="0" smtClean="0">
                <a:latin typeface="Times New Roman" panose="02020603050405020304" pitchFamily="18" charset="0"/>
                <a:cs typeface="Times New Roman" panose="02020603050405020304" pitchFamily="18" charset="0"/>
              </a:rPr>
              <a:t> nested loops, </a:t>
            </a:r>
          </a:p>
          <a:p>
            <a:r>
              <a:rPr lang="en-US" dirty="0" smtClean="0">
                <a:latin typeface="Times New Roman" panose="02020603050405020304" pitchFamily="18" charset="0"/>
                <a:cs typeface="Times New Roman" panose="02020603050405020304" pitchFamily="18" charset="0"/>
              </a:rPr>
              <a:t>break and continue statements, </a:t>
            </a:r>
          </a:p>
          <a:p>
            <a:r>
              <a:rPr lang="en-US" dirty="0" err="1" smtClean="0">
                <a:latin typeface="Times New Roman" panose="02020603050405020304" pitchFamily="18" charset="0"/>
                <a:cs typeface="Times New Roman" panose="02020603050405020304" pitchFamily="18" charset="0"/>
              </a:rPr>
              <a:t>goto</a:t>
            </a:r>
            <a:r>
              <a:rPr lang="en-US" dirty="0" smtClean="0">
                <a:latin typeface="Times New Roman" panose="02020603050405020304" pitchFamily="18" charset="0"/>
                <a:cs typeface="Times New Roman" panose="02020603050405020304" pitchFamily="18" charset="0"/>
              </a:rPr>
              <a:t> statement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827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b="1" dirty="0" smtClean="0">
                <a:solidFill>
                  <a:schemeClr val="tx1"/>
                </a:solidFill>
                <a:latin typeface="Times New Roman" panose="02020603050405020304" pitchFamily="18" charset="0"/>
                <a:cs typeface="Times New Roman" panose="02020603050405020304" pitchFamily="18" charset="0"/>
              </a:rPr>
              <a:t>Operators in C</a:t>
            </a:r>
            <a:endParaRPr lang="en-US" b="1" dirty="0">
              <a:solidFill>
                <a:schemeClr val="tx1"/>
              </a:solidFill>
            </a:endParaRPr>
          </a:p>
        </p:txBody>
      </p:sp>
      <p:sp>
        <p:nvSpPr>
          <p:cNvPr id="3" name="Content Placeholder 2"/>
          <p:cNvSpPr>
            <a:spLocks noGrp="1"/>
          </p:cNvSpPr>
          <p:nvPr>
            <p:ph idx="1"/>
          </p:nvPr>
        </p:nvSpPr>
        <p:spPr>
          <a:xfrm>
            <a:off x="838200" y="1058091"/>
            <a:ext cx="10515600" cy="5118872"/>
          </a:xfrm>
        </p:spPr>
        <p:txBody>
          <a:bodyPr>
            <a:normAutofit fontScale="70000" lnSpcReduction="20000"/>
          </a:bodyPr>
          <a:lstStyle/>
          <a:p>
            <a:r>
              <a:rPr lang="en-US" sz="3100" dirty="0" smtClean="0">
                <a:latin typeface="Times New Roman" panose="02020603050405020304" pitchFamily="18" charset="0"/>
                <a:cs typeface="Times New Roman" panose="02020603050405020304" pitchFamily="18" charset="0"/>
              </a:rPr>
              <a:t>An operator is a symbol that specifies the mathematical ,logical, or relational operation to be performed.</a:t>
            </a:r>
          </a:p>
          <a:p>
            <a:r>
              <a:rPr lang="en-US" sz="3100" dirty="0" smtClean="0">
                <a:latin typeface="Times New Roman" panose="02020603050405020304" pitchFamily="18" charset="0"/>
                <a:cs typeface="Times New Roman" panose="02020603050405020304" pitchFamily="18" charset="0"/>
              </a:rPr>
              <a:t>C language supports different types of operators.</a:t>
            </a:r>
          </a:p>
          <a:p>
            <a:r>
              <a:rPr lang="en-US" sz="3100" dirty="0" smtClean="0">
                <a:latin typeface="Times New Roman" panose="02020603050405020304" pitchFamily="18" charset="0"/>
                <a:cs typeface="Times New Roman" panose="02020603050405020304" pitchFamily="18" charset="0"/>
              </a:rPr>
              <a:t>It is used with variables and constants to form expressions</a:t>
            </a:r>
          </a:p>
          <a:p>
            <a:r>
              <a:rPr lang="en-US" sz="3100" dirty="0" smtClean="0">
                <a:latin typeface="Times New Roman" panose="02020603050405020304" pitchFamily="18" charset="0"/>
                <a:cs typeface="Times New Roman" panose="02020603050405020304" pitchFamily="18" charset="0"/>
              </a:rPr>
              <a:t>These operators can be categorized into the following major groups</a:t>
            </a:r>
          </a:p>
          <a:p>
            <a:r>
              <a:rPr lang="en-US" sz="2300" b="1" dirty="0" smtClean="0">
                <a:latin typeface="Times New Roman" panose="02020603050405020304" pitchFamily="18" charset="0"/>
                <a:cs typeface="Times New Roman" panose="02020603050405020304" pitchFamily="18" charset="0"/>
              </a:rPr>
              <a:t>Arithmetic operators</a:t>
            </a:r>
          </a:p>
          <a:p>
            <a:r>
              <a:rPr lang="en-US" sz="2300" b="1" dirty="0" smtClean="0">
                <a:latin typeface="Times New Roman" panose="02020603050405020304" pitchFamily="18" charset="0"/>
                <a:cs typeface="Times New Roman" panose="02020603050405020304" pitchFamily="18" charset="0"/>
              </a:rPr>
              <a:t>Relational operators</a:t>
            </a:r>
          </a:p>
          <a:p>
            <a:r>
              <a:rPr lang="en-US" sz="2300" b="1" dirty="0" smtClean="0">
                <a:latin typeface="Times New Roman" panose="02020603050405020304" pitchFamily="18" charset="0"/>
                <a:cs typeface="Times New Roman" panose="02020603050405020304" pitchFamily="18" charset="0"/>
              </a:rPr>
              <a:t>Equality operators</a:t>
            </a:r>
          </a:p>
          <a:p>
            <a:r>
              <a:rPr lang="en-US" sz="2300" b="1" dirty="0" smtClean="0">
                <a:latin typeface="Times New Roman" panose="02020603050405020304" pitchFamily="18" charset="0"/>
                <a:cs typeface="Times New Roman" panose="02020603050405020304" pitchFamily="18" charset="0"/>
              </a:rPr>
              <a:t>Logical operators</a:t>
            </a:r>
          </a:p>
          <a:p>
            <a:r>
              <a:rPr lang="en-US" sz="2300" b="1" dirty="0" smtClean="0">
                <a:latin typeface="Times New Roman" panose="02020603050405020304" pitchFamily="18" charset="0"/>
                <a:cs typeface="Times New Roman" panose="02020603050405020304" pitchFamily="18" charset="0"/>
              </a:rPr>
              <a:t>Unary operators</a:t>
            </a:r>
          </a:p>
          <a:p>
            <a:r>
              <a:rPr lang="en-US" sz="2300" b="1" dirty="0" smtClean="0">
                <a:latin typeface="Times New Roman" panose="02020603050405020304" pitchFamily="18" charset="0"/>
                <a:cs typeface="Times New Roman" panose="02020603050405020304" pitchFamily="18" charset="0"/>
              </a:rPr>
              <a:t>Conditional operators</a:t>
            </a:r>
          </a:p>
          <a:p>
            <a:r>
              <a:rPr lang="en-US" sz="2300" b="1" dirty="0" smtClean="0">
                <a:latin typeface="Times New Roman" panose="02020603050405020304" pitchFamily="18" charset="0"/>
                <a:cs typeface="Times New Roman" panose="02020603050405020304" pitchFamily="18" charset="0"/>
              </a:rPr>
              <a:t>Bitwise operators </a:t>
            </a:r>
          </a:p>
          <a:p>
            <a:r>
              <a:rPr lang="en-US" sz="2300" b="1" dirty="0" smtClean="0">
                <a:latin typeface="Times New Roman" panose="02020603050405020304" pitchFamily="18" charset="0"/>
                <a:cs typeface="Times New Roman" panose="02020603050405020304" pitchFamily="18" charset="0"/>
              </a:rPr>
              <a:t>Assignment operators</a:t>
            </a:r>
          </a:p>
          <a:p>
            <a:r>
              <a:rPr lang="en-US" sz="2300" b="1" dirty="0" smtClean="0">
                <a:latin typeface="Times New Roman" panose="02020603050405020304" pitchFamily="18" charset="0"/>
                <a:cs typeface="Times New Roman" panose="02020603050405020304" pitchFamily="18" charset="0"/>
              </a:rPr>
              <a:t>Comma operators </a:t>
            </a:r>
          </a:p>
          <a:p>
            <a:r>
              <a:rPr lang="en-US" sz="2300" b="1" dirty="0" err="1" smtClean="0">
                <a:latin typeface="Times New Roman" panose="02020603050405020304" pitchFamily="18" charset="0"/>
                <a:cs typeface="Times New Roman" panose="02020603050405020304" pitchFamily="18" charset="0"/>
              </a:rPr>
              <a:t>Sizeof</a:t>
            </a:r>
            <a:r>
              <a:rPr lang="en-US" sz="2300" b="1" dirty="0" smtClean="0">
                <a:latin typeface="Times New Roman" panose="02020603050405020304" pitchFamily="18" charset="0"/>
                <a:cs typeface="Times New Roman" panose="02020603050405020304" pitchFamily="18" charset="0"/>
              </a:rPr>
              <a:t> operators</a:t>
            </a:r>
          </a:p>
          <a:p>
            <a:endParaRPr lang="en-US" sz="2300" b="1"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689641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lstStyle/>
          <a:p>
            <a:r>
              <a:rPr lang="en-US" b="1" dirty="0" smtClean="0">
                <a:solidFill>
                  <a:schemeClr val="tx1"/>
                </a:solidFill>
                <a:latin typeface="Times New Roman" panose="02020603050405020304" pitchFamily="18" charset="0"/>
                <a:cs typeface="Times New Roman" panose="02020603050405020304" pitchFamily="18" charset="0"/>
              </a:rPr>
              <a:t>Arithmetic operators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06286"/>
            <a:ext cx="10515600" cy="4351338"/>
          </a:xfrm>
        </p:spPr>
        <p:txBody>
          <a:bodyPr/>
          <a:lstStyle/>
          <a:p>
            <a:r>
              <a:rPr lang="en-US" sz="2400" dirty="0" smtClean="0">
                <a:latin typeface="Times New Roman" panose="02020603050405020304" pitchFamily="18" charset="0"/>
                <a:cs typeface="Times New Roman" panose="02020603050405020304" pitchFamily="18" charset="0"/>
              </a:rPr>
              <a:t>Consider 3 variables declared as,</a:t>
            </a:r>
          </a:p>
          <a:p>
            <a:pPr marL="0" indent="0">
              <a:buNone/>
            </a:pPr>
            <a:r>
              <a:rPr lang="en-US" sz="2400" dirty="0"/>
              <a:t>	</a:t>
            </a:r>
            <a:r>
              <a:rPr lang="en-US" sz="2400" dirty="0" smtClean="0"/>
              <a:t>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a=9,b=3,result;</a:t>
            </a:r>
          </a:p>
          <a:p>
            <a:r>
              <a:rPr lang="en-US" sz="2400" dirty="0" smtClean="0">
                <a:latin typeface="Times New Roman" panose="02020603050405020304" pitchFamily="18" charset="0"/>
                <a:cs typeface="Times New Roman" panose="02020603050405020304" pitchFamily="18" charset="0"/>
              </a:rPr>
              <a:t>We will use these variables to explain Arithmetic operators.</a:t>
            </a:r>
          </a:p>
          <a:p>
            <a:r>
              <a:rPr lang="en-US" sz="2400" dirty="0" smtClean="0">
                <a:latin typeface="Times New Roman" panose="02020603050405020304" pitchFamily="18" charset="0"/>
                <a:cs typeface="Times New Roman" panose="02020603050405020304" pitchFamily="18" charset="0"/>
              </a:rPr>
              <a:t>It can be applied to any integer or floating point number.</a:t>
            </a:r>
          </a:p>
          <a:p>
            <a:r>
              <a:rPr lang="en-US" sz="2400" dirty="0" smtClean="0">
                <a:latin typeface="Times New Roman" panose="02020603050405020304" pitchFamily="18" charset="0"/>
                <a:cs typeface="Times New Roman" panose="02020603050405020304" pitchFamily="18" charset="0"/>
              </a:rPr>
              <a:t>%can be applied only to integers. </a:t>
            </a:r>
          </a:p>
          <a:p>
            <a:r>
              <a:rPr lang="en-US" sz="2400" dirty="0" smtClean="0">
                <a:latin typeface="Times New Roman" panose="02020603050405020304" pitchFamily="18" charset="0"/>
                <a:cs typeface="Times New Roman" panose="02020603050405020304" pitchFamily="18" charset="0"/>
              </a:rPr>
              <a:t>while performing modulo division, sign of result is always the sign of 1</a:t>
            </a:r>
            <a:r>
              <a:rPr lang="en-US" sz="2400" baseline="30000" dirty="0" smtClean="0">
                <a:latin typeface="Times New Roman" panose="02020603050405020304" pitchFamily="18" charset="0"/>
                <a:cs typeface="Times New Roman" panose="02020603050405020304" pitchFamily="18" charset="0"/>
              </a:rPr>
              <a:t>st</a:t>
            </a:r>
            <a:r>
              <a:rPr lang="en-US" sz="2400" dirty="0" smtClean="0">
                <a:latin typeface="Times New Roman" panose="02020603050405020304" pitchFamily="18" charset="0"/>
                <a:cs typeface="Times New Roman" panose="02020603050405020304" pitchFamily="18" charset="0"/>
              </a:rPr>
              <a:t> operand</a:t>
            </a:r>
            <a:r>
              <a:rPr lang="en-US" sz="2400" b="1" dirty="0" smtClean="0">
                <a:latin typeface="Times New Roman" panose="02020603050405020304" pitchFamily="18" charset="0"/>
                <a:cs typeface="Times New Roman" panose="02020603050405020304" pitchFamily="18" charset="0"/>
              </a:rPr>
              <a:t>. E.g.: -12%3=-1</a:t>
            </a:r>
          </a:p>
          <a:p>
            <a:pPr marL="0" indent="0">
              <a:buNone/>
            </a:pPr>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0970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245"/>
            <a:ext cx="10515600" cy="1325563"/>
          </a:xfrm>
        </p:spPr>
        <p:txBody>
          <a:bodyPr>
            <a:normAutofit/>
          </a:bodyPr>
          <a:lstStyle/>
          <a:p>
            <a:r>
              <a:rPr lang="en-US" sz="3200" b="1" dirty="0" smtClean="0">
                <a:solidFill>
                  <a:schemeClr val="tx1"/>
                </a:solidFill>
                <a:latin typeface="Times New Roman" panose="02020603050405020304" pitchFamily="18" charset="0"/>
                <a:cs typeface="Times New Roman" panose="02020603050405020304" pitchFamily="18" charset="0"/>
              </a:rPr>
              <a:t>Relational operators(Comparison operators</a:t>
            </a:r>
            <a:r>
              <a:rPr lang="en-US" sz="3200" dirty="0" smtClean="0">
                <a:solidFill>
                  <a:schemeClr val="tx1"/>
                </a:solidFill>
              </a:rPr>
              <a:t>)</a:t>
            </a:r>
            <a:endParaRPr lang="en-US" sz="3200" dirty="0">
              <a:solidFill>
                <a:schemeClr val="tx1"/>
              </a:solidFill>
            </a:endParaRPr>
          </a:p>
        </p:txBody>
      </p:sp>
      <p:sp>
        <p:nvSpPr>
          <p:cNvPr id="3" name="Content Placeholder 2"/>
          <p:cNvSpPr>
            <a:spLocks noGrp="1"/>
          </p:cNvSpPr>
          <p:nvPr>
            <p:ph idx="1"/>
          </p:nvPr>
        </p:nvSpPr>
        <p:spPr>
          <a:xfrm>
            <a:off x="838200" y="1250859"/>
            <a:ext cx="10515600" cy="4351338"/>
          </a:xfrm>
        </p:spPr>
        <p:txBody>
          <a:bodyPr/>
          <a:lstStyle/>
          <a:p>
            <a:r>
              <a:rPr lang="en-US" dirty="0" smtClean="0">
                <a:latin typeface="Times New Roman" panose="02020603050405020304" pitchFamily="18" charset="0"/>
                <a:cs typeface="Times New Roman" panose="02020603050405020304" pitchFamily="18" charset="0"/>
              </a:rPr>
              <a:t>its an operator that compare 2 values</a:t>
            </a:r>
          </a:p>
          <a:p>
            <a:r>
              <a:rPr lang="en-US" dirty="0" smtClean="0">
                <a:latin typeface="Times New Roman" panose="02020603050405020304" pitchFamily="18" charset="0"/>
                <a:cs typeface="Times New Roman" panose="02020603050405020304" pitchFamily="18" charset="0"/>
              </a:rPr>
              <a:t>Expression that contain relational operators are called relational expressions.</a:t>
            </a:r>
          </a:p>
          <a:p>
            <a:r>
              <a:rPr lang="en-US" dirty="0" smtClean="0">
                <a:latin typeface="Times New Roman" panose="02020603050405020304" pitchFamily="18" charset="0"/>
                <a:cs typeface="Times New Roman" panose="02020603050405020304" pitchFamily="18" charset="0"/>
              </a:rPr>
              <a:t>It return Boolean values</a:t>
            </a:r>
          </a:p>
          <a:p>
            <a:r>
              <a:rPr lang="en-US" dirty="0" smtClean="0">
                <a:latin typeface="Times New Roman" panose="02020603050405020304" pitchFamily="18" charset="0"/>
                <a:cs typeface="Times New Roman" panose="02020603050405020304" pitchFamily="18" charset="0"/>
              </a:rPr>
              <a:t>Its used to determine the relationships between the operands</a:t>
            </a:r>
          </a:p>
          <a:p>
            <a:r>
              <a:rPr lang="en-US" dirty="0" smtClean="0">
                <a:latin typeface="Times New Roman" panose="02020603050405020304" pitchFamily="18" charset="0"/>
                <a:cs typeface="Times New Roman" panose="02020603050405020304" pitchFamily="18" charset="0"/>
              </a:rPr>
              <a:t>These are evaluated from left to right</a:t>
            </a:r>
          </a:p>
          <a:p>
            <a:endParaRPr lang="en-US" dirty="0" smtClean="0"/>
          </a:p>
          <a:p>
            <a:endParaRPr lang="en-US" dirty="0"/>
          </a:p>
        </p:txBody>
      </p:sp>
    </p:spTree>
    <p:extLst>
      <p:ext uri="{BB962C8B-B14F-4D97-AF65-F5344CB8AC3E}">
        <p14:creationId xmlns:p14="http://schemas.microsoft.com/office/powerpoint/2010/main" val="2119644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latin typeface="Times New Roman" panose="02020603050405020304" pitchFamily="18" charset="0"/>
                <a:cs typeface="Times New Roman" panose="02020603050405020304" pitchFamily="18" charset="0"/>
              </a:rPr>
              <a:t>Equality operators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C supports 2 kind of equality operators to compare their operands for equality or inequality</a:t>
            </a:r>
          </a:p>
          <a:p>
            <a:pPr marL="0" indent="0">
              <a:buNone/>
            </a:pP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1. equal to(==)  2. not equal to(!=) operators</a:t>
            </a:r>
          </a:p>
          <a:p>
            <a:r>
              <a:rPr lang="en-US" dirty="0" smtClean="0">
                <a:latin typeface="Times New Roman" panose="02020603050405020304" pitchFamily="18" charset="0"/>
                <a:cs typeface="Times New Roman" panose="02020603050405020304" pitchFamily="18" charset="0"/>
              </a:rPr>
              <a:t>Equality operators have lower precedence than relational operators</a:t>
            </a:r>
          </a:p>
          <a:p>
            <a:pPr marL="0" indent="0">
              <a:buNone/>
            </a:pPr>
            <a:endParaRPr lang="en-US"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05443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latin typeface="Times New Roman" panose="02020603050405020304" pitchFamily="18" charset="0"/>
                <a:cs typeface="Times New Roman" panose="02020603050405020304" pitchFamily="18" charset="0"/>
              </a:rPr>
              <a:t>Logical operators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666615"/>
          </a:xfrm>
        </p:spPr>
        <p:txBody>
          <a:bodyPr>
            <a:normAutofit/>
          </a:bodyPr>
          <a:lstStyle/>
          <a:p>
            <a:r>
              <a:rPr lang="en-US" dirty="0" smtClean="0">
                <a:latin typeface="Times New Roman" panose="02020603050405020304" pitchFamily="18" charset="0"/>
                <a:cs typeface="Times New Roman" panose="02020603050405020304" pitchFamily="18" charset="0"/>
              </a:rPr>
              <a:t>C supports 3 logical operators – logical AND, logical OR, logical NOT</a:t>
            </a:r>
          </a:p>
          <a:p>
            <a:r>
              <a:rPr lang="en-US" dirty="0" smtClean="0">
                <a:latin typeface="Times New Roman" panose="02020603050405020304" pitchFamily="18" charset="0"/>
                <a:cs typeface="Times New Roman" panose="02020603050405020304" pitchFamily="18" charset="0"/>
              </a:rPr>
              <a:t>Evaluated from left to right</a:t>
            </a:r>
          </a:p>
          <a:p>
            <a:pPr marL="0" indent="0">
              <a:buNone/>
            </a:pPr>
            <a:r>
              <a:rPr lang="en-US" b="1" dirty="0" smtClean="0">
                <a:latin typeface="Times New Roman" panose="02020603050405020304" pitchFamily="18" charset="0"/>
                <a:cs typeface="Times New Roman" panose="02020603050405020304" pitchFamily="18" charset="0"/>
              </a:rPr>
              <a:t>1.Logical AND(&amp;&amp;)</a:t>
            </a:r>
          </a:p>
          <a:p>
            <a:r>
              <a:rPr lang="en-US" dirty="0" smtClean="0">
                <a:latin typeface="Times New Roman" panose="02020603050405020304" pitchFamily="18" charset="0"/>
                <a:cs typeface="Times New Roman" panose="02020603050405020304" pitchFamily="18" charset="0"/>
              </a:rPr>
              <a:t>It’s a binary operator , which evaluates 2 relational expressions or 2 values</a:t>
            </a:r>
          </a:p>
          <a:p>
            <a:r>
              <a:rPr lang="en-US" b="1" dirty="0" smtClean="0">
                <a:latin typeface="Times New Roman" panose="02020603050405020304" pitchFamily="18" charset="0"/>
                <a:cs typeface="Times New Roman" panose="02020603050405020304" pitchFamily="18" charset="0"/>
              </a:rPr>
              <a:t>For example: (a&lt;b) &amp;&amp;(b&gt;c)</a:t>
            </a:r>
          </a:p>
          <a:p>
            <a:pPr marL="0" indent="0">
              <a:buNone/>
            </a:pPr>
            <a:r>
              <a:rPr lang="en-US" b="1" dirty="0" smtClean="0">
                <a:latin typeface="Times New Roman" panose="02020603050405020304" pitchFamily="18" charset="0"/>
                <a:cs typeface="Times New Roman" panose="02020603050405020304" pitchFamily="18" charset="0"/>
              </a:rPr>
              <a:t>2.. Logical OR(| |)</a:t>
            </a:r>
          </a:p>
          <a:p>
            <a:r>
              <a:rPr lang="en-US" dirty="0" smtClean="0">
                <a:latin typeface="Times New Roman" panose="02020603050405020304" pitchFamily="18" charset="0"/>
                <a:cs typeface="Times New Roman" panose="02020603050405020304" pitchFamily="18" charset="0"/>
              </a:rPr>
              <a:t>It returns a false value if both the operands are false, otherwise returns a true value</a:t>
            </a:r>
          </a:p>
          <a:p>
            <a:r>
              <a:rPr lang="en-US" b="1" dirty="0" smtClean="0">
                <a:latin typeface="Times New Roman" panose="02020603050405020304" pitchFamily="18" charset="0"/>
                <a:cs typeface="Times New Roman" panose="02020603050405020304" pitchFamily="18" charset="0"/>
              </a:rPr>
              <a:t>example: (a&lt;b)||(b&gt;c)</a:t>
            </a:r>
          </a:p>
          <a:p>
            <a:pPr marL="0" indent="0">
              <a:buNone/>
            </a:pPr>
            <a:r>
              <a:rPr lang="en-US" b="1" dirty="0" smtClean="0">
                <a:latin typeface="Times New Roman" panose="02020603050405020304" pitchFamily="18" charset="0"/>
                <a:cs typeface="Times New Roman" panose="02020603050405020304" pitchFamily="18" charset="0"/>
              </a:rPr>
              <a:t>3.Logical NOT</a:t>
            </a:r>
          </a:p>
          <a:p>
            <a:r>
              <a:rPr lang="en-US" dirty="0" smtClean="0">
                <a:latin typeface="Times New Roman" panose="02020603050405020304" pitchFamily="18" charset="0"/>
                <a:cs typeface="Times New Roman" panose="02020603050405020304" pitchFamily="18" charset="0"/>
              </a:rPr>
              <a:t>It takes a  single expression and reverses the value of expression</a:t>
            </a:r>
            <a:endParaRPr lang="en-US" b="1" dirty="0" smtClean="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1652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Logical operators</a:t>
            </a:r>
            <a:endParaRPr lang="en-US" dirty="0">
              <a:solidFill>
                <a:schemeClr val="tx1"/>
              </a:solidFill>
            </a:endParaRPr>
          </a:p>
        </p:txBody>
      </p:sp>
      <p:sp>
        <p:nvSpPr>
          <p:cNvPr id="3" name="Content Placeholder 2"/>
          <p:cNvSpPr>
            <a:spLocks noGrp="1"/>
          </p:cNvSpPr>
          <p:nvPr>
            <p:ph idx="1"/>
          </p:nvPr>
        </p:nvSpPr>
        <p:spPr/>
        <p:txBody>
          <a:bodyPr/>
          <a:lstStyle/>
          <a:p>
            <a:r>
              <a:rPr lang="en-US" dirty="0" smtClean="0"/>
              <a:t>Example: </a:t>
            </a:r>
            <a:r>
              <a:rPr lang="en-US" dirty="0" err="1" smtClean="0"/>
              <a:t>int</a:t>
            </a:r>
            <a:r>
              <a:rPr lang="en-US" dirty="0" smtClean="0"/>
              <a:t> a = 10, b;</a:t>
            </a:r>
          </a:p>
          <a:p>
            <a:pPr marL="0" indent="0">
              <a:buNone/>
            </a:pPr>
            <a:r>
              <a:rPr lang="en-US" dirty="0"/>
              <a:t>	</a:t>
            </a:r>
            <a:r>
              <a:rPr lang="en-US" dirty="0" smtClean="0"/>
              <a:t>	b = !a;</a:t>
            </a:r>
            <a:endParaRPr lang="en-US" dirty="0"/>
          </a:p>
        </p:txBody>
      </p:sp>
    </p:spTree>
    <p:extLst>
      <p:ext uri="{BB962C8B-B14F-4D97-AF65-F5344CB8AC3E}">
        <p14:creationId xmlns:p14="http://schemas.microsoft.com/office/powerpoint/2010/main" val="2211539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3056"/>
            <a:ext cx="10515600" cy="1325563"/>
          </a:xfrm>
        </p:spPr>
        <p:txBody>
          <a:bodyPr/>
          <a:lstStyle/>
          <a:p>
            <a:r>
              <a:rPr lang="en-US" b="1" dirty="0" smtClean="0">
                <a:solidFill>
                  <a:schemeClr val="tx1"/>
                </a:solidFill>
                <a:latin typeface="Times New Roman" panose="02020603050405020304" pitchFamily="18" charset="0"/>
                <a:cs typeface="Times New Roman" panose="02020603050405020304" pitchFamily="18" charset="0"/>
              </a:rPr>
              <a:t>Unary operators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33697" y="1276985"/>
            <a:ext cx="10515600" cy="5136878"/>
          </a:xfrm>
        </p:spPr>
        <p:txBody>
          <a:bodyPr/>
          <a:lstStyle/>
          <a:p>
            <a:r>
              <a:rPr lang="en-US" dirty="0" smtClean="0">
                <a:latin typeface="Times New Roman" panose="02020603050405020304" pitchFamily="18" charset="0"/>
                <a:cs typeface="Times New Roman" panose="02020603050405020304" pitchFamily="18" charset="0"/>
              </a:rPr>
              <a:t>It acts on single operand . C supports 3 unary operators</a:t>
            </a:r>
          </a:p>
          <a:p>
            <a:pPr marL="0" indent="0">
              <a:buNone/>
            </a:pPr>
            <a:r>
              <a:rPr lang="en-US" b="1" dirty="0" smtClean="0">
                <a:latin typeface="Times New Roman" panose="02020603050405020304" pitchFamily="18" charset="0"/>
                <a:cs typeface="Times New Roman" panose="02020603050405020304" pitchFamily="18" charset="0"/>
              </a:rPr>
              <a:t>1)Unary minus, 2)increment and 3)decrement operators</a:t>
            </a:r>
          </a:p>
          <a:p>
            <a:pPr marL="0" indent="0">
              <a:buNone/>
            </a:pPr>
            <a:endParaRPr lang="en-US" b="1"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1)Unary </a:t>
            </a:r>
            <a:r>
              <a:rPr lang="en-US" b="1" dirty="0" err="1" smtClean="0">
                <a:latin typeface="Times New Roman" panose="02020603050405020304" pitchFamily="18" charset="0"/>
                <a:cs typeface="Times New Roman" panose="02020603050405020304" pitchFamily="18" charset="0"/>
              </a:rPr>
              <a:t>minus:</a:t>
            </a:r>
            <a:r>
              <a:rPr lang="en-US" dirty="0" err="1" smtClean="0">
                <a:latin typeface="Times New Roman" panose="02020603050405020304" pitchFamily="18" charset="0"/>
                <a:cs typeface="Times New Roman" panose="02020603050405020304" pitchFamily="18" charset="0"/>
              </a:rPr>
              <a:t>When</a:t>
            </a:r>
            <a:r>
              <a:rPr lang="en-US" dirty="0" smtClean="0">
                <a:latin typeface="Times New Roman" panose="02020603050405020304" pitchFamily="18" charset="0"/>
                <a:cs typeface="Times New Roman" panose="02020603050405020304" pitchFamily="18" charset="0"/>
              </a:rPr>
              <a:t> operand is preceded by a minus sign, the unary operator negates its value. </a:t>
            </a:r>
          </a:p>
          <a:p>
            <a:r>
              <a:rPr lang="en-US" dirty="0" err="1" smtClean="0">
                <a:latin typeface="Times New Roman" panose="02020603050405020304" pitchFamily="18" charset="0"/>
                <a:cs typeface="Times New Roman" panose="02020603050405020304" pitchFamily="18" charset="0"/>
              </a:rPr>
              <a:t>Eg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int</a:t>
            </a:r>
            <a:r>
              <a:rPr lang="en-US" dirty="0" smtClean="0">
                <a:latin typeface="Times New Roman" panose="02020603050405020304" pitchFamily="18" charset="0"/>
                <a:cs typeface="Times New Roman" panose="02020603050405020304" pitchFamily="18" charset="0"/>
              </a:rPr>
              <a:t> a, b=10;</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 -(b);</a:t>
            </a:r>
          </a:p>
          <a:p>
            <a:pPr marL="0" indent="0">
              <a:buNone/>
            </a:pPr>
            <a:r>
              <a:rPr lang="en-US" dirty="0" smtClean="0">
                <a:latin typeface="Times New Roman" panose="02020603050405020304" pitchFamily="18" charset="0"/>
                <a:cs typeface="Times New Roman" panose="02020603050405020304" pitchFamily="18" charset="0"/>
              </a:rPr>
              <a:t>The result of this expression is a=-10 </a:t>
            </a:r>
            <a:r>
              <a:rPr lang="en-US" dirty="0" err="1" smtClean="0">
                <a:latin typeface="Times New Roman" panose="02020603050405020304" pitchFamily="18" charset="0"/>
                <a:cs typeface="Times New Roman" panose="02020603050405020304" pitchFamily="18" charset="0"/>
              </a:rPr>
              <a:t>bcz</a:t>
            </a:r>
            <a:r>
              <a:rPr lang="en-US" dirty="0" smtClean="0">
                <a:latin typeface="Times New Roman" panose="02020603050405020304" pitchFamily="18" charset="0"/>
                <a:cs typeface="Times New Roman" panose="02020603050405020304" pitchFamily="18" charset="0"/>
              </a:rPr>
              <a:t> variable b has +</a:t>
            </a:r>
            <a:r>
              <a:rPr lang="en-US" dirty="0" err="1" smtClean="0">
                <a:latin typeface="Times New Roman" panose="02020603050405020304" pitchFamily="18" charset="0"/>
                <a:cs typeface="Times New Roman" panose="02020603050405020304" pitchFamily="18" charset="0"/>
              </a:rPr>
              <a:t>ve</a:t>
            </a:r>
            <a:r>
              <a:rPr lang="en-US" dirty="0" smtClean="0">
                <a:latin typeface="Times New Roman" panose="02020603050405020304" pitchFamily="18" charset="0"/>
                <a:cs typeface="Times New Roman" panose="02020603050405020304" pitchFamily="18" charset="0"/>
              </a:rPr>
              <a:t> value. After applying unary minus operator on operand b, the value becomes -10(</a:t>
            </a:r>
            <a:r>
              <a:rPr lang="en-US" dirty="0" err="1" smtClean="0">
                <a:latin typeface="Times New Roman" panose="02020603050405020304" pitchFamily="18" charset="0"/>
                <a:cs typeface="Times New Roman" panose="02020603050405020304" pitchFamily="18" charset="0"/>
              </a:rPr>
              <a:t>ie</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ve</a:t>
            </a:r>
            <a:r>
              <a:rPr lang="en-US" dirty="0" smtClean="0">
                <a:latin typeface="Times New Roman" panose="02020603050405020304" pitchFamily="18" charset="0"/>
                <a:cs typeface="Times New Roman" panose="02020603050405020304" pitchFamily="18" charset="0"/>
              </a:rPr>
              <a:t> value)</a:t>
            </a: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Increment(++) and decrement(--) operator:</a:t>
            </a:r>
          </a:p>
          <a:p>
            <a:r>
              <a:rPr lang="en-US" dirty="0" smtClean="0">
                <a:latin typeface="Times New Roman" panose="02020603050405020304" pitchFamily="18" charset="0"/>
                <a:cs typeface="Times New Roman" panose="02020603050405020304" pitchFamily="18" charset="0"/>
              </a:rPr>
              <a:t>++ increases value of its operand by 1, -- decreases value of its operand by 1</a:t>
            </a:r>
          </a:p>
          <a:p>
            <a:r>
              <a:rPr lang="en-US" dirty="0" smtClean="0">
                <a:latin typeface="Times New Roman" panose="02020603050405020304" pitchFamily="18" charset="0"/>
                <a:cs typeface="Times New Roman" panose="02020603050405020304" pitchFamily="18" charset="0"/>
              </a:rPr>
              <a:t>Increment and decrement operators have 2 variants., prefix and postfix </a:t>
            </a:r>
          </a:p>
          <a:p>
            <a:endParaRPr lang="en-US" sz="2400" dirty="0" smtClean="0">
              <a:latin typeface="Times New Roman" panose="02020603050405020304" pitchFamily="18" charset="0"/>
              <a:cs typeface="Times New Roman" panose="02020603050405020304" pitchFamily="18" charset="0"/>
            </a:endParaRPr>
          </a:p>
          <a:p>
            <a:endParaRPr lang="en-US" sz="2400" b="1" dirty="0" smtClean="0">
              <a:latin typeface="Times New Roman" panose="02020603050405020304" pitchFamily="18" charset="0"/>
              <a:cs typeface="Times New Roman" panose="02020603050405020304" pitchFamily="18" charset="0"/>
            </a:endParaRPr>
          </a:p>
          <a:p>
            <a:endParaRPr lang="en-US" sz="2400" b="1"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39740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latin typeface="Times New Roman" panose="02020603050405020304" pitchFamily="18" charset="0"/>
                <a:cs typeface="Times New Roman" panose="02020603050405020304" pitchFamily="18" charset="0"/>
              </a:rPr>
              <a:t>Conditional operators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Conditional or ternary(?:) is just like an if else statement that can be used within expressions</a:t>
            </a:r>
          </a:p>
          <a:p>
            <a:r>
              <a:rPr lang="en-US" dirty="0" smtClean="0">
                <a:latin typeface="Times New Roman" panose="02020603050405020304" pitchFamily="18" charset="0"/>
                <a:cs typeface="Times New Roman" panose="02020603050405020304" pitchFamily="18" charset="0"/>
              </a:rPr>
              <a:t>Its useful when there are 2 or more alternatives for an expression</a:t>
            </a:r>
          </a:p>
          <a:p>
            <a:r>
              <a:rPr lang="en-US" dirty="0" smtClean="0">
                <a:latin typeface="Times New Roman" panose="02020603050405020304" pitchFamily="18" charset="0"/>
                <a:cs typeface="Times New Roman" panose="02020603050405020304" pitchFamily="18" charset="0"/>
              </a:rPr>
              <a:t>Syntax of  conditional operator is</a:t>
            </a:r>
          </a:p>
          <a:p>
            <a:pPr marL="457200" lvl="1" indent="0">
              <a:buNone/>
            </a:pPr>
            <a:r>
              <a:rPr lang="en-US" b="1" dirty="0">
                <a:latin typeface="Times New Roman" panose="02020603050405020304" pitchFamily="18" charset="0"/>
                <a:cs typeface="Times New Roman" panose="02020603050405020304" pitchFamily="18" charset="0"/>
              </a:rPr>
              <a:t>e</a:t>
            </a:r>
            <a:r>
              <a:rPr lang="en-US" b="1" dirty="0" smtClean="0">
                <a:latin typeface="Times New Roman" panose="02020603050405020304" pitchFamily="18" charset="0"/>
                <a:cs typeface="Times New Roman" panose="02020603050405020304" pitchFamily="18" charset="0"/>
              </a:rPr>
              <a:t>xp1 ? exp2  : exp3</a:t>
            </a:r>
          </a:p>
          <a:p>
            <a:pPr marL="457200" lvl="1" indent="0">
              <a:buNone/>
            </a:pPr>
            <a:r>
              <a:rPr lang="en-US" dirty="0" smtClean="0">
                <a:latin typeface="Times New Roman" panose="02020603050405020304" pitchFamily="18" charset="0"/>
                <a:cs typeface="Times New Roman" panose="02020603050405020304" pitchFamily="18" charset="0"/>
              </a:rPr>
              <a:t>Here exp1 is evaluated </a:t>
            </a:r>
            <a:r>
              <a:rPr lang="en-US" dirty="0" err="1" smtClean="0">
                <a:latin typeface="Times New Roman" panose="02020603050405020304" pitchFamily="18" charset="0"/>
                <a:cs typeface="Times New Roman" panose="02020603050405020304" pitchFamily="18" charset="0"/>
              </a:rPr>
              <a:t>first,if</a:t>
            </a:r>
            <a:r>
              <a:rPr lang="en-US" dirty="0" smtClean="0">
                <a:latin typeface="Times New Roman" panose="02020603050405020304" pitchFamily="18" charset="0"/>
                <a:cs typeface="Times New Roman" panose="02020603050405020304" pitchFamily="18" charset="0"/>
              </a:rPr>
              <a:t> it is true ,then exp2 is evaluated and becomes the result of the expression, otherwise exp3 is evaluated and becomes the result of the expression</a:t>
            </a:r>
          </a:p>
          <a:p>
            <a:pPr marL="457200" lvl="1" indent="0">
              <a:buNone/>
            </a:pPr>
            <a:r>
              <a:rPr lang="en-US" b="1" dirty="0" smtClean="0">
                <a:latin typeface="Times New Roman" panose="02020603050405020304" pitchFamily="18" charset="0"/>
                <a:cs typeface="Times New Roman" panose="02020603050405020304" pitchFamily="18" charset="0"/>
              </a:rPr>
              <a:t>Example: large = (a&gt;b) ? a : b</a:t>
            </a:r>
          </a:p>
          <a:p>
            <a:pPr marL="457200" lvl="1" indent="0">
              <a:buNone/>
            </a:pPr>
            <a:r>
              <a:rPr lang="en-US" b="1" dirty="0" smtClean="0">
                <a:latin typeface="Times New Roman" panose="02020603050405020304" pitchFamily="18" charset="0"/>
                <a:cs typeface="Times New Roman" panose="02020603050405020304" pitchFamily="18" charset="0"/>
              </a:rPr>
              <a:t>First a&gt; b is </a:t>
            </a:r>
            <a:r>
              <a:rPr lang="en-US" b="1" dirty="0" err="1" smtClean="0">
                <a:latin typeface="Times New Roman" panose="02020603050405020304" pitchFamily="18" charset="0"/>
                <a:cs typeface="Times New Roman" panose="02020603050405020304" pitchFamily="18" charset="0"/>
              </a:rPr>
              <a:t>evaluated,if</a:t>
            </a:r>
            <a:r>
              <a:rPr lang="en-US" b="1" dirty="0" smtClean="0">
                <a:latin typeface="Times New Roman" panose="02020603050405020304" pitchFamily="18" charset="0"/>
                <a:cs typeface="Times New Roman" panose="02020603050405020304" pitchFamily="18" charset="0"/>
              </a:rPr>
              <a:t> a &gt; b then large = a else large = b</a:t>
            </a:r>
          </a:p>
          <a:p>
            <a:endParaRPr lang="en-US" dirty="0"/>
          </a:p>
        </p:txBody>
      </p:sp>
    </p:spTree>
    <p:extLst>
      <p:ext uri="{BB962C8B-B14F-4D97-AF65-F5344CB8AC3E}">
        <p14:creationId xmlns:p14="http://schemas.microsoft.com/office/powerpoint/2010/main" val="2425822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latin typeface="Times New Roman" panose="02020603050405020304" pitchFamily="18" charset="0"/>
                <a:cs typeface="Times New Roman" panose="02020603050405020304" pitchFamily="18" charset="0"/>
              </a:rPr>
              <a:t>Bitwise operators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85990"/>
            <a:ext cx="10515600" cy="4351338"/>
          </a:xfrm>
        </p:spPr>
        <p:txBody>
          <a:bodyPr>
            <a:normAutofit/>
          </a:bodyPr>
          <a:lstStyle/>
          <a:p>
            <a:r>
              <a:rPr lang="en-US" dirty="0" smtClean="0">
                <a:latin typeface="Times New Roman" panose="02020603050405020304" pitchFamily="18" charset="0"/>
                <a:cs typeface="Times New Roman" panose="02020603050405020304" pitchFamily="18" charset="0"/>
              </a:rPr>
              <a:t>Operators that performs operations  at bit level</a:t>
            </a:r>
          </a:p>
          <a:p>
            <a:r>
              <a:rPr lang="en-US" dirty="0" smtClean="0">
                <a:latin typeface="Times New Roman" panose="02020603050405020304" pitchFamily="18" charset="0"/>
                <a:cs typeface="Times New Roman" panose="02020603050405020304" pitchFamily="18" charset="0"/>
              </a:rPr>
              <a:t>These operators include 1)bitwise AND 2)bitwise OR 3)bitwise XOR 4)Shift operators</a:t>
            </a:r>
          </a:p>
          <a:p>
            <a:r>
              <a:rPr lang="en-US" b="1" dirty="0" smtClean="0">
                <a:latin typeface="Times New Roman" panose="02020603050405020304" pitchFamily="18" charset="0"/>
                <a:cs typeface="Times New Roman" panose="02020603050405020304" pitchFamily="18" charset="0"/>
              </a:rPr>
              <a:t>1)bitwise AND</a:t>
            </a:r>
            <a:r>
              <a:rPr lang="en-US" dirty="0" smtClean="0">
                <a:latin typeface="Times New Roman" panose="02020603050405020304" pitchFamily="18" charset="0"/>
                <a:cs typeface="Times New Roman" panose="02020603050405020304" pitchFamily="18" charset="0"/>
              </a:rPr>
              <a:t>: like Boolean AND bitwise AND operator  performs operation on bits instead of bytes, </a:t>
            </a:r>
            <a:r>
              <a:rPr lang="en-US" dirty="0" err="1" smtClean="0">
                <a:latin typeface="Times New Roman" panose="02020603050405020304" pitchFamily="18" charset="0"/>
                <a:cs typeface="Times New Roman" panose="02020603050405020304" pitchFamily="18" charset="0"/>
              </a:rPr>
              <a:t>chars,integers</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etc</a:t>
            </a:r>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2)bitwise OR: </a:t>
            </a:r>
            <a:r>
              <a:rPr lang="en-US" dirty="0" smtClean="0">
                <a:latin typeface="Times New Roman" panose="02020603050405020304" pitchFamily="18" charset="0"/>
                <a:cs typeface="Times New Roman" panose="02020603050405020304" pitchFamily="18" charset="0"/>
              </a:rPr>
              <a:t>when we use this operator ,the bit in first operand is </a:t>
            </a:r>
            <a:r>
              <a:rPr lang="en-US" dirty="0" err="1" smtClean="0">
                <a:latin typeface="Times New Roman" panose="02020603050405020304" pitchFamily="18" charset="0"/>
                <a:cs typeface="Times New Roman" panose="02020603050405020304" pitchFamily="18" charset="0"/>
              </a:rPr>
              <a:t>ORed</a:t>
            </a:r>
            <a:r>
              <a:rPr lang="en-US" dirty="0" smtClean="0">
                <a:latin typeface="Times New Roman" panose="02020603050405020304" pitchFamily="18" charset="0"/>
                <a:cs typeface="Times New Roman" panose="02020603050405020304" pitchFamily="18" charset="0"/>
              </a:rPr>
              <a:t> with corresponding bit in 2</a:t>
            </a:r>
            <a:r>
              <a:rPr lang="en-US" baseline="30000" dirty="0" smtClean="0">
                <a:latin typeface="Times New Roman" panose="02020603050405020304" pitchFamily="18" charset="0"/>
                <a:cs typeface="Times New Roman" panose="02020603050405020304" pitchFamily="18" charset="0"/>
              </a:rPr>
              <a:t>nd</a:t>
            </a:r>
            <a:r>
              <a:rPr lang="en-US" dirty="0" smtClean="0">
                <a:latin typeface="Times New Roman" panose="02020603050405020304" pitchFamily="18" charset="0"/>
                <a:cs typeface="Times New Roman" panose="02020603050405020304" pitchFamily="18" charset="0"/>
              </a:rPr>
              <a:t> operand</a:t>
            </a:r>
          </a:p>
          <a:p>
            <a:r>
              <a:rPr lang="en-US" dirty="0" smtClean="0">
                <a:latin typeface="Times New Roman" panose="02020603050405020304" pitchFamily="18" charset="0"/>
                <a:cs typeface="Times New Roman" panose="02020603050405020304" pitchFamily="18" charset="0"/>
              </a:rPr>
              <a:t>3)bitwise </a:t>
            </a:r>
            <a:r>
              <a:rPr lang="en-US" dirty="0" err="1" smtClean="0">
                <a:latin typeface="Times New Roman" panose="02020603050405020304" pitchFamily="18" charset="0"/>
                <a:cs typeface="Times New Roman" panose="02020603050405020304" pitchFamily="18" charset="0"/>
              </a:rPr>
              <a:t>XOR:It</a:t>
            </a:r>
            <a:r>
              <a:rPr lang="en-US" dirty="0" smtClean="0">
                <a:latin typeface="Times New Roman" panose="02020603050405020304" pitchFamily="18" charset="0"/>
                <a:cs typeface="Times New Roman" panose="02020603050405020304" pitchFamily="18" charset="0"/>
              </a:rPr>
              <a:t> perform operation on individual bits of operands.</a:t>
            </a:r>
          </a:p>
          <a:p>
            <a:r>
              <a:rPr lang="en-US" b="1" dirty="0" smtClean="0">
                <a:latin typeface="Times New Roman" panose="02020603050405020304" pitchFamily="18" charset="0"/>
                <a:cs typeface="Times New Roman" panose="02020603050405020304" pitchFamily="18" charset="0"/>
              </a:rPr>
              <a:t>EXAMPLE: </a:t>
            </a:r>
            <a:r>
              <a:rPr lang="en-US" b="1" dirty="0" err="1" smtClean="0">
                <a:latin typeface="Times New Roman" panose="02020603050405020304" pitchFamily="18" charset="0"/>
                <a:cs typeface="Times New Roman" panose="02020603050405020304" pitchFamily="18" charset="0"/>
              </a:rPr>
              <a:t>int</a:t>
            </a:r>
            <a:r>
              <a:rPr lang="en-US" b="1" dirty="0" smtClean="0">
                <a:latin typeface="Times New Roman" panose="02020603050405020304" pitchFamily="18" charset="0"/>
                <a:cs typeface="Times New Roman" panose="02020603050405020304" pitchFamily="18" charset="0"/>
              </a:rPr>
              <a:t> a=10, b=20 , c=0;</a:t>
            </a:r>
          </a:p>
          <a:p>
            <a:r>
              <a:rPr lang="en-US" b="1" dirty="0" smtClean="0">
                <a:latin typeface="Times New Roman" panose="02020603050405020304" pitchFamily="18" charset="0"/>
                <a:cs typeface="Times New Roman" panose="02020603050405020304" pitchFamily="18" charset="0"/>
              </a:rPr>
              <a:t>C= </a:t>
            </a:r>
            <a:r>
              <a:rPr lang="en-US" b="1" dirty="0" err="1" smtClean="0">
                <a:latin typeface="Times New Roman" panose="02020603050405020304" pitchFamily="18" charset="0"/>
                <a:cs typeface="Times New Roman" panose="02020603050405020304" pitchFamily="18" charset="0"/>
              </a:rPr>
              <a:t>a&amp;b</a:t>
            </a:r>
            <a:r>
              <a:rPr lang="en-US" b="1" dirty="0" smtClean="0">
                <a:latin typeface="Times New Roman" panose="02020603050405020304" pitchFamily="18" charset="0"/>
                <a:cs typeface="Times New Roman" panose="02020603050405020304" pitchFamily="18" charset="0"/>
              </a:rPr>
              <a:t>;               c=</a:t>
            </a:r>
            <a:r>
              <a:rPr lang="en-US" b="1" dirty="0" err="1" smtClean="0">
                <a:latin typeface="Times New Roman" panose="02020603050405020304" pitchFamily="18" charset="0"/>
                <a:cs typeface="Times New Roman" panose="02020603050405020304" pitchFamily="18" charset="0"/>
              </a:rPr>
              <a:t>a|b</a:t>
            </a:r>
            <a:r>
              <a:rPr lang="en-US" b="1" dirty="0" smtClean="0">
                <a:latin typeface="Times New Roman" panose="02020603050405020304" pitchFamily="18" charset="0"/>
                <a:cs typeface="Times New Roman" panose="02020603050405020304" pitchFamily="18" charset="0"/>
              </a:rPr>
              <a:t>;             c= </a:t>
            </a:r>
            <a:r>
              <a:rPr lang="en-US" b="1" dirty="0" err="1" smtClean="0">
                <a:latin typeface="Times New Roman" panose="02020603050405020304" pitchFamily="18" charset="0"/>
                <a:cs typeface="Times New Roman" panose="02020603050405020304" pitchFamily="18" charset="0"/>
              </a:rPr>
              <a:t>a^b</a:t>
            </a:r>
            <a:r>
              <a:rPr lang="en-US" b="1" dirty="0" smtClean="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766270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latin typeface="Times New Roman" panose="02020603050405020304" pitchFamily="18" charset="0"/>
                <a:cs typeface="Times New Roman" panose="02020603050405020304" pitchFamily="18" charset="0"/>
              </a:rPr>
              <a:t>Bitwise operators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b="1" dirty="0" smtClean="0">
                <a:latin typeface="Times New Roman" panose="02020603050405020304" pitchFamily="18" charset="0"/>
                <a:cs typeface="Times New Roman" panose="02020603050405020304" pitchFamily="18" charset="0"/>
              </a:rPr>
              <a:t>Shift operators:</a:t>
            </a:r>
          </a:p>
          <a:p>
            <a:r>
              <a:rPr lang="en-US" dirty="0" smtClean="0">
                <a:latin typeface="Times New Roman" panose="02020603050405020304" pitchFamily="18" charset="0"/>
                <a:cs typeface="Times New Roman" panose="02020603050405020304" pitchFamily="18" charset="0"/>
              </a:rPr>
              <a:t>C supports 2 shift operators  1)shift-left 2)shift-right</a:t>
            </a:r>
          </a:p>
          <a:p>
            <a:r>
              <a:rPr lang="en-US" dirty="0" smtClean="0">
                <a:latin typeface="Times New Roman" panose="02020603050405020304" pitchFamily="18" charset="0"/>
                <a:cs typeface="Times New Roman" panose="02020603050405020304" pitchFamily="18" charset="0"/>
              </a:rPr>
              <a:t>Its simple and are responsible for shifting bits either to the left or to  the right</a:t>
            </a:r>
          </a:p>
          <a:p>
            <a:r>
              <a:rPr lang="en-US" dirty="0" smtClean="0">
                <a:latin typeface="Times New Roman" panose="02020603050405020304" pitchFamily="18" charset="0"/>
                <a:cs typeface="Times New Roman" panose="02020603050405020304" pitchFamily="18" charset="0"/>
              </a:rPr>
              <a:t>Syntax:  operand op </a:t>
            </a:r>
            <a:r>
              <a:rPr lang="en-US" dirty="0" err="1" smtClean="0">
                <a:latin typeface="Times New Roman" panose="02020603050405020304" pitchFamily="18" charset="0"/>
                <a:cs typeface="Times New Roman" panose="02020603050405020304" pitchFamily="18" charset="0"/>
              </a:rPr>
              <a:t>num</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Example: x &lt;&lt; 1  produces 0011 1010</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9343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4414"/>
            <a:ext cx="10515600" cy="1325563"/>
          </a:xfrm>
        </p:spPr>
        <p:txBody>
          <a:bodyPr/>
          <a:lstStyle/>
          <a:p>
            <a:r>
              <a:rPr lang="en-US" b="1" dirty="0" smtClean="0">
                <a:solidFill>
                  <a:schemeClr val="tx1"/>
                </a:solidFill>
                <a:latin typeface="Times New Roman" panose="02020603050405020304" pitchFamily="18" charset="0"/>
                <a:cs typeface="Times New Roman" panose="02020603050405020304" pitchFamily="18" charset="0"/>
              </a:rPr>
              <a:t>Assignment operators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67097"/>
            <a:ext cx="10515600" cy="5303520"/>
          </a:xfrm>
        </p:spPr>
        <p:txBody>
          <a:bodyPr>
            <a:normAutofit/>
          </a:bodyPr>
          <a:lstStyle/>
          <a:p>
            <a:r>
              <a:rPr lang="en-US" dirty="0" smtClean="0"/>
              <a:t>Its responsible for assigning values to the variable</a:t>
            </a:r>
          </a:p>
          <a:p>
            <a:r>
              <a:rPr lang="en-US" dirty="0" smtClean="0"/>
              <a:t>Example: </a:t>
            </a:r>
            <a:r>
              <a:rPr lang="en-US" dirty="0" err="1" smtClean="0"/>
              <a:t>int</a:t>
            </a:r>
            <a:r>
              <a:rPr lang="en-US" dirty="0" smtClean="0"/>
              <a:t> x;</a:t>
            </a:r>
          </a:p>
          <a:p>
            <a:pPr marL="0" indent="0">
              <a:buNone/>
            </a:pPr>
            <a:r>
              <a:rPr lang="en-US" dirty="0"/>
              <a:t>	</a:t>
            </a:r>
            <a:r>
              <a:rPr lang="en-US" dirty="0" smtClean="0"/>
              <a:t>	x = 10;</a:t>
            </a:r>
          </a:p>
          <a:p>
            <a:pPr marL="0" indent="0">
              <a:buNone/>
            </a:pPr>
            <a:r>
              <a:rPr lang="en-US" b="1" dirty="0" smtClean="0">
                <a:latin typeface="Times New Roman" panose="02020603050405020304" pitchFamily="18" charset="0"/>
                <a:cs typeface="Times New Roman" panose="02020603050405020304" pitchFamily="18" charset="0"/>
              </a:rPr>
              <a:t>Comma operator: it takes 2 operands</a:t>
            </a:r>
          </a:p>
          <a:p>
            <a:r>
              <a:rPr lang="en-US" dirty="0" smtClean="0">
                <a:latin typeface="Times New Roman" panose="02020603050405020304" pitchFamily="18" charset="0"/>
                <a:cs typeface="Times New Roman" panose="02020603050405020304" pitchFamily="18" charset="0"/>
              </a:rPr>
              <a:t>Example </a:t>
            </a:r>
            <a:r>
              <a:rPr lang="en-US" dirty="0" err="1" smtClean="0">
                <a:latin typeface="Times New Roman" panose="02020603050405020304" pitchFamily="18" charset="0"/>
                <a:cs typeface="Times New Roman" panose="02020603050405020304" pitchFamily="18" charset="0"/>
              </a:rPr>
              <a:t>int</a:t>
            </a:r>
            <a:r>
              <a:rPr lang="en-US" dirty="0" smtClean="0">
                <a:latin typeface="Times New Roman" panose="02020603050405020304" pitchFamily="18" charset="0"/>
                <a:cs typeface="Times New Roman" panose="02020603050405020304" pitchFamily="18" charset="0"/>
              </a:rPr>
              <a:t> a = 2. b=3, x=0;</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x=(++a, b+=a);</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x=6</a:t>
            </a:r>
          </a:p>
          <a:p>
            <a:pPr marL="0" indent="0">
              <a:buNone/>
            </a:pPr>
            <a:r>
              <a:rPr lang="en-US" b="1" dirty="0" err="1" smtClean="0">
                <a:latin typeface="Times New Roman" panose="02020603050405020304" pitchFamily="18" charset="0"/>
                <a:cs typeface="Times New Roman" panose="02020603050405020304" pitchFamily="18" charset="0"/>
              </a:rPr>
              <a:t>Sizeof</a:t>
            </a:r>
            <a:r>
              <a:rPr lang="en-US" b="1" dirty="0" smtClean="0">
                <a:latin typeface="Times New Roman" panose="02020603050405020304" pitchFamily="18" charset="0"/>
                <a:cs typeface="Times New Roman" panose="02020603050405020304" pitchFamily="18" charset="0"/>
              </a:rPr>
              <a:t> operators: </a:t>
            </a:r>
          </a:p>
          <a:p>
            <a:pPr marL="0" indent="0">
              <a:buNone/>
            </a:pP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Example:     </a:t>
            </a:r>
            <a:r>
              <a:rPr lang="en-US" dirty="0" err="1" smtClean="0">
                <a:latin typeface="Times New Roman" panose="02020603050405020304" pitchFamily="18" charset="0"/>
                <a:cs typeface="Times New Roman" panose="02020603050405020304" pitchFamily="18" charset="0"/>
              </a:rPr>
              <a:t>int</a:t>
            </a:r>
            <a:r>
              <a:rPr lang="en-US" dirty="0" smtClean="0">
                <a:latin typeface="Times New Roman" panose="02020603050405020304" pitchFamily="18" charset="0"/>
                <a:cs typeface="Times New Roman" panose="02020603050405020304" pitchFamily="18" charset="0"/>
              </a:rPr>
              <a:t> a=10;</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unsigned </a:t>
            </a:r>
            <a:r>
              <a:rPr lang="en-US" dirty="0" err="1" smtClean="0">
                <a:latin typeface="Times New Roman" panose="02020603050405020304" pitchFamily="18" charset="0"/>
                <a:cs typeface="Times New Roman" panose="02020603050405020304" pitchFamily="18" charset="0"/>
              </a:rPr>
              <a:t>int</a:t>
            </a:r>
            <a:r>
              <a:rPr lang="en-US" dirty="0" smtClean="0">
                <a:latin typeface="Times New Roman" panose="02020603050405020304" pitchFamily="18" charset="0"/>
                <a:cs typeface="Times New Roman" panose="02020603050405020304" pitchFamily="18" charset="0"/>
              </a:rPr>
              <a:t> result;</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result = </a:t>
            </a:r>
            <a:r>
              <a:rPr lang="en-US" dirty="0" err="1" smtClean="0">
                <a:latin typeface="Times New Roman" panose="02020603050405020304" pitchFamily="18" charset="0"/>
                <a:cs typeface="Times New Roman" panose="02020603050405020304" pitchFamily="18" charset="0"/>
              </a:rPr>
              <a:t>sizeof</a:t>
            </a:r>
            <a:r>
              <a:rPr lang="en-US" dirty="0" smtClean="0">
                <a:latin typeface="Times New Roman" panose="02020603050405020304" pitchFamily="18" charset="0"/>
                <a:cs typeface="Times New Roman" panose="02020603050405020304" pitchFamily="18" charset="0"/>
              </a:rPr>
              <a:t>(a);</a:t>
            </a:r>
          </a:p>
          <a:p>
            <a:pPr marL="0" indent="0">
              <a:buNone/>
            </a:pPr>
            <a:r>
              <a:rPr lang="en-US" dirty="0" smtClean="0">
                <a:latin typeface="Times New Roman" panose="02020603050405020304" pitchFamily="18" charset="0"/>
                <a:cs typeface="Times New Roman" panose="02020603050405020304" pitchFamily="18" charset="0"/>
              </a:rPr>
              <a:t>			     size of a is 2 .since a is an integer it requires 2 bytes of storage in memory</a:t>
            </a:r>
          </a:p>
          <a:p>
            <a:pPr marL="0" indent="0">
              <a:buNone/>
            </a:pPr>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1099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72994"/>
            <a:ext cx="8596668" cy="1320800"/>
          </a:xfrm>
        </p:spPr>
        <p:txBody>
          <a:bodyPr>
            <a:normAutofit fontScale="90000"/>
          </a:bodyPr>
          <a:lstStyle/>
          <a:p>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b="1" dirty="0" smtClean="0">
                <a:solidFill>
                  <a:schemeClr val="tx1"/>
                </a:solidFill>
                <a:latin typeface="Times New Roman" panose="02020603050405020304" pitchFamily="18" charset="0"/>
                <a:cs typeface="Times New Roman" panose="02020603050405020304" pitchFamily="18" charset="0"/>
              </a:rPr>
              <a:t>Type conversion and typecasting.</a:t>
            </a:r>
            <a:r>
              <a:rPr lang="en-US" dirty="0" smtClean="0">
                <a:solidFill>
                  <a:schemeClr val="tx1"/>
                </a:solidFill>
                <a:latin typeface="Times New Roman" panose="02020603050405020304" pitchFamily="18" charset="0"/>
                <a:cs typeface="Times New Roman" panose="02020603050405020304" pitchFamily="18" charset="0"/>
              </a:rPr>
              <a:t/>
            </a:r>
            <a:br>
              <a:rPr lang="en-US" dirty="0" smtClean="0">
                <a:solidFill>
                  <a:schemeClr val="tx1"/>
                </a:solidFill>
                <a:latin typeface="Times New Roman" panose="02020603050405020304" pitchFamily="18" charset="0"/>
                <a:cs typeface="Times New Roman" panose="02020603050405020304" pitchFamily="18" charset="0"/>
              </a:rPr>
            </a:br>
            <a:endParaRPr lang="en-US" dirty="0">
              <a:solidFill>
                <a:schemeClr val="tx1"/>
              </a:solidFill>
            </a:endParaRPr>
          </a:p>
        </p:txBody>
      </p:sp>
      <p:sp>
        <p:nvSpPr>
          <p:cNvPr id="3" name="Content Placeholder 2"/>
          <p:cNvSpPr>
            <a:spLocks noGrp="1"/>
          </p:cNvSpPr>
          <p:nvPr>
            <p:ph idx="1"/>
          </p:nvPr>
        </p:nvSpPr>
        <p:spPr>
          <a:xfrm>
            <a:off x="520815" y="1641605"/>
            <a:ext cx="8596668" cy="4396730"/>
          </a:xfrm>
        </p:spPr>
        <p:txBody>
          <a:bodyPr>
            <a:normAutofit fontScale="77500" lnSpcReduction="20000"/>
          </a:bodyPr>
          <a:lstStyle/>
          <a:p>
            <a:pPr marL="432000" indent="-324000">
              <a:lnSpc>
                <a:spcPct val="90000"/>
              </a:lnSpc>
              <a:spcBef>
                <a:spcPts val="1417"/>
              </a:spcBef>
              <a:buClr>
                <a:srgbClr val="000000"/>
              </a:buClr>
              <a:buSzPct val="45000"/>
              <a:buFont typeface="Wingdings" charset="2"/>
              <a:buChar char=""/>
            </a:pPr>
            <a:r>
              <a:rPr lang="en-US" sz="2300" b="1" spc="-1" dirty="0">
                <a:solidFill>
                  <a:srgbClr val="000000"/>
                </a:solidFill>
                <a:latin typeface="Times New Roman" panose="02020603050405020304" pitchFamily="18" charset="0"/>
                <a:cs typeface="Times New Roman" panose="02020603050405020304" pitchFamily="18" charset="0"/>
              </a:rPr>
              <a:t>Type conversion or typecasting of variables refers to changing a variables of one data types into another</a:t>
            </a:r>
          </a:p>
          <a:p>
            <a:pPr marL="432000" indent="-324000">
              <a:lnSpc>
                <a:spcPct val="90000"/>
              </a:lnSpc>
              <a:spcBef>
                <a:spcPts val="1417"/>
              </a:spcBef>
              <a:buClr>
                <a:srgbClr val="000000"/>
              </a:buClr>
              <a:buSzPct val="45000"/>
              <a:buFont typeface="Wingdings" charset="2"/>
              <a:buChar char=""/>
            </a:pPr>
            <a:r>
              <a:rPr lang="en-US" sz="2300" spc="-1" dirty="0">
                <a:solidFill>
                  <a:srgbClr val="000000"/>
                </a:solidFill>
                <a:latin typeface="Times New Roman" panose="02020603050405020304" pitchFamily="18" charset="0"/>
                <a:cs typeface="Times New Roman" panose="02020603050405020304" pitchFamily="18" charset="0"/>
              </a:rPr>
              <a:t>Type conversion is done implicitly whereas typecasting has to be done explicitly by programmer</a:t>
            </a:r>
          </a:p>
          <a:p>
            <a:pPr marL="432000" indent="-324000">
              <a:lnSpc>
                <a:spcPct val="90000"/>
              </a:lnSpc>
              <a:spcBef>
                <a:spcPts val="1417"/>
              </a:spcBef>
              <a:buClr>
                <a:srgbClr val="000000"/>
              </a:buClr>
              <a:buSzPct val="45000"/>
              <a:buFont typeface="Wingdings" charset="2"/>
              <a:buChar char=""/>
            </a:pPr>
            <a:r>
              <a:rPr lang="en-US" sz="2300" b="1" u="sng" spc="-1" dirty="0">
                <a:solidFill>
                  <a:srgbClr val="000000"/>
                </a:solidFill>
                <a:latin typeface="Times New Roman" panose="02020603050405020304" pitchFamily="18" charset="0"/>
                <a:cs typeface="Times New Roman" panose="02020603050405020304" pitchFamily="18" charset="0"/>
              </a:rPr>
              <a:t>Type conversion:</a:t>
            </a:r>
            <a:endParaRPr lang="en-US" sz="2300" spc="-1" dirty="0">
              <a:solidFill>
                <a:srgbClr val="000000"/>
              </a:solidFill>
              <a:latin typeface="Times New Roman" panose="02020603050405020304" pitchFamily="18" charset="0"/>
              <a:cs typeface="Times New Roman" panose="02020603050405020304" pitchFamily="18" charset="0"/>
            </a:endParaRPr>
          </a:p>
          <a:p>
            <a:pPr marL="432000" indent="-324000">
              <a:lnSpc>
                <a:spcPct val="90000"/>
              </a:lnSpc>
              <a:spcBef>
                <a:spcPts val="1417"/>
              </a:spcBef>
              <a:buClr>
                <a:srgbClr val="000000"/>
              </a:buClr>
              <a:buSzPct val="45000"/>
              <a:buFont typeface="Wingdings" charset="2"/>
              <a:buChar char=""/>
            </a:pPr>
            <a:r>
              <a:rPr lang="en-US" sz="2300" spc="-1" dirty="0">
                <a:solidFill>
                  <a:srgbClr val="000000"/>
                </a:solidFill>
                <a:latin typeface="Times New Roman" panose="02020603050405020304" pitchFamily="18" charset="0"/>
                <a:cs typeface="Times New Roman" panose="02020603050405020304" pitchFamily="18" charset="0"/>
              </a:rPr>
              <a:t>Its done when the expressions has variables of different data types</a:t>
            </a:r>
          </a:p>
          <a:p>
            <a:pPr marL="432000" indent="-324000">
              <a:lnSpc>
                <a:spcPct val="90000"/>
              </a:lnSpc>
              <a:spcBef>
                <a:spcPts val="1417"/>
              </a:spcBef>
              <a:buClr>
                <a:srgbClr val="000000"/>
              </a:buClr>
              <a:buSzPct val="45000"/>
              <a:buFont typeface="Wingdings" charset="2"/>
              <a:buChar char=""/>
            </a:pPr>
            <a:r>
              <a:rPr lang="en-US" sz="2300" spc="-1" dirty="0">
                <a:solidFill>
                  <a:srgbClr val="000000"/>
                </a:solidFill>
                <a:latin typeface="Times New Roman" panose="02020603050405020304" pitchFamily="18" charset="0"/>
                <a:cs typeface="Times New Roman" panose="02020603050405020304" pitchFamily="18" charset="0"/>
              </a:rPr>
              <a:t>To evaluate the expression, the data type is promoted from lower to higher level where the hierarchy of data types (from higher to lower) can be given as: double, float, long, </a:t>
            </a:r>
            <a:r>
              <a:rPr lang="en-US" sz="2300" spc="-1" dirty="0" err="1">
                <a:solidFill>
                  <a:srgbClr val="000000"/>
                </a:solidFill>
                <a:latin typeface="Times New Roman" panose="02020603050405020304" pitchFamily="18" charset="0"/>
                <a:cs typeface="Times New Roman" panose="02020603050405020304" pitchFamily="18" charset="0"/>
              </a:rPr>
              <a:t>int</a:t>
            </a:r>
            <a:r>
              <a:rPr lang="en-US" sz="2300" spc="-1" dirty="0">
                <a:solidFill>
                  <a:srgbClr val="000000"/>
                </a:solidFill>
                <a:latin typeface="Times New Roman" panose="02020603050405020304" pitchFamily="18" charset="0"/>
                <a:cs typeface="Times New Roman" panose="02020603050405020304" pitchFamily="18" charset="0"/>
              </a:rPr>
              <a:t>, short, and char. </a:t>
            </a:r>
          </a:p>
          <a:p>
            <a:pPr marL="432000" indent="-324000">
              <a:lnSpc>
                <a:spcPct val="90000"/>
              </a:lnSpc>
              <a:spcBef>
                <a:spcPts val="1417"/>
              </a:spcBef>
              <a:buClr>
                <a:srgbClr val="000000"/>
              </a:buClr>
              <a:buSzPct val="45000"/>
              <a:buFont typeface="Wingdings" charset="2"/>
              <a:buChar char=""/>
            </a:pPr>
            <a:r>
              <a:rPr lang="en-US" sz="2300" spc="-1" dirty="0">
                <a:solidFill>
                  <a:srgbClr val="000000"/>
                </a:solidFill>
                <a:latin typeface="Times New Roman" panose="02020603050405020304" pitchFamily="18" charset="0"/>
                <a:cs typeface="Times New Roman" panose="02020603050405020304" pitchFamily="18" charset="0"/>
              </a:rPr>
              <a:t>Figure 9.14 shows the conversion hierarchy of data types.</a:t>
            </a:r>
          </a:p>
          <a:p>
            <a:pPr marL="432000" indent="-324000">
              <a:lnSpc>
                <a:spcPct val="90000"/>
              </a:lnSpc>
              <a:spcBef>
                <a:spcPts val="1417"/>
              </a:spcBef>
              <a:buClr>
                <a:srgbClr val="000000"/>
              </a:buClr>
              <a:buSzPct val="45000"/>
              <a:buFont typeface="Wingdings" charset="2"/>
              <a:buChar char=""/>
            </a:pPr>
            <a:r>
              <a:rPr lang="en-US" sz="2300" spc="-1" dirty="0">
                <a:solidFill>
                  <a:srgbClr val="000000"/>
                </a:solidFill>
                <a:latin typeface="Times New Roman" panose="02020603050405020304" pitchFamily="18" charset="0"/>
                <a:cs typeface="Times New Roman" panose="02020603050405020304" pitchFamily="18" charset="0"/>
              </a:rPr>
              <a:t>Type conversion is automatically done when we assign an integer value to a floating point variable. </a:t>
            </a:r>
          </a:p>
          <a:p>
            <a:pPr marL="432000" indent="-324000">
              <a:spcBef>
                <a:spcPts val="1417"/>
              </a:spcBef>
              <a:buClr>
                <a:srgbClr val="000000"/>
              </a:buClr>
              <a:buSzPct val="45000"/>
              <a:buFont typeface="Wingdings" charset="2"/>
              <a:buChar char=""/>
            </a:pPr>
            <a:r>
              <a:rPr lang="en-US" sz="2300" spc="-1" dirty="0">
                <a:solidFill>
                  <a:srgbClr val="000000"/>
                </a:solidFill>
                <a:latin typeface="Times New Roman" panose="02020603050405020304" pitchFamily="18" charset="0"/>
                <a:cs typeface="Times New Roman" panose="02020603050405020304" pitchFamily="18" charset="0"/>
              </a:rPr>
              <a:t>Consider the code given below in which an integer data type is promoted to float. This is known as promotion (when a lower level data type is promoted to a higher type).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9495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131805"/>
            <a:ext cx="8596668" cy="1320800"/>
          </a:xfrm>
        </p:spPr>
        <p:txBody>
          <a:bodyPr/>
          <a:lstStyle/>
          <a:p>
            <a:r>
              <a:rPr lang="en-US" b="1" dirty="0">
                <a:solidFill>
                  <a:schemeClr val="tx1"/>
                </a:solidFill>
                <a:latin typeface="Times New Roman" panose="02020603050405020304" pitchFamily="18" charset="0"/>
                <a:cs typeface="Times New Roman" panose="02020603050405020304" pitchFamily="18" charset="0"/>
              </a:rPr>
              <a:t>Type conversion and typecasting.</a:t>
            </a:r>
            <a:r>
              <a:rPr lang="en-US" dirty="0">
                <a:solidFill>
                  <a:schemeClr val="tx1"/>
                </a:solidFill>
                <a:latin typeface="Times New Roman" panose="02020603050405020304" pitchFamily="18" charset="0"/>
                <a:cs typeface="Times New Roman" panose="02020603050405020304" pitchFamily="18" charset="0"/>
              </a:rPr>
              <a:t/>
            </a:r>
            <a:br>
              <a:rPr lang="en-US"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endParaRPr>
          </a:p>
        </p:txBody>
      </p:sp>
      <p:sp>
        <p:nvSpPr>
          <p:cNvPr id="3" name="Content Placeholder 2"/>
          <p:cNvSpPr>
            <a:spLocks noGrp="1"/>
          </p:cNvSpPr>
          <p:nvPr>
            <p:ph idx="1"/>
          </p:nvPr>
        </p:nvSpPr>
        <p:spPr>
          <a:xfrm>
            <a:off x="537291" y="792205"/>
            <a:ext cx="8596668" cy="4462633"/>
          </a:xfrm>
        </p:spPr>
        <p:txBody>
          <a:bodyPr>
            <a:normAutofit lnSpcReduction="10000"/>
          </a:bodyPr>
          <a:lstStyle/>
          <a:p>
            <a:pPr marL="432000" indent="-324000">
              <a:lnSpc>
                <a:spcPct val="100000"/>
              </a:lnSpc>
              <a:spcBef>
                <a:spcPts val="1417"/>
              </a:spcBef>
              <a:buClr>
                <a:srgbClr val="000000"/>
              </a:buClr>
              <a:buSzPct val="45000"/>
              <a:buFont typeface="Wingdings" charset="2"/>
              <a:buChar char=""/>
            </a:pPr>
            <a:r>
              <a:rPr lang="en-US" spc="-1" dirty="0">
                <a:solidFill>
                  <a:srgbClr val="000000"/>
                </a:solidFill>
                <a:latin typeface="Times New Roman" panose="02020603050405020304" pitchFamily="18" charset="0"/>
                <a:cs typeface="Times New Roman" panose="02020603050405020304" pitchFamily="18" charset="0"/>
              </a:rPr>
              <a:t>consider the following group of statements:</a:t>
            </a:r>
          </a:p>
          <a:p>
            <a:pPr marL="108000" indent="0">
              <a:lnSpc>
                <a:spcPct val="100000"/>
              </a:lnSpc>
              <a:spcBef>
                <a:spcPts val="1417"/>
              </a:spcBef>
              <a:buClr>
                <a:srgbClr val="000000"/>
              </a:buClr>
              <a:buSzPct val="45000"/>
              <a:buNone/>
            </a:pPr>
            <a:r>
              <a:rPr lang="en-US" spc="-1" dirty="0">
                <a:solidFill>
                  <a:srgbClr val="000000"/>
                </a:solidFill>
                <a:latin typeface="Times New Roman" panose="02020603050405020304" pitchFamily="18" charset="0"/>
                <a:cs typeface="Times New Roman" panose="02020603050405020304" pitchFamily="18" charset="0"/>
              </a:rPr>
              <a:t>		</a:t>
            </a:r>
            <a:r>
              <a:rPr lang="en-US" b="1" spc="-1" dirty="0">
                <a:solidFill>
                  <a:srgbClr val="000000"/>
                </a:solidFill>
                <a:latin typeface="Times New Roman" panose="02020603050405020304" pitchFamily="18" charset="0"/>
                <a:cs typeface="Times New Roman" panose="02020603050405020304" pitchFamily="18" charset="0"/>
              </a:rPr>
              <a:t> float f= 3.5;</a:t>
            </a:r>
          </a:p>
          <a:p>
            <a:pPr marL="108000" indent="0">
              <a:lnSpc>
                <a:spcPct val="100000"/>
              </a:lnSpc>
              <a:spcBef>
                <a:spcPts val="1417"/>
              </a:spcBef>
              <a:buClr>
                <a:srgbClr val="000000"/>
              </a:buClr>
              <a:buSzPct val="45000"/>
              <a:buNone/>
            </a:pPr>
            <a:r>
              <a:rPr lang="en-US" b="1" spc="-1" dirty="0">
                <a:solidFill>
                  <a:srgbClr val="000000"/>
                </a:solidFill>
                <a:latin typeface="Times New Roman" panose="02020603050405020304" pitchFamily="18" charset="0"/>
                <a:cs typeface="Times New Roman" panose="02020603050405020304" pitchFamily="18" charset="0"/>
              </a:rPr>
              <a:t>		 </a:t>
            </a:r>
            <a:r>
              <a:rPr lang="en-US" b="1" spc="-1" dirty="0" err="1">
                <a:solidFill>
                  <a:srgbClr val="000000"/>
                </a:solidFill>
                <a:latin typeface="Times New Roman" panose="02020603050405020304" pitchFamily="18" charset="0"/>
                <a:cs typeface="Times New Roman" panose="02020603050405020304" pitchFamily="18" charset="0"/>
              </a:rPr>
              <a:t>int</a:t>
            </a:r>
            <a:r>
              <a:rPr lang="en-US" b="1" spc="-1" dirty="0">
                <a:solidFill>
                  <a:srgbClr val="000000"/>
                </a:solidFill>
                <a:latin typeface="Times New Roman" panose="02020603050405020304" pitchFamily="18" charset="0"/>
                <a:cs typeface="Times New Roman" panose="02020603050405020304" pitchFamily="18" charset="0"/>
              </a:rPr>
              <a:t> </a:t>
            </a:r>
            <a:r>
              <a:rPr lang="en-US" b="1" spc="-1" dirty="0" err="1">
                <a:solidFill>
                  <a:srgbClr val="000000"/>
                </a:solidFill>
                <a:latin typeface="Times New Roman" panose="02020603050405020304" pitchFamily="18" charset="0"/>
                <a:cs typeface="Times New Roman" panose="02020603050405020304" pitchFamily="18" charset="0"/>
              </a:rPr>
              <a:t>i</a:t>
            </a:r>
            <a:r>
              <a:rPr lang="en-US" b="1" spc="-1" dirty="0">
                <a:solidFill>
                  <a:srgbClr val="000000"/>
                </a:solidFill>
                <a:latin typeface="Times New Roman" panose="02020603050405020304" pitchFamily="18" charset="0"/>
                <a:cs typeface="Times New Roman" panose="02020603050405020304" pitchFamily="18" charset="0"/>
              </a:rPr>
              <a:t>;		</a:t>
            </a:r>
          </a:p>
          <a:p>
            <a:pPr marL="108000" indent="0">
              <a:lnSpc>
                <a:spcPct val="100000"/>
              </a:lnSpc>
              <a:spcBef>
                <a:spcPts val="1417"/>
              </a:spcBef>
              <a:buClr>
                <a:srgbClr val="000000"/>
              </a:buClr>
              <a:buSzPct val="45000"/>
              <a:buNone/>
            </a:pPr>
            <a:r>
              <a:rPr lang="en-US" b="1" spc="-1" dirty="0">
                <a:solidFill>
                  <a:srgbClr val="000000"/>
                </a:solidFill>
                <a:latin typeface="Times New Roman" panose="02020603050405020304" pitchFamily="18" charset="0"/>
                <a:cs typeface="Times New Roman" panose="02020603050405020304" pitchFamily="18" charset="0"/>
              </a:rPr>
              <a:t>		 </a:t>
            </a:r>
            <a:r>
              <a:rPr lang="en-US" b="1" spc="-1" dirty="0" err="1">
                <a:solidFill>
                  <a:srgbClr val="000000"/>
                </a:solidFill>
                <a:latin typeface="Times New Roman" panose="02020603050405020304" pitchFamily="18" charset="0"/>
                <a:cs typeface="Times New Roman" panose="02020603050405020304" pitchFamily="18" charset="0"/>
              </a:rPr>
              <a:t>i</a:t>
            </a:r>
            <a:r>
              <a:rPr lang="en-US" b="1" spc="-1" dirty="0">
                <a:solidFill>
                  <a:srgbClr val="000000"/>
                </a:solidFill>
                <a:latin typeface="Times New Roman" panose="02020603050405020304" pitchFamily="18" charset="0"/>
                <a:cs typeface="Times New Roman" panose="02020603050405020304" pitchFamily="18" charset="0"/>
              </a:rPr>
              <a:t> = f:</a:t>
            </a:r>
          </a:p>
          <a:p>
            <a:pPr marL="432000" indent="-324000">
              <a:lnSpc>
                <a:spcPct val="100000"/>
              </a:lnSpc>
              <a:spcBef>
                <a:spcPts val="1417"/>
              </a:spcBef>
              <a:buClr>
                <a:srgbClr val="000000"/>
              </a:buClr>
              <a:buSzPct val="45000"/>
              <a:buFont typeface="Wingdings" charset="2"/>
              <a:buChar char=""/>
            </a:pPr>
            <a:r>
              <a:rPr lang="en-US" spc="-1" dirty="0">
                <a:solidFill>
                  <a:srgbClr val="000000"/>
                </a:solidFill>
                <a:latin typeface="Times New Roman" panose="02020603050405020304" pitchFamily="18" charset="0"/>
                <a:cs typeface="Times New Roman" panose="02020603050405020304" pitchFamily="18" charset="0"/>
              </a:rPr>
              <a:t>The statement </a:t>
            </a:r>
            <a:r>
              <a:rPr lang="en-US" spc="-1" dirty="0" err="1">
                <a:solidFill>
                  <a:srgbClr val="000000"/>
                </a:solidFill>
                <a:latin typeface="Times New Roman" panose="02020603050405020304" pitchFamily="18" charset="0"/>
                <a:cs typeface="Times New Roman" panose="02020603050405020304" pitchFamily="18" charset="0"/>
              </a:rPr>
              <a:t>i</a:t>
            </a:r>
            <a:r>
              <a:rPr lang="en-US" spc="-1" dirty="0">
                <a:solidFill>
                  <a:srgbClr val="000000"/>
                </a:solidFill>
                <a:latin typeface="Times New Roman" panose="02020603050405020304" pitchFamily="18" charset="0"/>
                <a:cs typeface="Times New Roman" panose="02020603050405020304" pitchFamily="18" charset="0"/>
              </a:rPr>
              <a:t> = f results in f to be demoted to type </a:t>
            </a:r>
            <a:r>
              <a:rPr lang="en-US" spc="-1" dirty="0" err="1">
                <a:solidFill>
                  <a:srgbClr val="000000"/>
                </a:solidFill>
                <a:latin typeface="Times New Roman" panose="02020603050405020304" pitchFamily="18" charset="0"/>
                <a:cs typeface="Times New Roman" panose="02020603050405020304" pitchFamily="18" charset="0"/>
              </a:rPr>
              <a:t>int</a:t>
            </a:r>
            <a:r>
              <a:rPr lang="en-US" spc="-1" dirty="0">
                <a:solidFill>
                  <a:srgbClr val="000000"/>
                </a:solidFill>
                <a:latin typeface="Times New Roman" panose="02020603050405020304" pitchFamily="18" charset="0"/>
                <a:cs typeface="Times New Roman" panose="02020603050405020304" pitchFamily="18" charset="0"/>
              </a:rPr>
              <a:t>, i.e., the fractional part of f will be lost and </a:t>
            </a:r>
            <a:r>
              <a:rPr lang="en-US" spc="-1" dirty="0" err="1">
                <a:solidFill>
                  <a:srgbClr val="000000"/>
                </a:solidFill>
                <a:latin typeface="Times New Roman" panose="02020603050405020304" pitchFamily="18" charset="0"/>
                <a:cs typeface="Times New Roman" panose="02020603050405020304" pitchFamily="18" charset="0"/>
              </a:rPr>
              <a:t>i</a:t>
            </a:r>
            <a:r>
              <a:rPr lang="en-US" spc="-1" dirty="0">
                <a:solidFill>
                  <a:srgbClr val="000000"/>
                </a:solidFill>
                <a:latin typeface="Times New Roman" panose="02020603050405020304" pitchFamily="18" charset="0"/>
                <a:cs typeface="Times New Roman" panose="02020603050405020304" pitchFamily="18" charset="0"/>
              </a:rPr>
              <a:t> will contain 3 (not 3.5). In this case demotion takes place, i.e., a higher level data type is converted into a lower type.</a:t>
            </a:r>
          </a:p>
          <a:p>
            <a:pPr marL="432000" indent="-324000">
              <a:lnSpc>
                <a:spcPct val="100000"/>
              </a:lnSpc>
              <a:spcBef>
                <a:spcPts val="1417"/>
              </a:spcBef>
              <a:buClr>
                <a:srgbClr val="000000"/>
              </a:buClr>
              <a:buSzPct val="45000"/>
              <a:buFont typeface="Wingdings" charset="2"/>
              <a:buChar char=""/>
            </a:pPr>
            <a:r>
              <a:rPr lang="en-US" spc="-1" dirty="0">
                <a:solidFill>
                  <a:srgbClr val="000000"/>
                </a:solidFill>
                <a:latin typeface="Times New Roman" panose="02020603050405020304" pitchFamily="18" charset="0"/>
                <a:cs typeface="Times New Roman" panose="02020603050405020304" pitchFamily="18" charset="0"/>
              </a:rPr>
              <a:t>Whenever demotion occurs, some information is lost. For example, in this case the fractional part of the floating point number is lost</a:t>
            </a:r>
          </a:p>
          <a:p>
            <a:pPr marL="432000" indent="-324000">
              <a:lnSpc>
                <a:spcPct val="100000"/>
              </a:lnSpc>
              <a:spcBef>
                <a:spcPts val="1417"/>
              </a:spcBef>
              <a:buClr>
                <a:srgbClr val="000000"/>
              </a:buClr>
              <a:buSzPct val="45000"/>
              <a:buFont typeface="Wingdings" charset="2"/>
              <a:buChar char=""/>
            </a:pPr>
            <a:r>
              <a:rPr lang="en-US" spc="-1" dirty="0">
                <a:solidFill>
                  <a:srgbClr val="000000"/>
                </a:solidFill>
                <a:latin typeface="Times New Roman" panose="02020603050405020304" pitchFamily="18" charset="0"/>
                <a:cs typeface="Times New Roman" panose="02020603050405020304" pitchFamily="18" charset="0"/>
              </a:rPr>
              <a:t>Example : </a:t>
            </a:r>
            <a:r>
              <a:rPr lang="en-US" b="1" spc="-1" dirty="0">
                <a:solidFill>
                  <a:srgbClr val="000000"/>
                </a:solidFill>
                <a:latin typeface="Times New Roman" panose="02020603050405020304" pitchFamily="18" charset="0"/>
                <a:cs typeface="Times New Roman" panose="02020603050405020304" pitchFamily="18" charset="0"/>
              </a:rPr>
              <a:t>float x;</a:t>
            </a:r>
          </a:p>
          <a:p>
            <a:pPr marL="1512000" lvl="3" indent="0">
              <a:lnSpc>
                <a:spcPct val="100000"/>
              </a:lnSpc>
              <a:spcBef>
                <a:spcPts val="567"/>
              </a:spcBef>
              <a:buClr>
                <a:srgbClr val="000000"/>
              </a:buClr>
              <a:buSzPct val="75000"/>
              <a:buNone/>
            </a:pPr>
            <a:r>
              <a:rPr lang="en-US" sz="1800" b="1" spc="-1" dirty="0" err="1">
                <a:solidFill>
                  <a:srgbClr val="000000"/>
                </a:solidFill>
                <a:latin typeface="Times New Roman" panose="02020603050405020304" pitchFamily="18" charset="0"/>
                <a:cs typeface="Times New Roman" panose="02020603050405020304" pitchFamily="18" charset="0"/>
              </a:rPr>
              <a:t>int</a:t>
            </a:r>
            <a:r>
              <a:rPr lang="en-US" sz="1800" b="1" spc="-1" dirty="0">
                <a:solidFill>
                  <a:srgbClr val="000000"/>
                </a:solidFill>
                <a:latin typeface="Times New Roman" panose="02020603050405020304" pitchFamily="18" charset="0"/>
                <a:cs typeface="Times New Roman" panose="02020603050405020304" pitchFamily="18" charset="0"/>
              </a:rPr>
              <a:t> y = 3;</a:t>
            </a:r>
          </a:p>
          <a:p>
            <a:pPr marL="1512000" lvl="3" indent="0">
              <a:lnSpc>
                <a:spcPct val="100000"/>
              </a:lnSpc>
              <a:spcBef>
                <a:spcPts val="567"/>
              </a:spcBef>
              <a:buClr>
                <a:srgbClr val="000000"/>
              </a:buClr>
              <a:buSzPct val="75000"/>
              <a:buNone/>
            </a:pPr>
            <a:r>
              <a:rPr lang="en-US" sz="1800" b="1" spc="-1" dirty="0">
                <a:solidFill>
                  <a:srgbClr val="000000"/>
                </a:solidFill>
                <a:latin typeface="Times New Roman" panose="02020603050405020304" pitchFamily="18" charset="0"/>
                <a:cs typeface="Times New Roman" panose="02020603050405020304" pitchFamily="18" charset="0"/>
              </a:rPr>
              <a:t>x = y;</a:t>
            </a:r>
          </a:p>
          <a:p>
            <a:endParaRPr lang="en-IN" dirty="0"/>
          </a:p>
        </p:txBody>
      </p:sp>
      <p:pic>
        <p:nvPicPr>
          <p:cNvPr id="4" name="Picture 3"/>
          <p:cNvPicPr>
            <a:picLocks noChangeAspect="1"/>
          </p:cNvPicPr>
          <p:nvPr/>
        </p:nvPicPr>
        <p:blipFill>
          <a:blip r:embed="rId2" cstate="print"/>
          <a:stretch>
            <a:fillRect/>
          </a:stretch>
        </p:blipFill>
        <p:spPr>
          <a:xfrm>
            <a:off x="4283675" y="3995335"/>
            <a:ext cx="3545128" cy="2529033"/>
          </a:xfrm>
          <a:prstGeom prst="rect">
            <a:avLst/>
          </a:prstGeom>
        </p:spPr>
      </p:pic>
    </p:spTree>
    <p:extLst>
      <p:ext uri="{BB962C8B-B14F-4D97-AF65-F5344CB8AC3E}">
        <p14:creationId xmlns:p14="http://schemas.microsoft.com/office/powerpoint/2010/main" val="1327804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73211"/>
          </a:xfrm>
        </p:spPr>
        <p:txBody>
          <a:bodyPr>
            <a:normAutofit fontScale="90000"/>
          </a:bodyPr>
          <a:lstStyle/>
          <a:p>
            <a:r>
              <a:rPr lang="en-US" b="1" dirty="0">
                <a:solidFill>
                  <a:schemeClr val="tx1"/>
                </a:solidFill>
                <a:latin typeface="Times New Roman" panose="02020603050405020304" pitchFamily="18" charset="0"/>
                <a:cs typeface="Times New Roman" panose="02020603050405020304" pitchFamily="18" charset="0"/>
              </a:rPr>
              <a:t>Type conversion and typecasting.</a:t>
            </a:r>
            <a:r>
              <a:rPr lang="en-US" dirty="0">
                <a:solidFill>
                  <a:schemeClr val="tx1"/>
                </a:solidFill>
                <a:latin typeface="Times New Roman" panose="02020603050405020304" pitchFamily="18" charset="0"/>
                <a:cs typeface="Times New Roman" panose="02020603050405020304" pitchFamily="18" charset="0"/>
              </a:rPr>
              <a:t/>
            </a:r>
            <a:br>
              <a:rPr lang="en-US"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endParaRPr>
          </a:p>
        </p:txBody>
      </p:sp>
      <p:sp>
        <p:nvSpPr>
          <p:cNvPr id="3" name="Content Placeholder 2"/>
          <p:cNvSpPr>
            <a:spLocks noGrp="1"/>
          </p:cNvSpPr>
          <p:nvPr>
            <p:ph idx="1"/>
          </p:nvPr>
        </p:nvSpPr>
        <p:spPr>
          <a:xfrm>
            <a:off x="487864" y="1369757"/>
            <a:ext cx="8596668" cy="4602675"/>
          </a:xfrm>
        </p:spPr>
        <p:txBody>
          <a:bodyPr>
            <a:normAutofit/>
          </a:bodyPr>
          <a:lstStyle/>
          <a:p>
            <a:pPr marL="0" indent="0">
              <a:buNone/>
            </a:pPr>
            <a:r>
              <a:rPr lang="en-US" sz="2000" b="1" u="sng" dirty="0" smtClean="0"/>
              <a:t>TypeCasting</a:t>
            </a:r>
          </a:p>
          <a:p>
            <a:r>
              <a:rPr lang="en-US" dirty="0">
                <a:latin typeface="Times New Roman" panose="02020603050405020304" pitchFamily="18" charset="0"/>
                <a:cs typeface="Times New Roman" panose="02020603050405020304" pitchFamily="18" charset="0"/>
              </a:rPr>
              <a:t>Typecasting is also known as forced conversion</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Typecasting an arithmetic expression tells the compiler to represent the value of the expression in a certain way.</a:t>
            </a:r>
          </a:p>
          <a:p>
            <a:r>
              <a:rPr lang="en-US" dirty="0">
                <a:latin typeface="Times New Roman" panose="02020603050405020304" pitchFamily="18" charset="0"/>
                <a:cs typeface="Times New Roman" panose="02020603050405020304" pitchFamily="18" charset="0"/>
              </a:rPr>
              <a:t>It is done when the value of a higher data type has to be converted into the value of a lower data type. But this casting is under the programmer's control and not under compiler's control</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For example, if we need to explicitly typecast a floating point variable into an integer variable, then the code to perform typecasting can be given as:</a:t>
            </a:r>
          </a:p>
          <a:p>
            <a:r>
              <a:rPr lang="en-US" dirty="0" smtClean="0">
                <a:latin typeface="Times New Roman" panose="02020603050405020304" pitchFamily="18" charset="0"/>
                <a:cs typeface="Times New Roman" panose="02020603050405020304" pitchFamily="18" charset="0"/>
              </a:rPr>
              <a:t>Example:            </a:t>
            </a:r>
            <a:r>
              <a:rPr lang="en-US" b="1" dirty="0" smtClean="0">
                <a:latin typeface="Times New Roman" panose="02020603050405020304" pitchFamily="18" charset="0"/>
                <a:cs typeface="Times New Roman" panose="02020603050405020304" pitchFamily="18" charset="0"/>
              </a:rPr>
              <a:t>float </a:t>
            </a:r>
            <a:r>
              <a:rPr lang="en-US" b="1" dirty="0">
                <a:latin typeface="Times New Roman" panose="02020603050405020304" pitchFamily="18" charset="0"/>
                <a:cs typeface="Times New Roman" panose="02020603050405020304" pitchFamily="18" charset="0"/>
              </a:rPr>
              <a:t>salary = </a:t>
            </a:r>
            <a:r>
              <a:rPr lang="en-US" b="1" dirty="0" smtClean="0">
                <a:latin typeface="Times New Roman" panose="02020603050405020304" pitchFamily="18" charset="0"/>
                <a:cs typeface="Times New Roman" panose="02020603050405020304" pitchFamily="18" charset="0"/>
              </a:rPr>
              <a:t>10000.00;</a:t>
            </a:r>
          </a:p>
          <a:p>
            <a:pPr marL="0" indent="0">
              <a:buNone/>
            </a:pP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int</a:t>
            </a:r>
            <a:r>
              <a:rPr lang="en-US" b="1" dirty="0" smtClean="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sal</a:t>
            </a:r>
            <a:r>
              <a:rPr lang="en-US" b="1"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   				 </a:t>
            </a:r>
            <a:r>
              <a:rPr lang="en-US" b="1" dirty="0" err="1" smtClean="0">
                <a:latin typeface="Times New Roman" panose="02020603050405020304" pitchFamily="18" charset="0"/>
                <a:cs typeface="Times New Roman" panose="02020603050405020304" pitchFamily="18" charset="0"/>
              </a:rPr>
              <a:t>sal</a:t>
            </a: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int</a:t>
            </a:r>
            <a:r>
              <a:rPr lang="en-US" b="1" dirty="0">
                <a:latin typeface="Times New Roman" panose="02020603050405020304" pitchFamily="18" charset="0"/>
                <a:cs typeface="Times New Roman" panose="02020603050405020304" pitchFamily="18" charset="0"/>
              </a:rPr>
              <a:t>) salary;</a:t>
            </a:r>
          </a:p>
          <a:p>
            <a:endParaRPr lang="en-US" b="1" u="sng" dirty="0" smtClean="0">
              <a:latin typeface="Times New Roman" panose="02020603050405020304" pitchFamily="18" charset="0"/>
              <a:cs typeface="Times New Roman" panose="02020603050405020304" pitchFamily="18" charset="0"/>
            </a:endParaRPr>
          </a:p>
          <a:p>
            <a:endParaRPr lang="en-IN" sz="2000" b="1" u="sng" dirty="0"/>
          </a:p>
        </p:txBody>
      </p:sp>
    </p:spTree>
    <p:extLst>
      <p:ext uri="{BB962C8B-B14F-4D97-AF65-F5344CB8AC3E}">
        <p14:creationId xmlns:p14="http://schemas.microsoft.com/office/powerpoint/2010/main" val="2567899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136822"/>
          </a:xfrm>
        </p:spPr>
        <p:txBody>
          <a:bodyPr>
            <a:normAutofit fontScale="90000"/>
          </a:bodyPr>
          <a:lstStyle/>
          <a:p>
            <a:r>
              <a:rPr lang="en-US" b="1" dirty="0">
                <a:solidFill>
                  <a:schemeClr val="tx1"/>
                </a:solidFill>
                <a:latin typeface="Times New Roman" panose="02020603050405020304" pitchFamily="18" charset="0"/>
                <a:cs typeface="Times New Roman" panose="02020603050405020304" pitchFamily="18" charset="0"/>
              </a:rPr>
              <a:t>Type conversion and typecasting.</a:t>
            </a:r>
            <a:r>
              <a:rPr lang="en-US" dirty="0">
                <a:solidFill>
                  <a:schemeClr val="tx1"/>
                </a:solidFill>
                <a:latin typeface="Times New Roman" panose="02020603050405020304" pitchFamily="18" charset="0"/>
                <a:cs typeface="Times New Roman" panose="02020603050405020304" pitchFamily="18" charset="0"/>
              </a:rPr>
              <a:t/>
            </a:r>
            <a:br>
              <a:rPr lang="en-US"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endParaRPr>
          </a:p>
        </p:txBody>
      </p:sp>
      <p:sp>
        <p:nvSpPr>
          <p:cNvPr id="3" name="Content Placeholder 2"/>
          <p:cNvSpPr>
            <a:spLocks noGrp="1"/>
          </p:cNvSpPr>
          <p:nvPr>
            <p:ph idx="1"/>
          </p:nvPr>
        </p:nvSpPr>
        <p:spPr>
          <a:xfrm>
            <a:off x="578479" y="1295616"/>
            <a:ext cx="8596668" cy="4473172"/>
          </a:xfrm>
        </p:spPr>
        <p:txBody>
          <a:bodyPr>
            <a:normAutofit fontScale="92500" lnSpcReduction="10000"/>
          </a:bodyPr>
          <a:lstStyle/>
          <a:p>
            <a:r>
              <a:rPr lang="en-US" sz="2600" dirty="0">
                <a:latin typeface="Times New Roman" panose="02020603050405020304" pitchFamily="18" charset="0"/>
                <a:cs typeface="Times New Roman" panose="02020603050405020304" pitchFamily="18" charset="0"/>
              </a:rPr>
              <a:t>When floating point numbers are converted to integers (as in type conversion), the digits after the decimal are truncated. Therefore, data is lost when floating-point representations are converted to integral representations.</a:t>
            </a:r>
          </a:p>
          <a:p>
            <a:r>
              <a:rPr lang="en-US" sz="2600" dirty="0">
                <a:latin typeface="Times New Roman" panose="02020603050405020304" pitchFamily="18" charset="0"/>
                <a:cs typeface="Times New Roman" panose="02020603050405020304" pitchFamily="18" charset="0"/>
              </a:rPr>
              <a:t>So in order to avoid such type of inaccuracies, </a:t>
            </a:r>
            <a:r>
              <a:rPr lang="en-US" sz="2600" dirty="0" err="1">
                <a:latin typeface="Times New Roman" panose="02020603050405020304" pitchFamily="18" charset="0"/>
                <a:cs typeface="Times New Roman" panose="02020603050405020304" pitchFamily="18" charset="0"/>
              </a:rPr>
              <a:t>int</a:t>
            </a:r>
            <a:r>
              <a:rPr lang="en-US" sz="2600" dirty="0">
                <a:latin typeface="Times New Roman" panose="02020603050405020304" pitchFamily="18" charset="0"/>
                <a:cs typeface="Times New Roman" panose="02020603050405020304" pitchFamily="18" charset="0"/>
              </a:rPr>
              <a:t> type variables must be typecast to float type.</a:t>
            </a:r>
          </a:p>
          <a:p>
            <a:r>
              <a:rPr lang="en-US" sz="2600" dirty="0">
                <a:latin typeface="Times New Roman" panose="02020603050405020304" pitchFamily="18" charset="0"/>
                <a:cs typeface="Times New Roman" panose="02020603050405020304" pitchFamily="18" charset="0"/>
              </a:rPr>
              <a:t>As we see in the code above, typecasting can be done by placing the destination data type in parentheses followed by the variable name that has to be converted.</a:t>
            </a:r>
          </a:p>
          <a:p>
            <a:r>
              <a:rPr lang="en-US" sz="2600" dirty="0">
                <a:latin typeface="Times New Roman" panose="02020603050405020304" pitchFamily="18" charset="0"/>
                <a:cs typeface="Times New Roman" panose="02020603050405020304" pitchFamily="18" charset="0"/>
              </a:rPr>
              <a:t>Hence, we conclude that typecasting is done to make a variable of one data type to act like a variable of another type.</a:t>
            </a:r>
          </a:p>
          <a:p>
            <a:endParaRPr lang="en-IN" dirty="0"/>
          </a:p>
        </p:txBody>
      </p:sp>
    </p:spTree>
    <p:extLst>
      <p:ext uri="{BB962C8B-B14F-4D97-AF65-F5344CB8AC3E}">
        <p14:creationId xmlns:p14="http://schemas.microsoft.com/office/powerpoint/2010/main" val="2355837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859" y="0"/>
            <a:ext cx="8596668" cy="1377994"/>
          </a:xfrm>
        </p:spPr>
        <p:txBody>
          <a:bodyPr>
            <a:normAutofit fontScale="90000"/>
          </a:bodyPr>
          <a:lstStyle/>
          <a:p>
            <a:r>
              <a:rPr lang="en-US" b="1" dirty="0" smtClean="0">
                <a:latin typeface="Times New Roman" panose="02020603050405020304" pitchFamily="18" charset="0"/>
                <a:cs typeface="Times New Roman" panose="02020603050405020304" pitchFamily="18" charset="0"/>
              </a:rPr>
              <a:t/>
            </a:r>
            <a:br>
              <a:rPr lang="en-US" b="1" dirty="0" smtClean="0">
                <a:latin typeface="Times New Roman" panose="02020603050405020304" pitchFamily="18" charset="0"/>
                <a:cs typeface="Times New Roman" panose="02020603050405020304" pitchFamily="18" charset="0"/>
              </a:rPr>
            </a:br>
            <a:r>
              <a:rPr lang="en-US" b="1" dirty="0" smtClean="0">
                <a:solidFill>
                  <a:schemeClr val="tx1"/>
                </a:solidFill>
                <a:latin typeface="Times New Roman" panose="02020603050405020304" pitchFamily="18" charset="0"/>
                <a:cs typeface="Times New Roman" panose="02020603050405020304" pitchFamily="18" charset="0"/>
              </a:rPr>
              <a:t>Decision control and Looping statements:</a:t>
            </a:r>
            <a:br>
              <a:rPr lang="en-US" b="1" dirty="0" smtClean="0">
                <a:solidFill>
                  <a:schemeClr val="tx1"/>
                </a:solidFill>
                <a:latin typeface="Times New Roman" panose="02020603050405020304" pitchFamily="18" charset="0"/>
                <a:cs typeface="Times New Roman" panose="02020603050405020304" pitchFamily="18" charset="0"/>
              </a:rPr>
            </a:br>
            <a:endParaRPr lang="en-US" dirty="0">
              <a:solidFill>
                <a:schemeClr val="tx1"/>
              </a:solidFill>
            </a:endParaRPr>
          </a:p>
        </p:txBody>
      </p:sp>
      <p:sp>
        <p:nvSpPr>
          <p:cNvPr id="3" name="Content Placeholder 2"/>
          <p:cNvSpPr>
            <a:spLocks noGrp="1"/>
          </p:cNvSpPr>
          <p:nvPr>
            <p:ph idx="1"/>
          </p:nvPr>
        </p:nvSpPr>
        <p:spPr>
          <a:xfrm>
            <a:off x="570242" y="1188524"/>
            <a:ext cx="8596668" cy="3880773"/>
          </a:xfrm>
        </p:spPr>
        <p:txBody>
          <a:bodyPr/>
          <a:lstStyle/>
          <a:p>
            <a:r>
              <a:rPr lang="en-US" sz="2400" dirty="0" smtClean="0">
                <a:latin typeface="Times New Roman" panose="02020603050405020304" pitchFamily="18" charset="0"/>
                <a:cs typeface="Times New Roman" panose="02020603050405020304" pitchFamily="18" charset="0"/>
              </a:rPr>
              <a:t>C supports 2 types of decision control statements</a:t>
            </a:r>
          </a:p>
          <a:p>
            <a:pPr marL="0" indent="0">
              <a:buNone/>
            </a:pPr>
            <a:r>
              <a:rPr lang="en-US" sz="2400" dirty="0" smtClean="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1. Conditional type branching</a:t>
            </a:r>
          </a:p>
          <a:p>
            <a:pPr marL="0" indent="0">
              <a:buNone/>
            </a:pPr>
            <a:r>
              <a:rPr lang="en-US" sz="2400" b="1" dirty="0" smtClean="0">
                <a:latin typeface="Times New Roman" panose="02020603050405020304" pitchFamily="18" charset="0"/>
                <a:cs typeface="Times New Roman" panose="02020603050405020304" pitchFamily="18" charset="0"/>
              </a:rPr>
              <a:t>			2. unconditional type branching</a:t>
            </a:r>
          </a:p>
          <a:p>
            <a:r>
              <a:rPr lang="en-US" sz="2400" dirty="0">
                <a:latin typeface="Times New Roman" panose="02020603050405020304" pitchFamily="18" charset="0"/>
                <a:cs typeface="Times New Roman" panose="02020603050405020304" pitchFamily="18" charset="0"/>
              </a:rPr>
              <a:t>In the case of decision control statements in C language (nested if and if-else), a group of available statements will get executed in case the conditions we have are true.</a:t>
            </a:r>
            <a:r>
              <a:rPr lang="en-US" dirty="0"/>
              <a:t> </a:t>
            </a:r>
            <a:endParaRPr lang="en-US" dirty="0" smtClean="0"/>
          </a:p>
          <a:p>
            <a:endParaRPr lang="en-US" b="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748119" y="3980330"/>
            <a:ext cx="4593926" cy="2612565"/>
          </a:xfrm>
          <a:prstGeom prst="rect">
            <a:avLst/>
          </a:prstGeom>
        </p:spPr>
      </p:pic>
    </p:spTree>
    <p:extLst>
      <p:ext uri="{BB962C8B-B14F-4D97-AF65-F5344CB8AC3E}">
        <p14:creationId xmlns:p14="http://schemas.microsoft.com/office/powerpoint/2010/main" val="1244098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1385048" y="2227823"/>
            <a:ext cx="5911538" cy="3881437"/>
          </a:xfrm>
          <a:prstGeom prst="rect">
            <a:avLst/>
          </a:prstGeom>
        </p:spPr>
      </p:pic>
    </p:spTree>
    <p:extLst>
      <p:ext uri="{BB962C8B-B14F-4D97-AF65-F5344CB8AC3E}">
        <p14:creationId xmlns:p14="http://schemas.microsoft.com/office/powerpoint/2010/main" val="1405800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88324"/>
            <a:ext cx="8596668" cy="947351"/>
          </a:xfrm>
        </p:spPr>
        <p:txBody>
          <a:bodyPr/>
          <a:lstStyle/>
          <a:p>
            <a:r>
              <a:rPr lang="en-US" dirty="0" smtClean="0">
                <a:solidFill>
                  <a:schemeClr val="tx1"/>
                </a:solidFill>
                <a:latin typeface="Times New Roman" panose="02020603050405020304" pitchFamily="18" charset="0"/>
                <a:cs typeface="Times New Roman" panose="02020603050405020304" pitchFamily="18" charset="0"/>
              </a:rPr>
              <a:t>Conditional branching statements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19669" y="1235675"/>
            <a:ext cx="8596668" cy="3880773"/>
          </a:xfrm>
        </p:spPr>
        <p:txBody>
          <a:bodyPr/>
          <a:lstStyle/>
          <a:p>
            <a:r>
              <a:rPr lang="en-US" sz="2400" dirty="0" smtClean="0">
                <a:latin typeface="Times New Roman" panose="02020603050405020304" pitchFamily="18" charset="0"/>
                <a:cs typeface="Times New Roman" panose="02020603050405020304" pitchFamily="18" charset="0"/>
              </a:rPr>
              <a:t>This statements help to jump from one part of the program to another depending on whether a particular condition is satisfied or not. These include</a:t>
            </a:r>
          </a:p>
          <a:p>
            <a:pPr marL="0" indent="0">
              <a:buNone/>
            </a:pPr>
            <a:r>
              <a:rPr lang="en-US" dirty="0" smtClean="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1. if statement</a:t>
            </a:r>
          </a:p>
          <a:p>
            <a:pPr marL="0" indent="0">
              <a:buNone/>
            </a:pPr>
            <a:r>
              <a:rPr lang="en-US" sz="2400" b="1" dirty="0" smtClean="0">
                <a:latin typeface="Times New Roman" panose="02020603050405020304" pitchFamily="18" charset="0"/>
                <a:cs typeface="Times New Roman" panose="02020603050405020304" pitchFamily="18" charset="0"/>
              </a:rPr>
              <a:t>			2. if-else statement</a:t>
            </a:r>
          </a:p>
          <a:p>
            <a:pPr marL="0" indent="0">
              <a:buNone/>
            </a:pPr>
            <a:r>
              <a:rPr lang="en-US" sz="2400" b="1" dirty="0" smtClean="0">
                <a:latin typeface="Times New Roman" panose="02020603050405020304" pitchFamily="18" charset="0"/>
                <a:cs typeface="Times New Roman" panose="02020603050405020304" pitchFamily="18" charset="0"/>
              </a:rPr>
              <a:t>			3.if-else-if statement</a:t>
            </a:r>
          </a:p>
          <a:p>
            <a:pPr marL="0" indent="0">
              <a:buNone/>
            </a:pPr>
            <a:r>
              <a:rPr lang="en-US" sz="2400" b="1" dirty="0" smtClean="0">
                <a:latin typeface="Times New Roman" panose="02020603050405020304" pitchFamily="18" charset="0"/>
                <a:cs typeface="Times New Roman" panose="02020603050405020304" pitchFamily="18" charset="0"/>
              </a:rPr>
              <a:t>			4. switch statement</a:t>
            </a:r>
            <a:endParaRPr lang="en-IN" sz="24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4918003" y="2551329"/>
            <a:ext cx="5276265" cy="3849471"/>
          </a:xfrm>
          <a:prstGeom prst="rect">
            <a:avLst/>
          </a:prstGeom>
        </p:spPr>
      </p:pic>
    </p:spTree>
    <p:extLst>
      <p:ext uri="{BB962C8B-B14F-4D97-AF65-F5344CB8AC3E}">
        <p14:creationId xmlns:p14="http://schemas.microsoft.com/office/powerpoint/2010/main" val="4070736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2005" y="140043"/>
            <a:ext cx="8596668" cy="1320800"/>
          </a:xfrm>
        </p:spPr>
        <p:txBody>
          <a:bodyPr/>
          <a:lstStyle/>
          <a:p>
            <a:r>
              <a:rPr lang="en-US" b="1" dirty="0">
                <a:solidFill>
                  <a:schemeClr val="tx1"/>
                </a:solidFill>
                <a:latin typeface="Times New Roman" panose="02020603050405020304" pitchFamily="18" charset="0"/>
                <a:cs typeface="Times New Roman" panose="02020603050405020304" pitchFamily="18" charset="0"/>
              </a:rPr>
              <a:t>1. if statement</a:t>
            </a:r>
            <a:endParaRPr lang="en-IN" dirty="0">
              <a:solidFill>
                <a:schemeClr val="tx1"/>
              </a:solidFill>
            </a:endParaRPr>
          </a:p>
        </p:txBody>
      </p:sp>
      <p:sp>
        <p:nvSpPr>
          <p:cNvPr id="3" name="Content Placeholder 2"/>
          <p:cNvSpPr>
            <a:spLocks noGrp="1"/>
          </p:cNvSpPr>
          <p:nvPr>
            <p:ph idx="1"/>
          </p:nvPr>
        </p:nvSpPr>
        <p:spPr>
          <a:xfrm>
            <a:off x="405485" y="800443"/>
            <a:ext cx="8596668" cy="5129710"/>
          </a:xfrm>
        </p:spPr>
        <p:txBody>
          <a:bodyPr>
            <a:noAutofit/>
          </a:bodyPr>
          <a:lstStyle/>
          <a:p>
            <a:r>
              <a:rPr lang="en-US" sz="2400" dirty="0">
                <a:solidFill>
                  <a:schemeClr val="tx1"/>
                </a:solidFill>
                <a:latin typeface="Times New Roman" panose="02020603050405020304" pitchFamily="18" charset="0"/>
                <a:cs typeface="Times New Roman" panose="02020603050405020304" pitchFamily="18" charset="0"/>
              </a:rPr>
              <a:t>The if statement is the simplest form of decision control statements that is frequently used in decision-making</a:t>
            </a:r>
            <a:r>
              <a:rPr lang="en-US" sz="2400" dirty="0" smtClean="0">
                <a:solidFill>
                  <a:schemeClr val="tx1"/>
                </a:solidFill>
                <a:latin typeface="Times New Roman" panose="02020603050405020304" pitchFamily="18" charset="0"/>
                <a:cs typeface="Times New Roman" panose="02020603050405020304" pitchFamily="18" charset="0"/>
              </a:rPr>
              <a:t>.</a:t>
            </a:r>
          </a:p>
          <a:p>
            <a:r>
              <a:rPr lang="en-US" sz="2400" dirty="0">
                <a:solidFill>
                  <a:schemeClr val="tx1"/>
                </a:solidFill>
                <a:latin typeface="Times New Roman" panose="02020603050405020304" pitchFamily="18" charset="0"/>
                <a:cs typeface="Times New Roman" panose="02020603050405020304" pitchFamily="18" charset="0"/>
              </a:rPr>
              <a:t>The if block may include one statement or n statements enclosed within curly brackets</a:t>
            </a:r>
            <a:r>
              <a:rPr lang="en-US" sz="2400" dirty="0" smtClean="0">
                <a:solidFill>
                  <a:schemeClr val="tx1"/>
                </a:solidFill>
                <a:latin typeface="Times New Roman" panose="02020603050405020304" pitchFamily="18" charset="0"/>
                <a:cs typeface="Times New Roman" panose="02020603050405020304" pitchFamily="18" charset="0"/>
              </a:rPr>
              <a:t>.</a:t>
            </a:r>
          </a:p>
          <a:p>
            <a:r>
              <a:rPr lang="en-US" sz="2400" dirty="0" smtClean="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First, the test expression is evaluated. If the test expression is true, the statement of if block (statement 1 to n) are executed otherwise these statements will be skipped and the execution will jump to statement x</a:t>
            </a:r>
            <a:r>
              <a:rPr lang="en-US" sz="2400" dirty="0" smtClean="0">
                <a:solidFill>
                  <a:schemeClr val="tx1"/>
                </a:solidFill>
                <a:latin typeface="Times New Roman" panose="02020603050405020304" pitchFamily="18" charset="0"/>
                <a:cs typeface="Times New Roman" panose="02020603050405020304" pitchFamily="18" charset="0"/>
              </a:rPr>
              <a:t>.</a:t>
            </a:r>
          </a:p>
          <a:p>
            <a:r>
              <a:rPr lang="en-US" sz="2400" dirty="0">
                <a:solidFill>
                  <a:schemeClr val="tx1"/>
                </a:solidFill>
                <a:latin typeface="Times New Roman" panose="02020603050405020304" pitchFamily="18" charset="0"/>
                <a:cs typeface="Times New Roman" panose="02020603050405020304" pitchFamily="18" charset="0"/>
              </a:rPr>
              <a:t>The </a:t>
            </a:r>
            <a:r>
              <a:rPr lang="en-US" sz="2400" b="1" dirty="0">
                <a:solidFill>
                  <a:schemeClr val="tx1"/>
                </a:solidFill>
                <a:latin typeface="Times New Roman" panose="02020603050405020304" pitchFamily="18" charset="0"/>
                <a:cs typeface="Times New Roman" panose="02020603050405020304" pitchFamily="18" charset="0"/>
              </a:rPr>
              <a:t>statement</a:t>
            </a:r>
            <a:r>
              <a:rPr lang="en-US" sz="2400" dirty="0">
                <a:solidFill>
                  <a:schemeClr val="tx1"/>
                </a:solidFill>
                <a:latin typeface="Times New Roman" panose="02020603050405020304" pitchFamily="18" charset="0"/>
                <a:cs typeface="Times New Roman" panose="02020603050405020304" pitchFamily="18" charset="0"/>
              </a:rPr>
              <a:t> in an if block is any valid C language statement </a:t>
            </a:r>
          </a:p>
          <a:p>
            <a:r>
              <a:rPr lang="en-US" sz="2400" dirty="0" smtClean="0">
                <a:solidFill>
                  <a:schemeClr val="tx1"/>
                </a:solidFill>
                <a:latin typeface="Times New Roman" panose="02020603050405020304" pitchFamily="18" charset="0"/>
                <a:cs typeface="Times New Roman" panose="02020603050405020304" pitchFamily="18" charset="0"/>
              </a:rPr>
              <a:t>the </a:t>
            </a:r>
            <a:r>
              <a:rPr lang="en-US" sz="2400" b="1" dirty="0">
                <a:solidFill>
                  <a:schemeClr val="tx1"/>
                </a:solidFill>
                <a:latin typeface="Times New Roman" panose="02020603050405020304" pitchFamily="18" charset="0"/>
                <a:cs typeface="Times New Roman" panose="02020603050405020304" pitchFamily="18" charset="0"/>
              </a:rPr>
              <a:t>test expression </a:t>
            </a:r>
            <a:r>
              <a:rPr lang="en-US" sz="2400" dirty="0">
                <a:solidFill>
                  <a:schemeClr val="tx1"/>
                </a:solidFill>
                <a:latin typeface="Times New Roman" panose="02020603050405020304" pitchFamily="18" charset="0"/>
                <a:cs typeface="Times New Roman" panose="02020603050405020304" pitchFamily="18" charset="0"/>
              </a:rPr>
              <a:t>is any valid C language expression that may include logical operators.</a:t>
            </a:r>
            <a:endParaRPr lang="en-US" sz="2400" dirty="0" smtClean="0">
              <a:solidFill>
                <a:schemeClr val="tx1"/>
              </a:solidFill>
              <a:latin typeface="Times New Roman" panose="02020603050405020304" pitchFamily="18" charset="0"/>
              <a:cs typeface="Times New Roman" panose="02020603050405020304" pitchFamily="18" charset="0"/>
            </a:endParaRPr>
          </a:p>
          <a:p>
            <a:r>
              <a:rPr lang="en-US" sz="2400" dirty="0" smtClean="0">
                <a:solidFill>
                  <a:schemeClr val="tx1"/>
                </a:solidFill>
                <a:latin typeface="Times New Roman" panose="02020603050405020304" pitchFamily="18" charset="0"/>
                <a:cs typeface="Times New Roman" panose="02020603050405020304" pitchFamily="18" charset="0"/>
              </a:rPr>
              <a:t>The </a:t>
            </a:r>
            <a:r>
              <a:rPr lang="en-US" sz="2400" dirty="0">
                <a:solidFill>
                  <a:schemeClr val="tx1"/>
                </a:solidFill>
                <a:latin typeface="Times New Roman" panose="02020603050405020304" pitchFamily="18" charset="0"/>
                <a:cs typeface="Times New Roman" panose="02020603050405020304" pitchFamily="18" charset="0"/>
              </a:rPr>
              <a:t>general form of a simple if statement is shown </a:t>
            </a:r>
            <a:r>
              <a:rPr lang="en-US" sz="2400" dirty="0" smtClean="0">
                <a:solidFill>
                  <a:schemeClr val="tx1"/>
                </a:solidFill>
                <a:latin typeface="Times New Roman" panose="02020603050405020304" pitchFamily="18" charset="0"/>
                <a:cs typeface="Times New Roman" panose="02020603050405020304" pitchFamily="18" charset="0"/>
              </a:rPr>
              <a:t>in Figure </a:t>
            </a:r>
            <a:r>
              <a:rPr lang="en-US" sz="2400" dirty="0">
                <a:solidFill>
                  <a:schemeClr val="tx1"/>
                </a:solidFill>
                <a:latin typeface="Times New Roman" panose="02020603050405020304" pitchFamily="18" charset="0"/>
                <a:cs typeface="Times New Roman" panose="02020603050405020304" pitchFamily="18" charset="0"/>
              </a:rPr>
              <a:t>10.2.</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6523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23688" y="481169"/>
            <a:ext cx="4961007" cy="3126938"/>
          </a:xfrm>
          <a:prstGeom prst="rect">
            <a:avLst/>
          </a:prstGeom>
        </p:spPr>
      </p:pic>
      <p:pic>
        <p:nvPicPr>
          <p:cNvPr id="5" name="Picture 4"/>
          <p:cNvPicPr>
            <a:picLocks noChangeAspect="1"/>
          </p:cNvPicPr>
          <p:nvPr/>
        </p:nvPicPr>
        <p:blipFill>
          <a:blip r:embed="rId3"/>
          <a:stretch>
            <a:fillRect/>
          </a:stretch>
        </p:blipFill>
        <p:spPr>
          <a:xfrm>
            <a:off x="5284695" y="2281781"/>
            <a:ext cx="4450975" cy="3339089"/>
          </a:xfrm>
          <a:prstGeom prst="rect">
            <a:avLst/>
          </a:prstGeom>
        </p:spPr>
      </p:pic>
    </p:spTree>
    <p:extLst>
      <p:ext uri="{BB962C8B-B14F-4D97-AF65-F5344CB8AC3E}">
        <p14:creationId xmlns:p14="http://schemas.microsoft.com/office/powerpoint/2010/main" val="707978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718" y="222422"/>
            <a:ext cx="8596668" cy="864973"/>
          </a:xfrm>
        </p:spPr>
        <p:txBody>
          <a:bodyPr/>
          <a:lstStyle/>
          <a:p>
            <a:r>
              <a:rPr lang="en-US" b="1" dirty="0">
                <a:solidFill>
                  <a:schemeClr val="tx1"/>
                </a:solidFill>
                <a:latin typeface="Times New Roman" panose="02020603050405020304" pitchFamily="18" charset="0"/>
                <a:cs typeface="Times New Roman" panose="02020603050405020304" pitchFamily="18" charset="0"/>
              </a:rPr>
              <a:t>2. if-else statement</a:t>
            </a:r>
            <a:endParaRPr lang="en-IN" b="1" dirty="0">
              <a:solidFill>
                <a:schemeClr val="tx1"/>
              </a:solidFill>
            </a:endParaRPr>
          </a:p>
        </p:txBody>
      </p:sp>
      <p:sp>
        <p:nvSpPr>
          <p:cNvPr id="3" name="Content Placeholder 2"/>
          <p:cNvSpPr>
            <a:spLocks noGrp="1"/>
          </p:cNvSpPr>
          <p:nvPr>
            <p:ph idx="1"/>
          </p:nvPr>
        </p:nvSpPr>
        <p:spPr>
          <a:xfrm>
            <a:off x="463149" y="799070"/>
            <a:ext cx="8596668" cy="5321643"/>
          </a:xfrm>
        </p:spPr>
        <p:txBody>
          <a:bodyPr/>
          <a:lstStyle/>
          <a:p>
            <a:r>
              <a:rPr lang="en-US" dirty="0">
                <a:latin typeface="Times New Roman" panose="02020603050405020304" pitchFamily="18" charset="0"/>
                <a:cs typeface="Times New Roman" panose="02020603050405020304" pitchFamily="18" charset="0"/>
              </a:rPr>
              <a:t>Its usage is very simple.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test expression is evaluated. If the result is true, the </a:t>
            </a:r>
            <a:r>
              <a:rPr lang="en-US" dirty="0" smtClean="0">
                <a:latin typeface="Times New Roman" panose="02020603050405020304" pitchFamily="18" charset="0"/>
                <a:cs typeface="Times New Roman" panose="02020603050405020304" pitchFamily="18" charset="0"/>
              </a:rPr>
              <a:t>statements </a:t>
            </a:r>
            <a:r>
              <a:rPr lang="en-US" dirty="0">
                <a:latin typeface="Times New Roman" panose="02020603050405020304" pitchFamily="18" charset="0"/>
                <a:cs typeface="Times New Roman" panose="02020603050405020304" pitchFamily="18" charset="0"/>
              </a:rPr>
              <a:t>followed by the expression is executed else if the expression is false, the statement </a:t>
            </a:r>
            <a:r>
              <a:rPr lang="en-US" dirty="0" smtClean="0">
                <a:latin typeface="Times New Roman" panose="02020603050405020304" pitchFamily="18" charset="0"/>
                <a:cs typeface="Times New Roman" panose="02020603050405020304" pitchFamily="18" charset="0"/>
              </a:rPr>
              <a:t>in else part will be executed.</a:t>
            </a: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general form of a simple if-else statement is shown in Figure 10.3</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the syntax shown, we have written statement block</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statement block may include one or more statements</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According </a:t>
            </a:r>
            <a:r>
              <a:rPr lang="en-US" dirty="0">
                <a:latin typeface="Times New Roman" panose="02020603050405020304" pitchFamily="18" charset="0"/>
                <a:cs typeface="Times New Roman" panose="02020603050405020304" pitchFamily="18" charset="0"/>
              </a:rPr>
              <a:t>to the if-else construct, first the test expression is evaluated. If the expression is true, statement block 1 is executed and statement block 2 is skipped</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Otherwise, if the expression is false, statement block 2 is executed and statement block 1 is ignored.</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cstate="print"/>
          <a:stretch>
            <a:fillRect/>
          </a:stretch>
        </p:blipFill>
        <p:spPr>
          <a:xfrm>
            <a:off x="2431449" y="4531021"/>
            <a:ext cx="4422432" cy="1857422"/>
          </a:xfrm>
          <a:prstGeom prst="rect">
            <a:avLst/>
          </a:prstGeom>
        </p:spPr>
      </p:pic>
    </p:spTree>
    <p:extLst>
      <p:ext uri="{BB962C8B-B14F-4D97-AF65-F5344CB8AC3E}">
        <p14:creationId xmlns:p14="http://schemas.microsoft.com/office/powerpoint/2010/main" val="826443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194" y="362465"/>
            <a:ext cx="8596668" cy="733167"/>
          </a:xfrm>
        </p:spPr>
        <p:txBody>
          <a:bodyPr/>
          <a:lstStyle/>
          <a:p>
            <a:r>
              <a:rPr lang="en-US" b="1" dirty="0">
                <a:solidFill>
                  <a:schemeClr val="tx1"/>
                </a:solidFill>
                <a:latin typeface="Times New Roman" panose="02020603050405020304" pitchFamily="18" charset="0"/>
                <a:cs typeface="Times New Roman" panose="02020603050405020304" pitchFamily="18" charset="0"/>
              </a:rPr>
              <a:t>3.if-else-if statement</a:t>
            </a:r>
            <a:endParaRPr lang="en-IN" dirty="0">
              <a:solidFill>
                <a:schemeClr val="tx1"/>
              </a:solidFill>
            </a:endParaRPr>
          </a:p>
        </p:txBody>
      </p:sp>
      <p:sp>
        <p:nvSpPr>
          <p:cNvPr id="3" name="Content Placeholder 2"/>
          <p:cNvSpPr>
            <a:spLocks noGrp="1"/>
          </p:cNvSpPr>
          <p:nvPr>
            <p:ph idx="1"/>
          </p:nvPr>
        </p:nvSpPr>
        <p:spPr>
          <a:xfrm>
            <a:off x="603194" y="1378020"/>
            <a:ext cx="8596668" cy="3880773"/>
          </a:xfrm>
        </p:spPr>
        <p:txBody>
          <a:bodyPr>
            <a:noAutofit/>
          </a:bodyPr>
          <a:lstStyle/>
          <a:p>
            <a:r>
              <a:rPr lang="en-US" sz="2400" dirty="0">
                <a:latin typeface="Times New Roman" panose="02020603050405020304" pitchFamily="18" charset="0"/>
                <a:cs typeface="Times New Roman" panose="02020603050405020304" pitchFamily="18" charset="0"/>
              </a:rPr>
              <a:t>The if-else-if construct works in the same way as a normal if </a:t>
            </a:r>
            <a:r>
              <a:rPr lang="en-US" sz="2400" dirty="0" smtClean="0">
                <a:latin typeface="Times New Roman" panose="02020603050405020304" pitchFamily="18" charset="0"/>
                <a:cs typeface="Times New Roman" panose="02020603050405020304" pitchFamily="18" charset="0"/>
              </a:rPr>
              <a:t>statement and if else statement. </a:t>
            </a:r>
          </a:p>
          <a:p>
            <a:r>
              <a:rPr lang="en-US" sz="2400" dirty="0" smtClean="0">
                <a:latin typeface="Times New Roman" panose="02020603050405020304" pitchFamily="18" charset="0"/>
                <a:cs typeface="Times New Roman" panose="02020603050405020304" pitchFamily="18" charset="0"/>
              </a:rPr>
              <a:t>if-else-if </a:t>
            </a:r>
            <a:r>
              <a:rPr lang="en-US" sz="2400" dirty="0">
                <a:latin typeface="Times New Roman" panose="02020603050405020304" pitchFamily="18" charset="0"/>
                <a:cs typeface="Times New Roman" panose="02020603050405020304" pitchFamily="18" charset="0"/>
              </a:rPr>
              <a:t>construct is also known as nested if construct.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Its </a:t>
            </a:r>
            <a:r>
              <a:rPr lang="en-US" sz="2400" dirty="0">
                <a:latin typeface="Times New Roman" panose="02020603050405020304" pitchFamily="18" charset="0"/>
                <a:cs typeface="Times New Roman" panose="02020603050405020304" pitchFamily="18" charset="0"/>
              </a:rPr>
              <a:t>construct is given in Figure 10.4</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is not necessary </a:t>
            </a:r>
            <a:r>
              <a:rPr lang="en-US" sz="2400" dirty="0" smtClean="0">
                <a:latin typeface="Times New Roman" panose="02020603050405020304" pitchFamily="18" charset="0"/>
                <a:cs typeface="Times New Roman" panose="02020603050405020304" pitchFamily="18" charset="0"/>
              </a:rPr>
              <a:t>that every </a:t>
            </a:r>
            <a:r>
              <a:rPr lang="en-US" sz="2400" dirty="0">
                <a:latin typeface="Times New Roman" panose="02020603050405020304" pitchFamily="18" charset="0"/>
                <a:cs typeface="Times New Roman" panose="02020603050405020304" pitchFamily="18" charset="0"/>
              </a:rPr>
              <a:t>if statement </a:t>
            </a:r>
            <a:r>
              <a:rPr lang="en-US" sz="2400" dirty="0" smtClean="0">
                <a:latin typeface="Times New Roman" panose="02020603050405020304" pitchFamily="18" charset="0"/>
                <a:cs typeface="Times New Roman" panose="02020603050405020304" pitchFamily="18" charset="0"/>
              </a:rPr>
              <a:t>should have an else block as c supports simple if statements.</a:t>
            </a:r>
          </a:p>
          <a:p>
            <a:r>
              <a:rPr lang="en-US" sz="2400" dirty="0" smtClean="0">
                <a:latin typeface="Times New Roman" panose="02020603050405020304" pitchFamily="18" charset="0"/>
                <a:cs typeface="Times New Roman" panose="02020603050405020304" pitchFamily="18" charset="0"/>
              </a:rPr>
              <a:t>After the </a:t>
            </a:r>
            <a:r>
              <a:rPr lang="en-US" sz="2400" dirty="0">
                <a:latin typeface="Times New Roman" panose="02020603050405020304" pitchFamily="18" charset="0"/>
                <a:cs typeface="Times New Roman" panose="02020603050405020304" pitchFamily="18" charset="0"/>
              </a:rPr>
              <a:t>first test </a:t>
            </a:r>
            <a:r>
              <a:rPr lang="en-US" sz="2400" dirty="0" smtClean="0">
                <a:latin typeface="Times New Roman" panose="02020603050405020304" pitchFamily="18" charset="0"/>
                <a:cs typeface="Times New Roman" panose="02020603050405020304" pitchFamily="18" charset="0"/>
              </a:rPr>
              <a:t>expression or the </a:t>
            </a:r>
            <a:r>
              <a:rPr lang="en-US" sz="2400" dirty="0">
                <a:latin typeface="Times New Roman" panose="02020603050405020304" pitchFamily="18" charset="0"/>
                <a:cs typeface="Times New Roman" panose="02020603050405020304" pitchFamily="18" charset="0"/>
              </a:rPr>
              <a:t>first if branch, the programmer can have as many else-if branches as he </a:t>
            </a:r>
            <a:r>
              <a:rPr lang="en-US" sz="2400" dirty="0" smtClean="0">
                <a:latin typeface="Times New Roman" panose="02020603050405020304" pitchFamily="18" charset="0"/>
                <a:cs typeface="Times New Roman" panose="02020603050405020304" pitchFamily="18" charset="0"/>
              </a:rPr>
              <a:t>wants depending </a:t>
            </a:r>
            <a:r>
              <a:rPr lang="en-US" sz="2400" dirty="0">
                <a:latin typeface="Times New Roman" panose="02020603050405020304" pitchFamily="18" charset="0"/>
                <a:cs typeface="Times New Roman" panose="02020603050405020304" pitchFamily="18" charset="0"/>
              </a:rPr>
              <a:t>on the expressions that have to be tested.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2745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latin typeface="Times New Roman" panose="02020603050405020304" pitchFamily="18" charset="0"/>
                <a:cs typeface="Times New Roman" panose="02020603050405020304" pitchFamily="18" charset="0"/>
              </a:rPr>
              <a:t>Rules for using if, if-else, and if-else-if statement</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Rule 1: The expression must be enclosed in parentheses</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Rule </a:t>
            </a:r>
            <a:r>
              <a:rPr lang="en-US" sz="2400" dirty="0">
                <a:latin typeface="Times New Roman" panose="02020603050405020304" pitchFamily="18" charset="0"/>
                <a:cs typeface="Times New Roman" panose="02020603050405020304" pitchFamily="18" charset="0"/>
              </a:rPr>
              <a:t>2: No semicolon is placed after the if/if-else/ if-else-if statement. Semicolon is placed only at the end of statements in the statement block</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Rule </a:t>
            </a:r>
            <a:r>
              <a:rPr lang="en-US" sz="2400" dirty="0">
                <a:latin typeface="Times New Roman" panose="02020603050405020304" pitchFamily="18" charset="0"/>
                <a:cs typeface="Times New Roman" panose="02020603050405020304" pitchFamily="18" charset="0"/>
              </a:rPr>
              <a:t>3: A statement block begins and ends with a curly brace. No semicolon is placed after the opening/closing braces</a:t>
            </a:r>
            <a:r>
              <a:rPr lang="en-US" sz="2400" dirty="0" smtClean="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1157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16541"/>
            <a:ext cx="8596668" cy="1320800"/>
          </a:xfrm>
        </p:spPr>
        <p:txBody>
          <a:bodyPr/>
          <a:lstStyle/>
          <a:p>
            <a:r>
              <a:rPr lang="en-US" b="1" dirty="0">
                <a:solidFill>
                  <a:schemeClr val="tx1"/>
                </a:solidFill>
                <a:latin typeface="Times New Roman" panose="02020603050405020304" pitchFamily="18" charset="0"/>
                <a:cs typeface="Times New Roman" panose="02020603050405020304" pitchFamily="18" charset="0"/>
              </a:rPr>
              <a:t>Dangling Else Problem</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29053" y="776941"/>
            <a:ext cx="8596668" cy="5758330"/>
          </a:xfrm>
        </p:spPr>
        <p:txBody>
          <a:bodyPr>
            <a:noAutofit/>
          </a:bodyPr>
          <a:lstStyle/>
          <a:p>
            <a:r>
              <a:rPr lang="en-US" sz="2000" dirty="0" smtClean="0">
                <a:solidFill>
                  <a:schemeClr val="tx1"/>
                </a:solidFill>
                <a:latin typeface="Times New Roman" panose="02020603050405020304" pitchFamily="18" charset="0"/>
                <a:cs typeface="Times New Roman" panose="02020603050405020304" pitchFamily="18" charset="0"/>
              </a:rPr>
              <a:t>With </a:t>
            </a:r>
            <a:r>
              <a:rPr lang="en-US" sz="2000" dirty="0">
                <a:solidFill>
                  <a:schemeClr val="tx1"/>
                </a:solidFill>
                <a:latin typeface="Times New Roman" panose="02020603050405020304" pitchFamily="18" charset="0"/>
                <a:cs typeface="Times New Roman" panose="02020603050405020304" pitchFamily="18" charset="0"/>
              </a:rPr>
              <a:t>nesting of if-else statements, we often encounter a problem known as dangling else problem. </a:t>
            </a:r>
            <a:endParaRPr lang="en-US" sz="2000" dirty="0" smtClean="0">
              <a:solidFill>
                <a:schemeClr val="tx1"/>
              </a:solidFill>
              <a:latin typeface="Times New Roman" panose="02020603050405020304" pitchFamily="18" charset="0"/>
              <a:cs typeface="Times New Roman" panose="02020603050405020304" pitchFamily="18" charset="0"/>
            </a:endParaRPr>
          </a:p>
          <a:p>
            <a:r>
              <a:rPr lang="en-US" sz="2000" dirty="0" smtClean="0">
                <a:solidFill>
                  <a:schemeClr val="tx1"/>
                </a:solidFill>
                <a:latin typeface="Times New Roman" panose="02020603050405020304" pitchFamily="18" charset="0"/>
                <a:cs typeface="Times New Roman" panose="02020603050405020304" pitchFamily="18" charset="0"/>
              </a:rPr>
              <a:t>This </a:t>
            </a:r>
            <a:r>
              <a:rPr lang="en-US" sz="2000" dirty="0">
                <a:solidFill>
                  <a:schemeClr val="tx1"/>
                </a:solidFill>
                <a:latin typeface="Times New Roman" panose="02020603050405020304" pitchFamily="18" charset="0"/>
                <a:cs typeface="Times New Roman" panose="02020603050405020304" pitchFamily="18" charset="0"/>
              </a:rPr>
              <a:t>problem is created when there is no matching else for every if statement</a:t>
            </a:r>
            <a:r>
              <a:rPr lang="en-US" sz="2000" dirty="0" smtClean="0">
                <a:solidFill>
                  <a:schemeClr val="tx1"/>
                </a:solidFill>
                <a:latin typeface="Times New Roman" panose="02020603050405020304" pitchFamily="18" charset="0"/>
                <a:cs typeface="Times New Roman" panose="02020603050405020304" pitchFamily="18" charset="0"/>
              </a:rPr>
              <a:t>.</a:t>
            </a:r>
          </a:p>
          <a:p>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In such cases, C always pairs an else statement to the most recent unpaired if statement in the current block</a:t>
            </a:r>
            <a:r>
              <a:rPr lang="en-US" sz="2000" dirty="0" smtClean="0">
                <a:solidFill>
                  <a:schemeClr val="tx1"/>
                </a:solidFill>
                <a:latin typeface="Times New Roman" panose="02020603050405020304" pitchFamily="18" charset="0"/>
                <a:cs typeface="Times New Roman" panose="02020603050405020304" pitchFamily="18" charset="0"/>
              </a:rPr>
              <a:t>.</a:t>
            </a:r>
          </a:p>
          <a:p>
            <a:r>
              <a:rPr lang="en-US" sz="2000" dirty="0" smtClean="0">
                <a:solidFill>
                  <a:schemeClr val="tx1"/>
                </a:solidFill>
                <a:latin typeface="Times New Roman" panose="02020603050405020304" pitchFamily="18" charset="0"/>
                <a:cs typeface="Times New Roman" panose="02020603050405020304" pitchFamily="18" charset="0"/>
              </a:rPr>
              <a:t>Consider </a:t>
            </a:r>
            <a:r>
              <a:rPr lang="en-US" sz="2000" dirty="0">
                <a:solidFill>
                  <a:schemeClr val="tx1"/>
                </a:solidFill>
                <a:latin typeface="Times New Roman" panose="02020603050405020304" pitchFamily="18" charset="0"/>
                <a:cs typeface="Times New Roman" panose="02020603050405020304" pitchFamily="18" charset="0"/>
              </a:rPr>
              <a:t>the following code which shows such a scenario</a:t>
            </a:r>
            <a:r>
              <a:rPr lang="en-US" sz="2000" dirty="0" smtClean="0">
                <a:solidFill>
                  <a:schemeClr val="tx1"/>
                </a:solidFill>
                <a:latin typeface="Times New Roman" panose="02020603050405020304" pitchFamily="18" charset="0"/>
                <a:cs typeface="Times New Roman" panose="02020603050405020304" pitchFamily="18" charset="0"/>
              </a:rPr>
              <a:t>.</a:t>
            </a:r>
          </a:p>
          <a:p>
            <a:pPr marL="0" indent="0">
              <a:buNone/>
            </a:pPr>
            <a:r>
              <a:rPr lang="en-US" sz="2000" dirty="0" smtClean="0">
                <a:solidFill>
                  <a:schemeClr val="tx1"/>
                </a:solidFill>
                <a:latin typeface="Times New Roman" panose="02020603050405020304" pitchFamily="18" charset="0"/>
                <a:cs typeface="Times New Roman" panose="02020603050405020304" pitchFamily="18" charset="0"/>
              </a:rPr>
              <a:t>			</a:t>
            </a:r>
            <a:r>
              <a:rPr lang="en-US" sz="2000" b="1" dirty="0" smtClean="0">
                <a:solidFill>
                  <a:schemeClr val="tx1"/>
                </a:solidFill>
                <a:latin typeface="Times New Roman" panose="02020603050405020304" pitchFamily="18" charset="0"/>
                <a:cs typeface="Times New Roman" panose="02020603050405020304" pitchFamily="18" charset="0"/>
              </a:rPr>
              <a:t>if(a </a:t>
            </a:r>
            <a:r>
              <a:rPr lang="en-US" sz="2000" b="1" dirty="0">
                <a:solidFill>
                  <a:schemeClr val="tx1"/>
                </a:solidFill>
                <a:latin typeface="Times New Roman" panose="02020603050405020304" pitchFamily="18" charset="0"/>
                <a:cs typeface="Times New Roman" panose="02020603050405020304" pitchFamily="18" charset="0"/>
              </a:rPr>
              <a:t>&gt; b</a:t>
            </a:r>
            <a:r>
              <a:rPr lang="en-US" sz="2000" b="1" dirty="0" smtClean="0">
                <a:solidFill>
                  <a:schemeClr val="tx1"/>
                </a:solidFill>
                <a:latin typeface="Times New Roman" panose="02020603050405020304" pitchFamily="18" charset="0"/>
                <a:cs typeface="Times New Roman" panose="02020603050405020304" pitchFamily="18" charset="0"/>
              </a:rPr>
              <a:t>)</a:t>
            </a:r>
          </a:p>
          <a:p>
            <a:pPr marL="0" indent="0">
              <a:buNone/>
            </a:pPr>
            <a:r>
              <a:rPr lang="en-US" sz="2000" b="1" dirty="0" smtClean="0">
                <a:solidFill>
                  <a:schemeClr val="tx1"/>
                </a:solidFill>
                <a:latin typeface="Times New Roman" panose="02020603050405020304" pitchFamily="18" charset="0"/>
                <a:cs typeface="Times New Roman" panose="02020603050405020304" pitchFamily="18" charset="0"/>
              </a:rPr>
              <a:t>			if(a </a:t>
            </a:r>
            <a:r>
              <a:rPr lang="en-US" sz="2000" b="1" dirty="0">
                <a:solidFill>
                  <a:schemeClr val="tx1"/>
                </a:solidFill>
                <a:latin typeface="Times New Roman" panose="02020603050405020304" pitchFamily="18" charset="0"/>
                <a:cs typeface="Times New Roman" panose="02020603050405020304" pitchFamily="18" charset="0"/>
              </a:rPr>
              <a:t>&gt; c</a:t>
            </a:r>
            <a:r>
              <a:rPr lang="en-US" sz="2000" b="1" dirty="0" smtClean="0">
                <a:solidFill>
                  <a:schemeClr val="tx1"/>
                </a:solidFill>
                <a:latin typeface="Times New Roman" panose="02020603050405020304" pitchFamily="18" charset="0"/>
                <a:cs typeface="Times New Roman" panose="02020603050405020304" pitchFamily="18" charset="0"/>
              </a:rPr>
              <a:t>)</a:t>
            </a:r>
          </a:p>
          <a:p>
            <a:pPr marL="0" indent="0">
              <a:buNone/>
            </a:pPr>
            <a:r>
              <a:rPr lang="en-US" sz="2000" b="1" dirty="0" smtClean="0">
                <a:solidFill>
                  <a:schemeClr val="tx1"/>
                </a:solidFill>
                <a:latin typeface="Times New Roman" panose="02020603050405020304" pitchFamily="18" charset="0"/>
                <a:cs typeface="Times New Roman" panose="02020603050405020304" pitchFamily="18" charset="0"/>
              </a:rPr>
              <a:t>			</a:t>
            </a:r>
            <a:r>
              <a:rPr lang="en-US" sz="2000" b="1" dirty="0" err="1" smtClean="0">
                <a:solidFill>
                  <a:schemeClr val="tx1"/>
                </a:solidFill>
                <a:latin typeface="Times New Roman" panose="02020603050405020304" pitchFamily="18" charset="0"/>
                <a:cs typeface="Times New Roman" panose="02020603050405020304" pitchFamily="18" charset="0"/>
              </a:rPr>
              <a:t>printf</a:t>
            </a:r>
            <a:r>
              <a:rPr lang="en-US" sz="2000" b="1" dirty="0" smtClean="0">
                <a:solidFill>
                  <a:schemeClr val="tx1"/>
                </a:solidFill>
                <a:latin typeface="Times New Roman" panose="02020603050405020304" pitchFamily="18" charset="0"/>
                <a:cs typeface="Times New Roman" panose="02020603050405020304" pitchFamily="18" charset="0"/>
              </a:rPr>
              <a:t>("</a:t>
            </a:r>
            <a:r>
              <a:rPr lang="en-US" sz="2000" b="1" dirty="0">
                <a:solidFill>
                  <a:schemeClr val="tx1"/>
                </a:solidFill>
                <a:latin typeface="Times New Roman" panose="02020603050405020304" pitchFamily="18" charset="0"/>
                <a:cs typeface="Times New Roman" panose="02020603050405020304" pitchFamily="18" charset="0"/>
              </a:rPr>
              <a:t>In a is greater than b and c</a:t>
            </a:r>
            <a:r>
              <a:rPr lang="en-US" sz="2000" b="1" dirty="0" smtClean="0">
                <a:solidFill>
                  <a:schemeClr val="tx1"/>
                </a:solidFill>
                <a:latin typeface="Times New Roman" panose="02020603050405020304" pitchFamily="18" charset="0"/>
                <a:cs typeface="Times New Roman" panose="02020603050405020304" pitchFamily="18" charset="0"/>
              </a:rPr>
              <a:t>");</a:t>
            </a:r>
          </a:p>
          <a:p>
            <a:pPr marL="0" indent="0">
              <a:buNone/>
            </a:pPr>
            <a:r>
              <a:rPr lang="en-US" sz="2000" b="1" dirty="0" smtClean="0">
                <a:solidFill>
                  <a:schemeClr val="tx1"/>
                </a:solidFill>
                <a:latin typeface="Times New Roman" panose="02020603050405020304" pitchFamily="18" charset="0"/>
                <a:cs typeface="Times New Roman" panose="02020603050405020304" pitchFamily="18" charset="0"/>
              </a:rPr>
              <a:t>			else</a:t>
            </a:r>
          </a:p>
          <a:p>
            <a:pPr marL="0" indent="0">
              <a:buNone/>
            </a:pPr>
            <a:r>
              <a:rPr lang="en-US" sz="2000" dirty="0" smtClean="0">
                <a:solidFill>
                  <a:schemeClr val="tx1"/>
                </a:solidFill>
                <a:latin typeface="Times New Roman" panose="02020603050405020304" pitchFamily="18" charset="0"/>
                <a:cs typeface="Times New Roman" panose="02020603050405020304" pitchFamily="18" charset="0"/>
              </a:rPr>
              <a:t>			</a:t>
            </a:r>
            <a:r>
              <a:rPr lang="en-US" sz="2000" b="1" dirty="0" err="1" smtClean="0">
                <a:solidFill>
                  <a:schemeClr val="tx1"/>
                </a:solidFill>
                <a:latin typeface="Times New Roman" panose="02020603050405020304" pitchFamily="18" charset="0"/>
                <a:cs typeface="Times New Roman" panose="02020603050405020304" pitchFamily="18" charset="0"/>
              </a:rPr>
              <a:t>printf</a:t>
            </a:r>
            <a:r>
              <a:rPr lang="en-US" sz="2000" b="1" dirty="0">
                <a:solidFill>
                  <a:schemeClr val="tx1"/>
                </a:solidFill>
                <a:latin typeface="Times New Roman" panose="02020603050405020304" pitchFamily="18" charset="0"/>
                <a:cs typeface="Times New Roman" panose="02020603050405020304" pitchFamily="18" charset="0"/>
              </a:rPr>
              <a:t>("In a is not greater than b and c</a:t>
            </a:r>
            <a:r>
              <a:rPr lang="en-US" sz="2000" b="1" dirty="0" smtClean="0">
                <a:solidFill>
                  <a:schemeClr val="tx1"/>
                </a:solidFill>
                <a:latin typeface="Times New Roman" panose="02020603050405020304" pitchFamily="18" charset="0"/>
                <a:cs typeface="Times New Roman" panose="02020603050405020304" pitchFamily="18" charset="0"/>
              </a:rPr>
              <a:t>");</a:t>
            </a:r>
          </a:p>
          <a:p>
            <a:r>
              <a:rPr lang="en-US" sz="2000" dirty="0" smtClean="0">
                <a:solidFill>
                  <a:schemeClr val="tx1"/>
                </a:solidFill>
                <a:latin typeface="Times New Roman" panose="02020603050405020304" pitchFamily="18" charset="0"/>
                <a:cs typeface="Times New Roman" panose="02020603050405020304" pitchFamily="18" charset="0"/>
              </a:rPr>
              <a:t>The </a:t>
            </a:r>
            <a:r>
              <a:rPr lang="en-US" sz="2000" dirty="0">
                <a:solidFill>
                  <a:schemeClr val="tx1"/>
                </a:solidFill>
                <a:latin typeface="Times New Roman" panose="02020603050405020304" pitchFamily="18" charset="0"/>
                <a:cs typeface="Times New Roman" panose="02020603050405020304" pitchFamily="18" charset="0"/>
              </a:rPr>
              <a:t>problem is that both the outer if statement and the inner if statement might conceivably own the else</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68576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Comparing Floating Point Numbers</a:t>
            </a:r>
            <a:endParaRPr lang="en-IN" b="1" dirty="0">
              <a:solidFill>
                <a:schemeClr val="tx1"/>
              </a:solidFill>
            </a:endParaRPr>
          </a:p>
        </p:txBody>
      </p:sp>
      <p:sp>
        <p:nvSpPr>
          <p:cNvPr id="3" name="Content Placeholder 2"/>
          <p:cNvSpPr>
            <a:spLocks noGrp="1"/>
          </p:cNvSpPr>
          <p:nvPr>
            <p:ph idx="1"/>
          </p:nvPr>
        </p:nvSpPr>
        <p:spPr>
          <a:xfrm>
            <a:off x="438437" y="1485086"/>
            <a:ext cx="8596668" cy="4503822"/>
          </a:xfrm>
        </p:spPr>
        <p:txBody>
          <a:bodyPr>
            <a:normAutofit/>
          </a:bodyPr>
          <a:lstStyle/>
          <a:p>
            <a:r>
              <a:rPr lang="en-US" sz="2000" dirty="0" smtClean="0">
                <a:solidFill>
                  <a:schemeClr val="tx1"/>
                </a:solidFill>
                <a:latin typeface="Times New Roman" panose="02020603050405020304" pitchFamily="18" charset="0"/>
                <a:cs typeface="Times New Roman" panose="02020603050405020304" pitchFamily="18" charset="0"/>
              </a:rPr>
              <a:t>We </a:t>
            </a:r>
            <a:r>
              <a:rPr lang="en-US" sz="2000" dirty="0">
                <a:solidFill>
                  <a:schemeClr val="tx1"/>
                </a:solidFill>
                <a:latin typeface="Times New Roman" panose="02020603050405020304" pitchFamily="18" charset="0"/>
                <a:cs typeface="Times New Roman" panose="02020603050405020304" pitchFamily="18" charset="0"/>
              </a:rPr>
              <a:t>should never use floating point it </a:t>
            </a:r>
            <a:r>
              <a:rPr lang="en-US" sz="2000" dirty="0" smtClean="0">
                <a:solidFill>
                  <a:schemeClr val="tx1"/>
                </a:solidFill>
                <a:latin typeface="Times New Roman" panose="02020603050405020304" pitchFamily="18" charset="0"/>
                <a:cs typeface="Times New Roman" panose="02020603050405020304" pitchFamily="18" charset="0"/>
              </a:rPr>
              <a:t>numbers </a:t>
            </a:r>
            <a:r>
              <a:rPr lang="en-US" sz="2000" dirty="0">
                <a:solidFill>
                  <a:schemeClr val="tx1"/>
                </a:solidFill>
                <a:latin typeface="Times New Roman" panose="02020603050405020304" pitchFamily="18" charset="0"/>
                <a:cs typeface="Times New Roman" panose="02020603050405020304" pitchFamily="18" charset="0"/>
              </a:rPr>
              <a:t>for </a:t>
            </a:r>
            <a:r>
              <a:rPr lang="en-US" sz="2000" dirty="0" smtClean="0">
                <a:solidFill>
                  <a:schemeClr val="tx1"/>
                </a:solidFill>
                <a:latin typeface="Times New Roman" panose="02020603050405020304" pitchFamily="18" charset="0"/>
                <a:cs typeface="Times New Roman" panose="02020603050405020304" pitchFamily="18" charset="0"/>
              </a:rPr>
              <a:t>testing </a:t>
            </a:r>
            <a:r>
              <a:rPr lang="en-US" sz="2000" dirty="0">
                <a:solidFill>
                  <a:schemeClr val="tx1"/>
                </a:solidFill>
                <a:latin typeface="Times New Roman" panose="02020603050405020304" pitchFamily="18" charset="0"/>
                <a:cs typeface="Times New Roman" panose="02020603050405020304" pitchFamily="18" charset="0"/>
              </a:rPr>
              <a:t>quality</a:t>
            </a:r>
            <a:r>
              <a:rPr lang="en-US" sz="2000" dirty="0" smtClean="0">
                <a:solidFill>
                  <a:schemeClr val="tx1"/>
                </a:solidFill>
                <a:latin typeface="Times New Roman" panose="02020603050405020304" pitchFamily="18" charset="0"/>
                <a:cs typeface="Times New Roman" panose="02020603050405020304" pitchFamily="18" charset="0"/>
              </a:rPr>
              <a:t>.</a:t>
            </a:r>
          </a:p>
          <a:p>
            <a:r>
              <a:rPr lang="en-US" sz="2000" dirty="0" smtClean="0">
                <a:solidFill>
                  <a:schemeClr val="tx1"/>
                </a:solidFill>
                <a:latin typeface="Times New Roman" panose="02020603050405020304" pitchFamily="18" charset="0"/>
                <a:cs typeface="Times New Roman" panose="02020603050405020304" pitchFamily="18" charset="0"/>
              </a:rPr>
              <a:t>This </a:t>
            </a:r>
            <a:r>
              <a:rPr lang="en-US" sz="2000" dirty="0">
                <a:solidFill>
                  <a:schemeClr val="tx1"/>
                </a:solidFill>
                <a:latin typeface="Times New Roman" panose="02020603050405020304" pitchFamily="18" charset="0"/>
                <a:cs typeface="Times New Roman" panose="02020603050405020304" pitchFamily="18" charset="0"/>
              </a:rPr>
              <a:t>is because floating point numbers are </a:t>
            </a:r>
            <a:r>
              <a:rPr lang="en-US" sz="2000" dirty="0" smtClean="0">
                <a:solidFill>
                  <a:schemeClr val="tx1"/>
                </a:solidFill>
                <a:latin typeface="Times New Roman" panose="02020603050405020304" pitchFamily="18" charset="0"/>
                <a:cs typeface="Times New Roman" panose="02020603050405020304" pitchFamily="18" charset="0"/>
              </a:rPr>
              <a:t>just </a:t>
            </a:r>
            <a:r>
              <a:rPr lang="en-US" sz="2000" dirty="0">
                <a:solidFill>
                  <a:schemeClr val="tx1"/>
                </a:solidFill>
                <a:latin typeface="Times New Roman" panose="02020603050405020304" pitchFamily="18" charset="0"/>
                <a:cs typeface="Times New Roman" panose="02020603050405020304" pitchFamily="18" charset="0"/>
              </a:rPr>
              <a:t>approximations, so it is always better to use </a:t>
            </a:r>
            <a:r>
              <a:rPr lang="en-US" sz="2000" dirty="0" smtClean="0">
                <a:solidFill>
                  <a:schemeClr val="tx1"/>
                </a:solidFill>
                <a:latin typeface="Times New Roman" panose="02020603050405020304" pitchFamily="18" charset="0"/>
                <a:cs typeface="Times New Roman" panose="02020603050405020304" pitchFamily="18" charset="0"/>
              </a:rPr>
              <a:t>floating point numbers for testing</a:t>
            </a:r>
          </a:p>
          <a:p>
            <a:r>
              <a:rPr lang="en-US" sz="2000" dirty="0" smtClean="0">
                <a:solidFill>
                  <a:schemeClr val="tx1"/>
                </a:solidFill>
                <a:latin typeface="Times New Roman" panose="02020603050405020304" pitchFamily="18" charset="0"/>
                <a:cs typeface="Times New Roman" panose="02020603050405020304" pitchFamily="18" charset="0"/>
              </a:rPr>
              <a:t>We can </a:t>
            </a:r>
            <a:r>
              <a:rPr lang="en-US" sz="2000" dirty="0">
                <a:solidFill>
                  <a:schemeClr val="tx1"/>
                </a:solidFill>
                <a:latin typeface="Times New Roman" panose="02020603050405020304" pitchFamily="18" charset="0"/>
                <a:cs typeface="Times New Roman" panose="02020603050405020304" pitchFamily="18" charset="0"/>
              </a:rPr>
              <a:t>test for approximate equality by </a:t>
            </a:r>
            <a:r>
              <a:rPr lang="en-US" sz="2000" dirty="0" smtClean="0">
                <a:solidFill>
                  <a:schemeClr val="tx1"/>
                </a:solidFill>
                <a:latin typeface="Times New Roman" panose="02020603050405020304" pitchFamily="18" charset="0"/>
                <a:cs typeface="Times New Roman" panose="02020603050405020304" pitchFamily="18" charset="0"/>
              </a:rPr>
              <a:t>subtracting </a:t>
            </a:r>
            <a:r>
              <a:rPr lang="en-US" sz="2000" dirty="0">
                <a:solidFill>
                  <a:schemeClr val="tx1"/>
                </a:solidFill>
                <a:latin typeface="Times New Roman" panose="02020603050405020304" pitchFamily="18" charset="0"/>
                <a:cs typeface="Times New Roman" panose="02020603050405020304" pitchFamily="18" charset="0"/>
              </a:rPr>
              <a:t>the two floating point numbers (that are to be tested) and comparing their absolute value of the difference against a very small </a:t>
            </a:r>
            <a:r>
              <a:rPr lang="en-US" sz="2000" dirty="0" smtClean="0">
                <a:solidFill>
                  <a:schemeClr val="tx1"/>
                </a:solidFill>
                <a:latin typeface="Times New Roman" panose="02020603050405020304" pitchFamily="18" charset="0"/>
                <a:cs typeface="Times New Roman" panose="02020603050405020304" pitchFamily="18" charset="0"/>
              </a:rPr>
              <a:t>number, </a:t>
            </a:r>
            <a:r>
              <a:rPr lang="en-US" sz="2000" i="1" dirty="0" smtClean="0">
                <a:solidFill>
                  <a:schemeClr val="tx1"/>
                </a:solidFill>
                <a:latin typeface="Times New Roman" panose="02020603050405020304" pitchFamily="18" charset="0"/>
                <a:cs typeface="Times New Roman" panose="02020603050405020304" pitchFamily="18" charset="0"/>
              </a:rPr>
              <a:t>epsilon.</a:t>
            </a:r>
          </a:p>
          <a:p>
            <a:r>
              <a:rPr lang="en-US" sz="2000" dirty="0" smtClean="0">
                <a:solidFill>
                  <a:schemeClr val="tx1"/>
                </a:solidFill>
                <a:latin typeface="Times New Roman" panose="02020603050405020304" pitchFamily="18" charset="0"/>
                <a:cs typeface="Times New Roman" panose="02020603050405020304" pitchFamily="18" charset="0"/>
              </a:rPr>
              <a:t>For </a:t>
            </a:r>
            <a:r>
              <a:rPr lang="en-US" sz="2000" dirty="0">
                <a:solidFill>
                  <a:schemeClr val="tx1"/>
                </a:solidFill>
                <a:latin typeface="Times New Roman" panose="02020603050405020304" pitchFamily="18" charset="0"/>
                <a:cs typeface="Times New Roman" panose="02020603050405020304" pitchFamily="18" charset="0"/>
              </a:rPr>
              <a:t>example, consider the code given below which compares two floating point numbers Note that epsilon is chosen by the programmer to be small enough so that the two numbers can be considered equal.</a:t>
            </a:r>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cstate="print"/>
          <a:stretch>
            <a:fillRect/>
          </a:stretch>
        </p:blipFill>
        <p:spPr>
          <a:xfrm>
            <a:off x="2563785" y="4688189"/>
            <a:ext cx="3328086" cy="2176205"/>
          </a:xfrm>
          <a:prstGeom prst="rect">
            <a:avLst/>
          </a:prstGeom>
        </p:spPr>
      </p:pic>
    </p:spTree>
    <p:extLst>
      <p:ext uri="{BB962C8B-B14F-4D97-AF65-F5344CB8AC3E}">
        <p14:creationId xmlns:p14="http://schemas.microsoft.com/office/powerpoint/2010/main" val="2312378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23568"/>
            <a:ext cx="8596668" cy="1320800"/>
          </a:xfrm>
        </p:spPr>
        <p:txBody>
          <a:bodyPr/>
          <a:lstStyle/>
          <a:p>
            <a:r>
              <a:rPr lang="en-US" b="1" dirty="0">
                <a:solidFill>
                  <a:schemeClr val="tx1"/>
                </a:solidFill>
                <a:latin typeface="Times New Roman" panose="02020603050405020304" pitchFamily="18" charset="0"/>
                <a:cs typeface="Times New Roman" panose="02020603050405020304" pitchFamily="18" charset="0"/>
              </a:rPr>
              <a:t>4. switch statement</a:t>
            </a:r>
            <a:endParaRPr lang="en-IN" dirty="0">
              <a:solidFill>
                <a:schemeClr val="tx1"/>
              </a:solidFill>
            </a:endParaRPr>
          </a:p>
        </p:txBody>
      </p:sp>
      <p:sp>
        <p:nvSpPr>
          <p:cNvPr id="3" name="Content Placeholder 2"/>
          <p:cNvSpPr>
            <a:spLocks noGrp="1"/>
          </p:cNvSpPr>
          <p:nvPr>
            <p:ph idx="1"/>
          </p:nvPr>
        </p:nvSpPr>
        <p:spPr>
          <a:xfrm>
            <a:off x="520815" y="867248"/>
            <a:ext cx="8596668" cy="4874646"/>
          </a:xfrm>
        </p:spPr>
        <p:txBody>
          <a:bodyPr>
            <a:normAutofit/>
          </a:bodyPr>
          <a:lstStyle/>
          <a:p>
            <a:r>
              <a:rPr lang="en-US" sz="2400" dirty="0">
                <a:latin typeface="Times New Roman" panose="02020603050405020304" pitchFamily="18" charset="0"/>
                <a:cs typeface="Times New Roman" panose="02020603050405020304" pitchFamily="18" charset="0"/>
              </a:rPr>
              <a:t>A switch case statement is a multi-way decision statement that is a simplified version of an if-else block that evaluates only one variable.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general form of a switch </a:t>
            </a:r>
            <a:r>
              <a:rPr lang="en-US" sz="2400" dirty="0" smtClean="0">
                <a:latin typeface="Times New Roman" panose="02020603050405020304" pitchFamily="18" charset="0"/>
                <a:cs typeface="Times New Roman" panose="02020603050405020304" pitchFamily="18" charset="0"/>
              </a:rPr>
              <a:t>statements </a:t>
            </a:r>
            <a:r>
              <a:rPr lang="en-US" sz="2400" dirty="0">
                <a:latin typeface="Times New Roman" panose="02020603050405020304" pitchFamily="18" charset="0"/>
                <a:cs typeface="Times New Roman" panose="02020603050405020304" pitchFamily="18" charset="0"/>
              </a:rPr>
              <a:t>shown in Figure 10.5</a:t>
            </a:r>
            <a:r>
              <a:rPr lang="en-US" sz="2400" dirty="0" smtClean="0">
                <a:latin typeface="Times New Roman" panose="02020603050405020304" pitchFamily="18" charset="0"/>
                <a:cs typeface="Times New Roman" panose="02020603050405020304" pitchFamily="18" charset="0"/>
              </a:rPr>
              <a:t>.</a:t>
            </a:r>
          </a:p>
          <a:p>
            <a:r>
              <a:rPr lang="en-US" sz="2400" b="1" dirty="0" smtClean="0">
                <a:latin typeface="Times New Roman" panose="02020603050405020304" pitchFamily="18" charset="0"/>
                <a:cs typeface="Times New Roman" panose="02020603050405020304" pitchFamily="18" charset="0"/>
              </a:rPr>
              <a:t>It is mostly used in 2 situations</a:t>
            </a:r>
          </a:p>
          <a:p>
            <a:r>
              <a:rPr lang="en-US" sz="2400" b="1" dirty="0" smtClean="0">
                <a:latin typeface="Times New Roman" panose="02020603050405020304" pitchFamily="18" charset="0"/>
                <a:cs typeface="Times New Roman" panose="02020603050405020304" pitchFamily="18" charset="0"/>
              </a:rPr>
              <a:t>1.when there is only one variable to evaluate in the expression</a:t>
            </a:r>
          </a:p>
          <a:p>
            <a:r>
              <a:rPr lang="en-US" sz="2400" b="1" dirty="0" smtClean="0">
                <a:latin typeface="Times New Roman" panose="02020603050405020304" pitchFamily="18" charset="0"/>
                <a:cs typeface="Times New Roman" panose="02020603050405020304" pitchFamily="18" charset="0"/>
              </a:rPr>
              <a:t>2.when many conditions are being tested for</a:t>
            </a:r>
          </a:p>
          <a:p>
            <a:r>
              <a:rPr lang="en-US" sz="2400" dirty="0" smtClean="0">
                <a:latin typeface="Times New Roman" panose="02020603050405020304" pitchFamily="18" charset="0"/>
                <a:cs typeface="Times New Roman" panose="02020603050405020304" pitchFamily="18" charset="0"/>
              </a:rPr>
              <a:t>Default case is executed when no match is found between values of switch and case statements and thus there are no statements to executed</a:t>
            </a:r>
            <a:r>
              <a:rPr lang="en-US" dirty="0" smtClean="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91932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7975" y="228600"/>
            <a:ext cx="5529107" cy="4585447"/>
          </a:xfrm>
          <a:prstGeom prst="rect">
            <a:avLst/>
          </a:prstGeom>
        </p:spPr>
      </p:pic>
      <p:pic>
        <p:nvPicPr>
          <p:cNvPr id="6" name="Picture 5"/>
          <p:cNvPicPr>
            <a:picLocks noChangeAspect="1"/>
          </p:cNvPicPr>
          <p:nvPr/>
        </p:nvPicPr>
        <p:blipFill>
          <a:blip r:embed="rId3"/>
          <a:stretch>
            <a:fillRect/>
          </a:stretch>
        </p:blipFill>
        <p:spPr>
          <a:xfrm>
            <a:off x="5567082" y="1775012"/>
            <a:ext cx="4679576" cy="3886200"/>
          </a:xfrm>
          <a:prstGeom prst="rect">
            <a:avLst/>
          </a:prstGeom>
        </p:spPr>
      </p:pic>
    </p:spTree>
    <p:extLst>
      <p:ext uri="{BB962C8B-B14F-4D97-AF65-F5344CB8AC3E}">
        <p14:creationId xmlns:p14="http://schemas.microsoft.com/office/powerpoint/2010/main" val="24738786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431" y="238897"/>
            <a:ext cx="8596668" cy="1320800"/>
          </a:xfrm>
        </p:spPr>
        <p:txBody>
          <a:bodyPr/>
          <a:lstStyle/>
          <a:p>
            <a:r>
              <a:rPr lang="en-US" b="1" dirty="0" smtClean="0">
                <a:solidFill>
                  <a:schemeClr val="tx1"/>
                </a:solidFill>
              </a:rPr>
              <a:t>Iterative statement</a:t>
            </a:r>
            <a:endParaRPr lang="en-IN" b="1" dirty="0">
              <a:solidFill>
                <a:schemeClr val="tx1"/>
              </a:solidFill>
            </a:endParaRPr>
          </a:p>
        </p:txBody>
      </p:sp>
      <p:sp>
        <p:nvSpPr>
          <p:cNvPr id="3" name="Content Placeholder 2"/>
          <p:cNvSpPr>
            <a:spLocks noGrp="1"/>
          </p:cNvSpPr>
          <p:nvPr>
            <p:ph idx="1"/>
          </p:nvPr>
        </p:nvSpPr>
        <p:spPr>
          <a:xfrm>
            <a:off x="471388" y="1089670"/>
            <a:ext cx="8596668" cy="4356389"/>
          </a:xfrm>
        </p:spPr>
        <p:txBody>
          <a:bodyPr>
            <a:normAutofit/>
          </a:bodyPr>
          <a:lstStyle/>
          <a:p>
            <a:r>
              <a:rPr lang="en-US" sz="2400" dirty="0">
                <a:latin typeface="Times New Roman" panose="02020603050405020304" pitchFamily="18" charset="0"/>
                <a:cs typeface="Times New Roman" panose="02020603050405020304" pitchFamily="18" charset="0"/>
              </a:rPr>
              <a:t>Iterative statements are used to repeat the execution of a list of statements, depending on the value of an integer expression</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 language supports three types of iterative statements also known as looping statements</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They are</a:t>
            </a:r>
            <a:r>
              <a:rPr lang="en-US" sz="2400" dirty="0" smtClean="0">
                <a:latin typeface="Times New Roman" panose="02020603050405020304" pitchFamily="18" charset="0"/>
                <a:cs typeface="Times New Roman" panose="02020603050405020304" pitchFamily="18" charset="0"/>
              </a:rPr>
              <a:t>:</a:t>
            </a:r>
          </a:p>
          <a:p>
            <a:pPr marL="0" indent="0">
              <a:buNone/>
            </a:pPr>
            <a:r>
              <a:rPr lang="en-US" sz="2400" dirty="0" smtClean="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while </a:t>
            </a:r>
            <a:r>
              <a:rPr lang="en-US" sz="2400" b="1" dirty="0" smtClean="0">
                <a:latin typeface="Times New Roman" panose="02020603050405020304" pitchFamily="18" charset="0"/>
                <a:cs typeface="Times New Roman" panose="02020603050405020304" pitchFamily="18" charset="0"/>
              </a:rPr>
              <a:t>loop</a:t>
            </a:r>
          </a:p>
          <a:p>
            <a:pPr marL="0" indent="0">
              <a:buNone/>
            </a:pPr>
            <a:r>
              <a:rPr lang="en-US" sz="2400" b="1" dirty="0" smtClean="0">
                <a:latin typeface="Times New Roman" panose="02020603050405020304" pitchFamily="18" charset="0"/>
                <a:cs typeface="Times New Roman" panose="02020603050405020304" pitchFamily="18" charset="0"/>
              </a:rPr>
              <a:t>		• </a:t>
            </a:r>
            <a:r>
              <a:rPr lang="en-US" sz="2400" b="1" dirty="0">
                <a:latin typeface="Times New Roman" panose="02020603050405020304" pitchFamily="18" charset="0"/>
                <a:cs typeface="Times New Roman" panose="02020603050405020304" pitchFamily="18" charset="0"/>
              </a:rPr>
              <a:t>do-while </a:t>
            </a:r>
            <a:r>
              <a:rPr lang="en-US" sz="2400" b="1" dirty="0" smtClean="0">
                <a:latin typeface="Times New Roman" panose="02020603050405020304" pitchFamily="18" charset="0"/>
                <a:cs typeface="Times New Roman" panose="02020603050405020304" pitchFamily="18" charset="0"/>
              </a:rPr>
              <a:t>loop</a:t>
            </a:r>
          </a:p>
          <a:p>
            <a:pPr marL="0" indent="0">
              <a:buNone/>
            </a:pPr>
            <a:r>
              <a:rPr lang="en-US" sz="2400" b="1" dirty="0" smtClean="0">
                <a:latin typeface="Times New Roman" panose="02020603050405020304" pitchFamily="18" charset="0"/>
                <a:cs typeface="Times New Roman" panose="02020603050405020304" pitchFamily="18" charset="0"/>
              </a:rPr>
              <a:t>		• </a:t>
            </a:r>
            <a:r>
              <a:rPr lang="en-US" sz="2400" b="1" dirty="0">
                <a:latin typeface="Times New Roman" panose="02020603050405020304" pitchFamily="18" charset="0"/>
                <a:cs typeface="Times New Roman" panose="02020603050405020304" pitchFamily="18" charset="0"/>
              </a:rPr>
              <a:t>for loop</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02092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81233"/>
            <a:ext cx="8596668" cy="1320800"/>
          </a:xfrm>
        </p:spPr>
        <p:txBody>
          <a:bodyPr/>
          <a:lstStyle/>
          <a:p>
            <a:r>
              <a:rPr lang="en-US" b="1" dirty="0">
                <a:solidFill>
                  <a:schemeClr val="tx1"/>
                </a:solidFill>
                <a:latin typeface="Times New Roman" panose="02020603050405020304" pitchFamily="18" charset="0"/>
                <a:cs typeface="Times New Roman" panose="02020603050405020304" pitchFamily="18" charset="0"/>
              </a:rPr>
              <a:t>while loop</a:t>
            </a:r>
            <a:endParaRPr lang="en-IN" dirty="0">
              <a:solidFill>
                <a:schemeClr val="tx1"/>
              </a:solidFill>
            </a:endParaRPr>
          </a:p>
        </p:txBody>
      </p:sp>
      <p:sp>
        <p:nvSpPr>
          <p:cNvPr id="3" name="Content Placeholder 2"/>
          <p:cNvSpPr>
            <a:spLocks noGrp="1"/>
          </p:cNvSpPr>
          <p:nvPr>
            <p:ph idx="1"/>
          </p:nvPr>
        </p:nvSpPr>
        <p:spPr>
          <a:xfrm>
            <a:off x="446675" y="751919"/>
            <a:ext cx="8596668" cy="4215497"/>
          </a:xfrm>
        </p:spPr>
        <p:txBody>
          <a:bodyPr>
            <a:noAutofit/>
          </a:bodyPr>
          <a:lstStyle/>
          <a:p>
            <a:r>
              <a:rPr lang="en-US" sz="2400" dirty="0">
                <a:latin typeface="Times New Roman" panose="02020603050405020304" pitchFamily="18" charset="0"/>
                <a:cs typeface="Times New Roman" panose="02020603050405020304" pitchFamily="18" charset="0"/>
              </a:rPr>
              <a:t>The while loop provides a mechanism to repeat one or more statements while a particular condition is true.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Figure </a:t>
            </a:r>
            <a:r>
              <a:rPr lang="en-US" sz="2400" dirty="0">
                <a:latin typeface="Times New Roman" panose="02020603050405020304" pitchFamily="18" charset="0"/>
                <a:cs typeface="Times New Roman" panose="02020603050405020304" pitchFamily="18" charset="0"/>
              </a:rPr>
              <a:t>10.6 shows the syntax and general form of representation of a while </a:t>
            </a:r>
            <a:r>
              <a:rPr lang="en-US" sz="2400" dirty="0" smtClean="0">
                <a:latin typeface="Times New Roman" panose="02020603050405020304" pitchFamily="18" charset="0"/>
                <a:cs typeface="Times New Roman" panose="02020603050405020304" pitchFamily="18" charset="0"/>
              </a:rPr>
              <a:t>loop.</a:t>
            </a:r>
          </a:p>
          <a:p>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the while loop, the condition is tested before any of the statements in the statement block is executed</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If the condition is true, only then the statements will be executed otherwise if the condition is false, the control will jump to statement y, which is the immediate statement outside the while loop block</a:t>
            </a:r>
            <a:r>
              <a:rPr lang="en-US" sz="2400" b="1"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For example look at the following code which print first  10 numbers using while loop</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47477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while loop</a:t>
            </a:r>
            <a:endParaRPr lang="en-IN" dirty="0"/>
          </a:p>
        </p:txBody>
      </p:sp>
      <p:pic>
        <p:nvPicPr>
          <p:cNvPr id="4" name="Content Placeholder 3"/>
          <p:cNvPicPr>
            <a:picLocks noGrp="1" noChangeAspect="1"/>
          </p:cNvPicPr>
          <p:nvPr>
            <p:ph idx="1"/>
          </p:nvPr>
        </p:nvPicPr>
        <p:blipFill>
          <a:blip r:embed="rId2"/>
          <a:stretch>
            <a:fillRect/>
          </a:stretch>
        </p:blipFill>
        <p:spPr>
          <a:xfrm>
            <a:off x="4975668" y="1270000"/>
            <a:ext cx="4903666" cy="3881437"/>
          </a:xfrm>
          <a:prstGeom prst="rect">
            <a:avLst/>
          </a:prstGeom>
        </p:spPr>
      </p:pic>
      <p:pic>
        <p:nvPicPr>
          <p:cNvPr id="5" name="Picture 4"/>
          <p:cNvPicPr>
            <a:picLocks noChangeAspect="1"/>
          </p:cNvPicPr>
          <p:nvPr/>
        </p:nvPicPr>
        <p:blipFill>
          <a:blip r:embed="rId3"/>
          <a:stretch>
            <a:fillRect/>
          </a:stretch>
        </p:blipFill>
        <p:spPr>
          <a:xfrm>
            <a:off x="0" y="1559859"/>
            <a:ext cx="4975668" cy="4087905"/>
          </a:xfrm>
          <a:prstGeom prst="rect">
            <a:avLst/>
          </a:prstGeom>
        </p:spPr>
      </p:pic>
    </p:spTree>
    <p:extLst>
      <p:ext uri="{BB962C8B-B14F-4D97-AF65-F5344CB8AC3E}">
        <p14:creationId xmlns:p14="http://schemas.microsoft.com/office/powerpoint/2010/main" val="177359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621" y="99217"/>
            <a:ext cx="8596668" cy="1320800"/>
          </a:xfrm>
        </p:spPr>
        <p:txBody>
          <a:bodyPr/>
          <a:lstStyle/>
          <a:p>
            <a:r>
              <a:rPr lang="en-US" b="1" dirty="0" smtClean="0">
                <a:solidFill>
                  <a:schemeClr val="tx1"/>
                </a:solidFill>
                <a:latin typeface="Times New Roman" panose="02020603050405020304" pitchFamily="18" charset="0"/>
                <a:cs typeface="Times New Roman" panose="02020603050405020304" pitchFamily="18" charset="0"/>
              </a:rPr>
              <a:t>Do-while loop</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52621" y="759617"/>
            <a:ext cx="8596668" cy="5360557"/>
          </a:xfrm>
        </p:spPr>
        <p:txBody>
          <a:bodyPr>
            <a:noAutofit/>
          </a:bodyPr>
          <a:lstStyle/>
          <a:p>
            <a:r>
              <a:rPr lang="en-US" sz="2000" dirty="0">
                <a:solidFill>
                  <a:schemeClr val="tx1"/>
                </a:solidFill>
                <a:latin typeface="Times New Roman" panose="02020603050405020304" pitchFamily="18" charset="0"/>
                <a:cs typeface="Times New Roman" panose="02020603050405020304" pitchFamily="18" charset="0"/>
              </a:rPr>
              <a:t>The do-while loop is similar to the while loop. </a:t>
            </a:r>
            <a:endParaRPr lang="en-US" sz="2000" dirty="0" smtClean="0">
              <a:solidFill>
                <a:schemeClr val="tx1"/>
              </a:solidFill>
              <a:latin typeface="Times New Roman" panose="02020603050405020304" pitchFamily="18" charset="0"/>
              <a:cs typeface="Times New Roman" panose="02020603050405020304" pitchFamily="18" charset="0"/>
            </a:endParaRPr>
          </a:p>
          <a:p>
            <a:r>
              <a:rPr lang="en-US" sz="2000" dirty="0" smtClean="0">
                <a:solidFill>
                  <a:schemeClr val="tx1"/>
                </a:solidFill>
                <a:latin typeface="Times New Roman" panose="02020603050405020304" pitchFamily="18" charset="0"/>
                <a:cs typeface="Times New Roman" panose="02020603050405020304" pitchFamily="18" charset="0"/>
              </a:rPr>
              <a:t>The </a:t>
            </a:r>
            <a:r>
              <a:rPr lang="en-US" sz="2000" dirty="0">
                <a:solidFill>
                  <a:schemeClr val="tx1"/>
                </a:solidFill>
                <a:latin typeface="Times New Roman" panose="02020603050405020304" pitchFamily="18" charset="0"/>
                <a:cs typeface="Times New Roman" panose="02020603050405020304" pitchFamily="18" charset="0"/>
              </a:rPr>
              <a:t>only difference is that in a do-while loop, the test condition is </a:t>
            </a:r>
            <a:r>
              <a:rPr lang="en-US" sz="2000" dirty="0" err="1">
                <a:solidFill>
                  <a:schemeClr val="tx1"/>
                </a:solidFill>
                <a:latin typeface="Times New Roman" panose="02020603050405020304" pitchFamily="18" charset="0"/>
                <a:cs typeface="Times New Roman" panose="02020603050405020304" pitchFamily="18" charset="0"/>
              </a:rPr>
              <a:t>evaluted</a:t>
            </a:r>
            <a:r>
              <a:rPr lang="en-US" sz="2000" dirty="0">
                <a:solidFill>
                  <a:schemeClr val="tx1"/>
                </a:solidFill>
                <a:latin typeface="Times New Roman" panose="02020603050405020304" pitchFamily="18" charset="0"/>
                <a:cs typeface="Times New Roman" panose="02020603050405020304" pitchFamily="18" charset="0"/>
              </a:rPr>
              <a:t> at the end of the loop. </a:t>
            </a:r>
            <a:endParaRPr lang="en-US" sz="2000" dirty="0" smtClean="0">
              <a:solidFill>
                <a:schemeClr val="tx1"/>
              </a:solidFill>
              <a:latin typeface="Times New Roman" panose="02020603050405020304" pitchFamily="18" charset="0"/>
              <a:cs typeface="Times New Roman" panose="02020603050405020304" pitchFamily="18" charset="0"/>
            </a:endParaRPr>
          </a:p>
          <a:p>
            <a:r>
              <a:rPr lang="en-US" sz="2000" dirty="0" smtClean="0">
                <a:solidFill>
                  <a:schemeClr val="tx1"/>
                </a:solidFill>
                <a:latin typeface="Times New Roman" panose="02020603050405020304" pitchFamily="18" charset="0"/>
                <a:cs typeface="Times New Roman" panose="02020603050405020304" pitchFamily="18" charset="0"/>
              </a:rPr>
              <a:t>Now </a:t>
            </a:r>
            <a:r>
              <a:rPr lang="en-US" sz="2000" dirty="0">
                <a:solidFill>
                  <a:schemeClr val="tx1"/>
                </a:solidFill>
                <a:latin typeface="Times New Roman" panose="02020603050405020304" pitchFamily="18" charset="0"/>
                <a:cs typeface="Times New Roman" panose="02020603050405020304" pitchFamily="18" charset="0"/>
              </a:rPr>
              <a:t>that the test condition is </a:t>
            </a:r>
            <a:r>
              <a:rPr lang="en-US" sz="2000" dirty="0" err="1">
                <a:solidFill>
                  <a:schemeClr val="tx1"/>
                </a:solidFill>
                <a:latin typeface="Times New Roman" panose="02020603050405020304" pitchFamily="18" charset="0"/>
                <a:cs typeface="Times New Roman" panose="02020603050405020304" pitchFamily="18" charset="0"/>
              </a:rPr>
              <a:t>evaluted</a:t>
            </a:r>
            <a:r>
              <a:rPr lang="en-US" sz="2000" dirty="0">
                <a:solidFill>
                  <a:schemeClr val="tx1"/>
                </a:solidFill>
                <a:latin typeface="Times New Roman" panose="02020603050405020304" pitchFamily="18" charset="0"/>
                <a:cs typeface="Times New Roman" panose="02020603050405020304" pitchFamily="18" charset="0"/>
              </a:rPr>
              <a:t> at the end, this clearly means that the body of the loop gets executed at least one time (even if the condition is false</a:t>
            </a:r>
            <a:r>
              <a:rPr lang="en-US" sz="2000" dirty="0" smtClean="0">
                <a:solidFill>
                  <a:schemeClr val="tx1"/>
                </a:solidFill>
                <a:latin typeface="Times New Roman" panose="02020603050405020304" pitchFamily="18" charset="0"/>
                <a:cs typeface="Times New Roman" panose="02020603050405020304" pitchFamily="18" charset="0"/>
              </a:rPr>
              <a:t>).</a:t>
            </a:r>
          </a:p>
          <a:p>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Figure 10.7 shows the syntax and general form of representation of a do-while loop</a:t>
            </a:r>
            <a:r>
              <a:rPr lang="en-US" sz="2000" dirty="0" smtClean="0">
                <a:solidFill>
                  <a:schemeClr val="tx1"/>
                </a:solidFill>
                <a:latin typeface="Times New Roman" panose="02020603050405020304" pitchFamily="18" charset="0"/>
                <a:cs typeface="Times New Roman" panose="02020603050405020304" pitchFamily="18" charset="0"/>
              </a:rPr>
              <a:t>.</a:t>
            </a:r>
          </a:p>
          <a:p>
            <a:r>
              <a:rPr lang="en-US" sz="2000" dirty="0" smtClean="0">
                <a:solidFill>
                  <a:schemeClr val="tx1"/>
                </a:solidFill>
                <a:latin typeface="Times New Roman" panose="02020603050405020304" pitchFamily="18" charset="0"/>
                <a:cs typeface="Times New Roman" panose="02020603050405020304" pitchFamily="18" charset="0"/>
              </a:rPr>
              <a:t>Note </a:t>
            </a:r>
            <a:r>
              <a:rPr lang="en-US" sz="2000" dirty="0">
                <a:solidFill>
                  <a:schemeClr val="tx1"/>
                </a:solidFill>
                <a:latin typeface="Times New Roman" panose="02020603050405020304" pitchFamily="18" charset="0"/>
                <a:cs typeface="Times New Roman" panose="02020603050405020304" pitchFamily="18" charset="0"/>
              </a:rPr>
              <a:t>that the test condition is enclosed in parentheses and followed by a semicolon</a:t>
            </a:r>
            <a:r>
              <a:rPr lang="en-US" sz="2000" dirty="0" smtClean="0">
                <a:solidFill>
                  <a:schemeClr val="tx1"/>
                </a:solidFill>
                <a:latin typeface="Times New Roman" panose="02020603050405020304" pitchFamily="18" charset="0"/>
                <a:cs typeface="Times New Roman" panose="02020603050405020304" pitchFamily="18" charset="0"/>
              </a:rPr>
              <a:t>.</a:t>
            </a:r>
          </a:p>
          <a:p>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The statements in the statement block are enclosed within curly brackets</a:t>
            </a:r>
            <a:r>
              <a:rPr lang="en-US" sz="2000" dirty="0" smtClean="0">
                <a:solidFill>
                  <a:schemeClr val="tx1"/>
                </a:solidFill>
                <a:latin typeface="Times New Roman" panose="02020603050405020304" pitchFamily="18" charset="0"/>
                <a:cs typeface="Times New Roman" panose="02020603050405020304" pitchFamily="18" charset="0"/>
              </a:rPr>
              <a:t>.</a:t>
            </a:r>
          </a:p>
          <a:p>
            <a:r>
              <a:rPr lang="en-US" sz="2000" dirty="0" smtClean="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The curly brackets are optional if there is only one statement in the body of the do-while loop</a:t>
            </a:r>
            <a:r>
              <a:rPr lang="en-US" sz="2000" dirty="0" smtClean="0">
                <a:solidFill>
                  <a:schemeClr val="tx1"/>
                </a:solidFill>
                <a:latin typeface="Times New Roman" panose="02020603050405020304" pitchFamily="18" charset="0"/>
                <a:cs typeface="Times New Roman" panose="02020603050405020304" pitchFamily="18" charset="0"/>
              </a:rPr>
              <a:t>.</a:t>
            </a:r>
          </a:p>
          <a:p>
            <a:r>
              <a:rPr lang="en-US" sz="2000" dirty="0" smtClean="0">
                <a:solidFill>
                  <a:schemeClr val="tx1"/>
                </a:solidFill>
                <a:latin typeface="Times New Roman" panose="02020603050405020304" pitchFamily="18" charset="0"/>
                <a:cs typeface="Times New Roman" panose="02020603050405020304" pitchFamily="18" charset="0"/>
              </a:rPr>
              <a:t>Like </a:t>
            </a:r>
            <a:r>
              <a:rPr lang="en-US" sz="2000" dirty="0">
                <a:solidFill>
                  <a:schemeClr val="tx1"/>
                </a:solidFill>
                <a:latin typeface="Times New Roman" panose="02020603050405020304" pitchFamily="18" charset="0"/>
                <a:cs typeface="Times New Roman" panose="02020603050405020304" pitchFamily="18" charset="0"/>
              </a:rPr>
              <a:t>the while loop, the do-while loop continues to execute whilst the condition is true. </a:t>
            </a:r>
            <a:endParaRPr lang="en-US" sz="2000" dirty="0" smtClean="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08504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04911"/>
            <a:ext cx="8596668" cy="1320800"/>
          </a:xfrm>
        </p:spPr>
        <p:txBody>
          <a:bodyPr/>
          <a:lstStyle/>
          <a:p>
            <a:r>
              <a:rPr lang="en-US" b="1" dirty="0">
                <a:solidFill>
                  <a:schemeClr val="tx1"/>
                </a:solidFill>
                <a:latin typeface="Times New Roman" panose="02020603050405020304" pitchFamily="18" charset="0"/>
                <a:cs typeface="Times New Roman" panose="02020603050405020304" pitchFamily="18" charset="0"/>
              </a:rPr>
              <a:t>Do-while </a:t>
            </a:r>
            <a:r>
              <a:rPr lang="en-US" b="1" dirty="0" smtClean="0">
                <a:solidFill>
                  <a:schemeClr val="tx1"/>
                </a:solidFill>
                <a:latin typeface="Times New Roman" panose="02020603050405020304" pitchFamily="18" charset="0"/>
                <a:cs typeface="Times New Roman" panose="02020603050405020304" pitchFamily="18" charset="0"/>
              </a:rPr>
              <a:t>loop</a:t>
            </a:r>
            <a:br>
              <a:rPr lang="en-US" b="1" dirty="0" smtClean="0">
                <a:solidFill>
                  <a:schemeClr val="tx1"/>
                </a:solidFill>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413723" y="980463"/>
            <a:ext cx="8596668" cy="5608595"/>
          </a:xfrm>
        </p:spPr>
        <p:txBody>
          <a:bodyPr>
            <a:normAutofit fontScale="85000" lnSpcReduction="20000"/>
          </a:bodyPr>
          <a:lstStyle/>
          <a:p>
            <a:r>
              <a:rPr lang="en-US" sz="2600" dirty="0">
                <a:solidFill>
                  <a:schemeClr val="tx1"/>
                </a:solidFill>
                <a:latin typeface="Times New Roman" panose="02020603050405020304" pitchFamily="18" charset="0"/>
                <a:cs typeface="Times New Roman" panose="02020603050405020304" pitchFamily="18" charset="0"/>
              </a:rPr>
              <a:t>There is no choice whether to enter the loop or not because the loop will be executed at least once irrespective of whether the condition is true or false.</a:t>
            </a:r>
          </a:p>
          <a:p>
            <a:r>
              <a:rPr lang="en-US" sz="2600" dirty="0">
                <a:solidFill>
                  <a:schemeClr val="tx1"/>
                </a:solidFill>
                <a:latin typeface="Times New Roman" panose="02020603050405020304" pitchFamily="18" charset="0"/>
                <a:cs typeface="Times New Roman" panose="02020603050405020304" pitchFamily="18" charset="0"/>
              </a:rPr>
              <a:t> Hence, entry in the loop is automatic.</a:t>
            </a:r>
          </a:p>
          <a:p>
            <a:r>
              <a:rPr lang="en-US" sz="2600" dirty="0">
                <a:solidFill>
                  <a:schemeClr val="tx1"/>
                </a:solidFill>
                <a:latin typeface="Times New Roman" panose="02020603050405020304" pitchFamily="18" charset="0"/>
                <a:cs typeface="Times New Roman" panose="02020603050405020304" pitchFamily="18" charset="0"/>
              </a:rPr>
              <a:t>There is only one choice: to continue or to exit. The do-while loop will continue to execute while the condition is true and when the condition becomes false, the control will jump to statement following the do-while loop.</a:t>
            </a:r>
          </a:p>
          <a:p>
            <a:r>
              <a:rPr lang="en-US" sz="2600" dirty="0" smtClean="0">
                <a:solidFill>
                  <a:schemeClr val="tx1"/>
                </a:solidFill>
                <a:latin typeface="Times New Roman" panose="02020603050405020304" pitchFamily="18" charset="0"/>
                <a:cs typeface="Times New Roman" panose="02020603050405020304" pitchFamily="18" charset="0"/>
              </a:rPr>
              <a:t>Similar </a:t>
            </a:r>
            <a:r>
              <a:rPr lang="en-US" sz="2600" dirty="0">
                <a:solidFill>
                  <a:schemeClr val="tx1"/>
                </a:solidFill>
                <a:latin typeface="Times New Roman" panose="02020603050405020304" pitchFamily="18" charset="0"/>
                <a:cs typeface="Times New Roman" panose="02020603050405020304" pitchFamily="18" charset="0"/>
              </a:rPr>
              <a:t>to the while loop, the do-while is an indefinite loop as the loop can execute until the user wants to stop</a:t>
            </a:r>
            <a:r>
              <a:rPr lang="en-US" sz="2600" dirty="0" smtClean="0">
                <a:solidFill>
                  <a:schemeClr val="tx1"/>
                </a:solidFill>
                <a:latin typeface="Times New Roman" panose="02020603050405020304" pitchFamily="18" charset="0"/>
                <a:cs typeface="Times New Roman" panose="02020603050405020304" pitchFamily="18" charset="0"/>
              </a:rPr>
              <a:t>.</a:t>
            </a:r>
          </a:p>
          <a:p>
            <a:r>
              <a:rPr lang="en-US" sz="2600" dirty="0" smtClean="0">
                <a:solidFill>
                  <a:schemeClr val="tx1"/>
                </a:solidFill>
                <a:latin typeface="Times New Roman" panose="02020603050405020304" pitchFamily="18" charset="0"/>
                <a:cs typeface="Times New Roman" panose="02020603050405020304" pitchFamily="18" charset="0"/>
              </a:rPr>
              <a:t>The </a:t>
            </a:r>
            <a:r>
              <a:rPr lang="en-US" sz="2600" dirty="0">
                <a:solidFill>
                  <a:schemeClr val="tx1"/>
                </a:solidFill>
                <a:latin typeface="Times New Roman" panose="02020603050405020304" pitchFamily="18" charset="0"/>
                <a:cs typeface="Times New Roman" panose="02020603050405020304" pitchFamily="18" charset="0"/>
              </a:rPr>
              <a:t>number of times the loop has to be executed can thus be determined at the run time. </a:t>
            </a:r>
            <a:endParaRPr lang="en-US" sz="2600" dirty="0" smtClean="0">
              <a:solidFill>
                <a:schemeClr val="tx1"/>
              </a:solidFill>
              <a:latin typeface="Times New Roman" panose="02020603050405020304" pitchFamily="18" charset="0"/>
              <a:cs typeface="Times New Roman" panose="02020603050405020304" pitchFamily="18" charset="0"/>
            </a:endParaRPr>
          </a:p>
          <a:p>
            <a:r>
              <a:rPr lang="en-US" sz="2600" dirty="0" smtClean="0">
                <a:solidFill>
                  <a:schemeClr val="tx1"/>
                </a:solidFill>
                <a:latin typeface="Times New Roman" panose="02020603050405020304" pitchFamily="18" charset="0"/>
                <a:cs typeface="Times New Roman" panose="02020603050405020304" pitchFamily="18" charset="0"/>
              </a:rPr>
              <a:t>However</a:t>
            </a:r>
            <a:r>
              <a:rPr lang="en-US" sz="2600" dirty="0">
                <a:solidFill>
                  <a:schemeClr val="tx1"/>
                </a:solidFill>
                <a:latin typeface="Times New Roman" panose="02020603050405020304" pitchFamily="18" charset="0"/>
                <a:cs typeface="Times New Roman" panose="02020603050405020304" pitchFamily="18" charset="0"/>
              </a:rPr>
              <a:t>, unlike the while loop, the do-while loop is a bottom-checking loop, since the control expression is placed after the body of the loop</a:t>
            </a:r>
            <a:r>
              <a:rPr lang="en-US" sz="2600" dirty="0" smtClean="0">
                <a:solidFill>
                  <a:schemeClr val="tx1"/>
                </a:solidFill>
                <a:latin typeface="Times New Roman" panose="02020603050405020304" pitchFamily="18" charset="0"/>
                <a:cs typeface="Times New Roman" panose="02020603050405020304" pitchFamily="18" charset="0"/>
              </a:rPr>
              <a:t>.</a:t>
            </a:r>
          </a:p>
          <a:p>
            <a:r>
              <a:rPr lang="en-US" sz="2600" dirty="0" smtClean="0">
                <a:solidFill>
                  <a:schemeClr val="tx1"/>
                </a:solidFill>
                <a:latin typeface="Times New Roman" panose="02020603050405020304" pitchFamily="18" charset="0"/>
                <a:cs typeface="Times New Roman" panose="02020603050405020304" pitchFamily="18" charset="0"/>
              </a:rPr>
              <a:t>The </a:t>
            </a:r>
            <a:r>
              <a:rPr lang="en-US" sz="2600" dirty="0">
                <a:solidFill>
                  <a:schemeClr val="tx1"/>
                </a:solidFill>
                <a:latin typeface="Times New Roman" panose="02020603050405020304" pitchFamily="18" charset="0"/>
                <a:cs typeface="Times New Roman" panose="02020603050405020304" pitchFamily="18" charset="0"/>
              </a:rPr>
              <a:t>major disadvantage of using a do-while loop is that it always executes at least once, even if the user enters</a:t>
            </a:r>
            <a:endParaRPr lang="en-IN" sz="2600"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739712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717" y="205946"/>
            <a:ext cx="8596668" cy="1320800"/>
          </a:xfrm>
        </p:spPr>
        <p:txBody>
          <a:bodyPr/>
          <a:lstStyle/>
          <a:p>
            <a:r>
              <a:rPr lang="en-US" b="1" dirty="0">
                <a:solidFill>
                  <a:schemeClr val="tx1"/>
                </a:solidFill>
                <a:latin typeface="Times New Roman" panose="02020603050405020304" pitchFamily="18" charset="0"/>
                <a:cs typeface="Times New Roman" panose="02020603050405020304" pitchFamily="18" charset="0"/>
              </a:rPr>
              <a:t>Do-while loop</a:t>
            </a:r>
            <a:endParaRPr lang="en-IN" dirty="0"/>
          </a:p>
        </p:txBody>
      </p:sp>
      <p:pic>
        <p:nvPicPr>
          <p:cNvPr id="4" name="Content Placeholder 3"/>
          <p:cNvPicPr>
            <a:picLocks noGrp="1" noChangeAspect="1"/>
          </p:cNvPicPr>
          <p:nvPr>
            <p:ph idx="1"/>
          </p:nvPr>
        </p:nvPicPr>
        <p:blipFill>
          <a:blip r:embed="rId2"/>
          <a:stretch>
            <a:fillRect/>
          </a:stretch>
        </p:blipFill>
        <p:spPr>
          <a:xfrm>
            <a:off x="586717" y="1057048"/>
            <a:ext cx="5094513" cy="3697832"/>
          </a:xfrm>
          <a:prstGeom prst="rect">
            <a:avLst/>
          </a:prstGeom>
        </p:spPr>
      </p:pic>
    </p:spTree>
    <p:extLst>
      <p:ext uri="{BB962C8B-B14F-4D97-AF65-F5344CB8AC3E}">
        <p14:creationId xmlns:p14="http://schemas.microsoft.com/office/powerpoint/2010/main" val="1418214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14251"/>
          </a:xfrm>
        </p:spPr>
        <p:txBody>
          <a:bodyPr/>
          <a:lstStyle/>
          <a:p>
            <a:r>
              <a:rPr lang="en-US" b="1" dirty="0" smtClean="0">
                <a:solidFill>
                  <a:schemeClr val="tx1"/>
                </a:solidFill>
                <a:latin typeface="Times New Roman" panose="02020603050405020304" pitchFamily="18" charset="0"/>
                <a:cs typeface="Times New Roman" panose="02020603050405020304" pitchFamily="18" charset="0"/>
              </a:rPr>
              <a:t>For loop</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423851"/>
            <a:ext cx="8596668" cy="4728755"/>
          </a:xfrm>
        </p:spPr>
        <p:txBody>
          <a:bodyPr>
            <a:normAutofit lnSpcReduction="10000"/>
          </a:bodyPr>
          <a:lstStyle/>
          <a:p>
            <a:r>
              <a:rPr lang="en-US" sz="2400" dirty="0">
                <a:solidFill>
                  <a:schemeClr val="tx1"/>
                </a:solidFill>
                <a:latin typeface="Times New Roman" panose="02020603050405020304" pitchFamily="18" charset="0"/>
                <a:cs typeface="Times New Roman" panose="02020603050405020304" pitchFamily="18" charset="0"/>
              </a:rPr>
              <a:t>Like the while and do-while loops, the for loop provides a mechanism to repeat a task until a particular condition is true. </a:t>
            </a:r>
            <a:endParaRPr lang="en-US" sz="2400" dirty="0" smtClean="0">
              <a:solidFill>
                <a:schemeClr val="tx1"/>
              </a:solidFill>
              <a:latin typeface="Times New Roman" panose="02020603050405020304" pitchFamily="18" charset="0"/>
              <a:cs typeface="Times New Roman" panose="02020603050405020304" pitchFamily="18" charset="0"/>
            </a:endParaRPr>
          </a:p>
          <a:p>
            <a:r>
              <a:rPr lang="en-US" sz="2400" dirty="0" smtClean="0">
                <a:solidFill>
                  <a:schemeClr val="tx1"/>
                </a:solidFill>
                <a:latin typeface="Times New Roman" panose="02020603050405020304" pitchFamily="18" charset="0"/>
                <a:cs typeface="Times New Roman" panose="02020603050405020304" pitchFamily="18" charset="0"/>
              </a:rPr>
              <a:t>Its also known </a:t>
            </a:r>
            <a:r>
              <a:rPr lang="en-US" sz="2400" dirty="0">
                <a:solidFill>
                  <a:schemeClr val="tx1"/>
                </a:solidFill>
                <a:latin typeface="Times New Roman" panose="02020603050405020304" pitchFamily="18" charset="0"/>
                <a:cs typeface="Times New Roman" panose="02020603050405020304" pitchFamily="18" charset="0"/>
              </a:rPr>
              <a:t>as </a:t>
            </a:r>
            <a:r>
              <a:rPr lang="en-US" sz="2400" b="1" dirty="0">
                <a:solidFill>
                  <a:schemeClr val="tx1"/>
                </a:solidFill>
                <a:latin typeface="Times New Roman" panose="02020603050405020304" pitchFamily="18" charset="0"/>
                <a:cs typeface="Times New Roman" panose="02020603050405020304" pitchFamily="18" charset="0"/>
              </a:rPr>
              <a:t>a determinate or definite loop </a:t>
            </a:r>
            <a:r>
              <a:rPr lang="en-US" sz="2400" dirty="0">
                <a:solidFill>
                  <a:schemeClr val="tx1"/>
                </a:solidFill>
                <a:latin typeface="Times New Roman" panose="02020603050405020304" pitchFamily="18" charset="0"/>
                <a:cs typeface="Times New Roman" panose="02020603050405020304" pitchFamily="18" charset="0"/>
              </a:rPr>
              <a:t>because the programmer knows </a:t>
            </a:r>
            <a:r>
              <a:rPr lang="en-US" sz="2400" dirty="0" smtClean="0">
                <a:solidFill>
                  <a:schemeClr val="tx1"/>
                </a:solidFill>
                <a:latin typeface="Times New Roman" panose="02020603050405020304" pitchFamily="18" charset="0"/>
                <a:cs typeface="Times New Roman" panose="02020603050405020304" pitchFamily="18" charset="0"/>
              </a:rPr>
              <a:t>exactly </a:t>
            </a:r>
            <a:r>
              <a:rPr lang="en-US" sz="2400" dirty="0">
                <a:solidFill>
                  <a:schemeClr val="tx1"/>
                </a:solidFill>
                <a:latin typeface="Times New Roman" panose="02020603050405020304" pitchFamily="18" charset="0"/>
                <a:cs typeface="Times New Roman" panose="02020603050405020304" pitchFamily="18" charset="0"/>
              </a:rPr>
              <a:t>how many times the loop will repeat. </a:t>
            </a:r>
            <a:endParaRPr lang="en-US" sz="2400" dirty="0" smtClean="0">
              <a:solidFill>
                <a:schemeClr val="tx1"/>
              </a:solidFill>
              <a:latin typeface="Times New Roman" panose="02020603050405020304" pitchFamily="18" charset="0"/>
              <a:cs typeface="Times New Roman" panose="02020603050405020304" pitchFamily="18" charset="0"/>
            </a:endParaRPr>
          </a:p>
          <a:p>
            <a:r>
              <a:rPr lang="en-US" sz="2400" dirty="0">
                <a:solidFill>
                  <a:schemeClr val="tx1"/>
                </a:solidFill>
                <a:latin typeface="Times New Roman" panose="02020603050405020304" pitchFamily="18" charset="0"/>
                <a:cs typeface="Times New Roman" panose="02020603050405020304" pitchFamily="18" charset="0"/>
              </a:rPr>
              <a:t>The syntax and general form of a for loop is given in Figure 10.8</a:t>
            </a:r>
            <a:r>
              <a:rPr lang="en-US" sz="2400" dirty="0" smtClean="0">
                <a:solidFill>
                  <a:schemeClr val="tx1"/>
                </a:solidFill>
                <a:latin typeface="Times New Roman" panose="02020603050405020304" pitchFamily="18" charset="0"/>
                <a:cs typeface="Times New Roman" panose="02020603050405020304" pitchFamily="18" charset="0"/>
              </a:rPr>
              <a:t>.</a:t>
            </a:r>
          </a:p>
          <a:p>
            <a:r>
              <a:rPr lang="en-US" sz="2400" dirty="0">
                <a:solidFill>
                  <a:schemeClr val="tx1"/>
                </a:solidFill>
                <a:latin typeface="Times New Roman" panose="02020603050405020304" pitchFamily="18" charset="0"/>
                <a:cs typeface="Times New Roman" panose="02020603050405020304" pitchFamily="18" charset="0"/>
              </a:rPr>
              <a:t>When a for loop is used, the loop variable is initialized only once. With every iteration of the loop, the value of the loop variable is updated and the condition is checked</a:t>
            </a:r>
            <a:r>
              <a:rPr lang="en-US" sz="2400" dirty="0" smtClean="0">
                <a:solidFill>
                  <a:schemeClr val="tx1"/>
                </a:solidFill>
                <a:latin typeface="Times New Roman" panose="02020603050405020304" pitchFamily="18" charset="0"/>
                <a:cs typeface="Times New Roman" panose="02020603050405020304" pitchFamily="18" charset="0"/>
              </a:rPr>
              <a:t>.</a:t>
            </a:r>
          </a:p>
          <a:p>
            <a:r>
              <a:rPr lang="en-US" sz="2400" dirty="0" smtClean="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If the condition is true, then the statement block of the loop is executed, else the statements comprising the statement block of the for loop are skipped and the control jumps to the immediate statement following the for loop body.</a:t>
            </a:r>
          </a:p>
        </p:txBody>
      </p:sp>
    </p:spTree>
    <p:extLst>
      <p:ext uri="{BB962C8B-B14F-4D97-AF65-F5344CB8AC3E}">
        <p14:creationId xmlns:p14="http://schemas.microsoft.com/office/powerpoint/2010/main" val="30474286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69966"/>
            <a:ext cx="8596668" cy="1320800"/>
          </a:xfrm>
        </p:spPr>
        <p:txBody>
          <a:bodyPr/>
          <a:lstStyle/>
          <a:p>
            <a:r>
              <a:rPr lang="en-US" b="1" dirty="0">
                <a:solidFill>
                  <a:schemeClr val="tx1"/>
                </a:solidFill>
                <a:latin typeface="Times New Roman" panose="02020603050405020304" pitchFamily="18" charset="0"/>
                <a:cs typeface="Times New Roman" panose="02020603050405020304" pitchFamily="18" charset="0"/>
              </a:rPr>
              <a:t>For loop</a:t>
            </a:r>
            <a:endParaRPr lang="en-US" dirty="0"/>
          </a:p>
        </p:txBody>
      </p:sp>
      <p:sp>
        <p:nvSpPr>
          <p:cNvPr id="3" name="Content Placeholder 2"/>
          <p:cNvSpPr>
            <a:spLocks noGrp="1"/>
          </p:cNvSpPr>
          <p:nvPr>
            <p:ph idx="1"/>
          </p:nvPr>
        </p:nvSpPr>
        <p:spPr>
          <a:xfrm>
            <a:off x="677334" y="1005841"/>
            <a:ext cx="8596668" cy="5035522"/>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The for loop is widely used to execute a single or a group of statements a limited number of times</a:t>
            </a:r>
            <a:r>
              <a:rPr lang="en-US" sz="2400" dirty="0" smtClean="0">
                <a:solidFill>
                  <a:schemeClr val="tx1"/>
                </a:solidFill>
                <a:latin typeface="Times New Roman" panose="02020603050405020304" pitchFamily="18" charset="0"/>
                <a:cs typeface="Times New Roman" panose="02020603050405020304" pitchFamily="18" charset="0"/>
              </a:rPr>
              <a:t>.</a:t>
            </a:r>
          </a:p>
          <a:p>
            <a:r>
              <a:rPr lang="en-US" sz="2400" dirty="0">
                <a:solidFill>
                  <a:schemeClr val="tx1"/>
                </a:solidFill>
                <a:latin typeface="Times New Roman" panose="02020603050405020304" pitchFamily="18" charset="0"/>
                <a:cs typeface="Times New Roman" panose="02020603050405020304" pitchFamily="18" charset="0"/>
              </a:rPr>
              <a:t>Multiple statements can be included in the third part of the for statement by using the comma operator. For example, the for statement given below is valid in C. </a:t>
            </a:r>
            <a:endParaRPr lang="en-US" sz="2400" dirty="0" smtClean="0">
              <a:solidFill>
                <a:schemeClr val="tx1"/>
              </a:solidFill>
              <a:latin typeface="Times New Roman" panose="02020603050405020304" pitchFamily="18" charset="0"/>
              <a:cs typeface="Times New Roman" panose="02020603050405020304" pitchFamily="18" charset="0"/>
            </a:endParaRPr>
          </a:p>
          <a:p>
            <a:r>
              <a:rPr lang="en-US" sz="2400" dirty="0" smtClean="0">
                <a:solidFill>
                  <a:schemeClr val="tx1"/>
                </a:solidFill>
                <a:latin typeface="Times New Roman" panose="02020603050405020304" pitchFamily="18" charset="0"/>
                <a:cs typeface="Times New Roman" panose="02020603050405020304" pitchFamily="18" charset="0"/>
              </a:rPr>
              <a:t>for </a:t>
            </a:r>
            <a:r>
              <a:rPr lang="en-US" sz="2400" dirty="0">
                <a:solidFill>
                  <a:schemeClr val="tx1"/>
                </a:solidFill>
                <a:latin typeface="Times New Roman" panose="02020603050405020304" pitchFamily="18" charset="0"/>
                <a:cs typeface="Times New Roman" panose="02020603050405020304" pitchFamily="18" charset="0"/>
              </a:rPr>
              <a:t>(1=0, j=10;i&lt;j; </a:t>
            </a:r>
            <a:r>
              <a:rPr lang="en-US" sz="2400" dirty="0" err="1">
                <a:solidFill>
                  <a:schemeClr val="tx1"/>
                </a:solidFill>
                <a:latin typeface="Times New Roman" panose="02020603050405020304" pitchFamily="18" charset="0"/>
                <a:cs typeface="Times New Roman" panose="02020603050405020304" pitchFamily="18" charset="0"/>
              </a:rPr>
              <a:t>i</a:t>
            </a:r>
            <a:r>
              <a:rPr lang="en-US" sz="2400" dirty="0">
                <a:solidFill>
                  <a:schemeClr val="tx1"/>
                </a:solidFill>
                <a:latin typeface="Times New Roman" panose="02020603050405020304" pitchFamily="18" charset="0"/>
                <a:cs typeface="Times New Roman" panose="02020603050405020304" pitchFamily="18" charset="0"/>
              </a:rPr>
              <a:t>++, j- -)</a:t>
            </a:r>
            <a:endParaRPr lang="en-US" sz="2400" dirty="0" smtClean="0">
              <a:solidFill>
                <a:schemeClr val="tx1"/>
              </a:solidFill>
              <a:latin typeface="Times New Roman" panose="02020603050405020304" pitchFamily="18" charset="0"/>
              <a:cs typeface="Times New Roman" panose="02020603050405020304" pitchFamily="18" charset="0"/>
            </a:endParaRPr>
          </a:p>
          <a:p>
            <a:endParaRPr lang="en-US" sz="2400" dirty="0" smtClean="0">
              <a:solidFill>
                <a:schemeClr val="tx1"/>
              </a:solidFill>
              <a:latin typeface="Times New Roman" panose="02020603050405020304" pitchFamily="18" charset="0"/>
              <a:cs typeface="Times New Roman" panose="02020603050405020304" pitchFamily="18" charset="0"/>
            </a:endParaRPr>
          </a:p>
          <a:p>
            <a:endParaRPr lang="en-US" sz="2400" dirty="0" smtClean="0">
              <a:solidFill>
                <a:schemeClr val="tx1"/>
              </a:solidFill>
              <a:latin typeface="Times New Roman" panose="02020603050405020304" pitchFamily="18" charset="0"/>
              <a:cs typeface="Times New Roman" panose="02020603050405020304" pitchFamily="18" charset="0"/>
            </a:endParaRPr>
          </a:p>
          <a:p>
            <a:endParaRPr lang="en-US" sz="2400" dirty="0" smtClean="0">
              <a:solidFill>
                <a:schemeClr val="tx1"/>
              </a:solidFill>
              <a:latin typeface="Times New Roman" panose="02020603050405020304" pitchFamily="18" charset="0"/>
              <a:cs typeface="Times New Roman" panose="02020603050405020304" pitchFamily="18" charset="0"/>
            </a:endParaRPr>
          </a:p>
          <a:p>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622333" y="3227370"/>
            <a:ext cx="4777162" cy="3321347"/>
          </a:xfrm>
          <a:prstGeom prst="rect">
            <a:avLst/>
          </a:prstGeom>
        </p:spPr>
      </p:pic>
      <p:pic>
        <p:nvPicPr>
          <p:cNvPr id="5" name="Content Placeholder 3"/>
          <p:cNvPicPr>
            <a:picLocks noChangeAspect="1"/>
          </p:cNvPicPr>
          <p:nvPr/>
        </p:nvPicPr>
        <p:blipFill>
          <a:blip r:embed="rId3"/>
          <a:stretch>
            <a:fillRect/>
          </a:stretch>
        </p:blipFill>
        <p:spPr>
          <a:xfrm>
            <a:off x="125493" y="3812295"/>
            <a:ext cx="4496840" cy="2229068"/>
          </a:xfrm>
          <a:prstGeom prst="rect">
            <a:avLst/>
          </a:prstGeom>
        </p:spPr>
      </p:pic>
    </p:spTree>
    <p:extLst>
      <p:ext uri="{BB962C8B-B14F-4D97-AF65-F5344CB8AC3E}">
        <p14:creationId xmlns:p14="http://schemas.microsoft.com/office/powerpoint/2010/main" val="4426915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00425"/>
            <a:ext cx="8596668" cy="722811"/>
          </a:xfrm>
        </p:spPr>
        <p:txBody>
          <a:bodyPr/>
          <a:lstStyle/>
          <a:p>
            <a:r>
              <a:rPr lang="en-US" b="1" dirty="0" smtClean="0">
                <a:solidFill>
                  <a:schemeClr val="tx1"/>
                </a:solidFill>
                <a:latin typeface="Times New Roman" panose="02020603050405020304" pitchFamily="18" charset="0"/>
                <a:cs typeface="Times New Roman" panose="02020603050405020304" pitchFamily="18" charset="0"/>
              </a:rPr>
              <a:t>For loop</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677334" y="848699"/>
            <a:ext cx="8596668" cy="4501468"/>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In this code, the loop initializes </a:t>
            </a:r>
            <a:r>
              <a:rPr lang="en-US" sz="2400" dirty="0" err="1" smtClean="0">
                <a:solidFill>
                  <a:schemeClr val="tx1"/>
                </a:solidFill>
                <a:latin typeface="Times New Roman" panose="02020603050405020304" pitchFamily="18" charset="0"/>
                <a:cs typeface="Times New Roman" panose="02020603050405020304" pitchFamily="18" charset="0"/>
              </a:rPr>
              <a:t>i</a:t>
            </a:r>
            <a:r>
              <a:rPr lang="en-US" sz="2400" dirty="0" smtClean="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to 0 and </a:t>
            </a:r>
            <a:r>
              <a:rPr lang="en-US" sz="2400" dirty="0" smtClean="0">
                <a:solidFill>
                  <a:schemeClr val="tx1"/>
                </a:solidFill>
                <a:latin typeface="Times New Roman" panose="02020603050405020304" pitchFamily="18" charset="0"/>
                <a:cs typeface="Times New Roman" panose="02020603050405020304" pitchFamily="18" charset="0"/>
              </a:rPr>
              <a:t>increments </a:t>
            </a:r>
            <a:r>
              <a:rPr lang="en-US" sz="2400" dirty="0">
                <a:solidFill>
                  <a:schemeClr val="tx1"/>
                </a:solidFill>
                <a:latin typeface="Times New Roman" panose="02020603050405020304" pitchFamily="18" charset="0"/>
                <a:cs typeface="Times New Roman" panose="02020603050405020304" pitchFamily="18" charset="0"/>
              </a:rPr>
              <a:t>its value</a:t>
            </a:r>
            <a:r>
              <a:rPr lang="en-US" sz="2400" dirty="0" smtClean="0">
                <a:solidFill>
                  <a:schemeClr val="tx1"/>
                </a:solidFill>
                <a:latin typeface="Times New Roman" panose="02020603050405020304" pitchFamily="18" charset="0"/>
                <a:cs typeface="Times New Roman" panose="02020603050405020304" pitchFamily="18" charset="0"/>
              </a:rPr>
              <a:t>.</a:t>
            </a:r>
          </a:p>
          <a:p>
            <a:r>
              <a:rPr lang="en-US" sz="2400" dirty="0" smtClean="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Since a semicolon is placed after the </a:t>
            </a:r>
            <a:r>
              <a:rPr lang="en-US" sz="2400" dirty="0" smtClean="0">
                <a:solidFill>
                  <a:schemeClr val="tx1"/>
                </a:solidFill>
                <a:latin typeface="Times New Roman" panose="02020603050405020304" pitchFamily="18" charset="0"/>
                <a:cs typeface="Times New Roman" panose="02020603050405020304" pitchFamily="18" charset="0"/>
              </a:rPr>
              <a:t>loop, It </a:t>
            </a:r>
            <a:r>
              <a:rPr lang="en-US" sz="2400" dirty="0">
                <a:solidFill>
                  <a:schemeClr val="tx1"/>
                </a:solidFill>
                <a:latin typeface="Times New Roman" panose="02020603050405020304" pitchFamily="18" charset="0"/>
                <a:cs typeface="Times New Roman" panose="02020603050405020304" pitchFamily="18" charset="0"/>
              </a:rPr>
              <a:t>m</a:t>
            </a:r>
            <a:r>
              <a:rPr lang="en-US" sz="2400" dirty="0" smtClean="0">
                <a:solidFill>
                  <a:schemeClr val="tx1"/>
                </a:solidFill>
                <a:latin typeface="Times New Roman" panose="02020603050405020304" pitchFamily="18" charset="0"/>
                <a:cs typeface="Times New Roman" panose="02020603050405020304" pitchFamily="18" charset="0"/>
              </a:rPr>
              <a:t>eans </a:t>
            </a:r>
            <a:r>
              <a:rPr lang="en-US" sz="2400" dirty="0">
                <a:solidFill>
                  <a:schemeClr val="tx1"/>
                </a:solidFill>
                <a:latin typeface="Times New Roman" panose="02020603050405020304" pitchFamily="18" charset="0"/>
                <a:cs typeface="Times New Roman" panose="02020603050405020304" pitchFamily="18" charset="0"/>
              </a:rPr>
              <a:t>that loop does not contain any statement. </a:t>
            </a:r>
            <a:endParaRPr lang="en-US" sz="2400" dirty="0" smtClean="0">
              <a:solidFill>
                <a:schemeClr val="tx1"/>
              </a:solidFill>
              <a:latin typeface="Times New Roman" panose="02020603050405020304" pitchFamily="18" charset="0"/>
              <a:cs typeface="Times New Roman" panose="02020603050405020304" pitchFamily="18" charset="0"/>
            </a:endParaRPr>
          </a:p>
          <a:p>
            <a:r>
              <a:rPr lang="en-US" sz="2400" dirty="0" smtClean="0">
                <a:solidFill>
                  <a:schemeClr val="tx1"/>
                </a:solidFill>
                <a:latin typeface="Times New Roman" panose="02020603050405020304" pitchFamily="18" charset="0"/>
                <a:cs typeface="Times New Roman" panose="02020603050405020304" pitchFamily="18" charset="0"/>
              </a:rPr>
              <a:t>So even </a:t>
            </a:r>
            <a:r>
              <a:rPr lang="en-US" sz="2400" dirty="0">
                <a:solidFill>
                  <a:schemeClr val="tx1"/>
                </a:solidFill>
                <a:latin typeface="Times New Roman" panose="02020603050405020304" pitchFamily="18" charset="0"/>
                <a:cs typeface="Times New Roman" panose="02020603050405020304" pitchFamily="18" charset="0"/>
              </a:rPr>
              <a:t>if the condition is true, no statement is executed</a:t>
            </a:r>
            <a:r>
              <a:rPr lang="en-US" sz="2400" dirty="0" smtClean="0">
                <a:solidFill>
                  <a:schemeClr val="tx1"/>
                </a:solidFill>
                <a:latin typeface="Times New Roman" panose="02020603050405020304" pitchFamily="18" charset="0"/>
                <a:cs typeface="Times New Roman" panose="02020603050405020304" pitchFamily="18" charset="0"/>
              </a:rPr>
              <a:t>.</a:t>
            </a:r>
          </a:p>
          <a:p>
            <a:r>
              <a:rPr lang="en-US" sz="2400" dirty="0" smtClean="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The loop continues till </a:t>
            </a:r>
            <a:r>
              <a:rPr lang="en-US" sz="2400" dirty="0" err="1" smtClean="0">
                <a:solidFill>
                  <a:schemeClr val="tx1"/>
                </a:solidFill>
                <a:latin typeface="Times New Roman" panose="02020603050405020304" pitchFamily="18" charset="0"/>
                <a:cs typeface="Times New Roman" panose="02020603050405020304" pitchFamily="18" charset="0"/>
              </a:rPr>
              <a:t>i</a:t>
            </a:r>
            <a:r>
              <a:rPr lang="en-US" sz="2400" dirty="0" smtClean="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becomes 10 and the moment </a:t>
            </a:r>
            <a:r>
              <a:rPr lang="en-US" sz="2400" dirty="0" err="1" smtClean="0">
                <a:solidFill>
                  <a:schemeClr val="tx1"/>
                </a:solidFill>
                <a:latin typeface="Times New Roman" panose="02020603050405020304" pitchFamily="18" charset="0"/>
                <a:cs typeface="Times New Roman" panose="02020603050405020304" pitchFamily="18" charset="0"/>
              </a:rPr>
              <a:t>i</a:t>
            </a:r>
            <a:r>
              <a:rPr lang="en-US" sz="2400" dirty="0" smtClean="0">
                <a:solidFill>
                  <a:schemeClr val="tx1"/>
                </a:solidFill>
                <a:latin typeface="Times New Roman" panose="02020603050405020304" pitchFamily="18" charset="0"/>
                <a:cs typeface="Times New Roman" panose="02020603050405020304" pitchFamily="18" charset="0"/>
              </a:rPr>
              <a:t>=10</a:t>
            </a:r>
            <a:r>
              <a:rPr lang="en-US" sz="2400" dirty="0">
                <a:solidFill>
                  <a:schemeClr val="tx1"/>
                </a:solidFill>
                <a:latin typeface="Times New Roman" panose="02020603050405020304" pitchFamily="18" charset="0"/>
                <a:cs typeface="Times New Roman" panose="02020603050405020304" pitchFamily="18" charset="0"/>
              </a:rPr>
              <a:t>, the statement following the for loop is executed and the value of </a:t>
            </a:r>
            <a:r>
              <a:rPr lang="en-US" sz="2400" dirty="0" err="1" smtClean="0">
                <a:solidFill>
                  <a:schemeClr val="tx1"/>
                </a:solidFill>
                <a:latin typeface="Times New Roman" panose="02020603050405020304" pitchFamily="18" charset="0"/>
                <a:cs typeface="Times New Roman" panose="02020603050405020304" pitchFamily="18" charset="0"/>
              </a:rPr>
              <a:t>i</a:t>
            </a:r>
            <a:r>
              <a:rPr lang="en-US" sz="2400" dirty="0" smtClean="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(10) is printed on the screen</a:t>
            </a:r>
            <a:r>
              <a:rPr lang="en-US" sz="2400" dirty="0" smtClean="0">
                <a:solidFill>
                  <a:schemeClr val="tx1"/>
                </a:solidFill>
                <a:latin typeface="Times New Roman" panose="02020603050405020304" pitchFamily="18" charset="0"/>
                <a:cs typeface="Times New Roman" panose="02020603050405020304" pitchFamily="18" charset="0"/>
              </a:rPr>
              <a:t>.</a:t>
            </a:r>
          </a:p>
          <a:p>
            <a:r>
              <a:rPr lang="en-US" sz="2400" dirty="0" smtClean="0">
                <a:solidFill>
                  <a:schemeClr val="tx1"/>
                </a:solidFill>
                <a:latin typeface="Times New Roman" panose="02020603050405020304" pitchFamily="18" charset="0"/>
                <a:cs typeface="Times New Roman" panose="02020603050405020304" pitchFamily="18" charset="0"/>
              </a:rPr>
              <a:t>If there is no initialization to be done, then initialization </a:t>
            </a:r>
            <a:r>
              <a:rPr lang="en-US" sz="2400" dirty="0" err="1" smtClean="0">
                <a:solidFill>
                  <a:schemeClr val="tx1"/>
                </a:solidFill>
                <a:latin typeface="Times New Roman" panose="02020603050405020304" pitchFamily="18" charset="0"/>
                <a:cs typeface="Times New Roman" panose="02020603050405020304" pitchFamily="18" charset="0"/>
              </a:rPr>
              <a:t>stmnt</a:t>
            </a:r>
            <a:r>
              <a:rPr lang="en-US" sz="2400" dirty="0" smtClean="0">
                <a:solidFill>
                  <a:schemeClr val="tx1"/>
                </a:solidFill>
                <a:latin typeface="Times New Roman" panose="02020603050405020304" pitchFamily="18" charset="0"/>
                <a:cs typeface="Times New Roman" panose="02020603050405020304" pitchFamily="18" charset="0"/>
              </a:rPr>
              <a:t> can be skipped by giving only semicolon </a:t>
            </a:r>
          </a:p>
          <a:p>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546411" y="4813204"/>
            <a:ext cx="2532379" cy="1894773"/>
          </a:xfrm>
          <a:prstGeom prst="rect">
            <a:avLst/>
          </a:prstGeom>
        </p:spPr>
      </p:pic>
      <p:pic>
        <p:nvPicPr>
          <p:cNvPr id="3" name="Picture 2"/>
          <p:cNvPicPr>
            <a:picLocks noChangeAspect="1"/>
          </p:cNvPicPr>
          <p:nvPr/>
        </p:nvPicPr>
        <p:blipFill>
          <a:blip r:embed="rId3"/>
          <a:stretch>
            <a:fillRect/>
          </a:stretch>
        </p:blipFill>
        <p:spPr>
          <a:xfrm>
            <a:off x="5069541" y="4738815"/>
            <a:ext cx="1936377" cy="1985245"/>
          </a:xfrm>
          <a:prstGeom prst="rect">
            <a:avLst/>
          </a:prstGeom>
        </p:spPr>
      </p:pic>
    </p:spTree>
    <p:extLst>
      <p:ext uri="{BB962C8B-B14F-4D97-AF65-F5344CB8AC3E}">
        <p14:creationId xmlns:p14="http://schemas.microsoft.com/office/powerpoint/2010/main" val="1069542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79294"/>
            <a:ext cx="8596668" cy="1017494"/>
          </a:xfrm>
        </p:spPr>
        <p:txBody>
          <a:bodyPr/>
          <a:lstStyle/>
          <a:p>
            <a:r>
              <a:rPr lang="en-US" b="1" dirty="0" smtClean="0">
                <a:solidFill>
                  <a:schemeClr val="tx1"/>
                </a:solidFill>
                <a:latin typeface="Times New Roman" panose="02020603050405020304" pitchFamily="18" charset="0"/>
                <a:cs typeface="Times New Roman" panose="02020603050405020304" pitchFamily="18" charset="0"/>
              </a:rPr>
              <a:t>Nested loops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896566"/>
            <a:ext cx="8596668" cy="4172975"/>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C allows its users to have nested loops, i.e., loops that can be placed inside other loops. </a:t>
            </a:r>
            <a:endParaRPr lang="en-US" sz="2400" dirty="0" smtClean="0">
              <a:solidFill>
                <a:schemeClr val="tx1"/>
              </a:solidFill>
              <a:latin typeface="Times New Roman" panose="02020603050405020304" pitchFamily="18" charset="0"/>
              <a:cs typeface="Times New Roman" panose="02020603050405020304" pitchFamily="18" charset="0"/>
            </a:endParaRPr>
          </a:p>
          <a:p>
            <a:r>
              <a:rPr lang="en-US" sz="2400" dirty="0" smtClean="0">
                <a:solidFill>
                  <a:schemeClr val="tx1"/>
                </a:solidFill>
                <a:latin typeface="Times New Roman" panose="02020603050405020304" pitchFamily="18" charset="0"/>
                <a:cs typeface="Times New Roman" panose="02020603050405020304" pitchFamily="18" charset="0"/>
              </a:rPr>
              <a:t>Although </a:t>
            </a:r>
            <a:r>
              <a:rPr lang="en-US" sz="2400" dirty="0">
                <a:solidFill>
                  <a:schemeClr val="tx1"/>
                </a:solidFill>
                <a:latin typeface="Times New Roman" panose="02020603050405020304" pitchFamily="18" charset="0"/>
                <a:cs typeface="Times New Roman" panose="02020603050405020304" pitchFamily="18" charset="0"/>
              </a:rPr>
              <a:t>this feature will work with any loop such as while, do-while, and for, it is most commonly used with the for loop, because this is easiest to control. </a:t>
            </a:r>
            <a:endParaRPr lang="en-US" sz="2400" dirty="0" smtClean="0">
              <a:solidFill>
                <a:schemeClr val="tx1"/>
              </a:solidFill>
              <a:latin typeface="Times New Roman" panose="02020603050405020304" pitchFamily="18" charset="0"/>
              <a:cs typeface="Times New Roman" panose="02020603050405020304" pitchFamily="18" charset="0"/>
            </a:endParaRPr>
          </a:p>
          <a:p>
            <a:r>
              <a:rPr lang="en-US" sz="2400" dirty="0" smtClean="0">
                <a:solidFill>
                  <a:schemeClr val="tx1"/>
                </a:solidFill>
                <a:latin typeface="Times New Roman" panose="02020603050405020304" pitchFamily="18" charset="0"/>
                <a:cs typeface="Times New Roman" panose="02020603050405020304" pitchFamily="18" charset="0"/>
              </a:rPr>
              <a:t>A </a:t>
            </a:r>
            <a:r>
              <a:rPr lang="en-US" sz="2400" dirty="0">
                <a:solidFill>
                  <a:schemeClr val="tx1"/>
                </a:solidFill>
                <a:latin typeface="Times New Roman" panose="02020603050405020304" pitchFamily="18" charset="0"/>
                <a:cs typeface="Times New Roman" panose="02020603050405020304" pitchFamily="18" charset="0"/>
              </a:rPr>
              <a:t>for loop can be used to control the number of times that a particular set of statements will be executed. Another outer loop could be used to control the number of times that a whole loop is repeated.</a:t>
            </a:r>
          </a:p>
        </p:txBody>
      </p:sp>
      <p:pic>
        <p:nvPicPr>
          <p:cNvPr id="5" name="Picture 4"/>
          <p:cNvPicPr>
            <a:picLocks noChangeAspect="1"/>
          </p:cNvPicPr>
          <p:nvPr/>
        </p:nvPicPr>
        <p:blipFill>
          <a:blip r:embed="rId2"/>
          <a:stretch>
            <a:fillRect/>
          </a:stretch>
        </p:blipFill>
        <p:spPr>
          <a:xfrm>
            <a:off x="2447366" y="4168589"/>
            <a:ext cx="4195482" cy="2554940"/>
          </a:xfrm>
          <a:prstGeom prst="rect">
            <a:avLst/>
          </a:prstGeom>
        </p:spPr>
      </p:pic>
    </p:spTree>
    <p:extLst>
      <p:ext uri="{BB962C8B-B14F-4D97-AF65-F5344CB8AC3E}">
        <p14:creationId xmlns:p14="http://schemas.microsoft.com/office/powerpoint/2010/main" val="28268780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46529"/>
            <a:ext cx="8596668" cy="1320800"/>
          </a:xfrm>
        </p:spPr>
        <p:txBody>
          <a:bodyPr>
            <a:normAutofit/>
          </a:bodyPr>
          <a:lstStyle/>
          <a:p>
            <a:r>
              <a:rPr lang="en-US" sz="4000" b="1" dirty="0" smtClean="0">
                <a:solidFill>
                  <a:schemeClr val="tx1"/>
                </a:solidFill>
                <a:latin typeface="Times New Roman" panose="02020603050405020304" pitchFamily="18" charset="0"/>
                <a:cs typeface="Times New Roman" panose="02020603050405020304" pitchFamily="18" charset="0"/>
              </a:rPr>
              <a:t>Jump statements</a:t>
            </a:r>
            <a:endParaRPr lang="en-US" sz="40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192401"/>
            <a:ext cx="8596668" cy="5038582"/>
          </a:xfrm>
        </p:spPr>
        <p:txBody>
          <a:bodyPr>
            <a:normAutofit lnSpcReduction="10000"/>
          </a:bodyPr>
          <a:lstStyle/>
          <a:p>
            <a:pPr>
              <a:buNone/>
            </a:pPr>
            <a:r>
              <a:rPr lang="en-US" sz="2400" b="1" dirty="0" smtClean="0">
                <a:latin typeface="Times New Roman" pitchFamily="18" charset="0"/>
                <a:cs typeface="Times New Roman" pitchFamily="18" charset="0"/>
              </a:rPr>
              <a:t>1.Break statement</a:t>
            </a:r>
          </a:p>
          <a:p>
            <a:pPr>
              <a:buNone/>
            </a:pPr>
            <a:r>
              <a:rPr lang="en-US" sz="2400" b="1" dirty="0" smtClean="0">
                <a:latin typeface="Times New Roman" pitchFamily="18" charset="0"/>
                <a:cs typeface="Times New Roman" pitchFamily="18" charset="0"/>
              </a:rPr>
              <a:t>2. continue statement</a:t>
            </a:r>
          </a:p>
          <a:p>
            <a:pPr>
              <a:buNone/>
            </a:pPr>
            <a:r>
              <a:rPr lang="en-US" sz="2400" b="1" dirty="0" smtClean="0">
                <a:latin typeface="Times New Roman" pitchFamily="18" charset="0"/>
                <a:cs typeface="Times New Roman" pitchFamily="18" charset="0"/>
              </a:rPr>
              <a:t>3. go to statement</a:t>
            </a:r>
          </a:p>
          <a:p>
            <a:pPr>
              <a:buNone/>
            </a:pPr>
            <a:r>
              <a:rPr lang="en-US" sz="2400" b="1" dirty="0" smtClean="0">
                <a:latin typeface="Times New Roman" pitchFamily="18" charset="0"/>
                <a:cs typeface="Times New Roman" pitchFamily="18" charset="0"/>
              </a:rPr>
              <a:t>1.Break statement</a:t>
            </a:r>
          </a:p>
          <a:p>
            <a:r>
              <a:rPr lang="en-US" sz="2400" dirty="0" smtClean="0">
                <a:latin typeface="Times New Roman" pitchFamily="18" charset="0"/>
                <a:cs typeface="Times New Roman" pitchFamily="18" charset="0"/>
              </a:rPr>
              <a:t>In C, the break statement is used to terminate the execution of the nearest enclosing loop in which it appears. </a:t>
            </a:r>
          </a:p>
          <a:p>
            <a:r>
              <a:rPr lang="en-US" sz="2400" dirty="0" smtClean="0">
                <a:latin typeface="Times New Roman" pitchFamily="18" charset="0"/>
                <a:cs typeface="Times New Roman" pitchFamily="18" charset="0"/>
              </a:rPr>
              <a:t>We have already seen its usage in the switch statement.</a:t>
            </a:r>
          </a:p>
          <a:p>
            <a:r>
              <a:rPr lang="en-US" sz="2400" dirty="0" smtClean="0">
                <a:latin typeface="Times New Roman" pitchFamily="18" charset="0"/>
                <a:cs typeface="Times New Roman" pitchFamily="18" charset="0"/>
              </a:rPr>
              <a:t> The break statement is widely used with for loop, while loop, and do-while loop. </a:t>
            </a:r>
          </a:p>
          <a:p>
            <a:r>
              <a:rPr lang="en-US" sz="2400" dirty="0" smtClean="0">
                <a:latin typeface="Times New Roman" pitchFamily="18" charset="0"/>
                <a:cs typeface="Times New Roman" pitchFamily="18" charset="0"/>
              </a:rPr>
              <a:t>When the compiler encounters a break statement, the control passes to the statement that follows the loop in which the break statement appears</a:t>
            </a:r>
            <a:r>
              <a:rPr lang="en-US" sz="1700" b="1" dirty="0" smtClean="0">
                <a:latin typeface="Times New Roman" pitchFamily="18" charset="0"/>
                <a:cs typeface="Times New Roman" pitchFamily="18" charset="0"/>
              </a:rPr>
              <a:t>. </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39425991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solidFill>
                  <a:schemeClr val="tx1"/>
                </a:solidFill>
                <a:latin typeface="Times New Roman" pitchFamily="18" charset="0"/>
                <a:cs typeface="Times New Roman" pitchFamily="18" charset="0"/>
              </a:rPr>
              <a:t>1.Break statement</a:t>
            </a:r>
            <a:endParaRPr lang="en-US" sz="4000" b="1"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651208" y="1455195"/>
            <a:ext cx="8596668" cy="4997856"/>
          </a:xfrm>
        </p:spPr>
        <p:txBody>
          <a:bodyPr>
            <a:normAutofit/>
          </a:bodyPr>
          <a:lstStyle/>
          <a:p>
            <a:r>
              <a:rPr lang="en-US" sz="2400" dirty="0" smtClean="0">
                <a:latin typeface="Times New Roman" pitchFamily="18" charset="0"/>
                <a:cs typeface="Times New Roman" pitchFamily="18" charset="0"/>
              </a:rPr>
              <a:t>Its syntax is quite simple, just type keyword break followed with a in which it is </a:t>
            </a:r>
            <a:r>
              <a:rPr lang="en-US" sz="2400" dirty="0" err="1" smtClean="0">
                <a:latin typeface="Times New Roman" pitchFamily="18" charset="0"/>
                <a:cs typeface="Times New Roman" pitchFamily="18" charset="0"/>
              </a:rPr>
              <a:t>semicolon.break</a:t>
            </a:r>
            <a:r>
              <a:rPr lang="en-US" sz="2400" dirty="0" smtClean="0">
                <a:latin typeface="Times New Roman" pitchFamily="18" charset="0"/>
                <a:cs typeface="Times New Roman" pitchFamily="18" charset="0"/>
              </a:rPr>
              <a:t>;</a:t>
            </a:r>
          </a:p>
          <a:p>
            <a:r>
              <a:rPr lang="en-US" sz="2400" dirty="0" smtClean="0">
                <a:latin typeface="Times New Roman" pitchFamily="18" charset="0"/>
                <a:cs typeface="Times New Roman" pitchFamily="18" charset="0"/>
              </a:rPr>
              <a:t>In switch statement if the break statement is missing then every case from the matched case label till the end of the switch, including the default, is executed. </a:t>
            </a:r>
          </a:p>
          <a:p>
            <a:r>
              <a:rPr lang="en-US" sz="2400" dirty="0" smtClean="0">
                <a:latin typeface="Times New Roman" pitchFamily="18" charset="0"/>
                <a:cs typeface="Times New Roman" pitchFamily="18" charset="0"/>
              </a:rPr>
              <a:t>This example given below shows the manner in which break statement is used to terminate the statement </a:t>
            </a:r>
          </a:p>
          <a:p>
            <a:r>
              <a:rPr lang="en-US" sz="2400" dirty="0" smtClean="0">
                <a:latin typeface="Times New Roman" pitchFamily="18" charset="0"/>
                <a:cs typeface="Times New Roman" pitchFamily="18" charset="0"/>
              </a:rPr>
              <a:t>Note that the code is meant to print first 10 numbers using a while loop, but it will actually print only numbers from 1 to 4.</a:t>
            </a:r>
          </a:p>
          <a:p>
            <a:r>
              <a:rPr lang="en-US" sz="2400" dirty="0" smtClean="0">
                <a:latin typeface="Times New Roman" pitchFamily="18" charset="0"/>
                <a:cs typeface="Times New Roman" pitchFamily="18" charset="0"/>
              </a:rPr>
              <a:t> As soon as </a:t>
            </a:r>
            <a:r>
              <a:rPr lang="en-US" sz="2400" dirty="0" err="1" smtClean="0">
                <a:latin typeface="Times New Roman" pitchFamily="18" charset="0"/>
                <a:cs typeface="Times New Roman" pitchFamily="18" charset="0"/>
              </a:rPr>
              <a:t>i</a:t>
            </a:r>
            <a:r>
              <a:rPr lang="en-US" sz="2400" dirty="0" smtClean="0">
                <a:latin typeface="Times New Roman" pitchFamily="18" charset="0"/>
                <a:cs typeface="Times New Roman" pitchFamily="18" charset="0"/>
              </a:rPr>
              <a:t> becomes equal to 5, the break statement is executed and the control jumps to the statement following the while loop.</a:t>
            </a:r>
            <a:endParaRPr lang="en-US" sz="2400" dirty="0">
              <a:latin typeface="Times New Roman" pitchFamily="18" charset="0"/>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7518" y="488544"/>
            <a:ext cx="8596668" cy="6016759"/>
          </a:xfrm>
        </p:spPr>
        <p:txBody>
          <a:bodyPr>
            <a:normAutofit/>
          </a:bodyPr>
          <a:lstStyle/>
          <a:p>
            <a:r>
              <a:rPr lang="en-US" sz="2400" dirty="0" smtClean="0">
                <a:latin typeface="Times New Roman" pitchFamily="18" charset="0"/>
                <a:cs typeface="Times New Roman" pitchFamily="18" charset="0"/>
              </a:rPr>
              <a:t>Hence, the break statement is used to exit a loop from any point within its body, bypassing its normal termination expression.</a:t>
            </a:r>
          </a:p>
          <a:p>
            <a:r>
              <a:rPr lang="en-US" sz="2400" dirty="0" smtClean="0">
                <a:latin typeface="Times New Roman" pitchFamily="18" charset="0"/>
                <a:cs typeface="Times New Roman" pitchFamily="18" charset="0"/>
              </a:rPr>
              <a:t> When the break statement is encountered inside a loop, the loop is immediately terminated, and program control is passed to the next statement following the loop. </a:t>
            </a:r>
          </a:p>
          <a:p>
            <a:r>
              <a:rPr lang="en-US" sz="2400" dirty="0" smtClean="0">
                <a:latin typeface="Times New Roman" pitchFamily="18" charset="0"/>
                <a:cs typeface="Times New Roman" pitchFamily="18" charset="0"/>
              </a:rPr>
              <a:t>Figure 10.9 shows the transfer of control when the break statement is encountered</a:t>
            </a:r>
            <a:endParaRPr lang="en-US" sz="2400" dirty="0">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srcRect/>
          <a:stretch>
            <a:fillRect/>
          </a:stretch>
        </p:blipFill>
        <p:spPr bwMode="auto">
          <a:xfrm>
            <a:off x="1240971" y="1358537"/>
            <a:ext cx="6152606" cy="4950823"/>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082" y="230777"/>
            <a:ext cx="8596668" cy="1320800"/>
          </a:xfrm>
        </p:spPr>
        <p:txBody>
          <a:bodyPr/>
          <a:lstStyle/>
          <a:p>
            <a:r>
              <a:rPr lang="en-US" b="1" dirty="0" smtClean="0">
                <a:solidFill>
                  <a:schemeClr val="tx1"/>
                </a:solidFill>
                <a:latin typeface="Times New Roman" pitchFamily="18" charset="0"/>
                <a:cs typeface="Times New Roman" pitchFamily="18" charset="0"/>
              </a:rPr>
              <a:t>Continue statement </a:t>
            </a:r>
            <a:endParaRPr lang="en-US" b="1"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455266" y="893491"/>
            <a:ext cx="8596668" cy="5246051"/>
          </a:xfrm>
        </p:spPr>
        <p:txBody>
          <a:bodyPr>
            <a:noAutofit/>
          </a:bodyPr>
          <a:lstStyle/>
          <a:p>
            <a:r>
              <a:rPr lang="en-US" sz="2400" dirty="0" smtClean="0">
                <a:solidFill>
                  <a:schemeClr val="tx1"/>
                </a:solidFill>
                <a:latin typeface="Times New Roman" pitchFamily="18" charset="0"/>
                <a:cs typeface="Times New Roman" pitchFamily="18" charset="0"/>
              </a:rPr>
              <a:t>Like the break statement, the continue statement is used in the body of a loop. </a:t>
            </a:r>
          </a:p>
          <a:p>
            <a:r>
              <a:rPr lang="en-US" sz="2400" dirty="0" smtClean="0">
                <a:solidFill>
                  <a:schemeClr val="tx1"/>
                </a:solidFill>
                <a:latin typeface="Times New Roman" pitchFamily="18" charset="0"/>
                <a:cs typeface="Times New Roman" pitchFamily="18" charset="0"/>
              </a:rPr>
              <a:t>When the compiler encounters a continue statement the rest of the statements in the loop are skipped and the control is unconditionally transferred to the loop continuation portion of the nearest enclosing loop.</a:t>
            </a:r>
          </a:p>
          <a:p>
            <a:r>
              <a:rPr lang="en-US" sz="2400" dirty="0" smtClean="0">
                <a:solidFill>
                  <a:schemeClr val="tx1"/>
                </a:solidFill>
                <a:latin typeface="Times New Roman" pitchFamily="18" charset="0"/>
                <a:cs typeface="Times New Roman" pitchFamily="18" charset="0"/>
              </a:rPr>
              <a:t>Again like the break Statement, the continue statement cannot be used without  an enclosing  for , while ,or do-while statement.</a:t>
            </a:r>
          </a:p>
          <a:p>
            <a:r>
              <a:rPr lang="en-US" sz="2400" dirty="0" smtClean="0">
                <a:solidFill>
                  <a:schemeClr val="tx1"/>
                </a:solidFill>
                <a:latin typeface="Times New Roman" pitchFamily="18" charset="0"/>
                <a:cs typeface="Times New Roman" pitchFamily="18" charset="0"/>
              </a:rPr>
              <a:t> When the continue statement is encountered in the while and do-while loops, the control is transferred to the code that tests the controlling expression. </a:t>
            </a:r>
          </a:p>
          <a:p>
            <a:r>
              <a:rPr lang="en-US" sz="2400" dirty="0" smtClean="0">
                <a:solidFill>
                  <a:schemeClr val="tx1"/>
                </a:solidFill>
                <a:latin typeface="Times New Roman" pitchFamily="18" charset="0"/>
                <a:cs typeface="Times New Roman" pitchFamily="18" charset="0"/>
              </a:rPr>
              <a:t>However, if placed within a for loop, the continue statement causes a branch to the code that updates the loop variable. For example, look at the following code.</a:t>
            </a:r>
            <a:endParaRPr lang="en-US" sz="2400" dirty="0">
              <a:solidFill>
                <a:schemeClr val="tx1"/>
              </a:solidFill>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2024743" y="391886"/>
            <a:ext cx="5708467" cy="6074228"/>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894" y="269966"/>
            <a:ext cx="8596668" cy="1320800"/>
          </a:xfrm>
        </p:spPr>
        <p:txBody>
          <a:bodyPr>
            <a:normAutofit/>
          </a:bodyPr>
          <a:lstStyle/>
          <a:p>
            <a:r>
              <a:rPr lang="en-US" sz="4000" b="1" dirty="0" err="1" smtClean="0">
                <a:solidFill>
                  <a:schemeClr val="tx1"/>
                </a:solidFill>
                <a:latin typeface="Times New Roman" pitchFamily="18" charset="0"/>
                <a:cs typeface="Times New Roman" pitchFamily="18" charset="0"/>
              </a:rPr>
              <a:t>goto</a:t>
            </a:r>
            <a:r>
              <a:rPr lang="en-US" sz="4000" b="1" dirty="0" smtClean="0">
                <a:solidFill>
                  <a:schemeClr val="tx1"/>
                </a:solidFill>
                <a:latin typeface="Times New Roman" pitchFamily="18" charset="0"/>
                <a:cs typeface="Times New Roman" pitchFamily="18" charset="0"/>
              </a:rPr>
              <a:t> statement</a:t>
            </a:r>
            <a:endParaRPr lang="en-US" sz="4000" b="1"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376888" y="1220063"/>
            <a:ext cx="8596668" cy="5037046"/>
          </a:xfrm>
        </p:spPr>
        <p:txBody>
          <a:bodyPr>
            <a:noAutofit/>
          </a:bodyPr>
          <a:lstStyle/>
          <a:p>
            <a:r>
              <a:rPr lang="en-US" sz="2400" dirty="0" smtClean="0">
                <a:solidFill>
                  <a:schemeClr val="tx1"/>
                </a:solidFill>
                <a:latin typeface="Times New Roman" pitchFamily="18" charset="0"/>
                <a:cs typeface="Times New Roman" pitchFamily="18" charset="0"/>
              </a:rPr>
              <a:t>The </a:t>
            </a:r>
            <a:r>
              <a:rPr lang="en-US" sz="2400" dirty="0" err="1" smtClean="0">
                <a:solidFill>
                  <a:schemeClr val="tx1"/>
                </a:solidFill>
                <a:latin typeface="Times New Roman" pitchFamily="18" charset="0"/>
                <a:cs typeface="Times New Roman" pitchFamily="18" charset="0"/>
              </a:rPr>
              <a:t>goto</a:t>
            </a:r>
            <a:r>
              <a:rPr lang="en-US" sz="2400" dirty="0" smtClean="0">
                <a:solidFill>
                  <a:schemeClr val="tx1"/>
                </a:solidFill>
                <a:latin typeface="Times New Roman" pitchFamily="18" charset="0"/>
                <a:cs typeface="Times New Roman" pitchFamily="18" charset="0"/>
              </a:rPr>
              <a:t> statement is used to transfer control to a specified label. </a:t>
            </a:r>
          </a:p>
          <a:p>
            <a:r>
              <a:rPr lang="en-US" sz="2400" dirty="0" smtClean="0">
                <a:solidFill>
                  <a:schemeClr val="tx1"/>
                </a:solidFill>
                <a:latin typeface="Times New Roman" pitchFamily="18" charset="0"/>
                <a:cs typeface="Times New Roman" pitchFamily="18" charset="0"/>
              </a:rPr>
              <a:t>However, the label must reside in the same function and can appear only before one statement in the same function. </a:t>
            </a:r>
          </a:p>
          <a:p>
            <a:r>
              <a:rPr lang="en-US" sz="2400" dirty="0" smtClean="0">
                <a:solidFill>
                  <a:schemeClr val="tx1"/>
                </a:solidFill>
                <a:latin typeface="Times New Roman" pitchFamily="18" charset="0"/>
                <a:cs typeface="Times New Roman" pitchFamily="18" charset="0"/>
              </a:rPr>
              <a:t>The syntax of </a:t>
            </a:r>
            <a:r>
              <a:rPr lang="en-US" sz="2400" dirty="0" err="1" smtClean="0">
                <a:solidFill>
                  <a:schemeClr val="tx1"/>
                </a:solidFill>
                <a:latin typeface="Times New Roman" pitchFamily="18" charset="0"/>
                <a:cs typeface="Times New Roman" pitchFamily="18" charset="0"/>
              </a:rPr>
              <a:t>goto</a:t>
            </a:r>
            <a:r>
              <a:rPr lang="en-US" sz="2400" dirty="0" smtClean="0">
                <a:solidFill>
                  <a:schemeClr val="tx1"/>
                </a:solidFill>
                <a:latin typeface="Times New Roman" pitchFamily="18" charset="0"/>
                <a:cs typeface="Times New Roman" pitchFamily="18" charset="0"/>
              </a:rPr>
              <a:t> statement is shown in Figure 10.11.</a:t>
            </a:r>
          </a:p>
          <a:p>
            <a:r>
              <a:rPr lang="en-US" sz="2400" dirty="0" smtClean="0">
                <a:solidFill>
                  <a:schemeClr val="tx1"/>
                </a:solidFill>
                <a:latin typeface="Times New Roman" pitchFamily="18" charset="0"/>
                <a:cs typeface="Times New Roman" pitchFamily="18" charset="0"/>
              </a:rPr>
              <a:t>Here, label is an identifier that specifies the place where the branch is to be made.</a:t>
            </a:r>
          </a:p>
          <a:p>
            <a:r>
              <a:rPr lang="en-US" sz="2400" dirty="0" smtClean="0">
                <a:solidFill>
                  <a:schemeClr val="tx1"/>
                </a:solidFill>
                <a:latin typeface="Times New Roman" pitchFamily="18" charset="0"/>
                <a:cs typeface="Times New Roman" pitchFamily="18" charset="0"/>
              </a:rPr>
              <a:t> Label can be any valid variable name that is followed by a colon (:). </a:t>
            </a:r>
          </a:p>
          <a:p>
            <a:r>
              <a:rPr lang="en-US" sz="2400" dirty="0" smtClean="0">
                <a:solidFill>
                  <a:schemeClr val="tx1"/>
                </a:solidFill>
                <a:latin typeface="Times New Roman" pitchFamily="18" charset="0"/>
                <a:cs typeface="Times New Roman" pitchFamily="18" charset="0"/>
              </a:rPr>
              <a:t>The label is placed immediately before the statement where the control has to be transferred.</a:t>
            </a:r>
          </a:p>
          <a:p>
            <a:r>
              <a:rPr lang="en-US" sz="2400" dirty="0" smtClean="0">
                <a:solidFill>
                  <a:schemeClr val="tx1"/>
                </a:solidFill>
                <a:latin typeface="Times New Roman" pitchFamily="18" charset="0"/>
                <a:cs typeface="Times New Roman" pitchFamily="18" charset="0"/>
              </a:rPr>
              <a:t>The label can be placed anywhere in the program either before or after the </a:t>
            </a:r>
            <a:r>
              <a:rPr lang="en-US" sz="2400" dirty="0" err="1" smtClean="0">
                <a:solidFill>
                  <a:schemeClr val="tx1"/>
                </a:solidFill>
                <a:latin typeface="Times New Roman" pitchFamily="18" charset="0"/>
                <a:cs typeface="Times New Roman" pitchFamily="18" charset="0"/>
              </a:rPr>
              <a:t>goto</a:t>
            </a:r>
            <a:r>
              <a:rPr lang="en-US" sz="2400" dirty="0" smtClean="0">
                <a:solidFill>
                  <a:schemeClr val="tx1"/>
                </a:solidFill>
                <a:latin typeface="Times New Roman" pitchFamily="18" charset="0"/>
                <a:cs typeface="Times New Roman" pitchFamily="18" charset="0"/>
              </a:rPr>
              <a:t> statement.</a:t>
            </a:r>
            <a:endParaRPr lang="en-US" sz="2400" dirty="0">
              <a:solidFill>
                <a:schemeClr val="tx1"/>
              </a:solidFill>
              <a:latin typeface="Times New Roman" pitchFamily="18" charset="0"/>
              <a:cs typeface="Times New Roman"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00447"/>
            <a:ext cx="8596668" cy="5740916"/>
          </a:xfrm>
        </p:spPr>
        <p:txBody>
          <a:bodyPr>
            <a:normAutofit/>
          </a:bodyPr>
          <a:lstStyle/>
          <a:p>
            <a:r>
              <a:rPr lang="en-US" sz="2400" dirty="0" smtClean="0">
                <a:solidFill>
                  <a:schemeClr val="tx1"/>
                </a:solidFill>
                <a:latin typeface="Times New Roman" pitchFamily="18" charset="0"/>
                <a:cs typeface="Times New Roman" pitchFamily="18" charset="0"/>
              </a:rPr>
              <a:t>If the label is placed after the </a:t>
            </a:r>
            <a:r>
              <a:rPr lang="en-US" sz="2400" dirty="0" err="1" smtClean="0">
                <a:solidFill>
                  <a:schemeClr val="tx1"/>
                </a:solidFill>
                <a:latin typeface="Times New Roman" pitchFamily="18" charset="0"/>
                <a:cs typeface="Times New Roman" pitchFamily="18" charset="0"/>
              </a:rPr>
              <a:t>goto</a:t>
            </a:r>
            <a:r>
              <a:rPr lang="en-US" sz="2400" dirty="0" smtClean="0">
                <a:solidFill>
                  <a:schemeClr val="tx1"/>
                </a:solidFill>
                <a:latin typeface="Times New Roman" pitchFamily="18" charset="0"/>
                <a:cs typeface="Times New Roman" pitchFamily="18" charset="0"/>
              </a:rPr>
              <a:t> statement, then it is called a forward jump and in case it is located before the </a:t>
            </a:r>
            <a:r>
              <a:rPr lang="en-US" sz="2400" dirty="0" err="1" smtClean="0">
                <a:solidFill>
                  <a:schemeClr val="tx1"/>
                </a:solidFill>
                <a:latin typeface="Times New Roman" pitchFamily="18" charset="0"/>
                <a:cs typeface="Times New Roman" pitchFamily="18" charset="0"/>
              </a:rPr>
              <a:t>goto</a:t>
            </a:r>
            <a:r>
              <a:rPr lang="en-US" sz="2400" dirty="0" smtClean="0">
                <a:solidFill>
                  <a:schemeClr val="tx1"/>
                </a:solidFill>
                <a:latin typeface="Times New Roman" pitchFamily="18" charset="0"/>
                <a:cs typeface="Times New Roman" pitchFamily="18" charset="0"/>
              </a:rPr>
              <a:t> statement, it is said to be a backward jump.</a:t>
            </a:r>
          </a:p>
          <a:p>
            <a:r>
              <a:rPr lang="en-US" sz="2400" b="1" dirty="0" smtClean="0">
                <a:solidFill>
                  <a:schemeClr val="tx1"/>
                </a:solidFill>
                <a:latin typeface="Times New Roman" pitchFamily="18" charset="0"/>
                <a:cs typeface="Times New Roman" pitchFamily="18" charset="0"/>
              </a:rPr>
              <a:t>IF condition  THEN </a:t>
            </a:r>
            <a:r>
              <a:rPr lang="en-US" sz="2400" b="1" dirty="0" err="1" smtClean="0">
                <a:solidFill>
                  <a:schemeClr val="tx1"/>
                </a:solidFill>
                <a:latin typeface="Times New Roman" pitchFamily="18" charset="0"/>
                <a:cs typeface="Times New Roman" pitchFamily="18" charset="0"/>
              </a:rPr>
              <a:t>goto</a:t>
            </a:r>
            <a:r>
              <a:rPr lang="en-US" sz="2400" b="1" dirty="0" smtClean="0">
                <a:solidFill>
                  <a:schemeClr val="tx1"/>
                </a:solidFill>
                <a:latin typeface="Times New Roman" pitchFamily="18" charset="0"/>
                <a:cs typeface="Times New Roman" pitchFamily="18" charset="0"/>
              </a:rPr>
              <a:t> label </a:t>
            </a:r>
          </a:p>
          <a:p>
            <a:endParaRPr lang="en-US" sz="2400" dirty="0">
              <a:solidFill>
                <a:schemeClr val="tx1"/>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2599510" y="2152823"/>
            <a:ext cx="3997233" cy="4143474"/>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470</TotalTime>
  <Words>3152</Words>
  <Application>Microsoft Office PowerPoint</Application>
  <PresentationFormat>Widescreen</PresentationFormat>
  <Paragraphs>285</Paragraphs>
  <Slides>47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Times New Roman</vt:lpstr>
      <vt:lpstr>Trebuchet MS</vt:lpstr>
      <vt:lpstr>Wingdings</vt:lpstr>
      <vt:lpstr>Wingdings 3</vt:lpstr>
      <vt:lpstr>Facet</vt:lpstr>
      <vt:lpstr>Module 2</vt:lpstr>
      <vt:lpstr>contents</vt:lpstr>
      <vt:lpstr>Operators in C</vt:lpstr>
      <vt:lpstr>Arithmetic operators</vt:lpstr>
      <vt:lpstr>Relational operators(Comparison operators)</vt:lpstr>
      <vt:lpstr>Equality operators</vt:lpstr>
      <vt:lpstr>Logical operators</vt:lpstr>
      <vt:lpstr>Logical operators</vt:lpstr>
      <vt:lpstr>Unary operators</vt:lpstr>
      <vt:lpstr>Conditional operators</vt:lpstr>
      <vt:lpstr>Bitwise operators</vt:lpstr>
      <vt:lpstr>Bitwise operators</vt:lpstr>
      <vt:lpstr>Assignment operators</vt:lpstr>
      <vt:lpstr> Type conversion and typecasting. </vt:lpstr>
      <vt:lpstr>Type conversion and typecasting. </vt:lpstr>
      <vt:lpstr>Type conversion and typecasting. </vt:lpstr>
      <vt:lpstr>Type conversion and typecasting. </vt:lpstr>
      <vt:lpstr> Decision control and Looping statements: </vt:lpstr>
      <vt:lpstr>PowerPoint Presentation</vt:lpstr>
      <vt:lpstr>Conditional branching statements</vt:lpstr>
      <vt:lpstr>1. if statement</vt:lpstr>
      <vt:lpstr>PowerPoint Presentation</vt:lpstr>
      <vt:lpstr>2. if-else statement</vt:lpstr>
      <vt:lpstr>3.if-else-if statement</vt:lpstr>
      <vt:lpstr>Rules for using if, if-else, and if-else-if statement</vt:lpstr>
      <vt:lpstr>Dangling Else Problem</vt:lpstr>
      <vt:lpstr>Comparing Floating Point Numbers</vt:lpstr>
      <vt:lpstr>4. switch statement</vt:lpstr>
      <vt:lpstr>PowerPoint Presentation</vt:lpstr>
      <vt:lpstr>Iterative statement</vt:lpstr>
      <vt:lpstr>while loop</vt:lpstr>
      <vt:lpstr>while loop</vt:lpstr>
      <vt:lpstr>Do-while loop</vt:lpstr>
      <vt:lpstr>Do-while loop </vt:lpstr>
      <vt:lpstr>Do-while loop</vt:lpstr>
      <vt:lpstr>For loop</vt:lpstr>
      <vt:lpstr>For loop</vt:lpstr>
      <vt:lpstr>For loop</vt:lpstr>
      <vt:lpstr>Nested loops</vt:lpstr>
      <vt:lpstr>Jump statements</vt:lpstr>
      <vt:lpstr>1.Break statement</vt:lpstr>
      <vt:lpstr>PowerPoint Presentation</vt:lpstr>
      <vt:lpstr>PowerPoint Presentation</vt:lpstr>
      <vt:lpstr>Continue statement </vt:lpstr>
      <vt:lpstr>PowerPoint Presentation</vt:lpstr>
      <vt:lpstr>goto statement</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dc:title>
  <dc:creator>Windows User</dc:creator>
  <cp:lastModifiedBy>student</cp:lastModifiedBy>
  <cp:revision>57</cp:revision>
  <dcterms:created xsi:type="dcterms:W3CDTF">2023-10-18T13:52:49Z</dcterms:created>
  <dcterms:modified xsi:type="dcterms:W3CDTF">2023-10-20T03:29:32Z</dcterms:modified>
</cp:coreProperties>
</file>