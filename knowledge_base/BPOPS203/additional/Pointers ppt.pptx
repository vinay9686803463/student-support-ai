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1" r:id="rId4"/>
    <p:sldId id="262" r:id="rId5"/>
    <p:sldId id="263" r:id="rId6"/>
    <p:sldId id="264" r:id="rId7"/>
    <p:sldId id="265" r:id="rId8"/>
    <p:sldId id="266" r:id="rId9"/>
    <p:sldId id="267"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68" r:id="rId26"/>
    <p:sldId id="284" r:id="rId27"/>
    <p:sldId id="285" r:id="rId28"/>
    <p:sldId id="286" r:id="rId29"/>
    <p:sldId id="287" r:id="rId30"/>
    <p:sldId id="288" r:id="rId31"/>
    <p:sldId id="293" r:id="rId32"/>
    <p:sldId id="289" r:id="rId33"/>
    <p:sldId id="290" r:id="rId34"/>
    <p:sldId id="291" r:id="rId35"/>
    <p:sldId id="29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5" d="100"/>
          <a:sy n="75" d="100"/>
        </p:scale>
        <p:origin x="974" y="32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9BAA03E-58CF-4B27-950A-A9CDC4E7E1CE}" type="datetimeFigureOut">
              <a:rPr lang="en-IN" smtClean="0"/>
              <a:pPr/>
              <a:t>09-03-2023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32ADAF-1956-44D8-BA9A-2CEC8C2063E8}" type="slidenum">
              <a:rPr lang="en-IN" smtClean="0"/>
              <a:pPr/>
              <a:t>‹#›</a:t>
            </a:fld>
            <a:endParaRPr lang="en-IN"/>
          </a:p>
        </p:txBody>
      </p:sp>
    </p:spTree>
    <p:extLst>
      <p:ext uri="{BB962C8B-B14F-4D97-AF65-F5344CB8AC3E}">
        <p14:creationId xmlns:p14="http://schemas.microsoft.com/office/powerpoint/2010/main" val="2192160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9BAA03E-58CF-4B27-950A-A9CDC4E7E1CE}" type="datetimeFigureOut">
              <a:rPr lang="en-IN" smtClean="0"/>
              <a:pPr/>
              <a:t>09-03-2023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32ADAF-1956-44D8-BA9A-2CEC8C2063E8}" type="slidenum">
              <a:rPr lang="en-IN" smtClean="0"/>
              <a:pPr/>
              <a:t>‹#›</a:t>
            </a:fld>
            <a:endParaRPr lang="en-IN"/>
          </a:p>
        </p:txBody>
      </p:sp>
    </p:spTree>
    <p:extLst>
      <p:ext uri="{BB962C8B-B14F-4D97-AF65-F5344CB8AC3E}">
        <p14:creationId xmlns:p14="http://schemas.microsoft.com/office/powerpoint/2010/main" val="801680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9BAA03E-58CF-4B27-950A-A9CDC4E7E1CE}" type="datetimeFigureOut">
              <a:rPr lang="en-IN" smtClean="0"/>
              <a:pPr/>
              <a:t>09-03-2023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32ADAF-1956-44D8-BA9A-2CEC8C2063E8}" type="slidenum">
              <a:rPr lang="en-IN" smtClean="0"/>
              <a:pPr/>
              <a:t>‹#›</a:t>
            </a:fld>
            <a:endParaRPr lang="en-IN"/>
          </a:p>
        </p:txBody>
      </p:sp>
    </p:spTree>
    <p:extLst>
      <p:ext uri="{BB962C8B-B14F-4D97-AF65-F5344CB8AC3E}">
        <p14:creationId xmlns:p14="http://schemas.microsoft.com/office/powerpoint/2010/main" val="1404560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9BAA03E-58CF-4B27-950A-A9CDC4E7E1CE}" type="datetimeFigureOut">
              <a:rPr lang="en-IN" smtClean="0"/>
              <a:pPr/>
              <a:t>09-03-2023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32ADAF-1956-44D8-BA9A-2CEC8C2063E8}" type="slidenum">
              <a:rPr lang="en-IN" smtClean="0"/>
              <a:pPr/>
              <a:t>‹#›</a:t>
            </a:fld>
            <a:endParaRPr lang="en-IN"/>
          </a:p>
        </p:txBody>
      </p:sp>
    </p:spTree>
    <p:extLst>
      <p:ext uri="{BB962C8B-B14F-4D97-AF65-F5344CB8AC3E}">
        <p14:creationId xmlns:p14="http://schemas.microsoft.com/office/powerpoint/2010/main" val="2500788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9BAA03E-58CF-4B27-950A-A9CDC4E7E1CE}" type="datetimeFigureOut">
              <a:rPr lang="en-IN" smtClean="0"/>
              <a:pPr/>
              <a:t>09-03-2023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332ADAF-1956-44D8-BA9A-2CEC8C2063E8}" type="slidenum">
              <a:rPr lang="en-IN" smtClean="0"/>
              <a:pPr/>
              <a:t>‹#›</a:t>
            </a:fld>
            <a:endParaRPr lang="en-IN"/>
          </a:p>
        </p:txBody>
      </p:sp>
    </p:spTree>
    <p:extLst>
      <p:ext uri="{BB962C8B-B14F-4D97-AF65-F5344CB8AC3E}">
        <p14:creationId xmlns:p14="http://schemas.microsoft.com/office/powerpoint/2010/main" val="1191391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9BAA03E-58CF-4B27-950A-A9CDC4E7E1CE}" type="datetimeFigureOut">
              <a:rPr lang="en-IN" smtClean="0"/>
              <a:pPr/>
              <a:t>09-03-2023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332ADAF-1956-44D8-BA9A-2CEC8C2063E8}" type="slidenum">
              <a:rPr lang="en-IN" smtClean="0"/>
              <a:pPr/>
              <a:t>‹#›</a:t>
            </a:fld>
            <a:endParaRPr lang="en-IN"/>
          </a:p>
        </p:txBody>
      </p:sp>
    </p:spTree>
    <p:extLst>
      <p:ext uri="{BB962C8B-B14F-4D97-AF65-F5344CB8AC3E}">
        <p14:creationId xmlns:p14="http://schemas.microsoft.com/office/powerpoint/2010/main" val="1792632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BAA03E-58CF-4B27-950A-A9CDC4E7E1CE}" type="datetimeFigureOut">
              <a:rPr lang="en-IN" smtClean="0"/>
              <a:pPr/>
              <a:t>09-03-2023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332ADAF-1956-44D8-BA9A-2CEC8C2063E8}" type="slidenum">
              <a:rPr lang="en-IN" smtClean="0"/>
              <a:pPr/>
              <a:t>‹#›</a:t>
            </a:fld>
            <a:endParaRPr lang="en-IN"/>
          </a:p>
        </p:txBody>
      </p:sp>
    </p:spTree>
    <p:extLst>
      <p:ext uri="{BB962C8B-B14F-4D97-AF65-F5344CB8AC3E}">
        <p14:creationId xmlns:p14="http://schemas.microsoft.com/office/powerpoint/2010/main" val="2428914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AA03E-58CF-4B27-950A-A9CDC4E7E1CE}" type="datetimeFigureOut">
              <a:rPr lang="en-IN" smtClean="0"/>
              <a:pPr/>
              <a:t>09-03-2023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32ADAF-1956-44D8-BA9A-2CEC8C2063E8}" type="slidenum">
              <a:rPr lang="en-IN" smtClean="0"/>
              <a:pPr/>
              <a:t>‹#›</a:t>
            </a:fld>
            <a:endParaRPr lang="en-IN"/>
          </a:p>
        </p:txBody>
      </p:sp>
    </p:spTree>
    <p:extLst>
      <p:ext uri="{BB962C8B-B14F-4D97-AF65-F5344CB8AC3E}">
        <p14:creationId xmlns:p14="http://schemas.microsoft.com/office/powerpoint/2010/main" val="3362316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AA03E-58CF-4B27-950A-A9CDC4E7E1CE}" type="datetimeFigureOut">
              <a:rPr lang="en-IN" smtClean="0"/>
              <a:pPr/>
              <a:t>09-03-2023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32ADAF-1956-44D8-BA9A-2CEC8C2063E8}" type="slidenum">
              <a:rPr lang="en-IN" smtClean="0"/>
              <a:pPr/>
              <a:t>‹#›</a:t>
            </a:fld>
            <a:endParaRPr lang="en-IN"/>
          </a:p>
        </p:txBody>
      </p:sp>
    </p:spTree>
    <p:extLst>
      <p:ext uri="{BB962C8B-B14F-4D97-AF65-F5344CB8AC3E}">
        <p14:creationId xmlns:p14="http://schemas.microsoft.com/office/powerpoint/2010/main" val="435910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9BAA03E-58CF-4B27-950A-A9CDC4E7E1CE}" type="datetimeFigureOut">
              <a:rPr lang="en-IN" smtClean="0"/>
              <a:pPr/>
              <a:t>09-03-2023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32ADAF-1956-44D8-BA9A-2CEC8C2063E8}" type="slidenum">
              <a:rPr lang="en-IN" smtClean="0"/>
              <a:pPr/>
              <a:t>‹#›</a:t>
            </a:fld>
            <a:endParaRPr lang="en-IN"/>
          </a:p>
        </p:txBody>
      </p:sp>
    </p:spTree>
    <p:extLst>
      <p:ext uri="{BB962C8B-B14F-4D97-AF65-F5344CB8AC3E}">
        <p14:creationId xmlns:p14="http://schemas.microsoft.com/office/powerpoint/2010/main" val="3036669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9BAA03E-58CF-4B27-950A-A9CDC4E7E1CE}" type="datetimeFigureOut">
              <a:rPr lang="en-IN" smtClean="0"/>
              <a:pPr/>
              <a:t>09-03-2023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32ADAF-1956-44D8-BA9A-2CEC8C2063E8}" type="slidenum">
              <a:rPr lang="en-IN" smtClean="0"/>
              <a:pPr/>
              <a:t>‹#›</a:t>
            </a:fld>
            <a:endParaRPr lang="en-IN"/>
          </a:p>
        </p:txBody>
      </p:sp>
    </p:spTree>
    <p:extLst>
      <p:ext uri="{BB962C8B-B14F-4D97-AF65-F5344CB8AC3E}">
        <p14:creationId xmlns:p14="http://schemas.microsoft.com/office/powerpoint/2010/main" val="744348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BAA03E-58CF-4B27-950A-A9CDC4E7E1CE}" type="datetimeFigureOut">
              <a:rPr lang="en-IN" smtClean="0"/>
              <a:pPr/>
              <a:t>09-03-2023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32ADAF-1956-44D8-BA9A-2CEC8C2063E8}" type="slidenum">
              <a:rPr lang="en-IN" smtClean="0"/>
              <a:pPr/>
              <a:t>‹#›</a:t>
            </a:fld>
            <a:endParaRPr lang="en-IN"/>
          </a:p>
        </p:txBody>
      </p:sp>
    </p:spTree>
    <p:extLst>
      <p:ext uri="{BB962C8B-B14F-4D97-AF65-F5344CB8AC3E}">
        <p14:creationId xmlns:p14="http://schemas.microsoft.com/office/powerpoint/2010/main" val="31850362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15165" y="2626497"/>
            <a:ext cx="4903908" cy="1200329"/>
          </a:xfrm>
          <a:prstGeom prst="rect">
            <a:avLst/>
          </a:prstGeom>
        </p:spPr>
        <p:txBody>
          <a:bodyPr wrap="none">
            <a:spAutoFit/>
          </a:bodyPr>
          <a:lstStyle/>
          <a:p>
            <a:pPr algn="ctr"/>
            <a:r>
              <a:rPr lang="en-IN" sz="7200" b="1" dirty="0">
                <a:latin typeface="Times New Roman" panose="02020603050405020304" pitchFamily="18" charset="0"/>
                <a:cs typeface="Times New Roman" panose="02020603050405020304" pitchFamily="18" charset="0"/>
              </a:rPr>
              <a:t>POINTERS</a:t>
            </a:r>
          </a:p>
        </p:txBody>
      </p:sp>
      <p:sp>
        <p:nvSpPr>
          <p:cNvPr id="3" name="Rectangle 2"/>
          <p:cNvSpPr/>
          <p:nvPr/>
        </p:nvSpPr>
        <p:spPr>
          <a:xfrm>
            <a:off x="914400" y="4394308"/>
            <a:ext cx="11277599" cy="461665"/>
          </a:xfrm>
          <a:prstGeom prst="rect">
            <a:avLst/>
          </a:prstGeom>
          <a:effectLst>
            <a:glow rad="139700">
              <a:schemeClr val="accent4">
                <a:satMod val="175000"/>
                <a:alpha val="40000"/>
              </a:schemeClr>
            </a:glow>
          </a:effectLst>
          <a:scene3d>
            <a:camera prst="perspectiveFront"/>
            <a:lightRig rig="threePt" dir="t"/>
          </a:scene3d>
        </p:spPr>
        <p:txBody>
          <a:bodyPr wrap="square">
            <a:spAutoFit/>
          </a:bodyPr>
          <a:lstStyle/>
          <a:p>
            <a:pPr algn="ctr"/>
            <a:r>
              <a:rPr lang="en-IN" sz="2400" dirty="0">
                <a:latin typeface="Times New Roman" pitchFamily="18" charset="0"/>
                <a:cs typeface="Times New Roman" pitchFamily="18" charset="0"/>
              </a:rPr>
              <a:t>A pointer is a variable that is used to stores the memory address of another variable</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943867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528163"/>
          </a:xfrm>
          <a:prstGeom prst="rect">
            <a:avLst/>
          </a:prstGeom>
        </p:spPr>
        <p:txBody>
          <a:bodyPr wrap="square">
            <a:spAutoFit/>
          </a:bodyPr>
          <a:lstStyle/>
          <a:p>
            <a:pPr>
              <a:lnSpc>
                <a:spcPct val="150000"/>
              </a:lnSpc>
            </a:pPr>
            <a:r>
              <a:rPr lang="en-US" sz="3600" b="1" dirty="0">
                <a:latin typeface="Times New Roman" panose="02020603050405020304" pitchFamily="18" charset="0"/>
                <a:cs typeface="Times New Roman" panose="02020603050405020304" pitchFamily="18" charset="0"/>
              </a:rPr>
              <a:t>INTRODUCTION</a:t>
            </a:r>
          </a:p>
          <a:p>
            <a:pPr marL="45720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 pointer is a derived data type in C. </a:t>
            </a:r>
          </a:p>
          <a:p>
            <a:pPr marL="45720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Pointers contain memory addresses as their values. </a:t>
            </a:r>
          </a:p>
          <a:p>
            <a:pPr marL="45720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Since these memory addresses are the locations in the computer memory where program instructions and data are stored, pointers can be used to access and manipulate data stored in the memory.</a:t>
            </a:r>
          </a:p>
        </p:txBody>
      </p:sp>
    </p:spTree>
    <p:extLst>
      <p:ext uri="{BB962C8B-B14F-4D97-AF65-F5344CB8AC3E}">
        <p14:creationId xmlns:p14="http://schemas.microsoft.com/office/powerpoint/2010/main" val="3082574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982728" cy="584775"/>
          </a:xfrm>
          <a:prstGeom prst="rect">
            <a:avLst/>
          </a:prstGeom>
        </p:spPr>
        <p:txBody>
          <a:bodyPr wrap="none">
            <a:spAutoFit/>
          </a:bodyPr>
          <a:lstStyle/>
          <a:p>
            <a:r>
              <a:rPr lang="en-IN" sz="3200" b="1" dirty="0">
                <a:latin typeface="Times New Roman" panose="02020603050405020304" pitchFamily="18" charset="0"/>
                <a:cs typeface="Times New Roman" panose="02020603050405020304" pitchFamily="18" charset="0"/>
              </a:rPr>
              <a:t>UNDERSTANDING POINTERS</a:t>
            </a:r>
          </a:p>
        </p:txBody>
      </p:sp>
      <p:sp>
        <p:nvSpPr>
          <p:cNvPr id="3" name="Rectangle 2"/>
          <p:cNvSpPr/>
          <p:nvPr/>
        </p:nvSpPr>
        <p:spPr>
          <a:xfrm>
            <a:off x="0" y="584775"/>
            <a:ext cx="12192000" cy="5174493"/>
          </a:xfrm>
          <a:prstGeom prst="rect">
            <a:avLst/>
          </a:prstGeom>
        </p:spPr>
        <p:txBody>
          <a:bodyPr wrap="square">
            <a:spAutoFit/>
          </a:bodyPr>
          <a:lstStyle/>
          <a:p>
            <a:pPr algn="just">
              <a:lnSpc>
                <a:spcPct val="150000"/>
              </a:lnSpc>
            </a:pPr>
            <a:r>
              <a:rPr lang="en-US" sz="3200" dirty="0">
                <a:latin typeface="Times New Roman" panose="02020603050405020304" pitchFamily="18" charset="0"/>
                <a:cs typeface="Times New Roman" panose="02020603050405020304" pitchFamily="18" charset="0"/>
              </a:rPr>
              <a:t>The computer’s memory is a sequential collection of storage cells. Each cell, commonly known as a byte, has a number called address associated with it. </a:t>
            </a:r>
          </a:p>
          <a:p>
            <a:pPr algn="just">
              <a:lnSpc>
                <a:spcPct val="150000"/>
              </a:lnSpc>
            </a:pPr>
            <a:r>
              <a:rPr lang="en-US" sz="3200" dirty="0">
                <a:latin typeface="Times New Roman" panose="02020603050405020304" pitchFamily="18" charset="0"/>
                <a:cs typeface="Times New Roman" panose="02020603050405020304" pitchFamily="18" charset="0"/>
              </a:rPr>
              <a:t>Typically, the addresses are numbered consecutively, starting from zero. The last address depends on the memory size. </a:t>
            </a:r>
          </a:p>
          <a:p>
            <a:pPr algn="just">
              <a:lnSpc>
                <a:spcPct val="150000"/>
              </a:lnSpc>
            </a:pPr>
            <a:r>
              <a:rPr lang="en-US" sz="3200" dirty="0">
                <a:latin typeface="Times New Roman" panose="02020603050405020304" pitchFamily="18" charset="0"/>
                <a:cs typeface="Times New Roman" panose="02020603050405020304" pitchFamily="18" charset="0"/>
              </a:rPr>
              <a:t>A computer system having 64 K memory will have its last address as 65,535.</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1086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66768" y="0"/>
            <a:ext cx="6450226" cy="6858000"/>
          </a:xfrm>
          <a:prstGeom prst="rect">
            <a:avLst/>
          </a:prstGeom>
        </p:spPr>
      </p:pic>
    </p:spTree>
    <p:extLst>
      <p:ext uri="{BB962C8B-B14F-4D97-AF65-F5344CB8AC3E}">
        <p14:creationId xmlns:p14="http://schemas.microsoft.com/office/powerpoint/2010/main" val="2556440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616648"/>
          </a:xfrm>
          <a:prstGeom prst="rect">
            <a:avLst/>
          </a:prstGeom>
        </p:spPr>
        <p:txBody>
          <a:bodyPr wrap="squar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Whenever we declare a variable, the system allocates, somewhere in the memory, an appropriate location to hold the value of the variable. Since, every byte has a unique address number, this location will have its own address number. Consider the following statement</a:t>
            </a:r>
          </a:p>
          <a:p>
            <a:pPr algn="ctr">
              <a:lnSpc>
                <a:spcPct val="150000"/>
              </a:lnSpc>
            </a:pPr>
            <a:r>
              <a:rPr lang="en-IN" sz="2800" dirty="0" err="1">
                <a:latin typeface="Times New Roman" panose="02020603050405020304" pitchFamily="18" charset="0"/>
                <a:cs typeface="Times New Roman" panose="02020603050405020304" pitchFamily="18" charset="0"/>
              </a:rPr>
              <a:t>int</a:t>
            </a:r>
            <a:r>
              <a:rPr lang="en-IN" sz="2800" dirty="0">
                <a:latin typeface="Times New Roman" panose="02020603050405020304" pitchFamily="18" charset="0"/>
                <a:cs typeface="Times New Roman" panose="02020603050405020304" pitchFamily="18" charset="0"/>
              </a:rPr>
              <a:t> quantity = 179;</a:t>
            </a:r>
          </a:p>
          <a:p>
            <a:pPr algn="just">
              <a:lnSpc>
                <a:spcPct val="150000"/>
              </a:lnSpc>
            </a:pPr>
            <a:r>
              <a:rPr lang="en-US" sz="2800" dirty="0">
                <a:latin typeface="Times New Roman" panose="02020603050405020304" pitchFamily="18" charset="0"/>
                <a:cs typeface="Times New Roman" panose="02020603050405020304" pitchFamily="18" charset="0"/>
              </a:rPr>
              <a:t>This statement instructs the system to find a location for the integer variable quantity and puts the value 179 in that location. </a:t>
            </a:r>
          </a:p>
        </p:txBody>
      </p:sp>
    </p:spTree>
    <p:extLst>
      <p:ext uri="{BB962C8B-B14F-4D97-AF65-F5344CB8AC3E}">
        <p14:creationId xmlns:p14="http://schemas.microsoft.com/office/powerpoint/2010/main" val="1734589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2031325"/>
          </a:xfrm>
          <a:prstGeom prst="rect">
            <a:avLst/>
          </a:prstGeom>
        </p:spPr>
        <p:txBody>
          <a:bodyPr wrap="squar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Let us assume that the system has chosen the address location 5000 for quantity. </a:t>
            </a:r>
          </a:p>
          <a:p>
            <a:pPr algn="just">
              <a:lnSpc>
                <a:spcPct val="150000"/>
              </a:lnSpc>
            </a:pPr>
            <a:r>
              <a:rPr lang="en-US" sz="2800" dirty="0">
                <a:latin typeface="Times New Roman" panose="02020603050405020304" pitchFamily="18" charset="0"/>
                <a:cs typeface="Times New Roman" panose="02020603050405020304" pitchFamily="18" charset="0"/>
              </a:rPr>
              <a:t>We may represent this as shown in Fig. 11.2. (Note that the address of a variable is the address of the first bye occupied by that variable.)</a:t>
            </a:r>
            <a:endParaRPr lang="en-IN" sz="2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693772" y="2031325"/>
            <a:ext cx="5387547" cy="2565389"/>
          </a:xfrm>
          <a:prstGeom prst="rect">
            <a:avLst/>
          </a:prstGeom>
        </p:spPr>
      </p:pic>
      <p:sp>
        <p:nvSpPr>
          <p:cNvPr id="4" name="Rectangle 3"/>
          <p:cNvSpPr/>
          <p:nvPr/>
        </p:nvSpPr>
        <p:spPr>
          <a:xfrm>
            <a:off x="0" y="4062650"/>
            <a:ext cx="12192000" cy="3046988"/>
          </a:xfrm>
          <a:prstGeom prst="rect">
            <a:avLst/>
          </a:prstGeom>
        </p:spPr>
        <p:txBody>
          <a:bodyPr wrap="square">
            <a:spAutoFit/>
          </a:bodyPr>
          <a:lstStyle/>
          <a:p>
            <a:pPr>
              <a:lnSpc>
                <a:spcPct val="150000"/>
              </a:lnSpc>
            </a:pPr>
            <a:r>
              <a:rPr lang="en-US" sz="3200" dirty="0">
                <a:latin typeface="Times New Roman" panose="02020603050405020304" pitchFamily="18" charset="0"/>
                <a:cs typeface="Times New Roman" panose="02020603050405020304" pitchFamily="18" charset="0"/>
              </a:rPr>
              <a:t>During execution of the program, the system always associates the name quantity with the address 5000. (This is something similar to having a house number as well as a house name.) We may have access to the value 179 by using either the name quantity or the address 5000.</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0177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3323987"/>
          </a:xfrm>
          <a:prstGeom prst="rect">
            <a:avLst/>
          </a:prstGeom>
        </p:spPr>
        <p:txBody>
          <a:bodyPr wrap="square">
            <a:spAutoFit/>
          </a:bodyPr>
          <a:lstStyle/>
          <a:p>
            <a:pPr algn="just">
              <a:lnSpc>
                <a:spcPct val="150000"/>
              </a:lnSpc>
            </a:pPr>
            <a:r>
              <a:rPr lang="en-IN" sz="2800" dirty="0">
                <a:latin typeface="Times New Roman" panose="02020603050405020304" pitchFamily="18" charset="0"/>
                <a:cs typeface="Times New Roman" panose="02020603050405020304" pitchFamily="18" charset="0"/>
              </a:rPr>
              <a:t>Since memory </a:t>
            </a:r>
            <a:r>
              <a:rPr lang="en-US" sz="2800" dirty="0">
                <a:latin typeface="Times New Roman" panose="02020603050405020304" pitchFamily="18" charset="0"/>
                <a:cs typeface="Times New Roman" panose="02020603050405020304" pitchFamily="18" charset="0"/>
              </a:rPr>
              <a:t>addresses are simply numbers, they can be assigned to some variables, that can be stored in memory, like any other variable. </a:t>
            </a:r>
          </a:p>
          <a:p>
            <a:pPr algn="just">
              <a:lnSpc>
                <a:spcPct val="150000"/>
              </a:lnSpc>
            </a:pPr>
            <a:r>
              <a:rPr lang="en-US" sz="2800" dirty="0">
                <a:latin typeface="Times New Roman" panose="02020603050405020304" pitchFamily="18" charset="0"/>
                <a:cs typeface="Times New Roman" panose="02020603050405020304" pitchFamily="18" charset="0"/>
              </a:rPr>
              <a:t>Such variables that hold memory addresses are called pointer variables. </a:t>
            </a:r>
          </a:p>
          <a:p>
            <a:pPr algn="just">
              <a:lnSpc>
                <a:spcPct val="150000"/>
              </a:lnSpc>
            </a:pPr>
            <a:r>
              <a:rPr lang="en-US" sz="2800" dirty="0">
                <a:latin typeface="Times New Roman" panose="02020603050405020304" pitchFamily="18" charset="0"/>
                <a:cs typeface="Times New Roman" panose="02020603050405020304" pitchFamily="18" charset="0"/>
              </a:rPr>
              <a:t>A pointer variable is, therefore, nothing but a variable that contains an address, which is a location of </a:t>
            </a:r>
            <a:r>
              <a:rPr lang="en-IN" sz="2800" dirty="0">
                <a:latin typeface="Times New Roman" panose="02020603050405020304" pitchFamily="18" charset="0"/>
                <a:cs typeface="Times New Roman" panose="02020603050405020304" pitchFamily="18" charset="0"/>
              </a:rPr>
              <a:t>another variable in memory.</a:t>
            </a:r>
          </a:p>
        </p:txBody>
      </p:sp>
    </p:spTree>
    <p:extLst>
      <p:ext uri="{BB962C8B-B14F-4D97-AF65-F5344CB8AC3E}">
        <p14:creationId xmlns:p14="http://schemas.microsoft.com/office/powerpoint/2010/main" val="2726304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2677656"/>
          </a:xfrm>
          <a:prstGeom prst="rect">
            <a:avLst/>
          </a:prstGeom>
        </p:spPr>
        <p:txBody>
          <a:bodyPr wrap="squar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since a pointer is a variable, its value is also stored in the memory in another location. Suppose, we assign the address of quantity to a variable p. The link between the variables p and quantity can be visualized as shown in Fig.11.3. </a:t>
            </a:r>
          </a:p>
          <a:p>
            <a:pPr algn="just">
              <a:lnSpc>
                <a:spcPct val="150000"/>
              </a:lnSpc>
            </a:pPr>
            <a:r>
              <a:rPr lang="en-US" sz="2800" dirty="0">
                <a:latin typeface="Times New Roman" panose="02020603050405020304" pitchFamily="18" charset="0"/>
                <a:cs typeface="Times New Roman" panose="02020603050405020304" pitchFamily="18" charset="0"/>
              </a:rPr>
              <a:t>The address of p is 5048.</a:t>
            </a:r>
            <a:endParaRPr lang="en-IN" sz="2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3904736" y="2010391"/>
            <a:ext cx="5066270" cy="2940909"/>
          </a:xfrm>
          <a:prstGeom prst="rect">
            <a:avLst/>
          </a:prstGeom>
        </p:spPr>
      </p:pic>
      <p:sp>
        <p:nvSpPr>
          <p:cNvPr id="4" name="Rectangle 3"/>
          <p:cNvSpPr/>
          <p:nvPr/>
        </p:nvSpPr>
        <p:spPr>
          <a:xfrm>
            <a:off x="49427" y="4951300"/>
            <a:ext cx="12093145" cy="1953868"/>
          </a:xfrm>
          <a:prstGeom prst="rect">
            <a:avLst/>
          </a:prstGeom>
        </p:spPr>
        <p:txBody>
          <a:bodyPr wrap="squar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Since the value of the variable p is the address of the variable quantity, we may access the value of quantity by using the value of p and therefore, we say that the variable p ‘points’ to the variable quantity. </a:t>
            </a:r>
            <a:r>
              <a:rPr lang="en-US" sz="2800" b="1" dirty="0">
                <a:latin typeface="Times New Roman" panose="02020603050405020304" pitchFamily="18" charset="0"/>
                <a:cs typeface="Times New Roman" panose="02020603050405020304" pitchFamily="18" charset="0"/>
              </a:rPr>
              <a:t>Thus, p gets the name ‘pointer’.</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9123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23220"/>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Pointers are built on the three underlying concepts:</a:t>
            </a:r>
            <a:endParaRPr lang="en-IN" sz="28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3253946" y="840259"/>
            <a:ext cx="5684108" cy="2397211"/>
          </a:xfrm>
          <a:prstGeom prst="rect">
            <a:avLst/>
          </a:prstGeom>
        </p:spPr>
      </p:pic>
      <p:sp>
        <p:nvSpPr>
          <p:cNvPr id="4" name="Rectangle 3"/>
          <p:cNvSpPr/>
          <p:nvPr/>
        </p:nvSpPr>
        <p:spPr>
          <a:xfrm>
            <a:off x="0" y="3237470"/>
            <a:ext cx="12192000" cy="3416320"/>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Memory addresses within a computer are referred to as pointer constants. We cannot change them; we can only use them to store data values. They are like house numbers.</a:t>
            </a:r>
          </a:p>
          <a:p>
            <a:pPr algn="just"/>
            <a:r>
              <a:rPr lang="en-US" sz="2400" dirty="0">
                <a:latin typeface="Times New Roman" panose="02020603050405020304" pitchFamily="18" charset="0"/>
                <a:cs typeface="Times New Roman" panose="02020603050405020304" pitchFamily="18" charset="0"/>
              </a:rPr>
              <a:t>We cannot save the value of a memory address directly. We can only obtain the value through the variable stored there using the address operator (&amp;). The value thus obtained is known as pointer value.</a:t>
            </a:r>
          </a:p>
          <a:p>
            <a:pPr algn="just"/>
            <a:r>
              <a:rPr lang="en-US" sz="2400" dirty="0">
                <a:latin typeface="Times New Roman" panose="02020603050405020304" pitchFamily="18" charset="0"/>
                <a:cs typeface="Times New Roman" panose="02020603050405020304" pitchFamily="18" charset="0"/>
              </a:rPr>
              <a:t>The pointer value (i.e. the address of a variable) may change from one run of the program to another. </a:t>
            </a:r>
          </a:p>
          <a:p>
            <a:pPr algn="just"/>
            <a:r>
              <a:rPr lang="en-US" sz="2400" dirty="0">
                <a:latin typeface="Times New Roman" panose="02020603050405020304" pitchFamily="18" charset="0"/>
                <a:cs typeface="Times New Roman" panose="02020603050405020304" pitchFamily="18" charset="0"/>
              </a:rPr>
              <a:t>Once we have a pointer value, it can be stored into another variable. The variable that contains a</a:t>
            </a:r>
          </a:p>
          <a:p>
            <a:pPr algn="just"/>
            <a:r>
              <a:rPr lang="en-US" sz="2400" dirty="0">
                <a:latin typeface="Times New Roman" panose="02020603050405020304" pitchFamily="18" charset="0"/>
                <a:cs typeface="Times New Roman" panose="02020603050405020304" pitchFamily="18" charset="0"/>
              </a:rPr>
              <a:t>pointer value is called a pointer variable.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8282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686143" cy="523220"/>
          </a:xfrm>
          <a:prstGeom prst="rect">
            <a:avLst/>
          </a:prstGeom>
        </p:spPr>
        <p:txBody>
          <a:bodyPr wrap="none">
            <a:spAutoFit/>
          </a:bodyPr>
          <a:lstStyle/>
          <a:p>
            <a:r>
              <a:rPr lang="en-US" sz="2800" b="1" dirty="0">
                <a:latin typeface="Times New Roman" panose="02020603050405020304" pitchFamily="18" charset="0"/>
                <a:cs typeface="Times New Roman" panose="02020603050405020304" pitchFamily="18" charset="0"/>
              </a:rPr>
              <a:t>ACCESSING THE ADDRESS OF A VARIABLE</a:t>
            </a:r>
            <a:endParaRPr lang="en-IN"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0" y="523220"/>
            <a:ext cx="11986054" cy="6555641"/>
          </a:xfrm>
          <a:prstGeom prst="rect">
            <a:avLst/>
          </a:prstGeom>
        </p:spPr>
        <p:txBody>
          <a:bodyPr wrap="square">
            <a:spAutoFit/>
          </a:bodyPr>
          <a:lstStyle/>
          <a:p>
            <a:pPr>
              <a:lnSpc>
                <a:spcPct val="150000"/>
              </a:lnSpc>
            </a:pPr>
            <a:r>
              <a:rPr lang="en-US" sz="2800" dirty="0">
                <a:latin typeface="Times New Roman" panose="02020603050405020304" pitchFamily="18" charset="0"/>
                <a:cs typeface="Times New Roman" panose="02020603050405020304" pitchFamily="18" charset="0"/>
              </a:rPr>
              <a:t>The actual location of a variable in the memory is system dependent and therefore, the address of a variable is not known to us immediately. </a:t>
            </a:r>
          </a:p>
          <a:p>
            <a:pPr>
              <a:lnSpc>
                <a:spcPct val="150000"/>
              </a:lnSpc>
            </a:pPr>
            <a:r>
              <a:rPr lang="en-US" sz="2800" dirty="0">
                <a:latin typeface="Times New Roman" panose="02020603050405020304" pitchFamily="18" charset="0"/>
                <a:cs typeface="Times New Roman" panose="02020603050405020304" pitchFamily="18" charset="0"/>
              </a:rPr>
              <a:t>How can we then determine the address of a variable? </a:t>
            </a:r>
          </a:p>
          <a:p>
            <a:pPr>
              <a:lnSpc>
                <a:spcPct val="150000"/>
              </a:lnSpc>
            </a:pPr>
            <a:r>
              <a:rPr lang="en-US" sz="2800" dirty="0">
                <a:latin typeface="Times New Roman" panose="02020603050405020304" pitchFamily="18" charset="0"/>
                <a:cs typeface="Times New Roman" panose="02020603050405020304" pitchFamily="18" charset="0"/>
              </a:rPr>
              <a:t>This can be done with the help of the operator &amp; available in C. </a:t>
            </a:r>
          </a:p>
          <a:p>
            <a:pPr>
              <a:lnSpc>
                <a:spcPct val="150000"/>
              </a:lnSpc>
            </a:pPr>
            <a:r>
              <a:rPr lang="en-US" sz="2800" dirty="0">
                <a:latin typeface="Times New Roman" panose="02020603050405020304" pitchFamily="18" charset="0"/>
                <a:cs typeface="Times New Roman" panose="02020603050405020304" pitchFamily="18" charset="0"/>
              </a:rPr>
              <a:t>We have already seen the use of this address operator in the </a:t>
            </a:r>
            <a:r>
              <a:rPr lang="en-US" sz="2800" dirty="0" err="1">
                <a:latin typeface="Times New Roman" panose="02020603050405020304" pitchFamily="18" charset="0"/>
                <a:cs typeface="Times New Roman" panose="02020603050405020304" pitchFamily="18" charset="0"/>
              </a:rPr>
              <a:t>scanf</a:t>
            </a:r>
            <a:r>
              <a:rPr lang="en-US" sz="2800" dirty="0">
                <a:latin typeface="Times New Roman" panose="02020603050405020304" pitchFamily="18" charset="0"/>
                <a:cs typeface="Times New Roman" panose="02020603050405020304" pitchFamily="18" charset="0"/>
              </a:rPr>
              <a:t> function. The operator &amp; immediately preceding a variable returns the address of the variable associated with it. For example, the statement</a:t>
            </a:r>
          </a:p>
          <a:p>
            <a:pPr>
              <a:lnSpc>
                <a:spcPct val="150000"/>
              </a:lnSpc>
            </a:pPr>
            <a:r>
              <a:rPr lang="en-IN" sz="2800" dirty="0">
                <a:latin typeface="Times New Roman" panose="02020603050405020304" pitchFamily="18" charset="0"/>
                <a:cs typeface="Times New Roman" panose="02020603050405020304" pitchFamily="18" charset="0"/>
              </a:rPr>
              <a:t>p = &amp;quantity;</a:t>
            </a:r>
          </a:p>
          <a:p>
            <a:pPr>
              <a:lnSpc>
                <a:spcPct val="150000"/>
              </a:lnSpc>
            </a:pPr>
            <a:r>
              <a:rPr lang="en-US" sz="2800" dirty="0">
                <a:latin typeface="Times New Roman" panose="02020603050405020304" pitchFamily="18" charset="0"/>
                <a:cs typeface="Times New Roman" panose="02020603050405020304" pitchFamily="18" charset="0"/>
              </a:rPr>
              <a:t>would assign the address 5000 (the location of quantity) to the variable p. The &amp; operator can be </a:t>
            </a:r>
            <a:r>
              <a:rPr lang="en-IN" sz="2800" dirty="0">
                <a:latin typeface="Times New Roman" panose="02020603050405020304" pitchFamily="18" charset="0"/>
                <a:cs typeface="Times New Roman" panose="02020603050405020304" pitchFamily="18" charset="0"/>
              </a:rPr>
              <a:t>remembered as ‘address of ’.</a:t>
            </a:r>
          </a:p>
        </p:txBody>
      </p:sp>
    </p:spTree>
    <p:extLst>
      <p:ext uri="{BB962C8B-B14F-4D97-AF65-F5344CB8AC3E}">
        <p14:creationId xmlns:p14="http://schemas.microsoft.com/office/powerpoint/2010/main" val="1964544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5909310"/>
          </a:xfrm>
          <a:prstGeom prst="rect">
            <a:avLst/>
          </a:prstGeom>
        </p:spPr>
        <p:txBody>
          <a:bodyPr wrap="squar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&amp;</a:t>
            </a:r>
            <a:r>
              <a:rPr lang="en-US" sz="2800" dirty="0">
                <a:latin typeface="Times New Roman" panose="02020603050405020304" pitchFamily="18" charset="0"/>
                <a:cs typeface="Times New Roman" panose="02020603050405020304" pitchFamily="18" charset="0"/>
              </a:rPr>
              <a:t> operator can be used only with a simple variable or an array element. The following are illegal </a:t>
            </a:r>
            <a:r>
              <a:rPr lang="en-IN" sz="2800" dirty="0">
                <a:latin typeface="Times New Roman" panose="02020603050405020304" pitchFamily="18" charset="0"/>
                <a:cs typeface="Times New Roman" panose="02020603050405020304" pitchFamily="18" charset="0"/>
              </a:rPr>
              <a:t>use of address operator:</a:t>
            </a:r>
          </a:p>
          <a:p>
            <a:pPr algn="just">
              <a:lnSpc>
                <a:spcPct val="150000"/>
              </a:lnSpc>
            </a:pPr>
            <a:r>
              <a:rPr lang="en-US" sz="2800" dirty="0">
                <a:latin typeface="Times New Roman" panose="02020603050405020304" pitchFamily="18" charset="0"/>
                <a:cs typeface="Times New Roman" panose="02020603050405020304" pitchFamily="18" charset="0"/>
              </a:rPr>
              <a:t>	1. </a:t>
            </a:r>
            <a:r>
              <a:rPr lang="en-US" sz="2800" b="1" dirty="0">
                <a:latin typeface="Times New Roman" panose="02020603050405020304" pitchFamily="18" charset="0"/>
                <a:cs typeface="Times New Roman" panose="02020603050405020304" pitchFamily="18" charset="0"/>
              </a:rPr>
              <a:t>&amp;125 </a:t>
            </a:r>
            <a:r>
              <a:rPr lang="en-US" sz="2800" dirty="0">
                <a:latin typeface="Times New Roman" panose="02020603050405020304" pitchFamily="18" charset="0"/>
                <a:cs typeface="Times New Roman" panose="02020603050405020304" pitchFamily="18" charset="0"/>
              </a:rPr>
              <a:t>(pointing at constants).</a:t>
            </a:r>
          </a:p>
          <a:p>
            <a:pPr algn="just">
              <a:lnSpc>
                <a:spcPct val="150000"/>
              </a:lnSpc>
            </a:pPr>
            <a:r>
              <a:rPr lang="en-IN" sz="2800" dirty="0">
                <a:latin typeface="Times New Roman" panose="02020603050405020304" pitchFamily="18" charset="0"/>
                <a:cs typeface="Times New Roman" panose="02020603050405020304" pitchFamily="18" charset="0"/>
              </a:rPr>
              <a:t>	2. </a:t>
            </a:r>
            <a:r>
              <a:rPr lang="en-IN" sz="2800" dirty="0" err="1">
                <a:latin typeface="Times New Roman" panose="02020603050405020304" pitchFamily="18" charset="0"/>
                <a:cs typeface="Times New Roman" panose="02020603050405020304" pitchFamily="18" charset="0"/>
              </a:rPr>
              <a:t>int</a:t>
            </a:r>
            <a:r>
              <a:rPr lang="en-IN" sz="2800" dirty="0">
                <a:latin typeface="Times New Roman" panose="02020603050405020304" pitchFamily="18" charset="0"/>
                <a:cs typeface="Times New Roman" panose="02020603050405020304" pitchFamily="18" charset="0"/>
              </a:rPr>
              <a:t> x[10];</a:t>
            </a:r>
          </a:p>
          <a:p>
            <a:pPr algn="just">
              <a:lnSpc>
                <a:spcPct val="150000"/>
              </a:lnSpc>
            </a:pP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&amp;x</a:t>
            </a:r>
            <a:r>
              <a:rPr lang="en-US" sz="2800" dirty="0">
                <a:latin typeface="Times New Roman" panose="02020603050405020304" pitchFamily="18" charset="0"/>
                <a:cs typeface="Times New Roman" panose="02020603050405020304" pitchFamily="18" charset="0"/>
              </a:rPr>
              <a:t> (pointing at array names).</a:t>
            </a:r>
          </a:p>
          <a:p>
            <a:pPr algn="just">
              <a:lnSpc>
                <a:spcPct val="150000"/>
              </a:lnSpc>
            </a:pPr>
            <a:r>
              <a:rPr lang="en-IN" sz="2800" dirty="0">
                <a:latin typeface="Times New Roman" panose="02020603050405020304" pitchFamily="18" charset="0"/>
                <a:cs typeface="Times New Roman" panose="02020603050405020304" pitchFamily="18" charset="0"/>
              </a:rPr>
              <a:t>	3. </a:t>
            </a:r>
            <a:r>
              <a:rPr lang="en-IN" sz="2800" b="1" dirty="0">
                <a:latin typeface="Times New Roman" panose="02020603050405020304" pitchFamily="18" charset="0"/>
                <a:cs typeface="Times New Roman" panose="02020603050405020304" pitchFamily="18" charset="0"/>
              </a:rPr>
              <a:t>&amp;(</a:t>
            </a:r>
            <a:r>
              <a:rPr lang="en-IN" sz="2800" b="1" dirty="0" err="1">
                <a:latin typeface="Times New Roman" panose="02020603050405020304" pitchFamily="18" charset="0"/>
                <a:cs typeface="Times New Roman" panose="02020603050405020304" pitchFamily="18" charset="0"/>
              </a:rPr>
              <a:t>x+y</a:t>
            </a:r>
            <a:r>
              <a:rPr lang="en-IN" sz="2800" b="1"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(pointing at expressions).</a:t>
            </a:r>
          </a:p>
          <a:p>
            <a:pPr algn="just">
              <a:lnSpc>
                <a:spcPct val="150000"/>
              </a:lnSpc>
            </a:pPr>
            <a:r>
              <a:rPr lang="en-US" sz="2800" dirty="0">
                <a:latin typeface="Times New Roman" panose="02020603050405020304" pitchFamily="18" charset="0"/>
                <a:cs typeface="Times New Roman" panose="02020603050405020304" pitchFamily="18" charset="0"/>
              </a:rPr>
              <a:t>	If x is an array, then expressions such as</a:t>
            </a:r>
          </a:p>
          <a:p>
            <a:pPr algn="just">
              <a:lnSpc>
                <a:spcPct val="150000"/>
              </a:lnSpc>
            </a:pP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&amp;x[0] and &amp;x[i+3]</a:t>
            </a:r>
          </a:p>
          <a:p>
            <a:pPr algn="just">
              <a:lnSpc>
                <a:spcPct val="150000"/>
              </a:lnSpc>
            </a:pPr>
            <a:r>
              <a:rPr lang="en-US" sz="2800" dirty="0">
                <a:latin typeface="Times New Roman" panose="02020603050405020304" pitchFamily="18" charset="0"/>
                <a:cs typeface="Times New Roman" panose="02020603050405020304" pitchFamily="18" charset="0"/>
              </a:rPr>
              <a:t>are valid and represent the addresses of 0th and (i+3)</a:t>
            </a:r>
            <a:r>
              <a:rPr lang="en-US" sz="2800" dirty="0" err="1">
                <a:latin typeface="Times New Roman" panose="02020603050405020304" pitchFamily="18" charset="0"/>
                <a:cs typeface="Times New Roman" panose="02020603050405020304" pitchFamily="18" charset="0"/>
              </a:rPr>
              <a:t>th</a:t>
            </a:r>
            <a:r>
              <a:rPr lang="en-US" sz="2800" dirty="0">
                <a:latin typeface="Times New Roman" panose="02020603050405020304" pitchFamily="18" charset="0"/>
                <a:cs typeface="Times New Roman" panose="02020603050405020304" pitchFamily="18" charset="0"/>
              </a:rPr>
              <a:t> elements of x.</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1564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354962" cy="523220"/>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Write a program to print the address of a variable along with its value</a:t>
            </a:r>
            <a:endParaRPr lang="en-IN" sz="2800" dirty="0">
              <a:latin typeface="Times New Roman" panose="02020603050405020304" pitchFamily="18" charset="0"/>
              <a:cs typeface="Times New Roman" panose="02020603050405020304" pitchFamily="18" charset="0"/>
            </a:endParaRPr>
          </a:p>
        </p:txBody>
      </p:sp>
      <p:sp>
        <p:nvSpPr>
          <p:cNvPr id="3" name="Rectangle 2"/>
          <p:cNvSpPr/>
          <p:nvPr/>
        </p:nvSpPr>
        <p:spPr>
          <a:xfrm>
            <a:off x="0" y="791509"/>
            <a:ext cx="8254313" cy="5693866"/>
          </a:xfrm>
          <a:prstGeom prst="rect">
            <a:avLst/>
          </a:prstGeom>
        </p:spPr>
        <p:txBody>
          <a:bodyPr wrap="square">
            <a:spAutoFit/>
          </a:bodyPr>
          <a:lstStyle/>
          <a:p>
            <a:r>
              <a:rPr lang="en-IN" sz="2800" dirty="0">
                <a:latin typeface="Times New Roman" panose="02020603050405020304" pitchFamily="18" charset="0"/>
                <a:cs typeface="Times New Roman" panose="02020603050405020304" pitchFamily="18" charset="0"/>
              </a:rPr>
              <a:t>Void main()</a:t>
            </a:r>
          </a:p>
          <a:p>
            <a:r>
              <a:rPr lang="en-IN" sz="2800" dirty="0">
                <a:latin typeface="Times New Roman" panose="02020603050405020304" pitchFamily="18" charset="0"/>
                <a:cs typeface="Times New Roman" panose="02020603050405020304" pitchFamily="18" charset="0"/>
              </a:rPr>
              <a:t>{</a:t>
            </a:r>
          </a:p>
          <a:p>
            <a:r>
              <a:rPr lang="en-IN" sz="2800" dirty="0">
                <a:latin typeface="Times New Roman" panose="02020603050405020304" pitchFamily="18" charset="0"/>
                <a:cs typeface="Times New Roman" panose="02020603050405020304" pitchFamily="18" charset="0"/>
              </a:rPr>
              <a:t>	char a;</a:t>
            </a:r>
          </a:p>
          <a:p>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int</a:t>
            </a:r>
            <a:r>
              <a:rPr lang="en-IN" sz="2800" dirty="0">
                <a:latin typeface="Times New Roman" panose="02020603050405020304" pitchFamily="18" charset="0"/>
                <a:cs typeface="Times New Roman" panose="02020603050405020304" pitchFamily="18" charset="0"/>
              </a:rPr>
              <a:t> x;</a:t>
            </a:r>
          </a:p>
          <a:p>
            <a:r>
              <a:rPr lang="en-IN" sz="2800" dirty="0">
                <a:latin typeface="Times New Roman" panose="02020603050405020304" pitchFamily="18" charset="0"/>
                <a:cs typeface="Times New Roman" panose="02020603050405020304" pitchFamily="18" charset="0"/>
              </a:rPr>
              <a:t>	float p, q;</a:t>
            </a:r>
          </a:p>
          <a:p>
            <a:r>
              <a:rPr lang="en-IN" sz="2800" dirty="0">
                <a:latin typeface="Times New Roman" panose="02020603050405020304" pitchFamily="18" charset="0"/>
                <a:cs typeface="Times New Roman" panose="02020603050405020304" pitchFamily="18" charset="0"/>
              </a:rPr>
              <a:t>	a = ‘A’;</a:t>
            </a:r>
          </a:p>
          <a:p>
            <a:r>
              <a:rPr lang="en-IN" sz="2800" dirty="0">
                <a:latin typeface="Times New Roman" panose="02020603050405020304" pitchFamily="18" charset="0"/>
                <a:cs typeface="Times New Roman" panose="02020603050405020304" pitchFamily="18" charset="0"/>
              </a:rPr>
              <a:t>	x = 125;</a:t>
            </a:r>
          </a:p>
          <a:p>
            <a:r>
              <a:rPr lang="en-IN" sz="2800" dirty="0">
                <a:latin typeface="Times New Roman" panose="02020603050405020304" pitchFamily="18" charset="0"/>
                <a:cs typeface="Times New Roman" panose="02020603050405020304" pitchFamily="18" charset="0"/>
              </a:rPr>
              <a:t>	p = 10.25, q = 18.76;</a:t>
            </a:r>
          </a:p>
          <a:p>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printf</a:t>
            </a:r>
            <a:r>
              <a:rPr lang="en-US" sz="2800" dirty="0">
                <a:latin typeface="Times New Roman" panose="02020603050405020304" pitchFamily="18" charset="0"/>
                <a:cs typeface="Times New Roman" panose="02020603050405020304" pitchFamily="18" charset="0"/>
              </a:rPr>
              <a:t>(“%c is stored at </a:t>
            </a:r>
            <a:r>
              <a:rPr lang="en-US" sz="2800" dirty="0" err="1">
                <a:latin typeface="Times New Roman" panose="02020603050405020304" pitchFamily="18" charset="0"/>
                <a:cs typeface="Times New Roman" panose="02020603050405020304" pitchFamily="18" charset="0"/>
              </a:rPr>
              <a:t>addr</a:t>
            </a:r>
            <a:r>
              <a:rPr lang="en-US" sz="2800" dirty="0">
                <a:latin typeface="Times New Roman" panose="02020603050405020304" pitchFamily="18" charset="0"/>
                <a:cs typeface="Times New Roman" panose="02020603050405020304" pitchFamily="18" charset="0"/>
              </a:rPr>
              <a:t> %u.\n”, a, &amp;a);</a:t>
            </a:r>
          </a:p>
          <a:p>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printf</a:t>
            </a:r>
            <a:r>
              <a:rPr lang="en-US" sz="2800" dirty="0">
                <a:latin typeface="Times New Roman" panose="02020603050405020304" pitchFamily="18" charset="0"/>
                <a:cs typeface="Times New Roman" panose="02020603050405020304" pitchFamily="18" charset="0"/>
              </a:rPr>
              <a:t>(“%d is stored at </a:t>
            </a:r>
            <a:r>
              <a:rPr lang="en-US" sz="2800" dirty="0" err="1">
                <a:latin typeface="Times New Roman" panose="02020603050405020304" pitchFamily="18" charset="0"/>
                <a:cs typeface="Times New Roman" panose="02020603050405020304" pitchFamily="18" charset="0"/>
              </a:rPr>
              <a:t>addr</a:t>
            </a:r>
            <a:r>
              <a:rPr lang="en-US" sz="2800" dirty="0">
                <a:latin typeface="Times New Roman" panose="02020603050405020304" pitchFamily="18" charset="0"/>
                <a:cs typeface="Times New Roman" panose="02020603050405020304" pitchFamily="18" charset="0"/>
              </a:rPr>
              <a:t> %u.\n”, x, &amp;x);</a:t>
            </a:r>
          </a:p>
          <a:p>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printf</a:t>
            </a:r>
            <a:r>
              <a:rPr lang="en-US" sz="2800" dirty="0">
                <a:latin typeface="Times New Roman" panose="02020603050405020304" pitchFamily="18" charset="0"/>
                <a:cs typeface="Times New Roman" panose="02020603050405020304" pitchFamily="18" charset="0"/>
              </a:rPr>
              <a:t>(“%f is stored at </a:t>
            </a:r>
            <a:r>
              <a:rPr lang="en-US" sz="2800" dirty="0" err="1">
                <a:latin typeface="Times New Roman" panose="02020603050405020304" pitchFamily="18" charset="0"/>
                <a:cs typeface="Times New Roman" panose="02020603050405020304" pitchFamily="18" charset="0"/>
              </a:rPr>
              <a:t>addr</a:t>
            </a:r>
            <a:r>
              <a:rPr lang="en-US" sz="2800" dirty="0">
                <a:latin typeface="Times New Roman" panose="02020603050405020304" pitchFamily="18" charset="0"/>
                <a:cs typeface="Times New Roman" panose="02020603050405020304" pitchFamily="18" charset="0"/>
              </a:rPr>
              <a:t> %u.\n”, p, &amp;p);</a:t>
            </a:r>
          </a:p>
          <a:p>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printf</a:t>
            </a:r>
            <a:r>
              <a:rPr lang="en-US" sz="2800" dirty="0">
                <a:latin typeface="Times New Roman" panose="02020603050405020304" pitchFamily="18" charset="0"/>
                <a:cs typeface="Times New Roman" panose="02020603050405020304" pitchFamily="18" charset="0"/>
              </a:rPr>
              <a:t>(“%f is stored at </a:t>
            </a:r>
            <a:r>
              <a:rPr lang="en-US" sz="2800" dirty="0" err="1">
                <a:latin typeface="Times New Roman" panose="02020603050405020304" pitchFamily="18" charset="0"/>
                <a:cs typeface="Times New Roman" panose="02020603050405020304" pitchFamily="18" charset="0"/>
              </a:rPr>
              <a:t>addr</a:t>
            </a:r>
            <a:r>
              <a:rPr lang="en-US" sz="2800" dirty="0">
                <a:latin typeface="Times New Roman" panose="02020603050405020304" pitchFamily="18" charset="0"/>
                <a:cs typeface="Times New Roman" panose="02020603050405020304" pitchFamily="18" charset="0"/>
              </a:rPr>
              <a:t> %u.\n”, q, &amp;q);</a:t>
            </a:r>
          </a:p>
          <a:p>
            <a:r>
              <a:rPr lang="en-IN" sz="2800" dirty="0">
                <a:latin typeface="Times New Roman" panose="02020603050405020304" pitchFamily="18" charset="0"/>
                <a:cs typeface="Times New Roman" panose="02020603050405020304" pitchFamily="18" charset="0"/>
              </a:rPr>
              <a:t>}</a:t>
            </a:r>
          </a:p>
        </p:txBody>
      </p:sp>
      <p:sp>
        <p:nvSpPr>
          <p:cNvPr id="4" name="Rectangle 3"/>
          <p:cNvSpPr/>
          <p:nvPr/>
        </p:nvSpPr>
        <p:spPr>
          <a:xfrm>
            <a:off x="7883611" y="4103305"/>
            <a:ext cx="5807676" cy="2795958"/>
          </a:xfrm>
          <a:prstGeom prst="rect">
            <a:avLst/>
          </a:prstGeom>
        </p:spPr>
        <p:txBody>
          <a:bodyPr wrap="square">
            <a:spAutoFit/>
          </a:bodyPr>
          <a:lstStyle/>
          <a:p>
            <a:pPr>
              <a:lnSpc>
                <a:spcPct val="150000"/>
              </a:lnSpc>
            </a:pPr>
            <a:r>
              <a:rPr lang="en-IN" sz="2400" dirty="0">
                <a:latin typeface="Times New Roman" panose="02020603050405020304" pitchFamily="18" charset="0"/>
                <a:cs typeface="Times New Roman" panose="02020603050405020304" pitchFamily="18" charset="0"/>
              </a:rPr>
              <a:t>Output</a:t>
            </a:r>
          </a:p>
          <a:p>
            <a:pPr>
              <a:lnSpc>
                <a:spcPct val="150000"/>
              </a:lnSpc>
            </a:pPr>
            <a:r>
              <a:rPr lang="en-US" sz="2400" dirty="0">
                <a:latin typeface="Times New Roman" panose="02020603050405020304" pitchFamily="18" charset="0"/>
                <a:cs typeface="Times New Roman" panose="02020603050405020304" pitchFamily="18" charset="0"/>
              </a:rPr>
              <a:t>A is stored at </a:t>
            </a: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4436.</a:t>
            </a:r>
          </a:p>
          <a:p>
            <a:pPr>
              <a:lnSpc>
                <a:spcPct val="150000"/>
              </a:lnSpc>
            </a:pPr>
            <a:r>
              <a:rPr lang="en-US" sz="2400" dirty="0">
                <a:latin typeface="Times New Roman" panose="02020603050405020304" pitchFamily="18" charset="0"/>
                <a:cs typeface="Times New Roman" panose="02020603050405020304" pitchFamily="18" charset="0"/>
              </a:rPr>
              <a:t>125 is stored at </a:t>
            </a: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4434.</a:t>
            </a:r>
          </a:p>
          <a:p>
            <a:pPr>
              <a:lnSpc>
                <a:spcPct val="150000"/>
              </a:lnSpc>
            </a:pPr>
            <a:r>
              <a:rPr lang="en-US" sz="2400" dirty="0">
                <a:latin typeface="Times New Roman" panose="02020603050405020304" pitchFamily="18" charset="0"/>
                <a:cs typeface="Times New Roman" panose="02020603050405020304" pitchFamily="18" charset="0"/>
              </a:rPr>
              <a:t>10.250000 is stored at </a:t>
            </a: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4442.</a:t>
            </a:r>
          </a:p>
          <a:p>
            <a:pPr>
              <a:lnSpc>
                <a:spcPct val="150000"/>
              </a:lnSpc>
            </a:pPr>
            <a:r>
              <a:rPr lang="en-US" sz="2400" dirty="0">
                <a:latin typeface="Times New Roman" panose="02020603050405020304" pitchFamily="18" charset="0"/>
                <a:cs typeface="Times New Roman" panose="02020603050405020304" pitchFamily="18" charset="0"/>
              </a:rPr>
              <a:t>18.760000 is stored at </a:t>
            </a: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4438.</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0244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107010" cy="584775"/>
          </a:xfrm>
          <a:prstGeom prst="rect">
            <a:avLst/>
          </a:prstGeom>
        </p:spPr>
        <p:txBody>
          <a:bodyPr wrap="none">
            <a:spAutoFit/>
          </a:bodyPr>
          <a:lstStyle/>
          <a:p>
            <a:r>
              <a:rPr lang="en-IN" sz="3200" b="1" dirty="0">
                <a:latin typeface="Times New Roman" panose="02020603050405020304" pitchFamily="18" charset="0"/>
                <a:cs typeface="Times New Roman" panose="02020603050405020304" pitchFamily="18" charset="0"/>
              </a:rPr>
              <a:t>DECLARING POINTER VARIABLES</a:t>
            </a:r>
          </a:p>
        </p:txBody>
      </p:sp>
      <p:sp>
        <p:nvSpPr>
          <p:cNvPr id="3" name="Rectangle 2"/>
          <p:cNvSpPr/>
          <p:nvPr/>
        </p:nvSpPr>
        <p:spPr>
          <a:xfrm>
            <a:off x="0" y="584775"/>
            <a:ext cx="12192000" cy="5262979"/>
          </a:xfrm>
          <a:prstGeom prst="rect">
            <a:avLst/>
          </a:prstGeom>
        </p:spPr>
        <p:txBody>
          <a:bodyPr wrap="squar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In C, every variable must be declared for its type. Since pointer variables contain addresses that belong to a separate data type, they must be declared as pointers before we use them. The declaration of a pointer variable takes </a:t>
            </a:r>
            <a:r>
              <a:rPr lang="en-IN" sz="2800" dirty="0">
                <a:latin typeface="Times New Roman" panose="02020603050405020304" pitchFamily="18" charset="0"/>
                <a:cs typeface="Times New Roman" panose="02020603050405020304" pitchFamily="18" charset="0"/>
              </a:rPr>
              <a:t>the following form:</a:t>
            </a:r>
          </a:p>
          <a:p>
            <a:pPr algn="just">
              <a:lnSpc>
                <a:spcPct val="150000"/>
              </a:lnSpc>
            </a:pP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data_type</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pt_name</a:t>
            </a:r>
            <a:r>
              <a:rPr lang="en-IN" sz="2800" dirty="0">
                <a:latin typeface="Times New Roman" panose="02020603050405020304" pitchFamily="18" charset="0"/>
                <a:cs typeface="Times New Roman" panose="02020603050405020304" pitchFamily="18" charset="0"/>
              </a:rPr>
              <a:t>;</a:t>
            </a:r>
          </a:p>
          <a:p>
            <a:pPr algn="just">
              <a:lnSpc>
                <a:spcPct val="150000"/>
              </a:lnSpc>
            </a:pPr>
            <a:r>
              <a:rPr lang="en-US" sz="2800" dirty="0">
                <a:latin typeface="Times New Roman" panose="02020603050405020304" pitchFamily="18" charset="0"/>
                <a:cs typeface="Times New Roman" panose="02020603050405020304" pitchFamily="18" charset="0"/>
              </a:rPr>
              <a:t>This tells the compiler three things about the variable </a:t>
            </a:r>
            <a:r>
              <a:rPr lang="en-US" sz="2800" dirty="0" err="1">
                <a:latin typeface="Times New Roman" panose="02020603050405020304" pitchFamily="18" charset="0"/>
                <a:cs typeface="Times New Roman" panose="02020603050405020304" pitchFamily="18" charset="0"/>
              </a:rPr>
              <a:t>pt_name</a:t>
            </a:r>
            <a:r>
              <a:rPr lang="en-US" sz="2800" dirty="0">
                <a:latin typeface="Times New Roman" panose="02020603050405020304" pitchFamily="18" charset="0"/>
                <a:cs typeface="Times New Roman" panose="02020603050405020304" pitchFamily="18" charset="0"/>
              </a:rPr>
              <a:t>.</a:t>
            </a:r>
          </a:p>
          <a:p>
            <a:pPr algn="just">
              <a:lnSpc>
                <a:spcPct val="150000"/>
              </a:lnSpc>
            </a:pPr>
            <a:r>
              <a:rPr lang="en-US" sz="2800" dirty="0">
                <a:latin typeface="Times New Roman" panose="02020603050405020304" pitchFamily="18" charset="0"/>
                <a:cs typeface="Times New Roman" panose="02020603050405020304" pitchFamily="18" charset="0"/>
              </a:rPr>
              <a:t>1. The asterisk (*) tells that the variable </a:t>
            </a:r>
            <a:r>
              <a:rPr lang="en-US" sz="2800" dirty="0" err="1">
                <a:latin typeface="Times New Roman" panose="02020603050405020304" pitchFamily="18" charset="0"/>
                <a:cs typeface="Times New Roman" panose="02020603050405020304" pitchFamily="18" charset="0"/>
              </a:rPr>
              <a:t>pt_name</a:t>
            </a:r>
            <a:r>
              <a:rPr lang="en-US" sz="2800" dirty="0">
                <a:latin typeface="Times New Roman" panose="02020603050405020304" pitchFamily="18" charset="0"/>
                <a:cs typeface="Times New Roman" panose="02020603050405020304" pitchFamily="18" charset="0"/>
              </a:rPr>
              <a:t> is a pointer variable.</a:t>
            </a:r>
          </a:p>
          <a:p>
            <a:pPr algn="just">
              <a:lnSpc>
                <a:spcPct val="150000"/>
              </a:lnSpc>
            </a:pPr>
            <a:r>
              <a:rPr lang="en-US" sz="2800" dirty="0">
                <a:latin typeface="Times New Roman" panose="02020603050405020304" pitchFamily="18" charset="0"/>
                <a:cs typeface="Times New Roman" panose="02020603050405020304" pitchFamily="18" charset="0"/>
              </a:rPr>
              <a:t>2. </a:t>
            </a:r>
            <a:r>
              <a:rPr lang="en-US" sz="2800" dirty="0" err="1">
                <a:latin typeface="Times New Roman" panose="02020603050405020304" pitchFamily="18" charset="0"/>
                <a:cs typeface="Times New Roman" panose="02020603050405020304" pitchFamily="18" charset="0"/>
              </a:rPr>
              <a:t>pt_name</a:t>
            </a:r>
            <a:r>
              <a:rPr lang="en-US" sz="2800" dirty="0">
                <a:latin typeface="Times New Roman" panose="02020603050405020304" pitchFamily="18" charset="0"/>
                <a:cs typeface="Times New Roman" panose="02020603050405020304" pitchFamily="18" charset="0"/>
              </a:rPr>
              <a:t> needs a memory location.</a:t>
            </a:r>
          </a:p>
          <a:p>
            <a:pPr algn="just">
              <a:lnSpc>
                <a:spcPct val="150000"/>
              </a:lnSpc>
            </a:pPr>
            <a:r>
              <a:rPr lang="en-US" sz="2800" dirty="0">
                <a:latin typeface="Times New Roman" panose="02020603050405020304" pitchFamily="18" charset="0"/>
                <a:cs typeface="Times New Roman" panose="02020603050405020304" pitchFamily="18" charset="0"/>
              </a:rPr>
              <a:t>3. </a:t>
            </a:r>
            <a:r>
              <a:rPr lang="en-US" sz="2800" dirty="0" err="1">
                <a:latin typeface="Times New Roman" panose="02020603050405020304" pitchFamily="18" charset="0"/>
                <a:cs typeface="Times New Roman" panose="02020603050405020304" pitchFamily="18" charset="0"/>
              </a:rPr>
              <a:t>pt_name</a:t>
            </a:r>
            <a:r>
              <a:rPr lang="en-US" sz="2800" dirty="0">
                <a:latin typeface="Times New Roman" panose="02020603050405020304" pitchFamily="18" charset="0"/>
                <a:cs typeface="Times New Roman" panose="02020603050405020304" pitchFamily="18" charset="0"/>
              </a:rPr>
              <a:t> points to a variable of type </a:t>
            </a:r>
            <a:r>
              <a:rPr lang="en-US" sz="2800" dirty="0" err="1">
                <a:latin typeface="Times New Roman" panose="02020603050405020304" pitchFamily="18" charset="0"/>
                <a:cs typeface="Times New Roman" panose="02020603050405020304" pitchFamily="18" charset="0"/>
              </a:rPr>
              <a:t>data_type</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5356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186309"/>
          </a:xfrm>
          <a:prstGeom prst="rect">
            <a:avLst/>
          </a:prstGeom>
        </p:spPr>
        <p:txBody>
          <a:bodyPr wrap="square">
            <a:spAutoFit/>
          </a:bodyPr>
          <a:lstStyle/>
          <a:p>
            <a:pPr>
              <a:lnSpc>
                <a:spcPct val="150000"/>
              </a:lnSpc>
            </a:pPr>
            <a:r>
              <a:rPr lang="en-US" sz="2400" dirty="0">
                <a:latin typeface="Times New Roman" pitchFamily="18" charset="0"/>
                <a:cs typeface="Times New Roman" pitchFamily="18" charset="0"/>
              </a:rPr>
              <a:t>For example,</a:t>
            </a:r>
          </a:p>
          <a:p>
            <a:pPr algn="ctr">
              <a:lnSpc>
                <a:spcPct val="150000"/>
              </a:lnSpc>
            </a:pPr>
            <a:r>
              <a:rPr lang="en-US" sz="2400" b="1" dirty="0" err="1">
                <a:latin typeface="Times New Roman" pitchFamily="18" charset="0"/>
                <a:cs typeface="Times New Roman" pitchFamily="18" charset="0"/>
              </a:rPr>
              <a:t>int</a:t>
            </a:r>
            <a:r>
              <a:rPr lang="en-US" sz="2400" b="1" dirty="0">
                <a:latin typeface="Times New Roman" pitchFamily="18" charset="0"/>
                <a:cs typeface="Times New Roman" pitchFamily="18" charset="0"/>
              </a:rPr>
              <a:t> *p; /* integer pointer */</a:t>
            </a:r>
          </a:p>
          <a:p>
            <a:pPr>
              <a:lnSpc>
                <a:spcPct val="150000"/>
              </a:lnSpc>
            </a:pPr>
            <a:r>
              <a:rPr lang="en-US" sz="2400" dirty="0">
                <a:latin typeface="Times New Roman" pitchFamily="18" charset="0"/>
                <a:cs typeface="Times New Roman" pitchFamily="18" charset="0"/>
              </a:rPr>
              <a:t>declares the variable p as a pointer variable that points to an integer data type. </a:t>
            </a:r>
          </a:p>
          <a:p>
            <a:pPr>
              <a:lnSpc>
                <a:spcPct val="150000"/>
              </a:lnSpc>
            </a:pPr>
            <a:r>
              <a:rPr lang="en-US" sz="2400" dirty="0">
                <a:latin typeface="Times New Roman" pitchFamily="18" charset="0"/>
                <a:cs typeface="Times New Roman" pitchFamily="18" charset="0"/>
              </a:rPr>
              <a:t>Similarly, the statement</a:t>
            </a:r>
          </a:p>
          <a:p>
            <a:pPr>
              <a:lnSpc>
                <a:spcPct val="150000"/>
              </a:lnSpc>
            </a:pPr>
            <a:r>
              <a:rPr lang="en-US" sz="2400" dirty="0">
                <a:latin typeface="Times New Roman" pitchFamily="18" charset="0"/>
                <a:cs typeface="Times New Roman" pitchFamily="18" charset="0"/>
              </a:rPr>
              <a:t>float *x; / * float pointer */</a:t>
            </a:r>
          </a:p>
          <a:p>
            <a:pPr>
              <a:lnSpc>
                <a:spcPct val="150000"/>
              </a:lnSpc>
            </a:pPr>
            <a:r>
              <a:rPr lang="en-US" sz="2400" dirty="0">
                <a:latin typeface="Times New Roman" pitchFamily="18" charset="0"/>
                <a:cs typeface="Times New Roman" pitchFamily="18" charset="0"/>
              </a:rPr>
              <a:t>declares x as a pointer to a floating-point variable.</a:t>
            </a:r>
          </a:p>
          <a:p>
            <a:pPr>
              <a:lnSpc>
                <a:spcPct val="150000"/>
              </a:lnSpc>
            </a:pPr>
            <a:r>
              <a:rPr lang="en-US" sz="2400" dirty="0">
                <a:latin typeface="Times New Roman" pitchFamily="18" charset="0"/>
                <a:cs typeface="Times New Roman" pitchFamily="18" charset="0"/>
              </a:rPr>
              <a:t>The declarations cause the compiler to allocate memory locations for the pointer variables p and</a:t>
            </a:r>
          </a:p>
          <a:p>
            <a:pPr>
              <a:lnSpc>
                <a:spcPct val="150000"/>
              </a:lnSpc>
            </a:pPr>
            <a:r>
              <a:rPr lang="en-US" sz="2400" dirty="0">
                <a:latin typeface="Times New Roman" pitchFamily="18" charset="0"/>
                <a:cs typeface="Times New Roman" pitchFamily="18" charset="0"/>
              </a:rPr>
              <a:t>x. Since the memory locations have not been assigned any values, these locations may contain some unknown values in them and therefore they point to unknown locations as shown:</a:t>
            </a:r>
          </a:p>
          <a:p>
            <a:pPr>
              <a:lnSpc>
                <a:spcPct val="150000"/>
              </a:lnSpc>
            </a:pPr>
            <a:r>
              <a:rPr lang="en-US" sz="2400" dirty="0">
                <a:latin typeface="Times New Roman" pitchFamily="18" charset="0"/>
                <a:cs typeface="Times New Roman" pitchFamily="18" charset="0"/>
              </a:rPr>
              <a:t> </a:t>
            </a:r>
          </a:p>
          <a:p>
            <a:pPr>
              <a:lnSpc>
                <a:spcPct val="150000"/>
              </a:lnSpc>
            </a:pP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*p;</a:t>
            </a:r>
          </a:p>
        </p:txBody>
      </p:sp>
      <p:pic>
        <p:nvPicPr>
          <p:cNvPr id="3074" name="Picture 2"/>
          <p:cNvPicPr>
            <a:picLocks noChangeAspect="1" noChangeArrowheads="1"/>
          </p:cNvPicPr>
          <p:nvPr/>
        </p:nvPicPr>
        <p:blipFill>
          <a:blip r:embed="rId2"/>
          <a:srcRect/>
          <a:stretch>
            <a:fillRect/>
          </a:stretch>
        </p:blipFill>
        <p:spPr bwMode="auto">
          <a:xfrm>
            <a:off x="2695574" y="5086350"/>
            <a:ext cx="3333751" cy="1400175"/>
          </a:xfrm>
          <a:prstGeom prst="rect">
            <a:avLst/>
          </a:prstGeom>
          <a:noFill/>
          <a:ln w="9525">
            <a:noFill/>
            <a:miter lim="800000"/>
            <a:headEnd/>
            <a:tailEnd/>
          </a:ln>
          <a:effectLst/>
        </p:spPr>
      </p:pic>
    </p:spTree>
    <p:extLst>
      <p:ext uri="{BB962C8B-B14F-4D97-AF65-F5344CB8AC3E}">
        <p14:creationId xmlns:p14="http://schemas.microsoft.com/office/powerpoint/2010/main" val="1316366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538750"/>
            <a:ext cx="12192000" cy="4457952"/>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Pointer variables are declared similarly as normal variables except for the addition of the unary * operator.</a:t>
            </a:r>
          </a:p>
          <a:p>
            <a:pPr algn="just">
              <a:lnSpc>
                <a:spcPct val="150000"/>
              </a:lnSpc>
            </a:pPr>
            <a:r>
              <a:rPr lang="en-US" sz="2400" dirty="0">
                <a:latin typeface="Times New Roman" pitchFamily="18" charset="0"/>
                <a:cs typeface="Times New Roman" pitchFamily="18" charset="0"/>
              </a:rPr>
              <a:t>This symbol can appear anywhere between the type name and the printer variable name. Programmers</a:t>
            </a:r>
          </a:p>
          <a:p>
            <a:pPr algn="just">
              <a:lnSpc>
                <a:spcPct val="150000"/>
              </a:lnSpc>
            </a:pPr>
            <a:r>
              <a:rPr lang="en-US" sz="2400" dirty="0">
                <a:latin typeface="Times New Roman" pitchFamily="18" charset="0"/>
                <a:cs typeface="Times New Roman" pitchFamily="18" charset="0"/>
              </a:rPr>
              <a:t>use the following styles:</a:t>
            </a:r>
          </a:p>
          <a:p>
            <a:pPr algn="just">
              <a:lnSpc>
                <a:spcPct val="150000"/>
              </a:lnSpc>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p;		 /* style 1 */</a:t>
            </a:r>
          </a:p>
          <a:p>
            <a:pPr algn="just">
              <a:lnSpc>
                <a:spcPct val="150000"/>
              </a:lnSpc>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*p;		 /* style 2 */</a:t>
            </a:r>
          </a:p>
          <a:p>
            <a:pPr algn="just">
              <a:lnSpc>
                <a:spcPct val="150000"/>
              </a:lnSpc>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 p		; /* style 3 */</a:t>
            </a:r>
          </a:p>
        </p:txBody>
      </p:sp>
      <p:sp>
        <p:nvSpPr>
          <p:cNvPr id="3" name="Rectangle 2"/>
          <p:cNvSpPr/>
          <p:nvPr/>
        </p:nvSpPr>
        <p:spPr>
          <a:xfrm>
            <a:off x="0" y="0"/>
            <a:ext cx="4346062" cy="584775"/>
          </a:xfrm>
          <a:prstGeom prst="rect">
            <a:avLst/>
          </a:prstGeom>
        </p:spPr>
        <p:txBody>
          <a:bodyPr wrap="none">
            <a:spAutoFit/>
          </a:bodyPr>
          <a:lstStyle/>
          <a:p>
            <a:r>
              <a:rPr lang="en-US" sz="3200" dirty="0">
                <a:latin typeface="Times New Roman" pitchFamily="18" charset="0"/>
                <a:cs typeface="Times New Roman" pitchFamily="18" charset="0"/>
              </a:rPr>
              <a:t>pointer Declaration style</a:t>
            </a:r>
          </a:p>
        </p:txBody>
      </p:sp>
    </p:spTree>
    <p:extLst>
      <p:ext uri="{BB962C8B-B14F-4D97-AF65-F5344CB8AC3E}">
        <p14:creationId xmlns:p14="http://schemas.microsoft.com/office/powerpoint/2010/main" val="935539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771084"/>
          </a:xfrm>
          <a:prstGeom prst="rect">
            <a:avLst/>
          </a:prstGeom>
        </p:spPr>
        <p:txBody>
          <a:bodyPr wrap="square">
            <a:spAutoFit/>
          </a:bodyPr>
          <a:lstStyle/>
          <a:p>
            <a:pPr algn="just">
              <a:lnSpc>
                <a:spcPct val="150000"/>
              </a:lnSpc>
            </a:pPr>
            <a:r>
              <a:rPr lang="en-US" sz="2800" dirty="0">
                <a:latin typeface="Times New Roman" pitchFamily="18" charset="0"/>
                <a:cs typeface="Times New Roman" pitchFamily="18" charset="0"/>
              </a:rPr>
              <a:t>However, the style 2 is becoming increasingly popular due to the following reasons:</a:t>
            </a:r>
          </a:p>
          <a:p>
            <a:pPr algn="just">
              <a:lnSpc>
                <a:spcPct val="150000"/>
              </a:lnSpc>
            </a:pPr>
            <a:r>
              <a:rPr lang="en-US" sz="2800" dirty="0">
                <a:latin typeface="Times New Roman" pitchFamily="18" charset="0"/>
                <a:cs typeface="Times New Roman" pitchFamily="18" charset="0"/>
              </a:rPr>
              <a:t>1. This style is convenient to have multiple declarations in the same statement. Example</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int</a:t>
            </a:r>
            <a:r>
              <a:rPr lang="en-US" sz="2800" b="1" dirty="0">
                <a:latin typeface="Times New Roman" pitchFamily="18" charset="0"/>
                <a:cs typeface="Times New Roman" pitchFamily="18" charset="0"/>
              </a:rPr>
              <a:t> *p, x, *q;</a:t>
            </a:r>
          </a:p>
          <a:p>
            <a:pPr>
              <a:lnSpc>
                <a:spcPct val="150000"/>
              </a:lnSpc>
            </a:pPr>
            <a:r>
              <a:rPr lang="en-US" sz="2800" dirty="0">
                <a:latin typeface="Times New Roman" pitchFamily="18" charset="0"/>
                <a:cs typeface="Times New Roman" pitchFamily="18" charset="0"/>
              </a:rPr>
              <a:t>2. This style matches with the format used for accessing the target values. Example:</a:t>
            </a:r>
          </a:p>
          <a:p>
            <a:pPr>
              <a:lnSpc>
                <a:spcPct val="150000"/>
              </a:lnSpc>
            </a:pPr>
            <a:r>
              <a:rPr lang="en-US" sz="2800" b="1" dirty="0" err="1">
                <a:latin typeface="Times New Roman" pitchFamily="18" charset="0"/>
                <a:cs typeface="Times New Roman" pitchFamily="18" charset="0"/>
              </a:rPr>
              <a:t>int</a:t>
            </a:r>
            <a:r>
              <a:rPr lang="en-US" sz="2800" b="1" dirty="0">
                <a:latin typeface="Times New Roman" pitchFamily="18" charset="0"/>
                <a:cs typeface="Times New Roman" pitchFamily="18" charset="0"/>
              </a:rPr>
              <a:t> x, *p, y;</a:t>
            </a:r>
          </a:p>
          <a:p>
            <a:pPr>
              <a:lnSpc>
                <a:spcPct val="150000"/>
              </a:lnSpc>
            </a:pPr>
            <a:r>
              <a:rPr lang="en-US" sz="2800" b="1" dirty="0">
                <a:latin typeface="Times New Roman" pitchFamily="18" charset="0"/>
                <a:cs typeface="Times New Roman" pitchFamily="18" charset="0"/>
              </a:rPr>
              <a:t>x = 10;</a:t>
            </a:r>
          </a:p>
          <a:p>
            <a:pPr>
              <a:lnSpc>
                <a:spcPct val="150000"/>
              </a:lnSpc>
            </a:pPr>
            <a:r>
              <a:rPr lang="en-US" sz="2800" b="1" dirty="0">
                <a:latin typeface="Times New Roman" pitchFamily="18" charset="0"/>
                <a:cs typeface="Times New Roman" pitchFamily="18" charset="0"/>
              </a:rPr>
              <a:t>p = &amp; x;</a:t>
            </a:r>
          </a:p>
          <a:p>
            <a:pPr>
              <a:lnSpc>
                <a:spcPct val="150000"/>
              </a:lnSpc>
            </a:pPr>
            <a:r>
              <a:rPr lang="en-US" sz="2800" b="1" dirty="0">
                <a:latin typeface="Times New Roman" pitchFamily="18" charset="0"/>
                <a:cs typeface="Times New Roman" pitchFamily="18" charset="0"/>
              </a:rPr>
              <a:t>y = *p;</a:t>
            </a:r>
            <a:r>
              <a:rPr lang="en-US" sz="2800" dirty="0">
                <a:latin typeface="Times New Roman" pitchFamily="18" charset="0"/>
                <a:cs typeface="Times New Roman" pitchFamily="18" charset="0"/>
              </a:rPr>
              <a:t> /* accessing x through p */</a:t>
            </a:r>
          </a:p>
          <a:p>
            <a:pPr>
              <a:lnSpc>
                <a:spcPct val="200000"/>
              </a:lnSpc>
            </a:pPr>
            <a:r>
              <a:rPr lang="en-US" sz="2800" b="1" dirty="0">
                <a:latin typeface="Times New Roman" pitchFamily="18" charset="0"/>
                <a:cs typeface="Times New Roman" pitchFamily="18" charset="0"/>
              </a:rPr>
              <a:t>*p = 20;</a:t>
            </a:r>
            <a:r>
              <a:rPr lang="en-US" sz="2800" dirty="0">
                <a:latin typeface="Times New Roman" pitchFamily="18" charset="0"/>
                <a:cs typeface="Times New Roman" pitchFamily="18" charset="0"/>
              </a:rPr>
              <a:t> /* assigning 20 to x */</a:t>
            </a:r>
          </a:p>
          <a:p>
            <a:pPr>
              <a:lnSpc>
                <a:spcPct val="150000"/>
              </a:lnSpc>
            </a:pPr>
            <a:r>
              <a:rPr lang="en-US" sz="2800" dirty="0">
                <a:latin typeface="Times New Roman" pitchFamily="18" charset="0"/>
                <a:cs typeface="Times New Roman" pitchFamily="18" charset="0"/>
              </a:rPr>
              <a:t>We use:   </a:t>
            </a:r>
            <a:r>
              <a:rPr lang="en-US" sz="2800" b="1" dirty="0" err="1">
                <a:latin typeface="Times New Roman" pitchFamily="18" charset="0"/>
                <a:cs typeface="Times New Roman" pitchFamily="18" charset="0"/>
              </a:rPr>
              <a:t>int</a:t>
            </a:r>
            <a:r>
              <a:rPr lang="en-US" sz="2800" b="1" dirty="0">
                <a:latin typeface="Times New Roman" pitchFamily="18" charset="0"/>
                <a:cs typeface="Times New Roman" pitchFamily="18" charset="0"/>
              </a:rPr>
              <a:t> *p;</a:t>
            </a:r>
          </a:p>
        </p:txBody>
      </p:sp>
    </p:spTree>
    <p:extLst>
      <p:ext uri="{BB962C8B-B14F-4D97-AF65-F5344CB8AC3E}">
        <p14:creationId xmlns:p14="http://schemas.microsoft.com/office/powerpoint/2010/main" val="2268826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134069" cy="523220"/>
          </a:xfrm>
          <a:prstGeom prst="rect">
            <a:avLst/>
          </a:prstGeom>
        </p:spPr>
        <p:txBody>
          <a:bodyPr wrap="none">
            <a:spAutoFit/>
          </a:bodyPr>
          <a:lstStyle/>
          <a:p>
            <a:r>
              <a:rPr lang="en-US" sz="2800" dirty="0">
                <a:latin typeface="Times New Roman" pitchFamily="18" charset="0"/>
                <a:cs typeface="Times New Roman" pitchFamily="18" charset="0"/>
              </a:rPr>
              <a:t>INITIALIZATION OF POINTER VARIABLES</a:t>
            </a:r>
          </a:p>
        </p:txBody>
      </p:sp>
      <p:sp>
        <p:nvSpPr>
          <p:cNvPr id="3" name="Rectangle 2"/>
          <p:cNvSpPr/>
          <p:nvPr/>
        </p:nvSpPr>
        <p:spPr>
          <a:xfrm>
            <a:off x="0" y="589935"/>
            <a:ext cx="12192000" cy="6119945"/>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The process of assigning the address of a variable to a pointer variable is known as initialization. As pointed out earlier, all uninitialized pointers will have some unknown values that will be interpreted as memory addresses. They may not be valid addresses or they may point to some values that are wrong. Since the compilers do not detect these errors, the programs with uninitialized pointers will produce erroneous results. It is therefore important to initialize pointer variables carefully before they are used in the program. </a:t>
            </a:r>
          </a:p>
          <a:p>
            <a:pPr algn="just">
              <a:lnSpc>
                <a:spcPct val="150000"/>
              </a:lnSpc>
            </a:pPr>
            <a:r>
              <a:rPr lang="en-US" sz="2400" dirty="0">
                <a:latin typeface="Times New Roman" pitchFamily="18" charset="0"/>
                <a:cs typeface="Times New Roman" pitchFamily="18" charset="0"/>
              </a:rPr>
              <a:t>Once a pointer variable has been declared we can use the assignment operator to initialize the</a:t>
            </a:r>
          </a:p>
          <a:p>
            <a:pPr algn="just">
              <a:lnSpc>
                <a:spcPct val="150000"/>
              </a:lnSpc>
            </a:pPr>
            <a:r>
              <a:rPr lang="en-US" sz="2400" dirty="0">
                <a:latin typeface="Times New Roman" pitchFamily="18" charset="0"/>
                <a:cs typeface="Times New Roman" pitchFamily="18" charset="0"/>
              </a:rPr>
              <a:t>variable. </a:t>
            </a:r>
            <a:r>
              <a:rPr lang="en-US" sz="2400" b="1" dirty="0">
                <a:latin typeface="Times New Roman" pitchFamily="18" charset="0"/>
                <a:cs typeface="Times New Roman" pitchFamily="18" charset="0"/>
              </a:rPr>
              <a:t>Example:</a:t>
            </a:r>
          </a:p>
          <a:p>
            <a:pPr algn="just">
              <a:lnSpc>
                <a:spcPct val="150000"/>
              </a:lnSpc>
            </a:pPr>
            <a:r>
              <a:rPr lang="en-US" sz="2400"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b="1" dirty="0">
                <a:latin typeface="Times New Roman" pitchFamily="18" charset="0"/>
                <a:cs typeface="Times New Roman" pitchFamily="18" charset="0"/>
              </a:rPr>
              <a:t> quantity;</a:t>
            </a:r>
          </a:p>
          <a:p>
            <a:pPr algn="just">
              <a:lnSpc>
                <a:spcPct val="150000"/>
              </a:lnSpc>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b="1" dirty="0">
                <a:latin typeface="Times New Roman" pitchFamily="18" charset="0"/>
                <a:cs typeface="Times New Roman" pitchFamily="18" charset="0"/>
              </a:rPr>
              <a:t> *p; /* declaration */</a:t>
            </a:r>
          </a:p>
          <a:p>
            <a:pPr algn="just">
              <a:lnSpc>
                <a:spcPct val="150000"/>
              </a:lnSpc>
            </a:pPr>
            <a:r>
              <a:rPr lang="en-US" sz="2400" b="1" dirty="0">
                <a:latin typeface="Times New Roman" pitchFamily="18" charset="0"/>
                <a:cs typeface="Times New Roman" pitchFamily="18" charset="0"/>
              </a:rPr>
              <a:t>			p = &amp;quantity; /* initialization */</a:t>
            </a:r>
          </a:p>
        </p:txBody>
      </p:sp>
    </p:spTree>
    <p:extLst>
      <p:ext uri="{BB962C8B-B14F-4D97-AF65-F5344CB8AC3E}">
        <p14:creationId xmlns:p14="http://schemas.microsoft.com/office/powerpoint/2010/main" val="1939419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740307"/>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We can also combine the initialization with the declaration. That is,</a:t>
            </a:r>
          </a:p>
          <a:p>
            <a:pPr algn="just">
              <a:lnSpc>
                <a:spcPct val="150000"/>
              </a:lnSpc>
            </a:pPr>
            <a:r>
              <a:rPr lang="en-US" sz="2400"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b="1" dirty="0">
                <a:latin typeface="Times New Roman" pitchFamily="18" charset="0"/>
                <a:cs typeface="Times New Roman" pitchFamily="18" charset="0"/>
              </a:rPr>
              <a:t> *p = &amp;quantity;</a:t>
            </a:r>
          </a:p>
          <a:p>
            <a:pPr algn="just">
              <a:lnSpc>
                <a:spcPct val="150000"/>
              </a:lnSpc>
            </a:pPr>
            <a:r>
              <a:rPr lang="en-US" sz="2400" dirty="0">
                <a:latin typeface="Times New Roman" pitchFamily="18" charset="0"/>
                <a:cs typeface="Times New Roman" pitchFamily="18" charset="0"/>
              </a:rPr>
              <a:t>is allowed. The only requirement here is that the variable quantity must be declared before the</a:t>
            </a:r>
          </a:p>
          <a:p>
            <a:pPr algn="just">
              <a:lnSpc>
                <a:spcPct val="150000"/>
              </a:lnSpc>
            </a:pPr>
            <a:r>
              <a:rPr lang="en-US" sz="2400" dirty="0">
                <a:latin typeface="Times New Roman" pitchFamily="18" charset="0"/>
                <a:cs typeface="Times New Roman" pitchFamily="18" charset="0"/>
              </a:rPr>
              <a:t>initialization takes place. Remember, this is an initialization of p and not *p.</a:t>
            </a:r>
          </a:p>
          <a:p>
            <a:pPr algn="just">
              <a:lnSpc>
                <a:spcPct val="150000"/>
              </a:lnSpc>
            </a:pPr>
            <a:r>
              <a:rPr lang="en-US" sz="2400" dirty="0">
                <a:latin typeface="Times New Roman" pitchFamily="18" charset="0"/>
                <a:cs typeface="Times New Roman" pitchFamily="18" charset="0"/>
              </a:rPr>
              <a:t>We must ensure that the pointer variables always point to the corresponding type of data. For</a:t>
            </a:r>
          </a:p>
          <a:p>
            <a:pPr algn="just">
              <a:lnSpc>
                <a:spcPct val="150000"/>
              </a:lnSpc>
            </a:pPr>
            <a:r>
              <a:rPr lang="en-US" sz="2400" dirty="0">
                <a:latin typeface="Times New Roman" pitchFamily="18" charset="0"/>
                <a:cs typeface="Times New Roman" pitchFamily="18" charset="0"/>
              </a:rPr>
              <a:t>example,</a:t>
            </a:r>
          </a:p>
          <a:p>
            <a:pPr algn="just">
              <a:lnSpc>
                <a:spcPct val="150000"/>
              </a:lnSpc>
            </a:pPr>
            <a:r>
              <a:rPr lang="en-US" sz="2400" dirty="0">
                <a:latin typeface="Times New Roman" pitchFamily="18" charset="0"/>
                <a:cs typeface="Times New Roman" pitchFamily="18" charset="0"/>
              </a:rPr>
              <a:t>		float a, b;</a:t>
            </a:r>
          </a:p>
          <a:p>
            <a:pPr algn="just">
              <a:lnSpc>
                <a:spcPct val="150000"/>
              </a:lnSpc>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x, *p;</a:t>
            </a:r>
          </a:p>
          <a:p>
            <a:pPr algn="just">
              <a:lnSpc>
                <a:spcPct val="150000"/>
              </a:lnSpc>
            </a:pPr>
            <a:r>
              <a:rPr lang="en-US" sz="2400" dirty="0">
                <a:latin typeface="Times New Roman" pitchFamily="18" charset="0"/>
                <a:cs typeface="Times New Roman" pitchFamily="18" charset="0"/>
              </a:rPr>
              <a:t>		p = &amp;a; /* wrong */</a:t>
            </a:r>
          </a:p>
          <a:p>
            <a:pPr algn="just">
              <a:lnSpc>
                <a:spcPct val="150000"/>
              </a:lnSpc>
            </a:pPr>
            <a:r>
              <a:rPr lang="en-US" sz="2400" dirty="0">
                <a:latin typeface="Times New Roman" pitchFamily="18" charset="0"/>
                <a:cs typeface="Times New Roman" pitchFamily="18" charset="0"/>
              </a:rPr>
              <a:t>		b = *p;</a:t>
            </a:r>
          </a:p>
          <a:p>
            <a:pPr algn="just"/>
            <a:r>
              <a:rPr lang="en-US" sz="2400" dirty="0">
                <a:latin typeface="Times New Roman" pitchFamily="18" charset="0"/>
                <a:cs typeface="Times New Roman" pitchFamily="18" charset="0"/>
              </a:rPr>
              <a:t>will result in erroneous output because we are trying to assign the address of a float variable to an</a:t>
            </a:r>
          </a:p>
          <a:p>
            <a:pPr algn="just"/>
            <a:r>
              <a:rPr lang="en-US" sz="2400" dirty="0">
                <a:latin typeface="Times New Roman" pitchFamily="18" charset="0"/>
                <a:cs typeface="Times New Roman" pitchFamily="18" charset="0"/>
              </a:rPr>
              <a:t>integer pointer.</a:t>
            </a:r>
          </a:p>
          <a:p>
            <a:pPr algn="just"/>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885532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924973"/>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When we declare a pointer to be of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type, the system assumes that any address that the pointer will hold will point to an integer variable. Since the compiler will not detect such errors, care</a:t>
            </a:r>
          </a:p>
          <a:p>
            <a:pPr algn="just">
              <a:lnSpc>
                <a:spcPct val="150000"/>
              </a:lnSpc>
            </a:pPr>
            <a:r>
              <a:rPr lang="en-US" sz="2400" dirty="0">
                <a:latin typeface="Times New Roman" pitchFamily="18" charset="0"/>
                <a:cs typeface="Times New Roman" pitchFamily="18" charset="0"/>
              </a:rPr>
              <a:t>should be taken to avoid wrong pointer assignments.</a:t>
            </a:r>
          </a:p>
          <a:p>
            <a:pPr algn="just">
              <a:lnSpc>
                <a:spcPct val="150000"/>
              </a:lnSpc>
            </a:pPr>
            <a:r>
              <a:rPr lang="en-US" sz="2400" dirty="0">
                <a:latin typeface="Times New Roman" pitchFamily="18" charset="0"/>
                <a:cs typeface="Times New Roman" pitchFamily="18" charset="0"/>
              </a:rPr>
              <a:t>It is also possible to combine the declaration of data variable, the declaration of pointer variable and the initialization of the pointer variable in one step. For example,</a:t>
            </a:r>
          </a:p>
          <a:p>
            <a:pPr algn="just"/>
            <a:r>
              <a:rPr lang="en-US" sz="2400"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b="1" dirty="0">
                <a:latin typeface="Times New Roman" pitchFamily="18" charset="0"/>
                <a:cs typeface="Times New Roman" pitchFamily="18" charset="0"/>
              </a:rPr>
              <a:t> x, *p = &amp;x; /* three in one */</a:t>
            </a:r>
          </a:p>
          <a:p>
            <a:pPr algn="just">
              <a:lnSpc>
                <a:spcPct val="150000"/>
              </a:lnSpc>
            </a:pPr>
            <a:r>
              <a:rPr lang="en-US" sz="2400" dirty="0">
                <a:latin typeface="Times New Roman" pitchFamily="18" charset="0"/>
                <a:cs typeface="Times New Roman" pitchFamily="18" charset="0"/>
              </a:rPr>
              <a:t>is perfectly valid. It declares x as an integer variable and p as a pointer variable and then initializes p to the address of x. And also remember that the target variable x is declared first. The statement</a:t>
            </a:r>
          </a:p>
          <a:p>
            <a:pPr algn="just"/>
            <a:r>
              <a:rPr lang="en-US" sz="2400"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b="1" dirty="0">
                <a:latin typeface="Times New Roman" pitchFamily="18" charset="0"/>
                <a:cs typeface="Times New Roman" pitchFamily="18" charset="0"/>
              </a:rPr>
              <a:t> *p = &amp;x, x;</a:t>
            </a:r>
          </a:p>
          <a:p>
            <a:pPr algn="just"/>
            <a:r>
              <a:rPr lang="en-US" sz="2400" dirty="0">
                <a:latin typeface="Times New Roman" pitchFamily="18" charset="0"/>
                <a:cs typeface="Times New Roman" pitchFamily="18" charset="0"/>
              </a:rPr>
              <a:t>is not valid.</a:t>
            </a:r>
          </a:p>
          <a:p>
            <a:pPr algn="just">
              <a:lnSpc>
                <a:spcPct val="150000"/>
              </a:lnSpc>
            </a:pPr>
            <a:r>
              <a:rPr lang="en-US" sz="2400" dirty="0">
                <a:latin typeface="Times New Roman" pitchFamily="18" charset="0"/>
                <a:cs typeface="Times New Roman" pitchFamily="18" charset="0"/>
              </a:rPr>
              <a:t>We could also define a pointer variable with an initial value of NULL or 0 (zero). That is, the following statements are valued</a:t>
            </a:r>
          </a:p>
          <a:p>
            <a:pPr algn="just"/>
            <a:r>
              <a:rPr lang="en-US" sz="2400"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b="1" dirty="0">
                <a:latin typeface="Times New Roman" pitchFamily="18" charset="0"/>
                <a:cs typeface="Times New Roman" pitchFamily="18" charset="0"/>
              </a:rPr>
              <a:t> *p = NULL;</a:t>
            </a:r>
          </a:p>
          <a:p>
            <a:pPr algn="just"/>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b="1" dirty="0">
                <a:latin typeface="Times New Roman" pitchFamily="18" charset="0"/>
                <a:cs typeface="Times New Roman" pitchFamily="18" charset="0"/>
              </a:rPr>
              <a:t> *p = 0;</a:t>
            </a:r>
          </a:p>
        </p:txBody>
      </p:sp>
    </p:spTree>
    <p:extLst>
      <p:ext uri="{BB962C8B-B14F-4D97-AF65-F5344CB8AC3E}">
        <p14:creationId xmlns:p14="http://schemas.microsoft.com/office/powerpoint/2010/main" val="246037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959400" cy="523220"/>
          </a:xfrm>
          <a:prstGeom prst="rect">
            <a:avLst/>
          </a:prstGeom>
        </p:spPr>
        <p:txBody>
          <a:bodyPr wrap="none">
            <a:spAutoFit/>
          </a:bodyPr>
          <a:lstStyle/>
          <a:p>
            <a:r>
              <a:rPr lang="en-US" sz="2800" b="1" dirty="0">
                <a:latin typeface="Times New Roman" pitchFamily="18" charset="0"/>
                <a:cs typeface="Times New Roman" pitchFamily="18" charset="0"/>
              </a:rPr>
              <a:t>Pointer Flexibility</a:t>
            </a:r>
          </a:p>
        </p:txBody>
      </p:sp>
      <p:sp>
        <p:nvSpPr>
          <p:cNvPr id="3" name="Rectangle 2"/>
          <p:cNvSpPr/>
          <p:nvPr/>
        </p:nvSpPr>
        <p:spPr>
          <a:xfrm>
            <a:off x="-1" y="693929"/>
            <a:ext cx="11367247" cy="3785652"/>
          </a:xfrm>
          <a:prstGeom prst="rect">
            <a:avLst/>
          </a:prstGeom>
        </p:spPr>
        <p:txBody>
          <a:bodyPr wrap="square">
            <a:spAutoFit/>
          </a:bodyPr>
          <a:lstStyle/>
          <a:p>
            <a:r>
              <a:rPr lang="en-US" sz="2400" dirty="0">
                <a:latin typeface="Times New Roman" pitchFamily="18" charset="0"/>
                <a:cs typeface="Times New Roman" pitchFamily="18" charset="0"/>
              </a:rPr>
              <a:t>Pointers are flexible. We can make the same pointer to point to different data variables in different statements. Example;</a:t>
            </a:r>
          </a:p>
          <a:p>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x, y, z, *p;</a:t>
            </a:r>
          </a:p>
          <a:p>
            <a:r>
              <a:rPr lang="en-US" sz="2400" dirty="0">
                <a:latin typeface="Times New Roman" pitchFamily="18" charset="0"/>
                <a:cs typeface="Times New Roman" pitchFamily="18" charset="0"/>
              </a:rPr>
              <a:t>. . . . .</a:t>
            </a:r>
          </a:p>
          <a:p>
            <a:r>
              <a:rPr lang="en-US" sz="2400" dirty="0">
                <a:latin typeface="Times New Roman" pitchFamily="18" charset="0"/>
                <a:cs typeface="Times New Roman" pitchFamily="18" charset="0"/>
              </a:rPr>
              <a:t>p = &amp;x;</a:t>
            </a:r>
          </a:p>
          <a:p>
            <a:r>
              <a:rPr lang="en-US" sz="2400" dirty="0">
                <a:latin typeface="Times New Roman" pitchFamily="18" charset="0"/>
                <a:cs typeface="Times New Roman" pitchFamily="18" charset="0"/>
              </a:rPr>
              <a:t>. . . . .</a:t>
            </a:r>
          </a:p>
          <a:p>
            <a:r>
              <a:rPr lang="en-US" sz="2400" dirty="0">
                <a:latin typeface="Times New Roman" pitchFamily="18" charset="0"/>
                <a:cs typeface="Times New Roman" pitchFamily="18" charset="0"/>
              </a:rPr>
              <a:t>p = &amp;y;</a:t>
            </a:r>
          </a:p>
          <a:p>
            <a:r>
              <a:rPr lang="en-US" sz="2400" dirty="0">
                <a:latin typeface="Times New Roman" pitchFamily="18" charset="0"/>
                <a:cs typeface="Times New Roman" pitchFamily="18" charset="0"/>
              </a:rPr>
              <a:t>. . . . .</a:t>
            </a:r>
          </a:p>
          <a:p>
            <a:r>
              <a:rPr lang="en-US" sz="2400" dirty="0">
                <a:latin typeface="Times New Roman" pitchFamily="18" charset="0"/>
                <a:cs typeface="Times New Roman" pitchFamily="18" charset="0"/>
              </a:rPr>
              <a:t>p = &amp;z;</a:t>
            </a:r>
          </a:p>
          <a:p>
            <a:r>
              <a:rPr lang="en-US" sz="2400" dirty="0">
                <a:latin typeface="Times New Roman" pitchFamily="18" charset="0"/>
                <a:cs typeface="Times New Roman" pitchFamily="18" charset="0"/>
              </a:rPr>
              <a:t>. . . . .</a:t>
            </a:r>
          </a:p>
        </p:txBody>
      </p:sp>
      <p:pic>
        <p:nvPicPr>
          <p:cNvPr id="1026" name="Picture 2"/>
          <p:cNvPicPr>
            <a:picLocks noChangeAspect="1" noChangeArrowheads="1"/>
          </p:cNvPicPr>
          <p:nvPr/>
        </p:nvPicPr>
        <p:blipFill>
          <a:blip r:embed="rId2"/>
          <a:srcRect/>
          <a:stretch>
            <a:fillRect/>
          </a:stretch>
        </p:blipFill>
        <p:spPr bwMode="auto">
          <a:xfrm>
            <a:off x="5869082" y="1585913"/>
            <a:ext cx="3143250" cy="2466975"/>
          </a:xfrm>
          <a:prstGeom prst="rect">
            <a:avLst/>
          </a:prstGeom>
          <a:noFill/>
          <a:ln w="9525">
            <a:noFill/>
            <a:miter lim="800000"/>
            <a:headEnd/>
            <a:tailEnd/>
          </a:ln>
          <a:effectLst/>
        </p:spPr>
      </p:pic>
    </p:spTree>
    <p:extLst>
      <p:ext uri="{BB962C8B-B14F-4D97-AF65-F5344CB8AC3E}">
        <p14:creationId xmlns:p14="http://schemas.microsoft.com/office/powerpoint/2010/main" val="4220901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897035" cy="3903954"/>
          </a:xfrm>
          <a:prstGeom prst="rect">
            <a:avLst/>
          </a:prstGeom>
        </p:spPr>
        <p:txBody>
          <a:bodyPr wrap="square">
            <a:spAutoFit/>
          </a:bodyPr>
          <a:lstStyle/>
          <a:p>
            <a:pPr>
              <a:lnSpc>
                <a:spcPct val="150000"/>
              </a:lnSpc>
            </a:pPr>
            <a:r>
              <a:rPr lang="en-US" sz="2400" dirty="0">
                <a:latin typeface="Times New Roman" pitchFamily="18" charset="0"/>
                <a:cs typeface="Times New Roman" pitchFamily="18" charset="0"/>
              </a:rPr>
              <a:t>We can also use different pointers to point to the same data variable. Example;</a:t>
            </a:r>
          </a:p>
          <a:p>
            <a:pPr>
              <a:lnSpc>
                <a:spcPct val="150000"/>
              </a:lnSpc>
            </a:pP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x;</a:t>
            </a:r>
          </a:p>
          <a:p>
            <a:pPr>
              <a:lnSpc>
                <a:spcPct val="150000"/>
              </a:lnSpc>
            </a:pP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*p1 = &amp;x;</a:t>
            </a:r>
          </a:p>
          <a:p>
            <a:pPr>
              <a:lnSpc>
                <a:spcPct val="150000"/>
              </a:lnSpc>
            </a:pP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*p2 = &amp;x;</a:t>
            </a:r>
          </a:p>
          <a:p>
            <a:pPr>
              <a:lnSpc>
                <a:spcPct val="150000"/>
              </a:lnSpc>
            </a:pP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*p3 = &amp;x;</a:t>
            </a:r>
          </a:p>
          <a:p>
            <a:pPr>
              <a:lnSpc>
                <a:spcPct val="150000"/>
              </a:lnSpc>
            </a:pPr>
            <a:r>
              <a:rPr lang="en-US" sz="2400" dirty="0">
                <a:latin typeface="Times New Roman" pitchFamily="18" charset="0"/>
                <a:cs typeface="Times New Roman" pitchFamily="18" charset="0"/>
              </a:rPr>
              <a:t>. . . . .</a:t>
            </a:r>
          </a:p>
          <a:p>
            <a:pPr>
              <a:lnSpc>
                <a:spcPct val="150000"/>
              </a:lnSpc>
            </a:pPr>
            <a:r>
              <a:rPr lang="en-US" sz="2400" dirty="0">
                <a:latin typeface="Times New Roman" pitchFamily="18" charset="0"/>
                <a:cs typeface="Times New Roman" pitchFamily="18" charset="0"/>
              </a:rPr>
              <a:t>. . . . .</a:t>
            </a:r>
          </a:p>
        </p:txBody>
      </p:sp>
      <p:sp>
        <p:nvSpPr>
          <p:cNvPr id="3" name="Rectangle 2"/>
          <p:cNvSpPr/>
          <p:nvPr/>
        </p:nvSpPr>
        <p:spPr>
          <a:xfrm>
            <a:off x="0" y="4290083"/>
            <a:ext cx="12192000" cy="2241960"/>
          </a:xfrm>
          <a:prstGeom prst="rect">
            <a:avLst/>
          </a:prstGeom>
        </p:spPr>
        <p:txBody>
          <a:bodyPr wrap="square">
            <a:spAutoFit/>
          </a:bodyPr>
          <a:lstStyle/>
          <a:p>
            <a:pPr>
              <a:lnSpc>
                <a:spcPct val="150000"/>
              </a:lnSpc>
            </a:pPr>
            <a:r>
              <a:rPr lang="en-US" sz="2400" dirty="0">
                <a:latin typeface="Times New Roman" pitchFamily="18" charset="0"/>
                <a:cs typeface="Times New Roman" pitchFamily="18" charset="0"/>
              </a:rPr>
              <a:t>With the exception of NULL and 0, no other constant value can be assigned to a pointer variable. For</a:t>
            </a:r>
          </a:p>
          <a:p>
            <a:pPr>
              <a:lnSpc>
                <a:spcPct val="150000"/>
              </a:lnSpc>
            </a:pPr>
            <a:r>
              <a:rPr lang="en-US" sz="2400" dirty="0">
                <a:latin typeface="Times New Roman" pitchFamily="18" charset="0"/>
                <a:cs typeface="Times New Roman" pitchFamily="18" charset="0"/>
              </a:rPr>
              <a:t>example, the following is wrong:</a:t>
            </a:r>
          </a:p>
          <a:p>
            <a:pPr>
              <a:lnSpc>
                <a:spcPct val="150000"/>
              </a:lnSpc>
            </a:pP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*p = 5360; / *absolute address */</a:t>
            </a:r>
          </a:p>
        </p:txBody>
      </p:sp>
      <p:pic>
        <p:nvPicPr>
          <p:cNvPr id="2050" name="Picture 2"/>
          <p:cNvPicPr>
            <a:picLocks noChangeAspect="1" noChangeArrowheads="1"/>
          </p:cNvPicPr>
          <p:nvPr/>
        </p:nvPicPr>
        <p:blipFill>
          <a:blip r:embed="rId2"/>
          <a:srcRect/>
          <a:stretch>
            <a:fillRect/>
          </a:stretch>
        </p:blipFill>
        <p:spPr bwMode="auto">
          <a:xfrm>
            <a:off x="3801034" y="974072"/>
            <a:ext cx="3675529" cy="2109787"/>
          </a:xfrm>
          <a:prstGeom prst="rect">
            <a:avLst/>
          </a:prstGeom>
          <a:noFill/>
          <a:ln w="9525">
            <a:noFill/>
            <a:miter lim="800000"/>
            <a:headEnd/>
            <a:tailEnd/>
          </a:ln>
          <a:effectLst/>
        </p:spPr>
      </p:pic>
    </p:spTree>
    <p:extLst>
      <p:ext uri="{BB962C8B-B14F-4D97-AF65-F5344CB8AC3E}">
        <p14:creationId xmlns:p14="http://schemas.microsoft.com/office/powerpoint/2010/main" val="2296245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342861" cy="523220"/>
          </a:xfrm>
          <a:prstGeom prst="rect">
            <a:avLst/>
          </a:prstGeom>
        </p:spPr>
        <p:txBody>
          <a:bodyPr wrap="none">
            <a:spAutoFit/>
          </a:bodyPr>
          <a:lstStyle/>
          <a:p>
            <a:r>
              <a:rPr lang="en-US" sz="2800" dirty="0">
                <a:latin typeface="Times New Roman" pitchFamily="18" charset="0"/>
                <a:cs typeface="Times New Roman" pitchFamily="18" charset="0"/>
              </a:rPr>
              <a:t>ACCESSING A VARIABLE THROUGH ITS POINTER</a:t>
            </a:r>
          </a:p>
        </p:txBody>
      </p:sp>
      <p:sp>
        <p:nvSpPr>
          <p:cNvPr id="3" name="Rectangle 2"/>
          <p:cNvSpPr/>
          <p:nvPr/>
        </p:nvSpPr>
        <p:spPr>
          <a:xfrm>
            <a:off x="0" y="478775"/>
            <a:ext cx="12192000" cy="5078313"/>
          </a:xfrm>
          <a:prstGeom prst="rect">
            <a:avLst/>
          </a:prstGeom>
        </p:spPr>
        <p:txBody>
          <a:bodyPr wrap="square">
            <a:spAutoFit/>
          </a:bodyPr>
          <a:lstStyle/>
          <a:p>
            <a:pPr>
              <a:lnSpc>
                <a:spcPct val="150000"/>
              </a:lnSpc>
            </a:pPr>
            <a:r>
              <a:rPr lang="en-US" sz="2400" dirty="0">
                <a:latin typeface="Times New Roman" pitchFamily="18" charset="0"/>
                <a:cs typeface="Times New Roman" pitchFamily="18" charset="0"/>
              </a:rPr>
              <a:t>Once a pointer has been assigned the address of a variable, the question remains as to how to access the value of the variable using the pointer? This is done by using another unary operator * (asterisk), usually known as the indirection operator. </a:t>
            </a:r>
          </a:p>
          <a:p>
            <a:pPr>
              <a:lnSpc>
                <a:spcPct val="150000"/>
              </a:lnSpc>
            </a:pPr>
            <a:r>
              <a:rPr lang="en-US" sz="2400" dirty="0">
                <a:latin typeface="Times New Roman" pitchFamily="18" charset="0"/>
                <a:cs typeface="Times New Roman" pitchFamily="18" charset="0"/>
              </a:rPr>
              <a:t>Another name for the indirection operator is the dereferencing operator. Consider the following statements:</a:t>
            </a:r>
          </a:p>
          <a:p>
            <a:pPr>
              <a:lnSpc>
                <a:spcPct val="150000"/>
              </a:lnSpc>
            </a:pPr>
            <a:r>
              <a:rPr lang="en-US" sz="2400"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b="1" dirty="0">
                <a:latin typeface="Times New Roman" pitchFamily="18" charset="0"/>
                <a:cs typeface="Times New Roman" pitchFamily="18" charset="0"/>
              </a:rPr>
              <a:t> quantity, *p, n;</a:t>
            </a:r>
          </a:p>
          <a:p>
            <a:pPr>
              <a:lnSpc>
                <a:spcPct val="150000"/>
              </a:lnSpc>
            </a:pPr>
            <a:r>
              <a:rPr lang="en-US" sz="2400" b="1" dirty="0">
                <a:latin typeface="Times New Roman" pitchFamily="18" charset="0"/>
                <a:cs typeface="Times New Roman" pitchFamily="18" charset="0"/>
              </a:rPr>
              <a:t>	quantity = 179;</a:t>
            </a:r>
          </a:p>
          <a:p>
            <a:pPr>
              <a:lnSpc>
                <a:spcPct val="150000"/>
              </a:lnSpc>
            </a:pPr>
            <a:r>
              <a:rPr lang="en-US" sz="2400" b="1" dirty="0">
                <a:latin typeface="Times New Roman" pitchFamily="18" charset="0"/>
                <a:cs typeface="Times New Roman" pitchFamily="18" charset="0"/>
              </a:rPr>
              <a:t>	p = &amp;quantity;</a:t>
            </a:r>
          </a:p>
          <a:p>
            <a:pPr>
              <a:lnSpc>
                <a:spcPct val="150000"/>
              </a:lnSpc>
            </a:pPr>
            <a:r>
              <a:rPr lang="en-US" sz="2400" b="1" dirty="0">
                <a:latin typeface="Times New Roman" pitchFamily="18" charset="0"/>
                <a:cs typeface="Times New Roman" pitchFamily="18" charset="0"/>
              </a:rPr>
              <a:t>	n = *p;</a:t>
            </a:r>
          </a:p>
        </p:txBody>
      </p:sp>
    </p:spTree>
    <p:extLst>
      <p:ext uri="{BB962C8B-B14F-4D97-AF65-F5344CB8AC3E}">
        <p14:creationId xmlns:p14="http://schemas.microsoft.com/office/powerpoint/2010/main" val="623378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32968"/>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The first line declares quantity and n as integer variables and p as a pointer variable pointing to an</a:t>
            </a:r>
          </a:p>
          <a:p>
            <a:pPr algn="just">
              <a:lnSpc>
                <a:spcPct val="150000"/>
              </a:lnSpc>
            </a:pPr>
            <a:r>
              <a:rPr lang="en-US" sz="2400" dirty="0">
                <a:latin typeface="Times New Roman" pitchFamily="18" charset="0"/>
                <a:cs typeface="Times New Roman" pitchFamily="18" charset="0"/>
              </a:rPr>
              <a:t>integer. The second line assigns the value 179 to quantity and the third line assigns the address of</a:t>
            </a:r>
          </a:p>
          <a:p>
            <a:pPr algn="just">
              <a:lnSpc>
                <a:spcPct val="150000"/>
              </a:lnSpc>
            </a:pPr>
            <a:r>
              <a:rPr lang="en-US" sz="2400" dirty="0">
                <a:latin typeface="Times New Roman" pitchFamily="18" charset="0"/>
                <a:cs typeface="Times New Roman" pitchFamily="18" charset="0"/>
              </a:rPr>
              <a:t>quantity to the pointer variable p. The fourth line contains the indirection operator *. When the operator * is placed before a pointer variable in an expression (on the right-hand side of the equal sign), the pointer returns the value of the variable of which the pointer value is the address. In this case, *p returns the value of the variable quantity, because p is the address of quantity. The * can be remembered as ‘value at address’. Thus, the value of n would be 179. The two statements</a:t>
            </a:r>
          </a:p>
          <a:p>
            <a:pPr algn="just"/>
            <a:r>
              <a:rPr lang="en-US" sz="2400" dirty="0">
                <a:latin typeface="Times New Roman" pitchFamily="18" charset="0"/>
                <a:cs typeface="Times New Roman" pitchFamily="18" charset="0"/>
              </a:rPr>
              <a:t>p = &amp;quantity;</a:t>
            </a:r>
          </a:p>
          <a:p>
            <a:pPr algn="just">
              <a:lnSpc>
                <a:spcPct val="150000"/>
              </a:lnSpc>
            </a:pPr>
            <a:r>
              <a:rPr lang="en-US" sz="2400" dirty="0">
                <a:latin typeface="Times New Roman" pitchFamily="18" charset="0"/>
                <a:cs typeface="Times New Roman" pitchFamily="18" charset="0"/>
              </a:rPr>
              <a:t>n = *p;</a:t>
            </a:r>
          </a:p>
          <a:p>
            <a:pPr algn="just"/>
            <a:r>
              <a:rPr lang="en-US" sz="2400" dirty="0">
                <a:latin typeface="Times New Roman" pitchFamily="18" charset="0"/>
                <a:cs typeface="Times New Roman" pitchFamily="18" charset="0"/>
              </a:rPr>
              <a:t>are equivalent to</a:t>
            </a:r>
          </a:p>
          <a:p>
            <a:pPr algn="just">
              <a:lnSpc>
                <a:spcPct val="150000"/>
              </a:lnSpc>
            </a:pPr>
            <a:r>
              <a:rPr lang="en-US" sz="2400" dirty="0">
                <a:latin typeface="Times New Roman" pitchFamily="18" charset="0"/>
                <a:cs typeface="Times New Roman" pitchFamily="18" charset="0"/>
              </a:rPr>
              <a:t>n = *&amp;quantity;</a:t>
            </a:r>
          </a:p>
          <a:p>
            <a:pPr algn="just">
              <a:lnSpc>
                <a:spcPct val="150000"/>
              </a:lnSpc>
            </a:pPr>
            <a:r>
              <a:rPr lang="en-US" sz="2400" dirty="0">
                <a:latin typeface="Times New Roman" pitchFamily="18" charset="0"/>
                <a:cs typeface="Times New Roman" pitchFamily="18" charset="0"/>
              </a:rPr>
              <a:t>which in turn is equivalent to</a:t>
            </a:r>
          </a:p>
          <a:p>
            <a:pPr algn="just">
              <a:lnSpc>
                <a:spcPct val="150000"/>
              </a:lnSpc>
            </a:pPr>
            <a:r>
              <a:rPr lang="en-US" sz="2400" dirty="0">
                <a:latin typeface="Times New Roman" pitchFamily="18" charset="0"/>
                <a:cs typeface="Times New Roman" pitchFamily="18" charset="0"/>
              </a:rPr>
              <a:t>n = quantity;</a:t>
            </a:r>
          </a:p>
          <a:p>
            <a:pPr algn="just">
              <a:lnSpc>
                <a:spcPct val="150000"/>
              </a:lnSpc>
            </a:pPr>
            <a:endParaRPr lang="en-US" sz="2400" dirty="0">
              <a:latin typeface="Times New Roman" pitchFamily="18" charset="0"/>
              <a:cs typeface="Times New Roman" pitchFamily="18" charset="0"/>
            </a:endParaRPr>
          </a:p>
          <a:p>
            <a:pPr algn="just">
              <a:lnSpc>
                <a:spcPct val="150000"/>
              </a:lnSpc>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100263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476961"/>
            <a:ext cx="11976847" cy="2803140"/>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In C, the assignment of pointers and addresses is always done symbolically, by means of symbolic names. You cannot access the value stored at the address 5368 by writing *5368. It will not work.</a:t>
            </a:r>
          </a:p>
          <a:p>
            <a:pPr algn="just">
              <a:lnSpc>
                <a:spcPct val="150000"/>
              </a:lnSpc>
            </a:pPr>
            <a:r>
              <a:rPr lang="en-US" sz="2400" dirty="0">
                <a:latin typeface="Times New Roman" pitchFamily="18" charset="0"/>
                <a:cs typeface="Times New Roman" pitchFamily="18" charset="0"/>
              </a:rPr>
              <a:t>Below Program  illustrates the distinction between pointer value and the value it points to.</a:t>
            </a:r>
          </a:p>
          <a:p>
            <a:pPr>
              <a:lnSpc>
                <a:spcPct val="150000"/>
              </a:lnSpc>
            </a:pPr>
            <a:r>
              <a:rPr lang="en-US" sz="2400" dirty="0">
                <a:latin typeface="Times New Roman" pitchFamily="18" charset="0"/>
                <a:cs typeface="Times New Roman" pitchFamily="18" charset="0"/>
              </a:rPr>
              <a:t>The program clearly shows how we can access the value of a variable using a pointer. </a:t>
            </a:r>
          </a:p>
        </p:txBody>
      </p:sp>
    </p:spTree>
    <p:extLst>
      <p:ext uri="{BB962C8B-B14F-4D97-AF65-F5344CB8AC3E}">
        <p14:creationId xmlns:p14="http://schemas.microsoft.com/office/powerpoint/2010/main" val="402957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653"/>
            <a:ext cx="9144000" cy="6370975"/>
          </a:xfrm>
          <a:prstGeom prst="rect">
            <a:avLst/>
          </a:prstGeom>
        </p:spPr>
        <p:txBody>
          <a:bodyPr wrap="square">
            <a:spAutoFit/>
          </a:bodyPr>
          <a:lstStyle/>
          <a:p>
            <a:r>
              <a:rPr lang="en-US" sz="2400" dirty="0">
                <a:latin typeface="Times New Roman" pitchFamily="18" charset="0"/>
                <a:cs typeface="Times New Roman" pitchFamily="18" charset="0"/>
              </a:rPr>
              <a:t>Program</a:t>
            </a:r>
          </a:p>
          <a:p>
            <a:r>
              <a:rPr lang="en-US" sz="2400" dirty="0">
                <a:latin typeface="Times New Roman" pitchFamily="18" charset="0"/>
                <a:cs typeface="Times New Roman" pitchFamily="18" charset="0"/>
              </a:rPr>
              <a:t>main( )</a:t>
            </a:r>
          </a:p>
          <a:p>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	int x, y;</a:t>
            </a:r>
          </a:p>
          <a:p>
            <a:r>
              <a:rPr lang="en-US" sz="2400" dirty="0">
                <a:latin typeface="Times New Roman" pitchFamily="18" charset="0"/>
                <a:cs typeface="Times New Roman" pitchFamily="18" charset="0"/>
              </a:rPr>
              <a:t>	int *</a:t>
            </a:r>
            <a:r>
              <a:rPr lang="en-US" sz="2400" dirty="0" err="1">
                <a:latin typeface="Times New Roman" pitchFamily="18" charset="0"/>
                <a:cs typeface="Times New Roman" pitchFamily="18" charset="0"/>
              </a:rPr>
              <a:t>ptr</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x = 10;</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ptr</a:t>
            </a:r>
            <a:r>
              <a:rPr lang="en-US" sz="2400" dirty="0">
                <a:latin typeface="Times New Roman" pitchFamily="18" charset="0"/>
                <a:cs typeface="Times New Roman" pitchFamily="18" charset="0"/>
              </a:rPr>
              <a:t> = &amp;x;</a:t>
            </a:r>
          </a:p>
          <a:p>
            <a:r>
              <a:rPr lang="en-US" sz="2400" dirty="0">
                <a:latin typeface="Times New Roman" pitchFamily="18" charset="0"/>
                <a:cs typeface="Times New Roman" pitchFamily="18" charset="0"/>
              </a:rPr>
              <a:t>	y = *</a:t>
            </a:r>
            <a:r>
              <a:rPr lang="en-US" sz="2400" dirty="0" err="1">
                <a:latin typeface="Times New Roman" pitchFamily="18" charset="0"/>
                <a:cs typeface="Times New Roman" pitchFamily="18" charset="0"/>
              </a:rPr>
              <a:t>ptr</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(“Value of x is %d\n\</a:t>
            </a:r>
            <a:r>
              <a:rPr lang="en-US" sz="2400" dirty="0" err="1">
                <a:latin typeface="Times New Roman" pitchFamily="18" charset="0"/>
                <a:cs typeface="Times New Roman" pitchFamily="18" charset="0"/>
              </a:rPr>
              <a:t>n”,x</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(“%d is stored at </a:t>
            </a:r>
            <a:r>
              <a:rPr lang="en-US" sz="2400" dirty="0" err="1">
                <a:latin typeface="Times New Roman" pitchFamily="18" charset="0"/>
                <a:cs typeface="Times New Roman" pitchFamily="18" charset="0"/>
              </a:rPr>
              <a:t>addr</a:t>
            </a:r>
            <a:r>
              <a:rPr lang="en-US" sz="2400" dirty="0">
                <a:latin typeface="Times New Roman" pitchFamily="18" charset="0"/>
                <a:cs typeface="Times New Roman" pitchFamily="18" charset="0"/>
              </a:rPr>
              <a:t> %u\n”, x, &amp;x);</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(“%d is stored at </a:t>
            </a:r>
            <a:r>
              <a:rPr lang="en-US" sz="2400" dirty="0" err="1">
                <a:latin typeface="Times New Roman" pitchFamily="18" charset="0"/>
                <a:cs typeface="Times New Roman" pitchFamily="18" charset="0"/>
              </a:rPr>
              <a:t>addr</a:t>
            </a:r>
            <a:r>
              <a:rPr lang="en-US" sz="2400" dirty="0">
                <a:latin typeface="Times New Roman" pitchFamily="18" charset="0"/>
                <a:cs typeface="Times New Roman" pitchFamily="18" charset="0"/>
              </a:rPr>
              <a:t> %u\n”, *&amp;x, &amp;x);</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(“%d is stored at </a:t>
            </a:r>
            <a:r>
              <a:rPr lang="en-US" sz="2400" dirty="0" err="1">
                <a:latin typeface="Times New Roman" pitchFamily="18" charset="0"/>
                <a:cs typeface="Times New Roman" pitchFamily="18" charset="0"/>
              </a:rPr>
              <a:t>addr</a:t>
            </a:r>
            <a:r>
              <a:rPr lang="en-US" sz="2400" dirty="0">
                <a:latin typeface="Times New Roman" pitchFamily="18" charset="0"/>
                <a:cs typeface="Times New Roman" pitchFamily="18" charset="0"/>
              </a:rPr>
              <a:t> %u\n”, *</a:t>
            </a:r>
            <a:r>
              <a:rPr lang="en-US" sz="2400" dirty="0" err="1">
                <a:latin typeface="Times New Roman" pitchFamily="18" charset="0"/>
                <a:cs typeface="Times New Roman" pitchFamily="18" charset="0"/>
              </a:rPr>
              <a:t>ptr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ptr</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(“%d is stored at </a:t>
            </a:r>
            <a:r>
              <a:rPr lang="en-US" sz="2400" dirty="0" err="1">
                <a:latin typeface="Times New Roman" pitchFamily="18" charset="0"/>
                <a:cs typeface="Times New Roman" pitchFamily="18" charset="0"/>
              </a:rPr>
              <a:t>addr</a:t>
            </a:r>
            <a:r>
              <a:rPr lang="en-US" sz="2400" dirty="0">
                <a:latin typeface="Times New Roman" pitchFamily="18" charset="0"/>
                <a:cs typeface="Times New Roman" pitchFamily="18" charset="0"/>
              </a:rPr>
              <a:t> %u\n”, </a:t>
            </a:r>
            <a:r>
              <a:rPr lang="en-US" sz="2400" dirty="0" err="1">
                <a:latin typeface="Times New Roman" pitchFamily="18" charset="0"/>
                <a:cs typeface="Times New Roman" pitchFamily="18" charset="0"/>
              </a:rPr>
              <a:t>ptr</a:t>
            </a:r>
            <a:r>
              <a:rPr lang="en-US" sz="2400" dirty="0">
                <a:latin typeface="Times New Roman" pitchFamily="18" charset="0"/>
                <a:cs typeface="Times New Roman" pitchFamily="18" charset="0"/>
              </a:rPr>
              <a:t>, &amp;</a:t>
            </a:r>
            <a:r>
              <a:rPr lang="en-US" sz="2400" dirty="0" err="1">
                <a:latin typeface="Times New Roman" pitchFamily="18" charset="0"/>
                <a:cs typeface="Times New Roman" pitchFamily="18" charset="0"/>
              </a:rPr>
              <a:t>ptr</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(“%d is stored at </a:t>
            </a:r>
            <a:r>
              <a:rPr lang="en-US" sz="2400" dirty="0" err="1">
                <a:latin typeface="Times New Roman" pitchFamily="18" charset="0"/>
                <a:cs typeface="Times New Roman" pitchFamily="18" charset="0"/>
              </a:rPr>
              <a:t>addr</a:t>
            </a:r>
            <a:r>
              <a:rPr lang="en-US" sz="2400" dirty="0">
                <a:latin typeface="Times New Roman" pitchFamily="18" charset="0"/>
                <a:cs typeface="Times New Roman" pitchFamily="18" charset="0"/>
              </a:rPr>
              <a:t> %u\n”, y, &amp;y);</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ptr</a:t>
            </a:r>
            <a:r>
              <a:rPr lang="en-US" sz="2400" dirty="0">
                <a:latin typeface="Times New Roman" pitchFamily="18" charset="0"/>
                <a:cs typeface="Times New Roman" pitchFamily="18" charset="0"/>
              </a:rPr>
              <a:t> = 25;</a:t>
            </a:r>
          </a:p>
          <a:p>
            <a:r>
              <a:rPr lang="pt-BR" sz="2400" dirty="0">
                <a:latin typeface="Times New Roman" pitchFamily="18" charset="0"/>
                <a:cs typeface="Times New Roman" pitchFamily="18" charset="0"/>
              </a:rPr>
              <a:t>	printf(“\nNow x = %d\n”,x);</a:t>
            </a:r>
          </a:p>
          <a:p>
            <a:r>
              <a:rPr lang="en-US" sz="2400" dirty="0">
                <a:latin typeface="Times New Roman" pitchFamily="18" charset="0"/>
                <a:cs typeface="Times New Roman" pitchFamily="18" charset="0"/>
              </a:rPr>
              <a:t>  }</a:t>
            </a:r>
          </a:p>
        </p:txBody>
      </p:sp>
      <p:sp>
        <p:nvSpPr>
          <p:cNvPr id="3" name="Rectangle 2"/>
          <p:cNvSpPr/>
          <p:nvPr/>
        </p:nvSpPr>
        <p:spPr>
          <a:xfrm>
            <a:off x="7628965" y="3491437"/>
            <a:ext cx="4563035" cy="3416320"/>
          </a:xfrm>
          <a:prstGeom prst="rect">
            <a:avLst/>
          </a:prstGeom>
        </p:spPr>
        <p:txBody>
          <a:bodyPr wrap="square">
            <a:spAutoFit/>
          </a:bodyPr>
          <a:lstStyle/>
          <a:p>
            <a:pPr>
              <a:lnSpc>
                <a:spcPct val="150000"/>
              </a:lnSpc>
            </a:pPr>
            <a:r>
              <a:rPr lang="en-US" b="1" dirty="0">
                <a:latin typeface="Times New Roman" pitchFamily="18" charset="0"/>
                <a:cs typeface="Times New Roman" pitchFamily="18" charset="0"/>
              </a:rPr>
              <a:t>Output</a:t>
            </a:r>
          </a:p>
          <a:p>
            <a:pPr>
              <a:lnSpc>
                <a:spcPct val="150000"/>
              </a:lnSpc>
            </a:pPr>
            <a:r>
              <a:rPr lang="en-US" dirty="0">
                <a:latin typeface="Times New Roman" pitchFamily="18" charset="0"/>
                <a:cs typeface="Times New Roman" pitchFamily="18" charset="0"/>
              </a:rPr>
              <a:t>Value of x is 10</a:t>
            </a:r>
          </a:p>
          <a:p>
            <a:pPr>
              <a:lnSpc>
                <a:spcPct val="150000"/>
              </a:lnSpc>
            </a:pPr>
            <a:r>
              <a:rPr lang="en-US" dirty="0">
                <a:latin typeface="Times New Roman" pitchFamily="18" charset="0"/>
                <a:cs typeface="Times New Roman" pitchFamily="18" charset="0"/>
              </a:rPr>
              <a:t>10 is stored at </a:t>
            </a:r>
            <a:r>
              <a:rPr lang="en-US" dirty="0" err="1">
                <a:latin typeface="Times New Roman" pitchFamily="18" charset="0"/>
                <a:cs typeface="Times New Roman" pitchFamily="18" charset="0"/>
              </a:rPr>
              <a:t>addr</a:t>
            </a:r>
            <a:r>
              <a:rPr lang="en-US" dirty="0">
                <a:latin typeface="Times New Roman" pitchFamily="18" charset="0"/>
                <a:cs typeface="Times New Roman" pitchFamily="18" charset="0"/>
              </a:rPr>
              <a:t> 4104</a:t>
            </a:r>
          </a:p>
          <a:p>
            <a:pPr>
              <a:lnSpc>
                <a:spcPct val="150000"/>
              </a:lnSpc>
            </a:pPr>
            <a:r>
              <a:rPr lang="en-US" dirty="0">
                <a:latin typeface="Times New Roman" pitchFamily="18" charset="0"/>
                <a:cs typeface="Times New Roman" pitchFamily="18" charset="0"/>
              </a:rPr>
              <a:t>10 is stored at </a:t>
            </a:r>
            <a:r>
              <a:rPr lang="en-US" dirty="0" err="1">
                <a:latin typeface="Times New Roman" pitchFamily="18" charset="0"/>
                <a:cs typeface="Times New Roman" pitchFamily="18" charset="0"/>
              </a:rPr>
              <a:t>addr</a:t>
            </a:r>
            <a:r>
              <a:rPr lang="en-US" dirty="0">
                <a:latin typeface="Times New Roman" pitchFamily="18" charset="0"/>
                <a:cs typeface="Times New Roman" pitchFamily="18" charset="0"/>
              </a:rPr>
              <a:t> 4104</a:t>
            </a:r>
          </a:p>
          <a:p>
            <a:pPr>
              <a:lnSpc>
                <a:spcPct val="150000"/>
              </a:lnSpc>
            </a:pPr>
            <a:r>
              <a:rPr lang="en-US" dirty="0">
                <a:latin typeface="Times New Roman" pitchFamily="18" charset="0"/>
                <a:cs typeface="Times New Roman" pitchFamily="18" charset="0"/>
              </a:rPr>
              <a:t>10 is stored at </a:t>
            </a:r>
            <a:r>
              <a:rPr lang="en-US" dirty="0" err="1">
                <a:latin typeface="Times New Roman" pitchFamily="18" charset="0"/>
                <a:cs typeface="Times New Roman" pitchFamily="18" charset="0"/>
              </a:rPr>
              <a:t>addr</a:t>
            </a:r>
            <a:r>
              <a:rPr lang="en-US" dirty="0">
                <a:latin typeface="Times New Roman" pitchFamily="18" charset="0"/>
                <a:cs typeface="Times New Roman" pitchFamily="18" charset="0"/>
              </a:rPr>
              <a:t> 4104</a:t>
            </a:r>
          </a:p>
          <a:p>
            <a:pPr>
              <a:lnSpc>
                <a:spcPct val="150000"/>
              </a:lnSpc>
            </a:pPr>
            <a:r>
              <a:rPr lang="en-US" dirty="0">
                <a:latin typeface="Times New Roman" pitchFamily="18" charset="0"/>
                <a:cs typeface="Times New Roman" pitchFamily="18" charset="0"/>
              </a:rPr>
              <a:t>4104 is stored at </a:t>
            </a:r>
            <a:r>
              <a:rPr lang="en-US" dirty="0" err="1">
                <a:latin typeface="Times New Roman" pitchFamily="18" charset="0"/>
                <a:cs typeface="Times New Roman" pitchFamily="18" charset="0"/>
              </a:rPr>
              <a:t>addr</a:t>
            </a:r>
            <a:r>
              <a:rPr lang="en-US" dirty="0">
                <a:latin typeface="Times New Roman" pitchFamily="18" charset="0"/>
                <a:cs typeface="Times New Roman" pitchFamily="18" charset="0"/>
              </a:rPr>
              <a:t> 4106</a:t>
            </a:r>
          </a:p>
          <a:p>
            <a:pPr>
              <a:lnSpc>
                <a:spcPct val="150000"/>
              </a:lnSpc>
            </a:pPr>
            <a:r>
              <a:rPr lang="en-US" dirty="0">
                <a:latin typeface="Times New Roman" pitchFamily="18" charset="0"/>
                <a:cs typeface="Times New Roman" pitchFamily="18" charset="0"/>
              </a:rPr>
              <a:t>10 is stored at </a:t>
            </a:r>
            <a:r>
              <a:rPr lang="en-US" dirty="0" err="1">
                <a:latin typeface="Times New Roman" pitchFamily="18" charset="0"/>
                <a:cs typeface="Times New Roman" pitchFamily="18" charset="0"/>
              </a:rPr>
              <a:t>addr</a:t>
            </a:r>
            <a:r>
              <a:rPr lang="en-US" dirty="0">
                <a:latin typeface="Times New Roman" pitchFamily="18" charset="0"/>
                <a:cs typeface="Times New Roman" pitchFamily="18" charset="0"/>
              </a:rPr>
              <a:t> 4108</a:t>
            </a:r>
          </a:p>
          <a:p>
            <a:pPr>
              <a:lnSpc>
                <a:spcPct val="150000"/>
              </a:lnSpc>
            </a:pPr>
            <a:r>
              <a:rPr lang="en-US" dirty="0">
                <a:latin typeface="Times New Roman" pitchFamily="18" charset="0"/>
                <a:cs typeface="Times New Roman" pitchFamily="18" charset="0"/>
              </a:rPr>
              <a:t>Now x = 25</a:t>
            </a:r>
          </a:p>
        </p:txBody>
      </p:sp>
      <p:sp>
        <p:nvSpPr>
          <p:cNvPr id="4" name="Rectangle 3"/>
          <p:cNvSpPr/>
          <p:nvPr/>
        </p:nvSpPr>
        <p:spPr>
          <a:xfrm>
            <a:off x="585155" y="6396335"/>
            <a:ext cx="6214009" cy="461665"/>
          </a:xfrm>
          <a:prstGeom prst="rect">
            <a:avLst/>
          </a:prstGeom>
        </p:spPr>
        <p:txBody>
          <a:bodyPr wrap="none">
            <a:spAutoFit/>
          </a:bodyPr>
          <a:lstStyle/>
          <a:p>
            <a:r>
              <a:rPr lang="en-US" sz="2400" i="1" dirty="0">
                <a:latin typeface="Times New Roman" pitchFamily="18" charset="0"/>
                <a:cs typeface="Times New Roman" pitchFamily="18" charset="0"/>
              </a:rPr>
              <a:t>Program to Access a variable through its pointer</a:t>
            </a:r>
          </a:p>
        </p:txBody>
      </p:sp>
    </p:spTree>
    <p:extLst>
      <p:ext uri="{BB962C8B-B14F-4D97-AF65-F5344CB8AC3E}">
        <p14:creationId xmlns:p14="http://schemas.microsoft.com/office/powerpoint/2010/main" val="638798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30997"/>
          </a:xfrm>
          <a:prstGeom prst="rect">
            <a:avLst/>
          </a:prstGeom>
        </p:spPr>
        <p:txBody>
          <a:bodyPr wrap="square">
            <a:spAutoFit/>
          </a:bodyPr>
          <a:lstStyle/>
          <a:p>
            <a:r>
              <a:rPr lang="en-US" sz="2400" dirty="0">
                <a:latin typeface="Times New Roman" pitchFamily="18" charset="0"/>
                <a:cs typeface="Times New Roman" pitchFamily="18" charset="0"/>
              </a:rPr>
              <a:t>The actions performed by the program is illustrated  below. The statement </a:t>
            </a:r>
            <a:r>
              <a:rPr lang="en-US" sz="2400" dirty="0" err="1">
                <a:latin typeface="Times New Roman" pitchFamily="18" charset="0"/>
                <a:cs typeface="Times New Roman" pitchFamily="18" charset="0"/>
              </a:rPr>
              <a:t>ptr</a:t>
            </a:r>
            <a:r>
              <a:rPr lang="en-US" sz="2400" dirty="0">
                <a:latin typeface="Times New Roman" pitchFamily="18" charset="0"/>
                <a:cs typeface="Times New Roman" pitchFamily="18" charset="0"/>
              </a:rPr>
              <a:t> = &amp;x assigns the address of x to </a:t>
            </a:r>
            <a:r>
              <a:rPr lang="en-US" sz="2400" dirty="0" err="1">
                <a:latin typeface="Times New Roman" pitchFamily="18" charset="0"/>
                <a:cs typeface="Times New Roman" pitchFamily="18" charset="0"/>
              </a:rPr>
              <a:t>ptr</a:t>
            </a:r>
            <a:r>
              <a:rPr lang="en-US" sz="2400" dirty="0">
                <a:latin typeface="Times New Roman" pitchFamily="18" charset="0"/>
                <a:cs typeface="Times New Roman" pitchFamily="18" charset="0"/>
              </a:rPr>
              <a:t> and y = *</a:t>
            </a:r>
            <a:r>
              <a:rPr lang="en-US" sz="2400" dirty="0" err="1">
                <a:latin typeface="Times New Roman" pitchFamily="18" charset="0"/>
                <a:cs typeface="Times New Roman" pitchFamily="18" charset="0"/>
              </a:rPr>
              <a:t>ptr</a:t>
            </a:r>
            <a:r>
              <a:rPr lang="en-US" sz="2400" dirty="0">
                <a:latin typeface="Times New Roman" pitchFamily="18" charset="0"/>
                <a:cs typeface="Times New Roman" pitchFamily="18" charset="0"/>
              </a:rPr>
              <a:t> assigns the value pointed to by the pointer </a:t>
            </a:r>
            <a:r>
              <a:rPr lang="en-US" sz="2400" dirty="0" err="1">
                <a:latin typeface="Times New Roman" pitchFamily="18" charset="0"/>
                <a:cs typeface="Times New Roman" pitchFamily="18" charset="0"/>
              </a:rPr>
              <a:t>ptr</a:t>
            </a:r>
            <a:r>
              <a:rPr lang="en-US" sz="2400" dirty="0">
                <a:latin typeface="Times New Roman" pitchFamily="18" charset="0"/>
                <a:cs typeface="Times New Roman" pitchFamily="18" charset="0"/>
              </a:rPr>
              <a:t> to y.</a:t>
            </a:r>
          </a:p>
        </p:txBody>
      </p:sp>
      <p:pic>
        <p:nvPicPr>
          <p:cNvPr id="1026" name="Picture 2"/>
          <p:cNvPicPr>
            <a:picLocks noChangeAspect="1" noChangeArrowheads="1"/>
          </p:cNvPicPr>
          <p:nvPr/>
        </p:nvPicPr>
        <p:blipFill>
          <a:blip r:embed="rId2"/>
          <a:srcRect/>
          <a:stretch>
            <a:fillRect/>
          </a:stretch>
        </p:blipFill>
        <p:spPr bwMode="auto">
          <a:xfrm>
            <a:off x="1581665" y="997527"/>
            <a:ext cx="7534626" cy="5860472"/>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61884"/>
          </a:xfrm>
          <a:prstGeom prst="rect">
            <a:avLst/>
          </a:prstGeom>
        </p:spPr>
        <p:txBody>
          <a:bodyPr wrap="square">
            <a:spAutoFit/>
          </a:bodyPr>
          <a:lstStyle/>
          <a:p>
            <a:r>
              <a:rPr lang="en-US" sz="2800" dirty="0">
                <a:latin typeface="Times New Roman" pitchFamily="18" charset="0"/>
                <a:cs typeface="Times New Roman" pitchFamily="18" charset="0"/>
              </a:rPr>
              <a:t>CHAIN OF POINTERS</a:t>
            </a:r>
          </a:p>
          <a:p>
            <a:r>
              <a:rPr lang="en-US" sz="2400" dirty="0">
                <a:latin typeface="Times New Roman" pitchFamily="18" charset="0"/>
                <a:cs typeface="Times New Roman" pitchFamily="18" charset="0"/>
              </a:rPr>
              <a:t>It is possible to make a pointer to point to another pointer, thus creating a chain of pointers as shown.</a:t>
            </a:r>
          </a:p>
        </p:txBody>
      </p:sp>
      <p:pic>
        <p:nvPicPr>
          <p:cNvPr id="2050" name="Picture 2"/>
          <p:cNvPicPr>
            <a:picLocks noChangeAspect="1" noChangeArrowheads="1"/>
          </p:cNvPicPr>
          <p:nvPr/>
        </p:nvPicPr>
        <p:blipFill>
          <a:blip r:embed="rId2"/>
          <a:srcRect/>
          <a:stretch>
            <a:fillRect/>
          </a:stretch>
        </p:blipFill>
        <p:spPr bwMode="auto">
          <a:xfrm>
            <a:off x="304800" y="1330035"/>
            <a:ext cx="5500255" cy="1385455"/>
          </a:xfrm>
          <a:prstGeom prst="rect">
            <a:avLst/>
          </a:prstGeom>
          <a:noFill/>
          <a:ln w="9525">
            <a:noFill/>
            <a:miter lim="800000"/>
            <a:headEnd/>
            <a:tailEnd/>
          </a:ln>
          <a:effectLst/>
        </p:spPr>
      </p:pic>
      <p:sp>
        <p:nvSpPr>
          <p:cNvPr id="4" name="Rectangle 3"/>
          <p:cNvSpPr/>
          <p:nvPr/>
        </p:nvSpPr>
        <p:spPr>
          <a:xfrm>
            <a:off x="0" y="2559982"/>
            <a:ext cx="12192000" cy="1133965"/>
          </a:xfrm>
          <a:prstGeom prst="rect">
            <a:avLst/>
          </a:prstGeom>
        </p:spPr>
        <p:txBody>
          <a:bodyPr wrap="square">
            <a:spAutoFit/>
          </a:bodyPr>
          <a:lstStyle/>
          <a:p>
            <a:pPr>
              <a:lnSpc>
                <a:spcPct val="150000"/>
              </a:lnSpc>
            </a:pPr>
            <a:r>
              <a:rPr lang="en-US" sz="2400" dirty="0">
                <a:latin typeface="Times New Roman" pitchFamily="18" charset="0"/>
                <a:cs typeface="Times New Roman" pitchFamily="18" charset="0"/>
              </a:rPr>
              <a:t>Here, the pointer variable p2 contains the address of the pointer variable p1, which points to the</a:t>
            </a:r>
          </a:p>
          <a:p>
            <a:pPr>
              <a:lnSpc>
                <a:spcPct val="150000"/>
              </a:lnSpc>
            </a:pPr>
            <a:r>
              <a:rPr lang="en-US" sz="2400" dirty="0">
                <a:latin typeface="Times New Roman" pitchFamily="18" charset="0"/>
                <a:cs typeface="Times New Roman" pitchFamily="18" charset="0"/>
              </a:rPr>
              <a:t>location that contains the desired value. This is known as multiple indirections.</a:t>
            </a:r>
          </a:p>
        </p:txBody>
      </p:sp>
      <p:sp>
        <p:nvSpPr>
          <p:cNvPr id="5" name="Rectangle 4"/>
          <p:cNvSpPr/>
          <p:nvPr/>
        </p:nvSpPr>
        <p:spPr>
          <a:xfrm>
            <a:off x="0" y="3782290"/>
            <a:ext cx="12192000" cy="3046988"/>
          </a:xfrm>
          <a:prstGeom prst="rect">
            <a:avLst/>
          </a:prstGeom>
        </p:spPr>
        <p:txBody>
          <a:bodyPr wrap="square">
            <a:spAutoFit/>
          </a:bodyPr>
          <a:lstStyle/>
          <a:p>
            <a:pPr algn="just"/>
            <a:r>
              <a:rPr lang="en-US" sz="2400" dirty="0">
                <a:latin typeface="Times New Roman" pitchFamily="18" charset="0"/>
                <a:cs typeface="Times New Roman" pitchFamily="18" charset="0"/>
              </a:rPr>
              <a:t>A variable that is a pointer to a pointer must be declared using additional indirection operator symbols in front of the name. </a:t>
            </a:r>
          </a:p>
          <a:p>
            <a:pPr algn="just">
              <a:lnSpc>
                <a:spcPct val="150000"/>
              </a:lnSpc>
            </a:pPr>
            <a:r>
              <a:rPr lang="en-US" sz="2400" b="1" dirty="0">
                <a:latin typeface="Times New Roman" pitchFamily="18" charset="0"/>
                <a:cs typeface="Times New Roman" pitchFamily="18" charset="0"/>
              </a:rPr>
              <a:t>Example:</a:t>
            </a:r>
          </a:p>
          <a:p>
            <a:pPr algn="just">
              <a:lnSpc>
                <a:spcPct val="150000"/>
              </a:lnSpc>
            </a:pP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**p2;</a:t>
            </a:r>
          </a:p>
          <a:p>
            <a:pPr algn="just">
              <a:lnSpc>
                <a:spcPct val="150000"/>
              </a:lnSpc>
            </a:pPr>
            <a:r>
              <a:rPr lang="en-US" sz="2400" dirty="0">
                <a:latin typeface="Times New Roman" pitchFamily="18" charset="0"/>
                <a:cs typeface="Times New Roman" pitchFamily="18" charset="0"/>
              </a:rPr>
              <a:t>This declaration tells the compiler that p2 is a pointer to a pointer of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type. Remember, the pointer p2 is not a pointer to an integer, but rather a pointer to an integer pointer.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740307"/>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We can access the target value indirectly pointed to by pointer to a pointer by applying the indirection operator twice. Consider the following code:</a:t>
            </a:r>
          </a:p>
          <a:p>
            <a:pPr algn="just">
              <a:lnSpc>
                <a:spcPct val="150000"/>
              </a:lnSpc>
            </a:pPr>
            <a:r>
              <a:rPr lang="en-US" sz="2400" dirty="0">
                <a:latin typeface="Times New Roman" pitchFamily="18" charset="0"/>
                <a:cs typeface="Times New Roman" pitchFamily="18" charset="0"/>
              </a:rPr>
              <a:t>main ( )</a:t>
            </a:r>
          </a:p>
          <a:p>
            <a:pPr algn="just">
              <a:lnSpc>
                <a:spcPct val="150000"/>
              </a:lnSpc>
            </a:pPr>
            <a:r>
              <a:rPr lang="en-US" sz="2400" dirty="0">
                <a:latin typeface="Times New Roman" pitchFamily="18" charset="0"/>
                <a:cs typeface="Times New Roman" pitchFamily="18" charset="0"/>
              </a:rPr>
              <a:t>{</a:t>
            </a:r>
          </a:p>
          <a:p>
            <a:pPr algn="just">
              <a:lnSpc>
                <a:spcPct val="150000"/>
              </a:lnSpc>
            </a:pP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x, *p1, **p2;</a:t>
            </a:r>
          </a:p>
          <a:p>
            <a:pPr algn="just">
              <a:lnSpc>
                <a:spcPct val="150000"/>
              </a:lnSpc>
            </a:pPr>
            <a:r>
              <a:rPr lang="en-US" sz="2400" dirty="0">
                <a:latin typeface="Times New Roman" pitchFamily="18" charset="0"/>
                <a:cs typeface="Times New Roman" pitchFamily="18" charset="0"/>
              </a:rPr>
              <a:t>x = 100;</a:t>
            </a:r>
          </a:p>
          <a:p>
            <a:pPr algn="just">
              <a:lnSpc>
                <a:spcPct val="150000"/>
              </a:lnSpc>
            </a:pPr>
            <a:r>
              <a:rPr lang="en-US" sz="2400" dirty="0">
                <a:latin typeface="Times New Roman" pitchFamily="18" charset="0"/>
                <a:cs typeface="Times New Roman" pitchFamily="18" charset="0"/>
              </a:rPr>
              <a:t>p1 = &amp;x; /* address of x */</a:t>
            </a:r>
          </a:p>
          <a:p>
            <a:pPr algn="just">
              <a:lnSpc>
                <a:spcPct val="150000"/>
              </a:lnSpc>
            </a:pPr>
            <a:r>
              <a:rPr lang="en-US" sz="2400" dirty="0">
                <a:latin typeface="Times New Roman" pitchFamily="18" charset="0"/>
                <a:cs typeface="Times New Roman" pitchFamily="18" charset="0"/>
              </a:rPr>
              <a:t>p2 = &amp;p1 /* address of p1 */</a:t>
            </a:r>
          </a:p>
          <a:p>
            <a:pPr algn="just">
              <a:lnSpc>
                <a:spcPct val="150000"/>
              </a:lnSpc>
            </a:pP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 (“%d”, **p2);</a:t>
            </a:r>
          </a:p>
          <a:p>
            <a:pPr algn="just">
              <a:lnSpc>
                <a:spcPct val="150000"/>
              </a:lnSpc>
            </a:pPr>
            <a:r>
              <a:rPr lang="en-US" sz="2400" dirty="0">
                <a:latin typeface="Times New Roman" pitchFamily="18" charset="0"/>
                <a:cs typeface="Times New Roman" pitchFamily="18" charset="0"/>
              </a:rPr>
              <a:t>}</a:t>
            </a:r>
          </a:p>
          <a:p>
            <a:pPr algn="just">
              <a:lnSpc>
                <a:spcPct val="150000"/>
              </a:lnSpc>
            </a:pPr>
            <a:r>
              <a:rPr lang="en-US" sz="2400" dirty="0">
                <a:latin typeface="Times New Roman" pitchFamily="18" charset="0"/>
                <a:cs typeface="Times New Roman" pitchFamily="18" charset="0"/>
              </a:rPr>
              <a:t>This code will display the value 100. Here, p1 is declared as a pointer to an integer and p2 as a</a:t>
            </a:r>
          </a:p>
          <a:p>
            <a:pPr algn="just">
              <a:lnSpc>
                <a:spcPct val="150000"/>
              </a:lnSpc>
            </a:pPr>
            <a:r>
              <a:rPr lang="en-US" sz="2400" dirty="0">
                <a:latin typeface="Times New Roman" pitchFamily="18" charset="0"/>
                <a:cs typeface="Times New Roman" pitchFamily="18" charset="0"/>
              </a:rPr>
              <a:t>pointer to a pointer to an integer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171335" cy="523220"/>
          </a:xfrm>
          <a:prstGeom prst="rect">
            <a:avLst/>
          </a:prstGeom>
        </p:spPr>
        <p:txBody>
          <a:bodyPr wrap="none">
            <a:spAutoFit/>
          </a:bodyPr>
          <a:lstStyle/>
          <a:p>
            <a:r>
              <a:rPr lang="en-US" sz="2800" dirty="0">
                <a:latin typeface="Times New Roman" pitchFamily="18" charset="0"/>
                <a:cs typeface="Times New Roman" pitchFamily="18" charset="0"/>
              </a:rPr>
              <a:t>POINTER EXPRESSIONS</a:t>
            </a:r>
          </a:p>
        </p:txBody>
      </p:sp>
      <p:sp>
        <p:nvSpPr>
          <p:cNvPr id="3" name="Rectangle 2"/>
          <p:cNvSpPr/>
          <p:nvPr/>
        </p:nvSpPr>
        <p:spPr>
          <a:xfrm>
            <a:off x="0" y="529349"/>
            <a:ext cx="12192000" cy="6186309"/>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Like other variables, pointer variables can be used in expressions. </a:t>
            </a:r>
          </a:p>
          <a:p>
            <a:pPr algn="just">
              <a:lnSpc>
                <a:spcPct val="150000"/>
              </a:lnSpc>
            </a:pPr>
            <a:r>
              <a:rPr lang="en-US" sz="2400" dirty="0">
                <a:latin typeface="Times New Roman" pitchFamily="18" charset="0"/>
                <a:cs typeface="Times New Roman" pitchFamily="18" charset="0"/>
              </a:rPr>
              <a:t>For example, if p1 and p2 are properly declared and initialized pointers, then the following</a:t>
            </a:r>
          </a:p>
          <a:p>
            <a:pPr algn="just">
              <a:lnSpc>
                <a:spcPct val="150000"/>
              </a:lnSpc>
            </a:pPr>
            <a:r>
              <a:rPr lang="en-US" sz="2400" dirty="0">
                <a:latin typeface="Times New Roman" pitchFamily="18" charset="0"/>
                <a:cs typeface="Times New Roman" pitchFamily="18" charset="0"/>
              </a:rPr>
              <a:t>statements are valid:</a:t>
            </a:r>
          </a:p>
          <a:p>
            <a:pPr algn="just">
              <a:lnSpc>
                <a:spcPct val="150000"/>
              </a:lnSpc>
            </a:pPr>
            <a:r>
              <a:rPr lang="en-US" sz="2400" dirty="0">
                <a:latin typeface="Times New Roman" pitchFamily="18" charset="0"/>
                <a:cs typeface="Times New Roman" pitchFamily="18" charset="0"/>
              </a:rPr>
              <a:t>y = *p1 * *p2; same as (*p1) * (*p2)</a:t>
            </a:r>
          </a:p>
          <a:p>
            <a:pPr algn="just">
              <a:lnSpc>
                <a:spcPct val="150000"/>
              </a:lnSpc>
            </a:pPr>
            <a:r>
              <a:rPr lang="en-US" sz="2400" dirty="0">
                <a:latin typeface="Times New Roman" pitchFamily="18" charset="0"/>
                <a:cs typeface="Times New Roman" pitchFamily="18" charset="0"/>
              </a:rPr>
              <a:t>sum = sum + *p1;</a:t>
            </a:r>
          </a:p>
          <a:p>
            <a:pPr algn="just">
              <a:lnSpc>
                <a:spcPct val="150000"/>
              </a:lnSpc>
            </a:pPr>
            <a:r>
              <a:rPr lang="en-US" sz="2400" dirty="0">
                <a:latin typeface="Times New Roman" pitchFamily="18" charset="0"/>
                <a:cs typeface="Times New Roman" pitchFamily="18" charset="0"/>
              </a:rPr>
              <a:t>z = 5* – *p2/  *p1; same as (5 * (– (*p2)))/(*p1)</a:t>
            </a:r>
          </a:p>
          <a:p>
            <a:pPr algn="just">
              <a:lnSpc>
                <a:spcPct val="150000"/>
              </a:lnSpc>
            </a:pPr>
            <a:r>
              <a:rPr lang="en-US" sz="2400" dirty="0">
                <a:latin typeface="Times New Roman" pitchFamily="18" charset="0"/>
                <a:cs typeface="Times New Roman" pitchFamily="18" charset="0"/>
              </a:rPr>
              <a:t>*p2 = *p2 + 10;</a:t>
            </a:r>
          </a:p>
          <a:p>
            <a:pPr algn="just">
              <a:lnSpc>
                <a:spcPct val="150000"/>
              </a:lnSpc>
            </a:pPr>
            <a:r>
              <a:rPr lang="en-US" sz="2400" dirty="0">
                <a:latin typeface="Times New Roman" pitchFamily="18" charset="0"/>
                <a:cs typeface="Times New Roman" pitchFamily="18" charset="0"/>
              </a:rPr>
              <a:t>Note that there is a blank space between / and * in the item3 above. </a:t>
            </a:r>
          </a:p>
          <a:p>
            <a:pPr algn="just">
              <a:lnSpc>
                <a:spcPct val="150000"/>
              </a:lnSpc>
            </a:pPr>
            <a:r>
              <a:rPr lang="en-US" sz="2400" dirty="0">
                <a:latin typeface="Times New Roman" pitchFamily="18" charset="0"/>
                <a:cs typeface="Times New Roman" pitchFamily="18" charset="0"/>
              </a:rPr>
              <a:t>The following is wrong:</a:t>
            </a:r>
          </a:p>
          <a:p>
            <a:pPr algn="just">
              <a:lnSpc>
                <a:spcPct val="150000"/>
              </a:lnSpc>
            </a:pPr>
            <a:r>
              <a:rPr lang="en-US" sz="2400" dirty="0">
                <a:latin typeface="Times New Roman" pitchFamily="18" charset="0"/>
                <a:cs typeface="Times New Roman" pitchFamily="18" charset="0"/>
              </a:rPr>
              <a:t>z = 5* – *p2 /*p1;</a:t>
            </a:r>
          </a:p>
          <a:p>
            <a:pPr algn="just">
              <a:lnSpc>
                <a:spcPct val="150000"/>
              </a:lnSpc>
            </a:pPr>
            <a:r>
              <a:rPr lang="en-US" sz="2400" dirty="0">
                <a:latin typeface="Times New Roman" pitchFamily="18" charset="0"/>
                <a:cs typeface="Times New Roman" pitchFamily="18" charset="0"/>
              </a:rPr>
              <a:t>The symbol /* is considered as the beginning of a comment and therefore the statement fails.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8259" y="336176"/>
            <a:ext cx="11752730" cy="5078313"/>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C allows us to add integers to or subtract integers from pointers, as well as to subtract one pointer from another. </a:t>
            </a:r>
          </a:p>
          <a:p>
            <a:pPr algn="just">
              <a:lnSpc>
                <a:spcPct val="150000"/>
              </a:lnSpc>
            </a:pPr>
            <a:r>
              <a:rPr lang="en-US" sz="2400" dirty="0">
                <a:latin typeface="Times New Roman" pitchFamily="18" charset="0"/>
                <a:cs typeface="Times New Roman" pitchFamily="18" charset="0"/>
              </a:rPr>
              <a:t>p1 + 4, p2–2, and p1 – p2 are all allowed. </a:t>
            </a:r>
          </a:p>
          <a:p>
            <a:pPr algn="just">
              <a:lnSpc>
                <a:spcPct val="150000"/>
              </a:lnSpc>
            </a:pPr>
            <a:r>
              <a:rPr lang="en-US" sz="2400" dirty="0">
                <a:latin typeface="Times New Roman" pitchFamily="18" charset="0"/>
                <a:cs typeface="Times New Roman" pitchFamily="18" charset="0"/>
              </a:rPr>
              <a:t>If p1 and p2 are both pointers to the same array, then p2 – p1 gives the number of elements between p1 and p2.</a:t>
            </a:r>
          </a:p>
          <a:p>
            <a:pPr algn="just">
              <a:lnSpc>
                <a:spcPct val="150000"/>
              </a:lnSpc>
            </a:pPr>
            <a:r>
              <a:rPr lang="en-US" sz="2400" dirty="0">
                <a:latin typeface="Times New Roman" pitchFamily="18" charset="0"/>
                <a:cs typeface="Times New Roman" pitchFamily="18" charset="0"/>
              </a:rPr>
              <a:t>We may also use short-hand operators with the pointers.</a:t>
            </a:r>
          </a:p>
          <a:p>
            <a:pPr algn="just">
              <a:lnSpc>
                <a:spcPct val="150000"/>
              </a:lnSpc>
            </a:pPr>
            <a:r>
              <a:rPr lang="en-US" sz="2400" dirty="0">
                <a:latin typeface="Times New Roman" pitchFamily="18" charset="0"/>
                <a:cs typeface="Times New Roman" pitchFamily="18" charset="0"/>
              </a:rPr>
              <a:t>p1++;</a:t>
            </a:r>
          </a:p>
          <a:p>
            <a:pPr algn="just">
              <a:lnSpc>
                <a:spcPct val="150000"/>
              </a:lnSpc>
            </a:pPr>
            <a:r>
              <a:rPr lang="en-US" sz="2400" dirty="0">
                <a:latin typeface="Times New Roman" pitchFamily="18" charset="0"/>
                <a:cs typeface="Times New Roman" pitchFamily="18" charset="0"/>
              </a:rPr>
              <a:t>- -p2;</a:t>
            </a:r>
          </a:p>
          <a:p>
            <a:pPr algn="just">
              <a:lnSpc>
                <a:spcPct val="150000"/>
              </a:lnSpc>
            </a:pPr>
            <a:r>
              <a:rPr lang="en-US" sz="2400" dirty="0">
                <a:latin typeface="Times New Roman" pitchFamily="18" charset="0"/>
                <a:cs typeface="Times New Roman" pitchFamily="18" charset="0"/>
              </a:rPr>
              <a:t>sum += *p2;x</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078313"/>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In addition to arithmetic operations discussed above, pointers can also be compared using the</a:t>
            </a:r>
          </a:p>
          <a:p>
            <a:pPr algn="just">
              <a:lnSpc>
                <a:spcPct val="150000"/>
              </a:lnSpc>
            </a:pPr>
            <a:r>
              <a:rPr lang="en-US" sz="2400" dirty="0">
                <a:latin typeface="Times New Roman" pitchFamily="18" charset="0"/>
                <a:cs typeface="Times New Roman" pitchFamily="18" charset="0"/>
              </a:rPr>
              <a:t>relational operators. </a:t>
            </a:r>
          </a:p>
          <a:p>
            <a:pPr algn="just">
              <a:lnSpc>
                <a:spcPct val="150000"/>
              </a:lnSpc>
            </a:pPr>
            <a:r>
              <a:rPr lang="en-US" sz="2400" dirty="0">
                <a:latin typeface="Times New Roman" pitchFamily="18" charset="0"/>
                <a:cs typeface="Times New Roman" pitchFamily="18" charset="0"/>
              </a:rPr>
              <a:t>The expressions such as p1 &gt; p2, p1 = = p2, and p1 != p2 are allowed.</a:t>
            </a:r>
          </a:p>
          <a:p>
            <a:pPr algn="just">
              <a:lnSpc>
                <a:spcPct val="150000"/>
              </a:lnSpc>
            </a:pPr>
            <a:r>
              <a:rPr lang="en-US" sz="2400" dirty="0">
                <a:latin typeface="Times New Roman" pitchFamily="18" charset="0"/>
                <a:cs typeface="Times New Roman" pitchFamily="18" charset="0"/>
              </a:rPr>
              <a:t> However, any comparison of pointers that refer to separate and unrelated variables makes no sense. Comparisons can be used meaningfully in handling arrays and strings.</a:t>
            </a:r>
          </a:p>
          <a:p>
            <a:pPr algn="just">
              <a:lnSpc>
                <a:spcPct val="150000"/>
              </a:lnSpc>
            </a:pPr>
            <a:r>
              <a:rPr lang="en-US" sz="2400" dirty="0">
                <a:latin typeface="Times New Roman" pitchFamily="18" charset="0"/>
                <a:cs typeface="Times New Roman" pitchFamily="18" charset="0"/>
              </a:rPr>
              <a:t>We may not use pointers in division or multiplication. For example, expressions such as</a:t>
            </a:r>
          </a:p>
          <a:p>
            <a:pPr algn="just">
              <a:lnSpc>
                <a:spcPct val="150000"/>
              </a:lnSpc>
            </a:pPr>
            <a:r>
              <a:rPr lang="en-US" sz="2400" dirty="0">
                <a:latin typeface="Times New Roman" pitchFamily="18" charset="0"/>
                <a:cs typeface="Times New Roman" pitchFamily="18" charset="0"/>
              </a:rPr>
              <a:t>p1 / p2 or p1 * p2 or p1 / 3</a:t>
            </a:r>
          </a:p>
          <a:p>
            <a:pPr algn="just">
              <a:lnSpc>
                <a:spcPct val="150000"/>
              </a:lnSpc>
            </a:pPr>
            <a:r>
              <a:rPr lang="en-US" sz="2400" dirty="0">
                <a:latin typeface="Times New Roman" pitchFamily="18" charset="0"/>
                <a:cs typeface="Times New Roman" pitchFamily="18" charset="0"/>
              </a:rPr>
              <a:t>are not allowed. </a:t>
            </a:r>
          </a:p>
          <a:p>
            <a:pPr algn="just">
              <a:lnSpc>
                <a:spcPct val="150000"/>
              </a:lnSpc>
            </a:pPr>
            <a:r>
              <a:rPr lang="en-US" sz="2400" dirty="0">
                <a:latin typeface="Times New Roman" pitchFamily="18" charset="0"/>
                <a:cs typeface="Times New Roman" pitchFamily="18" charset="0"/>
              </a:rPr>
              <a:t>Similarly, two pointers cannot be added. That is, p1 + p2 is illegal.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8344" y="0"/>
            <a:ext cx="11806178" cy="5565947"/>
          </a:xfrm>
          <a:prstGeom prst="rect">
            <a:avLst/>
          </a:prstGeom>
        </p:spPr>
        <p:txBody>
          <a:bodyPr wrap="square">
            <a:spAutoFit/>
          </a:bodyPr>
          <a:lstStyle/>
          <a:p>
            <a:pPr algn="just">
              <a:lnSpc>
                <a:spcPct val="150000"/>
              </a:lnSpc>
            </a:pPr>
            <a:r>
              <a:rPr lang="en-US" sz="2400" b="1" dirty="0">
                <a:latin typeface="Times New Roman" pitchFamily="18" charset="0"/>
                <a:cs typeface="Times New Roman" pitchFamily="18" charset="0"/>
              </a:rPr>
              <a:t>Write a program to illustrate the use of pointers in arithmetic operations.</a:t>
            </a:r>
          </a:p>
          <a:p>
            <a:pPr algn="just">
              <a:lnSpc>
                <a:spcPct val="150000"/>
              </a:lnSpc>
            </a:pPr>
            <a:r>
              <a:rPr lang="en-US" sz="2400" dirty="0">
                <a:latin typeface="Times New Roman" pitchFamily="18" charset="0"/>
                <a:cs typeface="Times New Roman" pitchFamily="18" charset="0"/>
              </a:rPr>
              <a:t>This program shows how the pointer variables can be directly used in expressions. It also illustrates the order of evaluation of expressions. </a:t>
            </a:r>
          </a:p>
          <a:p>
            <a:pPr algn="just">
              <a:lnSpc>
                <a:spcPct val="150000"/>
              </a:lnSpc>
            </a:pPr>
            <a:r>
              <a:rPr lang="en-US" sz="2400" dirty="0">
                <a:latin typeface="Times New Roman" pitchFamily="18" charset="0"/>
                <a:cs typeface="Times New Roman" pitchFamily="18" charset="0"/>
              </a:rPr>
              <a:t>For example, the expression</a:t>
            </a:r>
          </a:p>
          <a:p>
            <a:pPr algn="just">
              <a:lnSpc>
                <a:spcPct val="150000"/>
              </a:lnSpc>
            </a:pPr>
            <a:r>
              <a:rPr lang="en-US" sz="2400" dirty="0">
                <a:latin typeface="Times New Roman" pitchFamily="18" charset="0"/>
                <a:cs typeface="Times New Roman" pitchFamily="18" charset="0"/>
              </a:rPr>
              <a:t>4* – *p2 / *p1 + 10</a:t>
            </a:r>
          </a:p>
          <a:p>
            <a:pPr algn="just">
              <a:lnSpc>
                <a:spcPct val="150000"/>
              </a:lnSpc>
            </a:pPr>
            <a:r>
              <a:rPr lang="en-US" sz="2400" dirty="0">
                <a:latin typeface="Times New Roman" pitchFamily="18" charset="0"/>
                <a:cs typeface="Times New Roman" pitchFamily="18" charset="0"/>
              </a:rPr>
              <a:t>is evaluated as follows:</a:t>
            </a:r>
          </a:p>
          <a:p>
            <a:pPr algn="just">
              <a:lnSpc>
                <a:spcPct val="150000"/>
              </a:lnSpc>
            </a:pPr>
            <a:r>
              <a:rPr lang="en-US" sz="2400" dirty="0">
                <a:latin typeface="Times New Roman" pitchFamily="18" charset="0"/>
                <a:cs typeface="Times New Roman" pitchFamily="18" charset="0"/>
              </a:rPr>
              <a:t>((4 * (–(*p2))) / (*p1)) + 10</a:t>
            </a:r>
          </a:p>
          <a:p>
            <a:pPr algn="just">
              <a:lnSpc>
                <a:spcPct val="150000"/>
              </a:lnSpc>
            </a:pPr>
            <a:r>
              <a:rPr lang="en-US" sz="2400" dirty="0">
                <a:latin typeface="Times New Roman" pitchFamily="18" charset="0"/>
                <a:cs typeface="Times New Roman" pitchFamily="18" charset="0"/>
              </a:rPr>
              <a:t>When *p1 = 12 and *p2 = 4, this expression evaluates to 9. </a:t>
            </a:r>
          </a:p>
          <a:p>
            <a:pPr algn="just">
              <a:lnSpc>
                <a:spcPct val="150000"/>
              </a:lnSpc>
            </a:pPr>
            <a:r>
              <a:rPr lang="en-US" sz="2400" dirty="0">
                <a:latin typeface="Times New Roman" pitchFamily="18" charset="0"/>
                <a:cs typeface="Times New Roman" pitchFamily="18" charset="0"/>
              </a:rPr>
              <a:t>Remember, since all the variables are of type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the entire evaluation is carried out using the integer arithmetic.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9914" y="0"/>
            <a:ext cx="6096000" cy="6863417"/>
          </a:xfrm>
          <a:prstGeom prst="rect">
            <a:avLst/>
          </a:prstGeom>
        </p:spPr>
        <p:txBody>
          <a:bodyPr>
            <a:spAutoFit/>
          </a:bodyPr>
          <a:lstStyle/>
          <a:p>
            <a:pPr algn="just"/>
            <a:r>
              <a:rPr lang="en-US" sz="2000" b="1" dirty="0">
                <a:latin typeface="Times New Roman" pitchFamily="18" charset="0"/>
                <a:cs typeface="Times New Roman" pitchFamily="18" charset="0"/>
              </a:rPr>
              <a:t>Program</a:t>
            </a:r>
          </a:p>
          <a:p>
            <a:pPr algn="just"/>
            <a:r>
              <a:rPr lang="en-US" sz="2000" dirty="0">
                <a:latin typeface="Times New Roman" pitchFamily="18" charset="0"/>
                <a:cs typeface="Times New Roman" pitchFamily="18" charset="0"/>
              </a:rPr>
              <a:t>#include&lt;</a:t>
            </a:r>
            <a:r>
              <a:rPr lang="en-US" sz="2000" dirty="0" err="1">
                <a:latin typeface="Times New Roman" pitchFamily="18" charset="0"/>
                <a:cs typeface="Times New Roman" pitchFamily="18" charset="0"/>
              </a:rPr>
              <a:t>stdio.h</a:t>
            </a:r>
            <a:r>
              <a:rPr lang="en-US" sz="2000" dirty="0">
                <a:latin typeface="Times New Roman" pitchFamily="18" charset="0"/>
                <a:cs typeface="Times New Roman" pitchFamily="18" charset="0"/>
              </a:rPr>
              <a:t>&gt;</a:t>
            </a:r>
          </a:p>
          <a:p>
            <a:pPr algn="just"/>
            <a:r>
              <a:rPr lang="en-US" sz="2000" dirty="0">
                <a:latin typeface="Times New Roman" pitchFamily="18" charset="0"/>
                <a:cs typeface="Times New Roman" pitchFamily="18" charset="0"/>
              </a:rPr>
              <a:t>Void main( )</a:t>
            </a:r>
          </a:p>
          <a:p>
            <a:pPr algn="just"/>
            <a:r>
              <a:rPr lang="en-US" sz="2000" dirty="0">
                <a:latin typeface="Times New Roman" pitchFamily="18" charset="0"/>
                <a:cs typeface="Times New Roman" pitchFamily="18" charset="0"/>
              </a:rPr>
              <a:t>{</a:t>
            </a:r>
          </a:p>
          <a:p>
            <a:pPr algn="just"/>
            <a:r>
              <a:rPr lang="en-US" sz="2000" dirty="0">
                <a:latin typeface="Times New Roman" pitchFamily="18" charset="0"/>
                <a:cs typeface="Times New Roman" pitchFamily="18" charset="0"/>
              </a:rPr>
              <a:t>	</a:t>
            </a:r>
            <a:r>
              <a:rPr lang="pl-PL" sz="2000" dirty="0">
                <a:latin typeface="Times New Roman" pitchFamily="18" charset="0"/>
                <a:cs typeface="Times New Roman" pitchFamily="18" charset="0"/>
              </a:rPr>
              <a:t>int a, b, *p1, *p2, x, y, z;</a:t>
            </a:r>
          </a:p>
          <a:p>
            <a:pPr algn="just"/>
            <a:r>
              <a:rPr lang="en-US" sz="2000" dirty="0">
                <a:latin typeface="Times New Roman" pitchFamily="18" charset="0"/>
                <a:cs typeface="Times New Roman" pitchFamily="18" charset="0"/>
              </a:rPr>
              <a:t>   	a = 12;</a:t>
            </a:r>
          </a:p>
          <a:p>
            <a:pPr algn="just"/>
            <a:r>
              <a:rPr lang="en-US" sz="2000" dirty="0">
                <a:latin typeface="Times New Roman" pitchFamily="18" charset="0"/>
                <a:cs typeface="Times New Roman" pitchFamily="18" charset="0"/>
              </a:rPr>
              <a:t>	b = 4;</a:t>
            </a:r>
          </a:p>
          <a:p>
            <a:pPr algn="just"/>
            <a:r>
              <a:rPr lang="en-US" sz="2000" dirty="0">
                <a:latin typeface="Times New Roman" pitchFamily="18" charset="0"/>
                <a:cs typeface="Times New Roman" pitchFamily="18" charset="0"/>
              </a:rPr>
              <a:t>	p1 = &amp;a;</a:t>
            </a:r>
          </a:p>
          <a:p>
            <a:pPr algn="just"/>
            <a:r>
              <a:rPr lang="en-US" sz="2000" dirty="0">
                <a:latin typeface="Times New Roman" pitchFamily="18" charset="0"/>
                <a:cs typeface="Times New Roman" pitchFamily="18" charset="0"/>
              </a:rPr>
              <a:t>	p2 = &amp;b;</a:t>
            </a:r>
          </a:p>
          <a:p>
            <a:pPr algn="just"/>
            <a:r>
              <a:rPr lang="en-US" sz="2000" dirty="0">
                <a:latin typeface="Times New Roman" pitchFamily="18" charset="0"/>
                <a:cs typeface="Times New Roman" pitchFamily="18" charset="0"/>
              </a:rPr>
              <a:t>	x = *p1 * *p2 – 6;</a:t>
            </a:r>
          </a:p>
          <a:p>
            <a:pPr algn="just"/>
            <a:r>
              <a:rPr lang="es-ES" sz="2000" dirty="0">
                <a:latin typeface="Times New Roman" pitchFamily="18" charset="0"/>
                <a:cs typeface="Times New Roman" pitchFamily="18" charset="0"/>
              </a:rPr>
              <a:t>	y = 4* – *p2 / *p1 + 10;</a:t>
            </a:r>
          </a:p>
          <a:p>
            <a:pPr algn="just"/>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(“Address of a = %u\n”, p1);</a:t>
            </a:r>
          </a:p>
          <a:p>
            <a:pPr algn="just"/>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(“Address of b = %u\n”, p2);</a:t>
            </a:r>
          </a:p>
          <a:p>
            <a:pPr algn="just"/>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(“\n”);</a:t>
            </a:r>
          </a:p>
          <a:p>
            <a:pPr algn="just"/>
            <a:r>
              <a:rPr lang="pt-BR" sz="2000" dirty="0">
                <a:latin typeface="Times New Roman" pitchFamily="18" charset="0"/>
                <a:cs typeface="Times New Roman" pitchFamily="18" charset="0"/>
              </a:rPr>
              <a:t>	printf(“a = %d, b = %d\n”, a, b);</a:t>
            </a:r>
          </a:p>
          <a:p>
            <a:pPr algn="just"/>
            <a:r>
              <a:rPr lang="es-ES" sz="2000" dirty="0">
                <a:latin typeface="Times New Roman" pitchFamily="18" charset="0"/>
                <a:cs typeface="Times New Roman" pitchFamily="18" charset="0"/>
              </a:rPr>
              <a:t>	</a:t>
            </a:r>
            <a:r>
              <a:rPr lang="es-ES" sz="2000" dirty="0" err="1">
                <a:latin typeface="Times New Roman" pitchFamily="18" charset="0"/>
                <a:cs typeface="Times New Roman" pitchFamily="18" charset="0"/>
              </a:rPr>
              <a:t>printf</a:t>
            </a:r>
            <a:r>
              <a:rPr lang="es-ES" sz="2000" dirty="0">
                <a:latin typeface="Times New Roman" pitchFamily="18" charset="0"/>
                <a:cs typeface="Times New Roman" pitchFamily="18" charset="0"/>
              </a:rPr>
              <a:t>(“x = %d, y = %d\n”, x, y);</a:t>
            </a:r>
          </a:p>
          <a:p>
            <a:pPr algn="just"/>
            <a:r>
              <a:rPr lang="en-US" sz="2000" dirty="0">
                <a:latin typeface="Times New Roman" pitchFamily="18" charset="0"/>
                <a:cs typeface="Times New Roman" pitchFamily="18" charset="0"/>
              </a:rPr>
              <a:t>	*p2 = *p2 + 3;</a:t>
            </a:r>
          </a:p>
          <a:p>
            <a:pPr algn="just"/>
            <a:r>
              <a:rPr lang="en-US" sz="2000" dirty="0">
                <a:latin typeface="Times New Roman" pitchFamily="18" charset="0"/>
                <a:cs typeface="Times New Roman" pitchFamily="18" charset="0"/>
              </a:rPr>
              <a:t>	*p1 = *p2 – 5;</a:t>
            </a:r>
          </a:p>
          <a:p>
            <a:pPr algn="just"/>
            <a:r>
              <a:rPr lang="en-US" sz="2000" dirty="0">
                <a:latin typeface="Times New Roman" pitchFamily="18" charset="0"/>
                <a:cs typeface="Times New Roman" pitchFamily="18" charset="0"/>
              </a:rPr>
              <a:t>	z = *p1 * *p2 – 6;</a:t>
            </a:r>
          </a:p>
          <a:p>
            <a:pPr algn="just"/>
            <a:r>
              <a:rPr lang="pt-BR" sz="2000" dirty="0">
                <a:latin typeface="Times New Roman" pitchFamily="18" charset="0"/>
                <a:cs typeface="Times New Roman" pitchFamily="18" charset="0"/>
              </a:rPr>
              <a:t>	printf(“\na = %d, b = %d,”, a, b);</a:t>
            </a:r>
          </a:p>
          <a:p>
            <a:pPr algn="just"/>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 z = %d\n”, z);</a:t>
            </a:r>
          </a:p>
          <a:p>
            <a:pPr algn="just"/>
            <a:r>
              <a:rPr lang="en-US" sz="2000" dirty="0">
                <a:latin typeface="Times New Roman" pitchFamily="18" charset="0"/>
                <a:cs typeface="Times New Roman" pitchFamily="18" charset="0"/>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524863"/>
          </a:xfrm>
          <a:prstGeom prst="rect">
            <a:avLst/>
          </a:prstGeom>
        </p:spPr>
        <p:txBody>
          <a:bodyPr wrap="square">
            <a:spAutoFit/>
          </a:bodyPr>
          <a:lstStyle/>
          <a:p>
            <a:pPr algn="just"/>
            <a:r>
              <a:rPr lang="en-US" sz="2200" b="1" dirty="0">
                <a:latin typeface="Times New Roman" pitchFamily="18" charset="0"/>
                <a:cs typeface="Times New Roman" pitchFamily="18" charset="0"/>
              </a:rPr>
              <a:t>POINTER INCREMENTS AND SCALE FACTOR</a:t>
            </a:r>
          </a:p>
          <a:p>
            <a:pPr algn="just"/>
            <a:r>
              <a:rPr lang="en-US" sz="2200" dirty="0">
                <a:latin typeface="Times New Roman" pitchFamily="18" charset="0"/>
                <a:cs typeface="Times New Roman" pitchFamily="18" charset="0"/>
              </a:rPr>
              <a:t>We have seen that the pointers can be incremented like</a:t>
            </a:r>
          </a:p>
          <a:p>
            <a:pPr algn="just"/>
            <a:r>
              <a:rPr lang="en-US" sz="2200" dirty="0">
                <a:latin typeface="Times New Roman" pitchFamily="18" charset="0"/>
                <a:cs typeface="Times New Roman" pitchFamily="18" charset="0"/>
              </a:rPr>
              <a:t>p1 = p2 + 2;</a:t>
            </a:r>
          </a:p>
          <a:p>
            <a:pPr algn="just"/>
            <a:r>
              <a:rPr lang="en-US" sz="2200" dirty="0">
                <a:latin typeface="Times New Roman" pitchFamily="18" charset="0"/>
                <a:cs typeface="Times New Roman" pitchFamily="18" charset="0"/>
              </a:rPr>
              <a:t>p1 = p1 + 1;</a:t>
            </a:r>
          </a:p>
          <a:p>
            <a:pPr algn="just"/>
            <a:r>
              <a:rPr lang="en-US" sz="2200" dirty="0">
                <a:latin typeface="Times New Roman" pitchFamily="18" charset="0"/>
                <a:cs typeface="Times New Roman" pitchFamily="18" charset="0"/>
              </a:rPr>
              <a:t>and so on. Remember, however, an expression like</a:t>
            </a:r>
          </a:p>
          <a:p>
            <a:pPr algn="just"/>
            <a:r>
              <a:rPr lang="en-US" sz="2200" dirty="0">
                <a:latin typeface="Times New Roman" pitchFamily="18" charset="0"/>
                <a:cs typeface="Times New Roman" pitchFamily="18" charset="0"/>
              </a:rPr>
              <a:t>p1++;</a:t>
            </a:r>
          </a:p>
          <a:p>
            <a:pPr algn="just"/>
            <a:r>
              <a:rPr lang="en-US" sz="2200" dirty="0">
                <a:latin typeface="Times New Roman" pitchFamily="18" charset="0"/>
                <a:cs typeface="Times New Roman" pitchFamily="18" charset="0"/>
              </a:rPr>
              <a:t>will cause the pointer p1 to point to the next value of its type. For example, if p1 is an integer pointer with an initial value, say 2800, then after the operation p1 = p1 + 1, the value of p1 will be 2802, and not 2801. That is, when we increment a pointer, its value is increased by the ‘length’ of the data type that it points to. This length called the scale factor.</a:t>
            </a:r>
          </a:p>
          <a:p>
            <a:pPr algn="just"/>
            <a:r>
              <a:rPr lang="en-US" sz="2200" dirty="0">
                <a:latin typeface="Times New Roman" pitchFamily="18" charset="0"/>
                <a:cs typeface="Times New Roman" pitchFamily="18" charset="0"/>
              </a:rPr>
              <a:t>For an IBM PC, the length of various data types are as follows:</a:t>
            </a:r>
          </a:p>
          <a:p>
            <a:pPr algn="just"/>
            <a:r>
              <a:rPr lang="en-US" sz="2200" dirty="0">
                <a:latin typeface="Times New Roman" pitchFamily="18" charset="0"/>
                <a:cs typeface="Times New Roman" pitchFamily="18" charset="0"/>
              </a:rPr>
              <a:t>characters 1 byte</a:t>
            </a:r>
          </a:p>
          <a:p>
            <a:pPr algn="just"/>
            <a:r>
              <a:rPr lang="en-US" sz="2200" dirty="0">
                <a:latin typeface="Times New Roman" pitchFamily="18" charset="0"/>
                <a:cs typeface="Times New Roman" pitchFamily="18" charset="0"/>
              </a:rPr>
              <a:t>integers 2 bytes</a:t>
            </a:r>
          </a:p>
          <a:p>
            <a:pPr algn="just"/>
            <a:r>
              <a:rPr lang="en-US" sz="2200" dirty="0">
                <a:latin typeface="Times New Roman" pitchFamily="18" charset="0"/>
                <a:cs typeface="Times New Roman" pitchFamily="18" charset="0"/>
              </a:rPr>
              <a:t>floats 4 bytes</a:t>
            </a:r>
          </a:p>
          <a:p>
            <a:pPr algn="just"/>
            <a:r>
              <a:rPr lang="en-US" sz="2200" dirty="0">
                <a:latin typeface="Times New Roman" pitchFamily="18" charset="0"/>
                <a:cs typeface="Times New Roman" pitchFamily="18" charset="0"/>
              </a:rPr>
              <a:t>long integers 4 bytes</a:t>
            </a:r>
          </a:p>
          <a:p>
            <a:pPr algn="just"/>
            <a:r>
              <a:rPr lang="en-US" sz="2200" dirty="0">
                <a:latin typeface="Times New Roman" pitchFamily="18" charset="0"/>
                <a:cs typeface="Times New Roman" pitchFamily="18" charset="0"/>
              </a:rPr>
              <a:t>doubles 8 bytes</a:t>
            </a:r>
          </a:p>
          <a:p>
            <a:pPr algn="just"/>
            <a:r>
              <a:rPr lang="en-US" sz="2200" dirty="0">
                <a:latin typeface="Times New Roman" pitchFamily="18" charset="0"/>
                <a:cs typeface="Times New Roman" pitchFamily="18" charset="0"/>
              </a:rPr>
              <a:t>The number of bytes used to store various data types depends on the system and can be found by making use of the size of operator. For example, if x is a variable, then </a:t>
            </a:r>
            <a:r>
              <a:rPr lang="en-US" sz="2200" dirty="0" err="1">
                <a:latin typeface="Times New Roman" pitchFamily="18" charset="0"/>
                <a:cs typeface="Times New Roman" pitchFamily="18" charset="0"/>
              </a:rPr>
              <a:t>sizeof</a:t>
            </a:r>
            <a:r>
              <a:rPr lang="en-US" sz="2200" dirty="0">
                <a:latin typeface="Times New Roman" pitchFamily="18" charset="0"/>
                <a:cs typeface="Times New Roman" pitchFamily="18" charset="0"/>
              </a:rPr>
              <a:t>(x) returns the number of</a:t>
            </a:r>
          </a:p>
          <a:p>
            <a:pPr algn="just"/>
            <a:r>
              <a:rPr lang="en-US" sz="2200" dirty="0">
                <a:latin typeface="Times New Roman" pitchFamily="18" charset="0"/>
                <a:cs typeface="Times New Roman" pitchFamily="18" charset="0"/>
              </a:rPr>
              <a:t>bytes needed for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2046" y="0"/>
            <a:ext cx="11949954" cy="7109639"/>
          </a:xfrm>
          <a:prstGeom prst="rect">
            <a:avLst/>
          </a:prstGeom>
        </p:spPr>
        <p:txBody>
          <a:bodyPr wrap="square">
            <a:spAutoFit/>
          </a:bodyPr>
          <a:lstStyle/>
          <a:p>
            <a:r>
              <a:rPr lang="en-US" sz="2400" b="1" dirty="0">
                <a:latin typeface="Times New Roman" pitchFamily="18" charset="0"/>
                <a:cs typeface="Times New Roman" pitchFamily="18" charset="0"/>
              </a:rPr>
              <a:t>Rules of pointer operations:</a:t>
            </a:r>
          </a:p>
          <a:p>
            <a:pPr>
              <a:lnSpc>
                <a:spcPct val="150000"/>
              </a:lnSpc>
            </a:pPr>
            <a:r>
              <a:rPr lang="en-US" sz="2400" dirty="0">
                <a:latin typeface="Times New Roman" pitchFamily="18" charset="0"/>
                <a:cs typeface="Times New Roman" pitchFamily="18" charset="0"/>
              </a:rPr>
              <a:t>The following rules apply when performing operations on pointer variables:</a:t>
            </a:r>
          </a:p>
          <a:p>
            <a:r>
              <a:rPr lang="en-US" sz="2400" dirty="0">
                <a:latin typeface="Times New Roman" pitchFamily="18" charset="0"/>
                <a:cs typeface="Times New Roman" pitchFamily="18" charset="0"/>
              </a:rPr>
              <a:t>1. A pointer variable can be assigned the address of another variable.</a:t>
            </a:r>
          </a:p>
          <a:p>
            <a:pPr>
              <a:lnSpc>
                <a:spcPct val="150000"/>
              </a:lnSpc>
            </a:pPr>
            <a:r>
              <a:rPr lang="en-US" sz="2400" dirty="0">
                <a:latin typeface="Times New Roman" pitchFamily="18" charset="0"/>
                <a:cs typeface="Times New Roman" pitchFamily="18" charset="0"/>
              </a:rPr>
              <a:t>2. A pointer variable can be assigned the values of another pointer variable.</a:t>
            </a:r>
          </a:p>
          <a:p>
            <a:pPr>
              <a:lnSpc>
                <a:spcPct val="150000"/>
              </a:lnSpc>
            </a:pPr>
            <a:r>
              <a:rPr lang="en-US" sz="2400" dirty="0">
                <a:latin typeface="Times New Roman" pitchFamily="18" charset="0"/>
                <a:cs typeface="Times New Roman" pitchFamily="18" charset="0"/>
              </a:rPr>
              <a:t>3. A pointer variable can be initialized with NULL or zero value.</a:t>
            </a:r>
          </a:p>
          <a:p>
            <a:pPr>
              <a:lnSpc>
                <a:spcPct val="150000"/>
              </a:lnSpc>
            </a:pPr>
            <a:r>
              <a:rPr lang="en-US" sz="2400" dirty="0">
                <a:latin typeface="Times New Roman" pitchFamily="18" charset="0"/>
                <a:cs typeface="Times New Roman" pitchFamily="18" charset="0"/>
              </a:rPr>
              <a:t>4. A pointer variable can be pre-fixed or post-fixed with increment or decrement operators.</a:t>
            </a:r>
          </a:p>
          <a:p>
            <a:pPr>
              <a:lnSpc>
                <a:spcPct val="150000"/>
              </a:lnSpc>
            </a:pPr>
            <a:r>
              <a:rPr lang="en-US" sz="2400" dirty="0">
                <a:latin typeface="Times New Roman" pitchFamily="18" charset="0"/>
                <a:cs typeface="Times New Roman" pitchFamily="18" charset="0"/>
              </a:rPr>
              <a:t>5. An integer value may be added or subtracted from a pointer variable.</a:t>
            </a:r>
          </a:p>
          <a:p>
            <a:r>
              <a:rPr lang="en-US" sz="2400" dirty="0">
                <a:latin typeface="Times New Roman" pitchFamily="18" charset="0"/>
                <a:cs typeface="Times New Roman" pitchFamily="18" charset="0"/>
              </a:rPr>
              <a:t>6. When two pointers point to the same array, one pointer variable can be subtracted from</a:t>
            </a:r>
          </a:p>
          <a:p>
            <a:r>
              <a:rPr lang="en-US" sz="2400" dirty="0">
                <a:latin typeface="Times New Roman" pitchFamily="18" charset="0"/>
                <a:cs typeface="Times New Roman" pitchFamily="18" charset="0"/>
              </a:rPr>
              <a:t>another.</a:t>
            </a:r>
          </a:p>
          <a:p>
            <a:pPr>
              <a:lnSpc>
                <a:spcPct val="150000"/>
              </a:lnSpc>
            </a:pPr>
            <a:r>
              <a:rPr lang="en-US" sz="2400" dirty="0">
                <a:latin typeface="Times New Roman" pitchFamily="18" charset="0"/>
                <a:cs typeface="Times New Roman" pitchFamily="18" charset="0"/>
              </a:rPr>
              <a:t>7. When two pointers point to the objects of the same data types, they can be compared using</a:t>
            </a:r>
          </a:p>
          <a:p>
            <a:pPr>
              <a:lnSpc>
                <a:spcPct val="150000"/>
              </a:lnSpc>
            </a:pPr>
            <a:r>
              <a:rPr lang="en-US" sz="2400" dirty="0">
                <a:latin typeface="Times New Roman" pitchFamily="18" charset="0"/>
                <a:cs typeface="Times New Roman" pitchFamily="18" charset="0"/>
              </a:rPr>
              <a:t>relational operators.</a:t>
            </a:r>
          </a:p>
          <a:p>
            <a:r>
              <a:rPr lang="en-US" sz="2400" dirty="0">
                <a:latin typeface="Times New Roman" pitchFamily="18" charset="0"/>
                <a:cs typeface="Times New Roman" pitchFamily="18" charset="0"/>
              </a:rPr>
              <a:t>8. A pointer variable cannot be multiplied by a constant.</a:t>
            </a:r>
          </a:p>
          <a:p>
            <a:pPr>
              <a:lnSpc>
                <a:spcPct val="150000"/>
              </a:lnSpc>
            </a:pPr>
            <a:r>
              <a:rPr lang="en-US" sz="2400" dirty="0">
                <a:latin typeface="Times New Roman" pitchFamily="18" charset="0"/>
                <a:cs typeface="Times New Roman" pitchFamily="18" charset="0"/>
              </a:rPr>
              <a:t>9. Two pointer variables cannot be added.</a:t>
            </a:r>
          </a:p>
          <a:p>
            <a:pPr>
              <a:lnSpc>
                <a:spcPct val="150000"/>
              </a:lnSpc>
            </a:pPr>
            <a:r>
              <a:rPr lang="en-US" sz="2400" dirty="0">
                <a:latin typeface="Times New Roman" pitchFamily="18" charset="0"/>
                <a:cs typeface="Times New Roman" pitchFamily="18" charset="0"/>
              </a:rPr>
              <a:t>10. A value cannot be assigned to an arbitrary address (i.e., &amp;x = 10; is illegal).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456</TotalTime>
  <Words>3900</Words>
  <Application>Microsoft Office PowerPoint</Application>
  <PresentationFormat>Widescreen</PresentationFormat>
  <Paragraphs>295</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Faculty</dc:creator>
  <cp:lastModifiedBy>Pushpa latha</cp:lastModifiedBy>
  <cp:revision>32</cp:revision>
  <dcterms:created xsi:type="dcterms:W3CDTF">2023-03-01T07:05:42Z</dcterms:created>
  <dcterms:modified xsi:type="dcterms:W3CDTF">2023-03-09T01:34:46Z</dcterms:modified>
</cp:coreProperties>
</file>